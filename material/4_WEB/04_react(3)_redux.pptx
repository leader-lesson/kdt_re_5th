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1388" r:id="rId2"/>
    <p:sldId id="682" r:id="rId3"/>
    <p:sldId id="1013" r:id="rId4"/>
    <p:sldId id="1043" r:id="rId5"/>
    <p:sldId id="1014" r:id="rId6"/>
    <p:sldId id="1015" r:id="rId7"/>
    <p:sldId id="1016" r:id="rId8"/>
    <p:sldId id="1017" r:id="rId9"/>
    <p:sldId id="1018" r:id="rId10"/>
    <p:sldId id="1019" r:id="rId11"/>
    <p:sldId id="1020" r:id="rId12"/>
    <p:sldId id="265" r:id="rId13"/>
    <p:sldId id="1021" r:id="rId14"/>
    <p:sldId id="1022" r:id="rId15"/>
    <p:sldId id="599" r:id="rId16"/>
    <p:sldId id="274" r:id="rId17"/>
    <p:sldId id="1023" r:id="rId18"/>
    <p:sldId id="1024" r:id="rId19"/>
    <p:sldId id="1025" r:id="rId20"/>
    <p:sldId id="601" r:id="rId21"/>
    <p:sldId id="603" r:id="rId22"/>
    <p:sldId id="604" r:id="rId23"/>
    <p:sldId id="1026" r:id="rId24"/>
    <p:sldId id="1027" r:id="rId25"/>
    <p:sldId id="304" r:id="rId26"/>
    <p:sldId id="813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F5050"/>
    <a:srgbClr val="00FF99"/>
    <a:srgbClr val="00B050"/>
    <a:srgbClr val="2B2B2B"/>
    <a:srgbClr val="00599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7" autoAdjust="0"/>
    <p:restoredTop sz="91676" autoAdjust="0"/>
  </p:normalViewPr>
  <p:slideViewPr>
    <p:cSldViewPr snapToGrid="0">
      <p:cViewPr varScale="1">
        <p:scale>
          <a:sx n="101" d="100"/>
          <a:sy n="101" d="100"/>
        </p:scale>
        <p:origin x="105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2026-01-06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8115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B5AAC-EE5C-159D-04A6-66C9EB9DF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65117E-EE26-A207-C980-E30A82EFF5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9CE7F5-B6B9-6BD3-B394-4AF9F9341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5278E6-93A3-67A8-07B8-515A76E2E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6465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883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592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709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4112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878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231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3912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981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275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0734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1182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19271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042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66842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8178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18056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52603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4400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5467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1336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2974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F4F83B95-025C-AC87-8046-071D0DD4554A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E48F0A9-FDDA-E71D-DD30-E1619DCA2B8F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98F4052-FE38-304A-F46B-2EF3535EC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7" name="그림 16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42E42E39-6264-E7FF-331C-8FDB95643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8" name="부제목 2">
            <a:extLst>
              <a:ext uri="{FF2B5EF4-FFF2-40B4-BE49-F238E27FC236}">
                <a16:creationId xmlns:a16="http://schemas.microsoft.com/office/drawing/2014/main" id="{F23AD29E-761A-EAD6-2600-534B24C77F4B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8BC923E-D74D-0802-5C5B-91A3D49728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6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BDFA10-ECF7-38FE-C364-618B7085F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EAC1192-3240-5090-C940-3FE8EE2E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5DC42BC-3382-7592-84ED-A0A40D69B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>
                <a:solidFill>
                  <a:srgbClr val="ED7D31"/>
                </a:solidFill>
              </a:rPr>
              <a:t>React(3</a:t>
            </a:r>
            <a:r>
              <a:rPr lang="en-US" altLang="ko-KR" sz="6000" dirty="0">
                <a:solidFill>
                  <a:srgbClr val="ED7D31"/>
                </a:solidFill>
              </a:rPr>
              <a:t>)</a:t>
            </a:r>
            <a:endParaRPr lang="ko-KR" altLang="en-US" sz="6000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79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0C89E0-F5CA-9F73-D1F9-B12D67EBC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1F15A8F-400E-DB4C-EAA9-A1174BA2E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E013B47-C5DC-9DCC-D358-E2B9BED1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6000" dirty="0">
                <a:solidFill>
                  <a:srgbClr val="ED7D31"/>
                </a:solidFill>
              </a:rPr>
              <a:t>React</a:t>
            </a:r>
            <a:r>
              <a:rPr lang="ko-KR" altLang="en-US" sz="6000" dirty="0">
                <a:solidFill>
                  <a:srgbClr val="ED7D31"/>
                </a:solidFill>
              </a:rPr>
              <a:t> 상태관리</a:t>
            </a:r>
          </a:p>
        </p:txBody>
      </p:sp>
    </p:spTree>
    <p:extLst>
      <p:ext uri="{BB962C8B-B14F-4D97-AF65-F5344CB8AC3E}">
        <p14:creationId xmlns:p14="http://schemas.microsoft.com/office/powerpoint/2010/main" val="148008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856ED-F757-6716-270A-D8E5D43F5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4AF1DE-7783-AFD6-F154-E862CE5BC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D205CF6-D4FB-80CC-F5D6-13C7640D8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9450633-FECD-FA44-E58B-BE3391CCB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3484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037896-1FB0-E03D-15C3-79B94B419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391" y="1325563"/>
            <a:ext cx="11234057" cy="4351338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dirty="0">
                <a:latin typeface="+mj-ea"/>
                <a:ea typeface="+mj-ea"/>
              </a:rPr>
              <a:t>Local State: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ko-KR" altLang="en-US" b="0" i="0" dirty="0">
                <a:effectLst/>
                <a:latin typeface="+mj-ea"/>
                <a:ea typeface="+mj-ea"/>
              </a:rPr>
              <a:t>각각의 컴포넌트가 소유하고 있는 상태를 의미</a:t>
            </a:r>
            <a:r>
              <a:rPr lang="en-US" altLang="ko-KR" b="0" i="0" dirty="0">
                <a:effectLst/>
                <a:latin typeface="+mj-ea"/>
                <a:ea typeface="+mj-ea"/>
              </a:rPr>
              <a:t>.</a:t>
            </a:r>
            <a:r>
              <a:rPr lang="ko-KR" altLang="en-US" b="0" i="0" dirty="0">
                <a:effectLst/>
                <a:latin typeface="+mj-ea"/>
                <a:ea typeface="+mj-ea"/>
              </a:rPr>
              <a:t> 이 상태는 해당 컴포넌트 내에서만 관리되고 사용됨</a:t>
            </a:r>
            <a:endParaRPr lang="en-US" altLang="ko-KR" dirty="0">
              <a:latin typeface="+mj-ea"/>
              <a:ea typeface="+mj-e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u="sng" dirty="0">
                <a:latin typeface="+mj-ea"/>
                <a:ea typeface="+mj-ea"/>
              </a:rPr>
              <a:t>Cross-Component State</a:t>
            </a:r>
            <a:r>
              <a:rPr lang="en-US" altLang="ko-KR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ko-KR" altLang="en-US" b="0" i="0" dirty="0">
                <a:effectLst/>
                <a:latin typeface="+mj-ea"/>
                <a:ea typeface="+mj-ea"/>
              </a:rPr>
              <a:t>두 개 이상의 컴포넌트 간에 공유되는 상태를 의미하며 </a:t>
            </a:r>
            <a:r>
              <a:rPr lang="en" altLang="ko-Kore-KR" b="0" i="0" dirty="0">
                <a:effectLst/>
                <a:latin typeface="+mj-ea"/>
                <a:ea typeface="+mj-ea"/>
              </a:rPr>
              <a:t>props</a:t>
            </a:r>
            <a:r>
              <a:rPr lang="ko-KR" altLang="en-US" b="0" i="0" dirty="0" err="1">
                <a:effectLst/>
                <a:latin typeface="+mj-ea"/>
                <a:ea typeface="+mj-ea"/>
              </a:rPr>
              <a:t>를</a:t>
            </a:r>
            <a:r>
              <a:rPr lang="ko-KR" altLang="en-US" b="0" i="0" dirty="0">
                <a:effectLst/>
                <a:latin typeface="+mj-ea"/>
                <a:ea typeface="+mj-ea"/>
              </a:rPr>
              <a:t> 통해 상태를 전달</a:t>
            </a:r>
            <a:endParaRPr lang="en-US" altLang="ko-KR" dirty="0">
              <a:latin typeface="+mj-ea"/>
              <a:ea typeface="+mj-ea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u="sng" dirty="0">
                <a:latin typeface="+mj-ea"/>
                <a:ea typeface="+mj-ea"/>
              </a:rPr>
              <a:t>App-Wide State</a:t>
            </a:r>
            <a:r>
              <a:rPr lang="en-US" altLang="ko-KR" dirty="0">
                <a:latin typeface="+mj-ea"/>
                <a:ea typeface="+mj-ea"/>
              </a:rPr>
              <a:t>: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ko-KR" altLang="en-US" b="0" i="0" dirty="0">
                <a:effectLst/>
                <a:latin typeface="+mj-ea"/>
                <a:ea typeface="+mj-ea"/>
              </a:rPr>
              <a:t>애플리케이션의 전체 영역에서 사용되는 상태</a:t>
            </a:r>
            <a:r>
              <a:rPr lang="en-US" altLang="ko-KR" b="0" i="0" dirty="0">
                <a:effectLst/>
                <a:latin typeface="+mj-ea"/>
                <a:ea typeface="+mj-ea"/>
              </a:rPr>
              <a:t>.</a:t>
            </a:r>
            <a:r>
              <a:rPr lang="ko-KR" altLang="en-US" b="0" i="0" dirty="0">
                <a:effectLst/>
                <a:latin typeface="+mj-ea"/>
                <a:ea typeface="+mj-ea"/>
              </a:rPr>
              <a:t> 여러 컴포넌트</a:t>
            </a:r>
            <a:r>
              <a:rPr lang="en-US" altLang="ko-KR" b="0" i="0" dirty="0">
                <a:effectLst/>
                <a:latin typeface="+mj-ea"/>
                <a:ea typeface="+mj-ea"/>
              </a:rPr>
              <a:t>, </a:t>
            </a:r>
            <a:r>
              <a:rPr lang="ko-KR" altLang="en-US" b="0" i="0" dirty="0">
                <a:effectLst/>
                <a:latin typeface="+mj-ea"/>
                <a:ea typeface="+mj-ea"/>
              </a:rPr>
              <a:t>혹은 앱의 전체 영역에서 공유되어야 하는 데이터나 상태에 사용됨</a:t>
            </a:r>
            <a:endParaRPr lang="en-US" altLang="ko-KR" b="0" i="0" dirty="0">
              <a:effectLst/>
              <a:latin typeface="+mj-ea"/>
              <a:ea typeface="+mj-ea"/>
            </a:endParaRPr>
          </a:p>
          <a:p>
            <a:endParaRPr lang="en-US" altLang="ko-KR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3AD539-0C72-97A9-4610-E24484270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89BFA-E486-4A47-9FB4-79DE906BAAD3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672433-DFF5-84B6-91A0-244765BB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0927CB-AE2E-1C9C-5AA4-01E49E197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state </a:t>
            </a:r>
            <a:r>
              <a:rPr lang="ko-KR" altLang="en-US" dirty="0"/>
              <a:t>종류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37BB73-0027-87AB-3498-2AFB6FAA52A9}"/>
              </a:ext>
            </a:extLst>
          </p:cNvPr>
          <p:cNvSpPr txBox="1"/>
          <p:nvPr/>
        </p:nvSpPr>
        <p:spPr>
          <a:xfrm>
            <a:off x="838199" y="5199847"/>
            <a:ext cx="110252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800" dirty="0"/>
              <a:t>Cross-Component</a:t>
            </a:r>
            <a:r>
              <a:rPr kumimoji="1" lang="ko-KR" altLang="en-US" sz="2800" dirty="0"/>
              <a:t>와 </a:t>
            </a:r>
            <a:r>
              <a:rPr kumimoji="1" lang="en-US" altLang="ko-KR" sz="2800" dirty="0"/>
              <a:t>App-Wide State</a:t>
            </a:r>
            <a:r>
              <a:rPr kumimoji="1" lang="ko-KR" altLang="en-US" sz="2800" dirty="0"/>
              <a:t> </a:t>
            </a:r>
            <a:r>
              <a:rPr kumimoji="1" lang="ko-KR" altLang="en-US" sz="2800" dirty="0" err="1"/>
              <a:t>일때</a:t>
            </a:r>
            <a:r>
              <a:rPr kumimoji="1" lang="ko-KR" altLang="en-US" sz="2800" dirty="0"/>
              <a:t> </a:t>
            </a:r>
            <a:r>
              <a:rPr kumimoji="1" lang="en-US" altLang="ko-KR" sz="2800" dirty="0"/>
              <a:t>Context API</a:t>
            </a:r>
            <a:r>
              <a:rPr kumimoji="1" lang="ko-KR" altLang="en-US" sz="2800" dirty="0"/>
              <a:t>나 </a:t>
            </a:r>
            <a:r>
              <a:rPr kumimoji="1" lang="en-US" altLang="ko-KR" sz="2800" dirty="0"/>
              <a:t>Redux</a:t>
            </a:r>
            <a:r>
              <a:rPr kumimoji="1" lang="ko-KR" altLang="en-US" sz="2800" dirty="0"/>
              <a:t>가 요구됨</a:t>
            </a:r>
            <a:endParaRPr kumimoji="1" lang="ko-Kore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06634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7575ADC-F41D-7290-30AE-FBA2B29C2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733314" cy="4351338"/>
          </a:xfrm>
        </p:spPr>
        <p:txBody>
          <a:bodyPr/>
          <a:lstStyle/>
          <a:p>
            <a:r>
              <a:rPr lang="en-US" altLang="ko-KR" dirty="0" err="1">
                <a:latin typeface="+mj-ea"/>
                <a:ea typeface="+mj-ea"/>
              </a:rPr>
              <a:t>Javascript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상태관리 라이브러리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 err="1">
                <a:latin typeface="+mj-ea"/>
                <a:ea typeface="+mj-ea"/>
              </a:rPr>
              <a:t>리액트를</a:t>
            </a:r>
            <a:r>
              <a:rPr lang="ko-KR" altLang="en-US" dirty="0">
                <a:latin typeface="+mj-ea"/>
                <a:ea typeface="+mj-ea"/>
              </a:rPr>
              <a:t> 배울 때 많이 나오는 용어지만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꼭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 err="1">
                <a:latin typeface="+mj-ea"/>
                <a:ea typeface="+mj-ea"/>
              </a:rPr>
              <a:t>리액트에</a:t>
            </a:r>
            <a:r>
              <a:rPr lang="ko-KR" altLang="en-US" dirty="0">
                <a:latin typeface="+mj-ea"/>
                <a:ea typeface="+mj-ea"/>
              </a:rPr>
              <a:t> 종속되는 개념은 아님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dirty="0" err="1">
                <a:latin typeface="+mj-ea"/>
                <a:ea typeface="+mj-ea"/>
              </a:rPr>
              <a:t>리액트의</a:t>
            </a:r>
            <a:r>
              <a:rPr lang="ko-KR" altLang="en-US" dirty="0">
                <a:latin typeface="+mj-ea"/>
                <a:ea typeface="+mj-ea"/>
              </a:rPr>
              <a:t> 상태 관리 라이브러리로 가장 많이 사용됨</a:t>
            </a:r>
            <a:r>
              <a:rPr lang="en-US" altLang="ko-KR" dirty="0">
                <a:latin typeface="+mj-ea"/>
                <a:ea typeface="+mj-ea"/>
              </a:rPr>
              <a:t>.</a:t>
            </a:r>
          </a:p>
          <a:p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9EB37C-276C-4BF8-6E57-623C492D1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52D72C-73F9-230D-43D0-F130FE4B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BDA46F-6F4E-B45C-2B0C-EF46D23B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2897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7575ADC-F41D-7290-30AE-FBA2B29C2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컴포넌트 수가 많은 대형 프로젝트에서는 </a:t>
            </a:r>
            <a:r>
              <a:rPr lang="en-US" altLang="ko-KR" dirty="0"/>
              <a:t>state</a:t>
            </a:r>
            <a:r>
              <a:rPr lang="ko-KR" altLang="en-US" dirty="0"/>
              <a:t>를 전해주기 위해 </a:t>
            </a:r>
            <a:r>
              <a:rPr lang="en-US" altLang="ko-KR" dirty="0"/>
              <a:t>props</a:t>
            </a:r>
            <a:r>
              <a:rPr lang="ko-KR" altLang="en-US" dirty="0"/>
              <a:t>를 엄청나게 많이 써야 하는 경우가 발생 함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ko-KR" altLang="en-US" sz="3200" dirty="0"/>
              <a:t>→ </a:t>
            </a:r>
            <a:r>
              <a:rPr lang="en-US" altLang="ko-KR" sz="3200" dirty="0"/>
              <a:t>props </a:t>
            </a:r>
            <a:r>
              <a:rPr lang="ko-KR" altLang="en-US" sz="3200" dirty="0"/>
              <a:t>지옥</a:t>
            </a:r>
            <a:r>
              <a:rPr lang="en-US" altLang="ko-KR" sz="3200" dirty="0"/>
              <a:t>…?</a:t>
            </a:r>
            <a:r>
              <a:rPr lang="ko-KR" altLang="en-US" sz="3200" dirty="0"/>
              <a:t> </a:t>
            </a:r>
            <a:endParaRPr lang="en-US" altLang="ko-KR" sz="320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9EB37C-276C-4BF8-6E57-623C492D1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52D72C-73F9-230D-43D0-F130FE4B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BDA46F-6F4E-B45C-2B0C-EF46D23B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사용 이유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B86AC9C-8AA3-B59F-19E1-69E125539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627" y="2704165"/>
            <a:ext cx="5802085" cy="365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9A78CBF-1EED-3F97-19E5-6AF2C32DC346}"/>
              </a:ext>
            </a:extLst>
          </p:cNvPr>
          <p:cNvSpPr/>
          <p:nvPr/>
        </p:nvSpPr>
        <p:spPr>
          <a:xfrm>
            <a:off x="5885743" y="2876550"/>
            <a:ext cx="2830286" cy="29051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400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879998CA-7097-EA2E-9186-C5767582D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리덕스를</a:t>
            </a:r>
            <a:r>
              <a:rPr lang="ko-KR" altLang="en-US" dirty="0"/>
              <a:t> 사용할 경우</a:t>
            </a:r>
            <a:r>
              <a:rPr lang="en-US" altLang="ko-KR" dirty="0"/>
              <a:t>, </a:t>
            </a:r>
            <a:r>
              <a:rPr lang="ko-KR" altLang="en-US" dirty="0"/>
              <a:t>전역으로 상태를 관리할 수 있게 되어 </a:t>
            </a:r>
            <a:r>
              <a:rPr lang="en-US" altLang="ko-KR" dirty="0"/>
              <a:t>state</a:t>
            </a:r>
            <a:r>
              <a:rPr lang="ko-KR" altLang="en-US" dirty="0"/>
              <a:t>를 </a:t>
            </a:r>
            <a:r>
              <a:rPr lang="en-US" altLang="ko-KR" dirty="0"/>
              <a:t>props</a:t>
            </a:r>
            <a:r>
              <a:rPr lang="ko-KR" altLang="en-US" dirty="0"/>
              <a:t>로 전달</a:t>
            </a:r>
            <a:r>
              <a:rPr lang="en-US" altLang="ko-KR" dirty="0"/>
              <a:t>..</a:t>
            </a:r>
            <a:r>
              <a:rPr lang="ko-KR" altLang="en-US" dirty="0"/>
              <a:t> 전달</a:t>
            </a:r>
            <a:r>
              <a:rPr lang="en-US" altLang="ko-KR" dirty="0"/>
              <a:t>..</a:t>
            </a:r>
            <a:r>
              <a:rPr lang="ko-KR" altLang="en-US" dirty="0"/>
              <a:t> 전달</a:t>
            </a:r>
            <a:r>
              <a:rPr lang="en-US" altLang="ko-KR" dirty="0"/>
              <a:t>.. </a:t>
            </a:r>
            <a:r>
              <a:rPr lang="ko-KR" altLang="en-US" dirty="0"/>
              <a:t>하지 않고</a:t>
            </a:r>
            <a:r>
              <a:rPr lang="en-US" altLang="ko-KR" dirty="0"/>
              <a:t>, store</a:t>
            </a:r>
            <a:r>
              <a:rPr lang="ko-KR" altLang="en-US" dirty="0"/>
              <a:t>라는 곳에서 언제든지 꺼내 쓸 수 있음</a:t>
            </a:r>
            <a:r>
              <a:rPr lang="en-US" altLang="ko-KR" dirty="0"/>
              <a:t>!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9EB37C-276C-4BF8-6E57-623C492D1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52D72C-73F9-230D-43D0-F130FE4B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BDA46F-6F4E-B45C-2B0C-EF46D23B6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사용 이유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C70CFD40-F41E-70F3-A46A-73E371784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627" y="2704165"/>
            <a:ext cx="5802085" cy="3658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D2E50F13-CB4B-33A8-BD97-1FCE82A330F3}"/>
              </a:ext>
            </a:extLst>
          </p:cNvPr>
          <p:cNvSpPr/>
          <p:nvPr/>
        </p:nvSpPr>
        <p:spPr>
          <a:xfrm>
            <a:off x="8752768" y="2876550"/>
            <a:ext cx="2830286" cy="290512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123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69304BA-757D-E97F-697C-277B04A0A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리덕스를</a:t>
            </a:r>
            <a:r>
              <a:rPr lang="ko-KR" altLang="en-US" dirty="0"/>
              <a:t> 사용하기 위해 알아야 하는 용어는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Store (</a:t>
            </a:r>
            <a:r>
              <a:rPr lang="ko-KR" altLang="en-US" dirty="0"/>
              <a:t>스토어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Action (</a:t>
            </a:r>
            <a:r>
              <a:rPr lang="ko-KR" altLang="en-US" dirty="0"/>
              <a:t>액션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Reducer (</a:t>
            </a:r>
            <a:r>
              <a:rPr lang="ko-KR" altLang="en-US" dirty="0" err="1"/>
              <a:t>리듀서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Dispatch (</a:t>
            </a:r>
            <a:r>
              <a:rPr lang="ko-KR" altLang="en-US" dirty="0" err="1"/>
              <a:t>디스패치</a:t>
            </a:r>
            <a:r>
              <a:rPr lang="en-US" altLang="ko-KR" dirty="0"/>
              <a:t>)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 </a:t>
            </a:r>
            <a:r>
              <a:rPr lang="ko-KR" altLang="en-US" dirty="0"/>
              <a:t>용어 정리</a:t>
            </a:r>
          </a:p>
        </p:txBody>
      </p:sp>
      <p:pic>
        <p:nvPicPr>
          <p:cNvPr id="4098" name="Picture 2" descr="React의 전역 상태관리 Redux :: chanyeong">
            <a:extLst>
              <a:ext uri="{FF2B5EF4-FFF2-40B4-BE49-F238E27FC236}">
                <a16:creationId xmlns:a16="http://schemas.microsoft.com/office/drawing/2014/main" id="{6B326521-98A1-D434-8DF3-0AEED44F9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222" y="2513886"/>
            <a:ext cx="7477070" cy="2789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528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6574474-A839-7EA0-3108-B17EFE3AB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63250" cy="4351338"/>
          </a:xfrm>
        </p:spPr>
        <p:txBody>
          <a:bodyPr/>
          <a:lstStyle/>
          <a:p>
            <a:r>
              <a:rPr lang="en-US" altLang="ko-KR" dirty="0"/>
              <a:t>Store</a:t>
            </a:r>
            <a:r>
              <a:rPr lang="ko-KR" altLang="en-US" dirty="0"/>
              <a:t>는 상태가 관리되는 오직 하나의 공간</a:t>
            </a:r>
            <a:endParaRPr lang="en-US" altLang="ko-KR" dirty="0"/>
          </a:p>
          <a:p>
            <a:r>
              <a:rPr lang="ko-KR" altLang="en-US" dirty="0"/>
              <a:t>스토어 안에는 현재 애플리케이션 상태와 </a:t>
            </a:r>
            <a:r>
              <a:rPr lang="ko-KR" altLang="en-US" dirty="0" err="1"/>
              <a:t>리듀서가</a:t>
            </a:r>
            <a:r>
              <a:rPr lang="ko-KR" altLang="en-US" dirty="0"/>
              <a:t> 들어가 있음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solidFill>
                  <a:schemeClr val="accent1"/>
                </a:solidFill>
              </a:rPr>
              <a:t>한 개의 프로젝트는 단 하나의 스토어만 가질 수 있음</a:t>
            </a:r>
            <a:r>
              <a:rPr lang="en-US" altLang="ko-KR" dirty="0">
                <a:solidFill>
                  <a:schemeClr val="accent1"/>
                </a:solidFill>
              </a:rPr>
              <a:t>.</a:t>
            </a:r>
          </a:p>
          <a:p>
            <a:r>
              <a:rPr lang="ko-KR" altLang="en-US" dirty="0">
                <a:solidFill>
                  <a:schemeClr val="accent1"/>
                </a:solidFill>
              </a:rPr>
              <a:t>스토어에 있는 데이터는 컴포넌트에서 직접 조작하지 않음 </a:t>
            </a:r>
            <a:br>
              <a:rPr lang="en-US" altLang="ko-KR" dirty="0">
                <a:solidFill>
                  <a:schemeClr val="accent1"/>
                </a:solidFill>
              </a:rPr>
            </a:br>
            <a:r>
              <a:rPr lang="en-US" altLang="ko-KR" dirty="0">
                <a:solidFill>
                  <a:schemeClr val="accent1"/>
                </a:solidFill>
              </a:rPr>
              <a:t>=&gt;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ko-KR" altLang="en-US" dirty="0" err="1">
                <a:solidFill>
                  <a:schemeClr val="accent5">
                    <a:lumMod val="75000"/>
                  </a:schemeClr>
                </a:solidFill>
              </a:rPr>
              <a:t>리듀서</a:t>
            </a:r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 함수 사용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95248D-6BEA-1BAB-446D-DB966E486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42A804-5457-050F-17B2-D450340B8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97557B1-CC3A-E7F4-2C64-7D491A38F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Store (</a:t>
            </a:r>
            <a:r>
              <a:rPr lang="ko-KR" altLang="en-US" dirty="0"/>
              <a:t>스토어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2113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69304BA-757D-E97F-697C-277B04A0A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상태에 어떠한 변화가 필요하면 액션</a:t>
            </a:r>
            <a:r>
              <a:rPr lang="en-US" altLang="ko-KR" dirty="0"/>
              <a:t>(action)</a:t>
            </a:r>
            <a:r>
              <a:rPr lang="ko-KR" altLang="en-US" dirty="0"/>
              <a:t>이란 것이 발생</a:t>
            </a:r>
            <a:endParaRPr lang="en-US" altLang="ko-KR" dirty="0"/>
          </a:p>
          <a:p>
            <a:r>
              <a:rPr lang="en-US" altLang="ko-KR" dirty="0"/>
              <a:t>Action</a:t>
            </a:r>
            <a:r>
              <a:rPr lang="ko-KR" altLang="en-US" dirty="0"/>
              <a:t>은 컴포넌트에서 </a:t>
            </a:r>
            <a:r>
              <a:rPr lang="en-US" altLang="ko-KR" dirty="0"/>
              <a:t>store</a:t>
            </a:r>
            <a:r>
              <a:rPr lang="ko-KR" altLang="en-US" dirty="0"/>
              <a:t>에 운반할 데이터를 말함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Action</a:t>
            </a:r>
            <a:r>
              <a:rPr lang="ko-KR" altLang="en-US" dirty="0"/>
              <a:t>은 하나의 </a:t>
            </a:r>
            <a:r>
              <a:rPr lang="ko-KR" altLang="en-US" b="1" dirty="0"/>
              <a:t>객체</a:t>
            </a:r>
            <a:r>
              <a:rPr lang="ko-KR" altLang="en-US" dirty="0"/>
              <a:t>로 표현됨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리듀서가</a:t>
            </a:r>
            <a:r>
              <a:rPr lang="ko-KR" altLang="en-US" dirty="0"/>
              <a:t> 수행할 작업을 설명</a:t>
            </a:r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Action (</a:t>
            </a:r>
            <a:r>
              <a:rPr lang="ko-KR" altLang="en-US" dirty="0"/>
              <a:t>액션</a:t>
            </a:r>
            <a:r>
              <a:rPr lang="en-US" altLang="ko-KR" dirty="0"/>
              <a:t>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F9839F8-3C78-7136-7193-8EBF80A3E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15" y="3930083"/>
            <a:ext cx="4151199" cy="185754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D7EA5C8-EE28-5824-D596-34945CE060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229" y="4253239"/>
            <a:ext cx="3329612" cy="153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641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69304BA-757D-E97F-697C-277B04A0A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액션을 발생시키는 것</a:t>
            </a:r>
            <a:endParaRPr lang="en-US" altLang="ko-KR" dirty="0"/>
          </a:p>
          <a:p>
            <a:r>
              <a:rPr lang="en-US" altLang="ko-KR" dirty="0"/>
              <a:t>dispatch(action) </a:t>
            </a:r>
            <a:r>
              <a:rPr lang="ko-KR" altLang="en-US" dirty="0"/>
              <a:t>과 같은 형태로 액션 객체를 파라미터로 넣어서 호출</a:t>
            </a:r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Dispatch (</a:t>
            </a:r>
            <a:r>
              <a:rPr lang="ko-KR" altLang="en-US" dirty="0" err="1"/>
              <a:t>디스패치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57029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69304BA-757D-E97F-697C-277B04A0A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리듀서는</a:t>
            </a:r>
            <a:r>
              <a:rPr lang="ko-KR" altLang="en-US" dirty="0"/>
              <a:t> 액션의 </a:t>
            </a:r>
            <a:r>
              <a:rPr lang="en-US" altLang="ko-KR" dirty="0"/>
              <a:t>type</a:t>
            </a:r>
            <a:r>
              <a:rPr lang="ko-KR" altLang="en-US" dirty="0"/>
              <a:t>에 따라 변화를 일으키는 함수</a:t>
            </a:r>
            <a:endParaRPr lang="en-US" altLang="ko-KR" dirty="0"/>
          </a:p>
          <a:p>
            <a:r>
              <a:rPr lang="ko-KR" altLang="en-US" dirty="0"/>
              <a:t>첫번째 매개 변수는 현재 </a:t>
            </a:r>
            <a:r>
              <a:rPr lang="ko-KR" altLang="en-US" dirty="0" err="1"/>
              <a:t>상태값</a:t>
            </a:r>
            <a:r>
              <a:rPr lang="en-US" altLang="ko-KR" dirty="0"/>
              <a:t>, </a:t>
            </a:r>
            <a:r>
              <a:rPr lang="ko-KR" altLang="en-US" dirty="0"/>
              <a:t>두번째 매개 변수는 </a:t>
            </a:r>
            <a:r>
              <a:rPr lang="en-US" altLang="ko-KR" dirty="0"/>
              <a:t>Action</a:t>
            </a:r>
            <a:r>
              <a:rPr lang="ko-KR" altLang="en-US" dirty="0"/>
              <a:t>값을 받음</a:t>
            </a:r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Reducer (</a:t>
            </a:r>
            <a:r>
              <a:rPr lang="ko-KR" altLang="en-US" dirty="0" err="1"/>
              <a:t>리듀서</a:t>
            </a:r>
            <a:r>
              <a:rPr lang="en-US" altLang="ko-KR" dirty="0"/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C7CF260-895F-C2B7-7F3D-F0D48E6E7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736" y="2858947"/>
            <a:ext cx="4133921" cy="33180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B58841-9F7F-5A31-9B8D-926F003F7681}"/>
              </a:ext>
            </a:extLst>
          </p:cNvPr>
          <p:cNvSpPr txBox="1"/>
          <p:nvPr/>
        </p:nvSpPr>
        <p:spPr>
          <a:xfrm>
            <a:off x="5145657" y="2853007"/>
            <a:ext cx="6588663" cy="1099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ore-KR" altLang="en-US" sz="2800" dirty="0"/>
              <a:t>항상</a:t>
            </a:r>
            <a:r>
              <a:rPr kumimoji="1" lang="ko-KR" altLang="en-US" sz="2800" dirty="0"/>
              <a:t> 새로운 상태 객체를 반환</a:t>
            </a:r>
            <a:endParaRPr kumimoji="1" lang="en-US" altLang="ko-KR" sz="2800" dirty="0"/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ore-KR" sz="2800" dirty="0"/>
              <a:t>Http</a:t>
            </a:r>
            <a:r>
              <a:rPr kumimoji="1" lang="ko-KR" altLang="en-US" sz="2800" dirty="0"/>
              <a:t> 요청</a:t>
            </a:r>
            <a:r>
              <a:rPr kumimoji="1" lang="en-US" altLang="ko-KR" sz="2800" dirty="0"/>
              <a:t>,</a:t>
            </a:r>
            <a:r>
              <a:rPr kumimoji="1" lang="ko-KR" altLang="en-US" sz="2800" dirty="0"/>
              <a:t> 데이터 저장 같은 건 하면 안됨</a:t>
            </a:r>
            <a:endParaRPr kumimoji="1" lang="ko-Kore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9323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05D518-055E-527F-BAFF-DAA25C82A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4D85E6C-B031-B333-7265-C8AEE974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22B64F57-738A-CB5A-3169-F092F345F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 </a:t>
            </a:r>
            <a:r>
              <a:rPr lang="ko-KR" altLang="en-US" dirty="0"/>
              <a:t>시작하기</a:t>
            </a:r>
          </a:p>
        </p:txBody>
      </p:sp>
    </p:spTree>
    <p:extLst>
      <p:ext uri="{BB962C8B-B14F-4D97-AF65-F5344CB8AC3E}">
        <p14:creationId xmlns:p14="http://schemas.microsoft.com/office/powerpoint/2010/main" val="777479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941219A9-CC73-497D-4FA4-26FC48E34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7" y="1325563"/>
            <a:ext cx="11102012" cy="4857523"/>
          </a:xfrm>
        </p:spPr>
        <p:txBody>
          <a:bodyPr/>
          <a:lstStyle/>
          <a:p>
            <a:r>
              <a:rPr lang="ko-KR" altLang="en-US" dirty="0"/>
              <a:t>모듈 설치하기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적용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DBC9AA-1E3C-069B-6A7C-F9CB75AB6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187" y="1980097"/>
            <a:ext cx="7631049" cy="7631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3CA9C3-98CB-51B6-6D79-0DA0EAA22537}"/>
              </a:ext>
            </a:extLst>
          </p:cNvPr>
          <p:cNvSpPr txBox="1"/>
          <p:nvPr/>
        </p:nvSpPr>
        <p:spPr>
          <a:xfrm>
            <a:off x="718457" y="3206859"/>
            <a:ext cx="111020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+mj-ea"/>
                <a:ea typeface="+mj-ea"/>
              </a:rPr>
              <a:t>@</a:t>
            </a:r>
            <a:r>
              <a:rPr lang="en-US" altLang="ko-KR" sz="2800" dirty="0" err="1">
                <a:latin typeface="+mj-ea"/>
                <a:ea typeface="+mj-ea"/>
              </a:rPr>
              <a:t>reduxjs</a:t>
            </a:r>
            <a:r>
              <a:rPr lang="en-US" altLang="ko-KR" sz="2800" dirty="0">
                <a:latin typeface="+mj-ea"/>
                <a:ea typeface="+mj-ea"/>
              </a:rPr>
              <a:t>/toolkit?</a:t>
            </a:r>
            <a:endParaRPr lang="en" altLang="ko-Kore-KR" sz="2800" b="0" i="0" dirty="0">
              <a:effectLst/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ko-Kore-KR" sz="2800" b="0" i="0" dirty="0">
                <a:effectLst/>
                <a:latin typeface="+mj-ea"/>
                <a:ea typeface="+mj-ea"/>
              </a:rPr>
              <a:t>Redux</a:t>
            </a:r>
            <a:r>
              <a:rPr lang="ko-KR" altLang="en-US" sz="2800" b="0" i="0" dirty="0">
                <a:effectLst/>
                <a:latin typeface="+mj-ea"/>
                <a:ea typeface="+mj-ea"/>
              </a:rPr>
              <a:t>의 복잡성을 줄이기 위해 만들어진 도구</a:t>
            </a:r>
            <a:endParaRPr lang="en" altLang="ko-Kore-KR" sz="2800" b="0" i="0" dirty="0">
              <a:effectLst/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b="0" i="0" dirty="0">
                <a:effectLst/>
                <a:latin typeface="+mj-ea"/>
                <a:ea typeface="+mj-ea"/>
              </a:rPr>
              <a:t>액션 생성</a:t>
            </a:r>
            <a:r>
              <a:rPr lang="en-US" altLang="ko-KR" sz="2800" b="0" i="0" dirty="0">
                <a:effectLst/>
                <a:latin typeface="+mj-ea"/>
                <a:ea typeface="+mj-ea"/>
              </a:rPr>
              <a:t>, </a:t>
            </a:r>
            <a:r>
              <a:rPr lang="ko-KR" altLang="en-US" sz="2800" b="0" i="0" dirty="0" err="1">
                <a:effectLst/>
                <a:latin typeface="+mj-ea"/>
                <a:ea typeface="+mj-ea"/>
              </a:rPr>
              <a:t>리듀서</a:t>
            </a:r>
            <a:r>
              <a:rPr lang="en-US" altLang="ko-KR" sz="2800" b="0" i="0" dirty="0">
                <a:effectLst/>
                <a:latin typeface="+mj-ea"/>
                <a:ea typeface="+mj-ea"/>
              </a:rPr>
              <a:t>, </a:t>
            </a:r>
            <a:r>
              <a:rPr lang="ko-KR" altLang="en-US" sz="2800" b="0" i="0" dirty="0">
                <a:effectLst/>
                <a:latin typeface="+mj-ea"/>
                <a:ea typeface="+mj-ea"/>
              </a:rPr>
              <a:t>미들웨어 등 </a:t>
            </a:r>
            <a:r>
              <a:rPr lang="en" altLang="ko-Kore-KR" sz="2800" b="0" i="0" dirty="0">
                <a:effectLst/>
                <a:latin typeface="+mj-ea"/>
                <a:ea typeface="+mj-ea"/>
              </a:rPr>
              <a:t>Redux</a:t>
            </a:r>
            <a:r>
              <a:rPr lang="ko-KR" altLang="en-US" sz="2800" b="0" i="0" dirty="0">
                <a:effectLst/>
                <a:latin typeface="+mj-ea"/>
                <a:ea typeface="+mj-ea"/>
              </a:rPr>
              <a:t>와 관련된 기능들을 효율적으로 구현</a:t>
            </a:r>
            <a:endParaRPr kumimoji="1" lang="ko-Kore-KR" altLang="en-US"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033650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내용 개체 틀 10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2A20A4AB-245C-B6D4-6040-2A6A638A22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470" y="2021053"/>
            <a:ext cx="8978873" cy="3871930"/>
          </a:xfrm>
        </p:spPr>
      </p:pic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적용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5338F1-E8E4-9B31-5D8D-5F029A0BCF57}"/>
              </a:ext>
            </a:extLst>
          </p:cNvPr>
          <p:cNvSpPr txBox="1"/>
          <p:nvPr/>
        </p:nvSpPr>
        <p:spPr>
          <a:xfrm>
            <a:off x="559749" y="1325563"/>
            <a:ext cx="4366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2800" dirty="0" err="1"/>
              <a:t>리덕스를</a:t>
            </a:r>
            <a:r>
              <a:rPr kumimoji="1" lang="ko-KR" altLang="en-US" sz="2800" dirty="0"/>
              <a:t> </a:t>
            </a:r>
            <a:r>
              <a:rPr kumimoji="1" lang="ko-KR" altLang="en-US" sz="2800" dirty="0" err="1"/>
              <a:t>리액트에</a:t>
            </a:r>
            <a:r>
              <a:rPr kumimoji="1" lang="ko-KR" altLang="en-US" sz="2800" dirty="0"/>
              <a:t> 적용하기</a:t>
            </a:r>
            <a:endParaRPr kumimoji="1" lang="ko-Kore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30496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941219A9-CC73-497D-4FA4-26FC48E34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8652"/>
            <a:ext cx="11102012" cy="2609889"/>
          </a:xfrm>
        </p:spPr>
        <p:txBody>
          <a:bodyPr/>
          <a:lstStyle/>
          <a:p>
            <a:r>
              <a:rPr lang="en-US" altLang="ko-KR" dirty="0" err="1"/>
              <a:t>useSelector</a:t>
            </a:r>
            <a:endParaRPr lang="en-US" altLang="ko-KR" dirty="0"/>
          </a:p>
          <a:p>
            <a:pPr lvl="1"/>
            <a:r>
              <a:rPr lang="ko-KR" altLang="en-US" dirty="0" err="1"/>
              <a:t>리덕스</a:t>
            </a:r>
            <a:r>
              <a:rPr lang="ko-KR" altLang="en-US" dirty="0"/>
              <a:t> </a:t>
            </a:r>
            <a:r>
              <a:rPr lang="en-US" altLang="ko-KR" dirty="0"/>
              <a:t>store</a:t>
            </a:r>
            <a:r>
              <a:rPr lang="ko-KR" altLang="en-US" dirty="0"/>
              <a:t>의 상태 값을 조회하기 위한 </a:t>
            </a:r>
            <a:r>
              <a:rPr lang="en-US" altLang="ko-KR" dirty="0"/>
              <a:t>hook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1"/>
            <a:r>
              <a:rPr lang="ko-KR" altLang="en-US" dirty="0"/>
              <a:t>인자로 함수를 넘겨줘야 함</a:t>
            </a:r>
            <a:endParaRPr lang="en-US" altLang="ko-KR" dirty="0"/>
          </a:p>
          <a:p>
            <a:pPr lvl="1"/>
            <a:r>
              <a:rPr lang="ko-KR" altLang="en-US" dirty="0"/>
              <a:t>그 함수는 </a:t>
            </a:r>
            <a:r>
              <a:rPr lang="en-US" altLang="ko-KR" dirty="0"/>
              <a:t>state</a:t>
            </a:r>
            <a:r>
              <a:rPr lang="ko-KR" altLang="en-US" dirty="0"/>
              <a:t>를 매개변수로 받을 수 있고</a:t>
            </a:r>
            <a:r>
              <a:rPr lang="en-US" altLang="ko-KR" dirty="0"/>
              <a:t>, return </a:t>
            </a:r>
            <a:r>
              <a:rPr lang="ko-KR" altLang="en-US" dirty="0"/>
              <a:t>값은 원하는 </a:t>
            </a:r>
            <a:r>
              <a:rPr lang="en-US" altLang="ko-KR" dirty="0"/>
              <a:t>state </a:t>
            </a:r>
            <a:r>
              <a:rPr lang="ko-KR" altLang="en-US" dirty="0"/>
              <a:t>변수 값 설정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적용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95E8D24-6E39-5735-7238-CC9BAAD2F1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87" y="1755480"/>
            <a:ext cx="8839200" cy="43710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8A8F8F9-4147-6E80-BEEB-C0B4623EB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487" y="2340898"/>
            <a:ext cx="7195222" cy="47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613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941219A9-CC73-497D-4FA4-26FC48E34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8652"/>
            <a:ext cx="11102012" cy="2609889"/>
          </a:xfrm>
        </p:spPr>
        <p:txBody>
          <a:bodyPr/>
          <a:lstStyle/>
          <a:p>
            <a:r>
              <a:rPr lang="en-US" altLang="ko-KR" dirty="0" err="1"/>
              <a:t>useDispatch</a:t>
            </a:r>
            <a:endParaRPr lang="en-US" altLang="ko-KR" dirty="0"/>
          </a:p>
          <a:p>
            <a:pPr lvl="1"/>
            <a:r>
              <a:rPr lang="en-US" altLang="ko-KR" dirty="0"/>
              <a:t>Action</a:t>
            </a:r>
            <a:r>
              <a:rPr lang="ko-KR" altLang="en-US" dirty="0"/>
              <a:t>을 발생시키는 </a:t>
            </a:r>
            <a:r>
              <a:rPr lang="en-US" altLang="ko-KR" dirty="0"/>
              <a:t>dispatch </a:t>
            </a:r>
            <a:r>
              <a:rPr lang="ko-KR" altLang="en-US" dirty="0"/>
              <a:t>함수를 실행하는 </a:t>
            </a:r>
            <a:r>
              <a:rPr lang="en-US" altLang="ko-KR" dirty="0"/>
              <a:t>hook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1"/>
            <a:r>
              <a:rPr lang="ko-KR" altLang="en-US" dirty="0"/>
              <a:t>인자로 원하는 </a:t>
            </a:r>
            <a:r>
              <a:rPr lang="en-US" altLang="ko-KR" dirty="0"/>
              <a:t>Action</a:t>
            </a:r>
            <a:r>
              <a:rPr lang="ko-KR" altLang="en-US" dirty="0"/>
              <a:t> 객체를 넘겨줘야 함</a:t>
            </a:r>
            <a:r>
              <a:rPr lang="en-US" altLang="ko-KR" dirty="0"/>
              <a:t>.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적용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2DFCABE-7146-A3B2-36A3-7B42BC713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86" y="1567544"/>
            <a:ext cx="4791932" cy="47919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364C019-9C79-D466-431F-3518B72A83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486" y="2066290"/>
            <a:ext cx="9018711" cy="70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802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06B4CF-26FE-42ED-567C-03AC37ED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7BC5A23-8FD9-1D6C-AD4C-ED1CDA87B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D31B278-B4D0-863C-04C1-1C5649F0D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</a:t>
            </a:r>
            <a:r>
              <a:rPr lang="en-US" altLang="ko-KR" dirty="0"/>
              <a:t>Toolkit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4706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</a:t>
            </a:r>
            <a:r>
              <a:rPr lang="en-US" altLang="ko-KR" dirty="0"/>
              <a:t>toolkit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50CDC-924B-3038-EEF4-37CC76DD5BB1}"/>
              </a:ext>
            </a:extLst>
          </p:cNvPr>
          <p:cNvSpPr txBox="1"/>
          <p:nvPr/>
        </p:nvSpPr>
        <p:spPr>
          <a:xfrm>
            <a:off x="838199" y="1534886"/>
            <a:ext cx="103536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ore-KR" sz="2800" i="0" dirty="0" err="1">
                <a:effectLst/>
                <a:latin typeface="+mj-ea"/>
                <a:ea typeface="+mj-ea"/>
              </a:rPr>
              <a:t>configureStore</a:t>
            </a:r>
            <a:r>
              <a:rPr lang="en" altLang="ko-Kore-KR" sz="2800" i="0" dirty="0">
                <a:effectLst/>
                <a:latin typeface="+mj-ea"/>
                <a:ea typeface="+mj-ea"/>
              </a:rPr>
              <a:t>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ko-Kore-KR" sz="2800" i="0" dirty="0">
                <a:effectLst/>
                <a:latin typeface="+mj-ea"/>
                <a:ea typeface="+mj-ea"/>
              </a:rPr>
              <a:t>Redux </a:t>
            </a:r>
            <a:r>
              <a:rPr lang="ko-KR" altLang="en-US" sz="2800" i="0" dirty="0">
                <a:effectLst/>
                <a:latin typeface="+mj-ea"/>
                <a:ea typeface="+mj-ea"/>
              </a:rPr>
              <a:t>스토어를 생성하기 위한 함수</a:t>
            </a:r>
            <a:r>
              <a:rPr lang="en-US" altLang="ko-KR" sz="2800" i="0" dirty="0">
                <a:effectLst/>
                <a:latin typeface="+mj-ea"/>
                <a:ea typeface="+mj-ea"/>
              </a:rPr>
              <a:t>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i="0" dirty="0">
                <a:effectLst/>
                <a:latin typeface="+mj-ea"/>
                <a:ea typeface="+mj-ea"/>
              </a:rPr>
              <a:t>여러 미들웨어와 </a:t>
            </a:r>
            <a:r>
              <a:rPr lang="ko-KR" altLang="en-US" sz="2800" i="0" dirty="0" err="1">
                <a:effectLst/>
                <a:latin typeface="+mj-ea"/>
                <a:ea typeface="+mj-ea"/>
              </a:rPr>
              <a:t>리듀서를</a:t>
            </a:r>
            <a:r>
              <a:rPr lang="ko-KR" altLang="en-US" sz="2800" i="0" dirty="0">
                <a:effectLst/>
                <a:latin typeface="+mj-ea"/>
                <a:ea typeface="+mj-ea"/>
              </a:rPr>
              <a:t> 쉽게 통합</a:t>
            </a:r>
            <a:r>
              <a:rPr lang="ko-KR" altLang="en-US" sz="2800" dirty="0">
                <a:latin typeface="+mj-ea"/>
                <a:ea typeface="+mj-ea"/>
              </a:rPr>
              <a:t>할 수 있으며</a:t>
            </a:r>
            <a:r>
              <a:rPr lang="en-US" altLang="ko-KR" sz="2800" i="0" dirty="0">
                <a:effectLst/>
                <a:latin typeface="+mj-ea"/>
                <a:ea typeface="+mj-ea"/>
              </a:rPr>
              <a:t>, </a:t>
            </a:r>
            <a:r>
              <a:rPr lang="en" altLang="ko-Kore-KR" sz="2800" i="0" dirty="0">
                <a:effectLst/>
                <a:latin typeface="+mj-ea"/>
                <a:ea typeface="+mj-ea"/>
              </a:rPr>
              <a:t>Redux </a:t>
            </a:r>
            <a:r>
              <a:rPr lang="en" altLang="ko-Kore-KR" sz="2800" i="0" dirty="0" err="1">
                <a:effectLst/>
                <a:latin typeface="+mj-ea"/>
                <a:ea typeface="+mj-ea"/>
              </a:rPr>
              <a:t>DevTools</a:t>
            </a:r>
            <a:r>
              <a:rPr lang="en" altLang="ko-Kore-KR" sz="2800" i="0" dirty="0">
                <a:effectLst/>
                <a:latin typeface="+mj-ea"/>
                <a:ea typeface="+mj-ea"/>
              </a:rPr>
              <a:t> </a:t>
            </a:r>
            <a:r>
              <a:rPr lang="ko-KR" altLang="en-US" sz="2800" i="0" dirty="0">
                <a:effectLst/>
                <a:latin typeface="+mj-ea"/>
                <a:ea typeface="+mj-ea"/>
              </a:rPr>
              <a:t>확장 프로그램과의 통합도 제공</a:t>
            </a:r>
            <a:endParaRPr lang="en-US" altLang="ko-KR" sz="2800" i="0" dirty="0">
              <a:effectLst/>
              <a:latin typeface="+mj-ea"/>
              <a:ea typeface="+mj-ea"/>
            </a:endParaRPr>
          </a:p>
          <a:p>
            <a:endParaRPr kumimoji="1" lang="en-US" altLang="ko-Kore-KR" sz="2800" dirty="0">
              <a:latin typeface="+mj-ea"/>
              <a:ea typeface="+mj-ea"/>
            </a:endParaRPr>
          </a:p>
          <a:p>
            <a:r>
              <a:rPr lang="en" altLang="ko-Kore-KR" sz="2800" i="0" dirty="0" err="1">
                <a:effectLst/>
                <a:latin typeface="+mj-ea"/>
                <a:ea typeface="+mj-ea"/>
              </a:rPr>
              <a:t>createSlice</a:t>
            </a:r>
            <a:r>
              <a:rPr lang="en" altLang="ko-Kore-KR" sz="2800" i="0" dirty="0">
                <a:effectLst/>
                <a:latin typeface="+mj-ea"/>
                <a:ea typeface="+mj-ea"/>
              </a:rPr>
              <a:t>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i="0" dirty="0" err="1">
                <a:effectLst/>
                <a:latin typeface="+mj-ea"/>
                <a:ea typeface="+mj-ea"/>
              </a:rPr>
              <a:t>리듀서와</a:t>
            </a:r>
            <a:r>
              <a:rPr lang="ko-KR" altLang="en-US" sz="2800" i="0" dirty="0">
                <a:effectLst/>
                <a:latin typeface="+mj-ea"/>
                <a:ea typeface="+mj-ea"/>
              </a:rPr>
              <a:t> 액션을 함께 생성하는 함수</a:t>
            </a:r>
            <a:endParaRPr lang="en-US" altLang="ko-KR" sz="2800" i="0" dirty="0">
              <a:effectLst/>
              <a:latin typeface="+mj-ea"/>
              <a:ea typeface="+mj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i="0" dirty="0">
                <a:effectLst/>
                <a:latin typeface="+mj-ea"/>
                <a:ea typeface="+mj-ea"/>
              </a:rPr>
              <a:t>슬라이스라는 개념을 사용하여 액션 타입</a:t>
            </a:r>
            <a:r>
              <a:rPr lang="en-US" altLang="ko-KR" sz="2800" i="0" dirty="0">
                <a:effectLst/>
                <a:latin typeface="+mj-ea"/>
                <a:ea typeface="+mj-ea"/>
              </a:rPr>
              <a:t>, </a:t>
            </a:r>
            <a:r>
              <a:rPr lang="ko-KR" altLang="en-US" sz="2800" i="0" dirty="0">
                <a:effectLst/>
                <a:latin typeface="+mj-ea"/>
                <a:ea typeface="+mj-ea"/>
              </a:rPr>
              <a:t>액션 생성 함수</a:t>
            </a:r>
            <a:r>
              <a:rPr lang="en-US" altLang="ko-KR" sz="2800" i="0" dirty="0">
                <a:effectLst/>
                <a:latin typeface="+mj-ea"/>
                <a:ea typeface="+mj-ea"/>
              </a:rPr>
              <a:t>, </a:t>
            </a:r>
            <a:r>
              <a:rPr lang="ko-KR" altLang="en-US" sz="2800" i="0" dirty="0" err="1">
                <a:effectLst/>
                <a:latin typeface="+mj-ea"/>
                <a:ea typeface="+mj-ea"/>
              </a:rPr>
              <a:t>리듀서를</a:t>
            </a:r>
            <a:r>
              <a:rPr lang="ko-KR" altLang="en-US" sz="2800" i="0" dirty="0">
                <a:effectLst/>
                <a:latin typeface="+mj-ea"/>
                <a:ea typeface="+mj-ea"/>
              </a:rPr>
              <a:t> 한 번에 정의</a:t>
            </a:r>
            <a:endParaRPr kumimoji="1" lang="ko-Kore-KR" altLang="en-US"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563361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</a:t>
            </a:r>
            <a:r>
              <a:rPr lang="en-US" altLang="ko-KR" dirty="0"/>
              <a:t>toolkit</a:t>
            </a:r>
          </a:p>
        </p:txBody>
      </p:sp>
      <p:pic>
        <p:nvPicPr>
          <p:cNvPr id="9" name="그림 8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E0826DE5-5BF5-177F-D2B0-64451DFBCA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816" y="1435100"/>
            <a:ext cx="7144368" cy="454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7384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redux</a:t>
            </a:r>
            <a:r>
              <a:rPr lang="ko-KR" altLang="en-US" dirty="0"/>
              <a:t> </a:t>
            </a:r>
            <a:r>
              <a:rPr lang="en-US" altLang="ko-KR" dirty="0"/>
              <a:t>toolkit</a:t>
            </a:r>
          </a:p>
        </p:txBody>
      </p:sp>
      <p:pic>
        <p:nvPicPr>
          <p:cNvPr id="7" name="그림 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447085A5-D38C-D20D-0236-39A195013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365" y="1809651"/>
            <a:ext cx="898727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72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941219A9-CC73-497D-4FA4-26FC48E34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크롬 확장 프로그램 </a:t>
            </a:r>
            <a:r>
              <a:rPr lang="en-US" altLang="ko-KR" dirty="0"/>
              <a:t>Redux </a:t>
            </a:r>
            <a:r>
              <a:rPr lang="en-US" altLang="ko-KR" dirty="0" err="1"/>
              <a:t>DevTools</a:t>
            </a:r>
            <a:r>
              <a:rPr lang="en-US" altLang="ko-KR" dirty="0"/>
              <a:t> </a:t>
            </a:r>
            <a:r>
              <a:rPr lang="ko-KR" altLang="en-US" dirty="0"/>
              <a:t>설치</a:t>
            </a:r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Chrome </a:t>
            </a:r>
            <a:r>
              <a:rPr lang="ko-KR" altLang="en-US" dirty="0"/>
              <a:t>에서 스토어 확인</a:t>
            </a:r>
            <a:endParaRPr lang="en-US" altLang="ko-KR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8E7D9DD-15BA-B5AF-A51A-A33E6CEF1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225" y="2652688"/>
            <a:ext cx="7001575" cy="2249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54EF6DA-6599-D149-1808-15B8DAD4A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032373"/>
            <a:ext cx="3486150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64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941219A9-CC73-497D-4FA4-26FC48E34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크롬 개발자 도구 </a:t>
            </a:r>
            <a:r>
              <a:rPr lang="en-US" altLang="ko-KR" dirty="0"/>
              <a:t>&gt; Redux </a:t>
            </a:r>
            <a:r>
              <a:rPr lang="ko-KR" altLang="en-US" dirty="0"/>
              <a:t>로 스토어에 저장된 상태 확인해보기</a:t>
            </a:r>
            <a:endParaRPr lang="en-US" altLang="ko-KR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B337E2-02C0-BC54-4088-553CE30BE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6A0A5-F69C-4DFA-B289-07903BACCCD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7CEF27-1F7D-963F-82D5-5D299ECF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FA63EC1-F42F-2D65-9A9A-A4BCE8F7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Chrome </a:t>
            </a:r>
            <a:r>
              <a:rPr lang="ko-KR" altLang="en-US" dirty="0"/>
              <a:t>에서 스토어 확인</a:t>
            </a:r>
            <a:endParaRPr lang="en-US" altLang="ko-KR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00825A7-50C5-D2EF-15FE-A58A55C1D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008" y="2389751"/>
            <a:ext cx="4670219" cy="3424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3AD6562C-E829-1599-1D49-A964C13FD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773" y="2389751"/>
            <a:ext cx="4670219" cy="3424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F91AC68-3D63-DE9E-1F46-8662741D928A}"/>
              </a:ext>
            </a:extLst>
          </p:cNvPr>
          <p:cNvSpPr/>
          <p:nvPr/>
        </p:nvSpPr>
        <p:spPr>
          <a:xfrm>
            <a:off x="3265715" y="4778644"/>
            <a:ext cx="1219200" cy="3400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30B788-D2F8-EA0E-823C-BC9A4E8EC07A}"/>
              </a:ext>
            </a:extLst>
          </p:cNvPr>
          <p:cNvSpPr/>
          <p:nvPr/>
        </p:nvSpPr>
        <p:spPr>
          <a:xfrm>
            <a:off x="8643256" y="2389751"/>
            <a:ext cx="968830" cy="5227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7873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47FD532-7F61-A001-537F-B970BD821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1"/>
            <a:ext cx="11260802" cy="5328442"/>
          </a:xfrm>
        </p:spPr>
        <p:txBody>
          <a:bodyPr>
            <a:normAutofit/>
          </a:bodyPr>
          <a:lstStyle/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5DDE5-0A39-A366-4CFE-A28391199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040F43-60A7-C50D-1F5B-F984054F2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57F5-99D7-9C46-B6C1-D16224151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6EC173"/>
                </a:solidFill>
              </a:rPr>
              <a:t>실습</a:t>
            </a:r>
            <a:r>
              <a:rPr lang="en-US" altLang="ko-KR" dirty="0">
                <a:solidFill>
                  <a:srgbClr val="6EC173"/>
                </a:solidFill>
              </a:rPr>
              <a:t>.  </a:t>
            </a:r>
            <a:r>
              <a:rPr lang="en-US" altLang="ko-KR" dirty="0"/>
              <a:t> Redux </a:t>
            </a:r>
            <a:r>
              <a:rPr lang="ko-KR" altLang="en-US" dirty="0"/>
              <a:t>실습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70C2BA37-BE91-39C4-AC08-0E8A1052E2F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ko-KR" altLang="en-US" b="1" dirty="0" err="1">
                <a:solidFill>
                  <a:srgbClr val="212529"/>
                </a:solidFill>
                <a:latin typeface="+mn-ea"/>
              </a:rPr>
              <a:t>코딩온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React 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실습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br>
              <a:rPr lang="en-US" altLang="ko-KR" dirty="0">
                <a:solidFill>
                  <a:srgbClr val="212529"/>
                </a:solidFill>
                <a:latin typeface="+mn-ea"/>
              </a:rPr>
            </a:b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[Redux 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커리큘럼 클릭</a:t>
            </a:r>
            <a:endParaRPr lang="en-US" altLang="ko-KR" sz="2800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>
                <a:solidFill>
                  <a:schemeClr val="accent1"/>
                </a:solidFill>
                <a:latin typeface="+mn-ea"/>
              </a:rPr>
              <a:t>[1</a:t>
            </a:r>
            <a:r>
              <a:rPr lang="ko-KR" altLang="en-US" sz="2800" b="1">
                <a:solidFill>
                  <a:schemeClr val="accent1"/>
                </a:solidFill>
                <a:latin typeface="+mn-ea"/>
              </a:rPr>
              <a:t>번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문제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 진행</a:t>
            </a:r>
          </a:p>
        </p:txBody>
      </p:sp>
    </p:spTree>
    <p:extLst>
      <p:ext uri="{BB962C8B-B14F-4D97-AF65-F5344CB8AC3E}">
        <p14:creationId xmlns:p14="http://schemas.microsoft.com/office/powerpoint/2010/main" val="994392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8816</TotalTime>
  <Words>589</Words>
  <Application>Microsoft Office PowerPoint</Application>
  <PresentationFormat>와이드스크린</PresentationFormat>
  <Paragraphs>156</Paragraphs>
  <Slides>26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5" baseType="lpstr">
      <vt:lpstr>Kim jung chul Gothic Regular</vt:lpstr>
      <vt:lpstr>Arial</vt:lpstr>
      <vt:lpstr>G마켓 산스 TTF Bold</vt:lpstr>
      <vt:lpstr>Pretendard Black</vt:lpstr>
      <vt:lpstr>Pretendard Light</vt:lpstr>
      <vt:lpstr>Pretendard Medium</vt:lpstr>
      <vt:lpstr>Wingdings</vt:lpstr>
      <vt:lpstr>메이플스토리</vt:lpstr>
      <vt:lpstr>1_Office 테마</vt:lpstr>
      <vt:lpstr>PowerPoint 프레젠테이션</vt:lpstr>
      <vt:lpstr>React(3)</vt:lpstr>
      <vt:lpstr>React 상태관리</vt:lpstr>
      <vt:lpstr>Redux란?</vt:lpstr>
      <vt:lpstr>state 종류</vt:lpstr>
      <vt:lpstr>redux란?</vt:lpstr>
      <vt:lpstr>redux 사용 이유</vt:lpstr>
      <vt:lpstr>redux 사용 이유</vt:lpstr>
      <vt:lpstr>redux 용어 정리</vt:lpstr>
      <vt:lpstr>Store (스토어)</vt:lpstr>
      <vt:lpstr>Action (액션)</vt:lpstr>
      <vt:lpstr>Dispatch (디스패치)</vt:lpstr>
      <vt:lpstr>Reducer (리듀서)</vt:lpstr>
      <vt:lpstr>Redux 시작하기</vt:lpstr>
      <vt:lpstr>redux 적용</vt:lpstr>
      <vt:lpstr>redux 적용</vt:lpstr>
      <vt:lpstr>redux 적용</vt:lpstr>
      <vt:lpstr>redux 적용</vt:lpstr>
      <vt:lpstr>Redux Toolkit</vt:lpstr>
      <vt:lpstr>redux toolkit</vt:lpstr>
      <vt:lpstr>redux toolkit</vt:lpstr>
      <vt:lpstr>redux toolkit</vt:lpstr>
      <vt:lpstr>Chrome 에서 스토어 확인</vt:lpstr>
      <vt:lpstr>Chrome 에서 스토어 확인</vt:lpstr>
      <vt:lpstr>실습.   Redux 실습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701</cp:revision>
  <dcterms:created xsi:type="dcterms:W3CDTF">2023-01-31T04:26:23Z</dcterms:created>
  <dcterms:modified xsi:type="dcterms:W3CDTF">2026-01-06T08:08:31Z</dcterms:modified>
</cp:coreProperties>
</file>