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7"/>
  </p:notesMasterIdLst>
  <p:sldIdLst>
    <p:sldId id="1388" r:id="rId2"/>
    <p:sldId id="682" r:id="rId3"/>
    <p:sldId id="291" r:id="rId4"/>
    <p:sldId id="1017" r:id="rId5"/>
    <p:sldId id="1018" r:id="rId6"/>
    <p:sldId id="1019" r:id="rId7"/>
    <p:sldId id="379" r:id="rId8"/>
    <p:sldId id="380" r:id="rId9"/>
    <p:sldId id="381" r:id="rId10"/>
    <p:sldId id="382" r:id="rId11"/>
    <p:sldId id="383" r:id="rId12"/>
    <p:sldId id="385" r:id="rId13"/>
    <p:sldId id="286" r:id="rId14"/>
    <p:sldId id="1020" r:id="rId15"/>
    <p:sldId id="1021" r:id="rId16"/>
    <p:sldId id="1022" r:id="rId17"/>
    <p:sldId id="1023" r:id="rId18"/>
    <p:sldId id="1024" r:id="rId19"/>
    <p:sldId id="1025" r:id="rId20"/>
    <p:sldId id="390" r:id="rId21"/>
    <p:sldId id="393" r:id="rId22"/>
    <p:sldId id="1026" r:id="rId23"/>
    <p:sldId id="292" r:id="rId24"/>
    <p:sldId id="1027" r:id="rId25"/>
    <p:sldId id="333" r:id="rId26"/>
    <p:sldId id="334" r:id="rId27"/>
    <p:sldId id="355" r:id="rId28"/>
    <p:sldId id="1028" r:id="rId29"/>
    <p:sldId id="695" r:id="rId30"/>
    <p:sldId id="1029" r:id="rId31"/>
    <p:sldId id="1030" r:id="rId32"/>
    <p:sldId id="1031" r:id="rId33"/>
    <p:sldId id="1032" r:id="rId34"/>
    <p:sldId id="375" r:id="rId35"/>
    <p:sldId id="320" r:id="rId36"/>
    <p:sldId id="361" r:id="rId37"/>
    <p:sldId id="1053" r:id="rId38"/>
    <p:sldId id="321" r:id="rId39"/>
    <p:sldId id="359" r:id="rId40"/>
    <p:sldId id="394" r:id="rId41"/>
    <p:sldId id="395" r:id="rId42"/>
    <p:sldId id="396" r:id="rId43"/>
    <p:sldId id="397" r:id="rId44"/>
    <p:sldId id="398" r:id="rId45"/>
    <p:sldId id="399" r:id="rId46"/>
    <p:sldId id="400" r:id="rId47"/>
    <p:sldId id="401" r:id="rId48"/>
    <p:sldId id="404" r:id="rId49"/>
    <p:sldId id="405" r:id="rId50"/>
    <p:sldId id="704" r:id="rId51"/>
    <p:sldId id="406" r:id="rId52"/>
    <p:sldId id="407" r:id="rId53"/>
    <p:sldId id="408" r:id="rId54"/>
    <p:sldId id="363" r:id="rId55"/>
    <p:sldId id="364" r:id="rId56"/>
    <p:sldId id="360" r:id="rId57"/>
    <p:sldId id="358" r:id="rId58"/>
    <p:sldId id="410" r:id="rId59"/>
    <p:sldId id="411" r:id="rId60"/>
    <p:sldId id="412" r:id="rId61"/>
    <p:sldId id="1033" r:id="rId62"/>
    <p:sldId id="369" r:id="rId63"/>
    <p:sldId id="289" r:id="rId64"/>
    <p:sldId id="371" r:id="rId65"/>
    <p:sldId id="370" r:id="rId66"/>
    <p:sldId id="329" r:id="rId67"/>
    <p:sldId id="330" r:id="rId68"/>
    <p:sldId id="683" r:id="rId69"/>
    <p:sldId id="684" r:id="rId70"/>
    <p:sldId id="377" r:id="rId71"/>
    <p:sldId id="451" r:id="rId72"/>
    <p:sldId id="452" r:id="rId73"/>
    <p:sldId id="453" r:id="rId74"/>
    <p:sldId id="454" r:id="rId75"/>
    <p:sldId id="455" r:id="rId76"/>
    <p:sldId id="315" r:id="rId77"/>
    <p:sldId id="458" r:id="rId78"/>
    <p:sldId id="459" r:id="rId79"/>
    <p:sldId id="676" r:id="rId80"/>
    <p:sldId id="378" r:id="rId81"/>
    <p:sldId id="461" r:id="rId82"/>
    <p:sldId id="280" r:id="rId83"/>
    <p:sldId id="462" r:id="rId84"/>
    <p:sldId id="465" r:id="rId85"/>
    <p:sldId id="466" r:id="rId86"/>
    <p:sldId id="274" r:id="rId87"/>
    <p:sldId id="285" r:id="rId88"/>
    <p:sldId id="677" r:id="rId89"/>
    <p:sldId id="467" r:id="rId90"/>
    <p:sldId id="468" r:id="rId91"/>
    <p:sldId id="469" r:id="rId92"/>
    <p:sldId id="678" r:id="rId93"/>
    <p:sldId id="680" r:id="rId94"/>
    <p:sldId id="471" r:id="rId95"/>
    <p:sldId id="472" r:id="rId96"/>
    <p:sldId id="705" r:id="rId97"/>
    <p:sldId id="268" r:id="rId98"/>
    <p:sldId id="473" r:id="rId99"/>
    <p:sldId id="470" r:id="rId100"/>
    <p:sldId id="1050" r:id="rId101"/>
    <p:sldId id="1051" r:id="rId102"/>
    <p:sldId id="478" r:id="rId103"/>
    <p:sldId id="479" r:id="rId104"/>
    <p:sldId id="480" r:id="rId105"/>
    <p:sldId id="481" r:id="rId106"/>
    <p:sldId id="482" r:id="rId107"/>
    <p:sldId id="300" r:id="rId108"/>
    <p:sldId id="301" r:id="rId109"/>
    <p:sldId id="1034" r:id="rId110"/>
    <p:sldId id="1035" r:id="rId111"/>
    <p:sldId id="1036" r:id="rId112"/>
    <p:sldId id="1037" r:id="rId113"/>
    <p:sldId id="343" r:id="rId114"/>
    <p:sldId id="344" r:id="rId115"/>
    <p:sldId id="365" r:id="rId116"/>
    <p:sldId id="356" r:id="rId117"/>
    <p:sldId id="372" r:id="rId118"/>
    <p:sldId id="357" r:id="rId119"/>
    <p:sldId id="1052" r:id="rId120"/>
    <p:sldId id="264" r:id="rId121"/>
    <p:sldId id="262" r:id="rId122"/>
    <p:sldId id="267" r:id="rId123"/>
    <p:sldId id="368" r:id="rId124"/>
    <p:sldId id="273" r:id="rId125"/>
    <p:sldId id="269" r:id="rId126"/>
    <p:sldId id="1038" r:id="rId127"/>
    <p:sldId id="275" r:id="rId128"/>
    <p:sldId id="376" r:id="rId129"/>
    <p:sldId id="1039" r:id="rId130"/>
    <p:sldId id="1040" r:id="rId131"/>
    <p:sldId id="276" r:id="rId132"/>
    <p:sldId id="277" r:id="rId133"/>
    <p:sldId id="1041" r:id="rId134"/>
    <p:sldId id="278" r:id="rId135"/>
    <p:sldId id="1042" r:id="rId136"/>
    <p:sldId id="1043" r:id="rId137"/>
    <p:sldId id="373" r:id="rId138"/>
    <p:sldId id="1044" r:id="rId139"/>
    <p:sldId id="281" r:id="rId140"/>
    <p:sldId id="282" r:id="rId141"/>
    <p:sldId id="1045" r:id="rId142"/>
    <p:sldId id="1046" r:id="rId143"/>
    <p:sldId id="1047" r:id="rId144"/>
    <p:sldId id="1048" r:id="rId145"/>
    <p:sldId id="813" r:id="rId1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2B2B2B"/>
    <a:srgbClr val="00B050"/>
    <a:srgbClr val="00599C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101" d="100"/>
          <a:sy n="101" d="100"/>
        </p:scale>
        <p:origin x="105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b="0" dirty="0"/>
              <a:t>- CSS: </a:t>
            </a:r>
            <a:r>
              <a:rPr lang="ko-KR" altLang="en-US" b="0" dirty="0"/>
              <a:t>형용사</a:t>
            </a:r>
            <a:endParaRPr lang="en-US" altLang="ko-KR" b="0" dirty="0"/>
          </a:p>
          <a:p>
            <a:r>
              <a:rPr lang="en-US" altLang="ko-KR" b="1" dirty="0"/>
              <a:t>- JS: </a:t>
            </a:r>
            <a:r>
              <a:rPr lang="ko-KR" altLang="en-US" b="1" dirty="0"/>
              <a:t>동사</a:t>
            </a:r>
            <a:br>
              <a:rPr lang="en-US" altLang="ko-KR" b="1" dirty="0"/>
            </a:b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482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네이버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5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5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60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1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60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6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8016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2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549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문장이 있습니다</a:t>
            </a:r>
            <a:r>
              <a:rPr lang="en-US" altLang="ko-KR" dirty="0"/>
              <a:t>. </a:t>
            </a:r>
            <a:r>
              <a:rPr lang="ko-KR" altLang="en-US" dirty="0"/>
              <a:t>한눈에 보기 어렵죠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247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1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84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829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713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4954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69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77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24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409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33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02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33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76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숫자로 시작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3. $  </a:t>
            </a:r>
            <a:r>
              <a:rPr lang="ko-KR" altLang="en-US" dirty="0" err="1"/>
              <a:t>사용할순</a:t>
            </a:r>
            <a:r>
              <a:rPr lang="ko-KR" altLang="en-US" dirty="0"/>
              <a:t> 있지만 권장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4. </a:t>
            </a:r>
            <a:r>
              <a:rPr lang="ko-KR" altLang="en-US" dirty="0" err="1"/>
              <a:t>예약어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7754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– </a:t>
            </a:r>
            <a:r>
              <a:rPr lang="ko-KR" altLang="en-US" dirty="0"/>
              <a:t>하이픈 </a:t>
            </a:r>
            <a:r>
              <a:rPr lang="en-US" altLang="ko-KR" dirty="0"/>
              <a:t>x 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하이픈 무슨 케이스</a:t>
            </a:r>
            <a:r>
              <a:rPr lang="en-US" altLang="ko-KR" dirty="0">
                <a:sym typeface="Wingdings" panose="05000000000000000000" pitchFamily="2" charset="2"/>
              </a:rPr>
              <a:t>? =&gt; </a:t>
            </a:r>
            <a:r>
              <a:rPr lang="ko-KR" altLang="en-US" dirty="0" err="1">
                <a:sym typeface="Wingdings" panose="05000000000000000000" pitchFamily="2" charset="2"/>
              </a:rPr>
              <a:t>대쉬케이스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케밥케이스</a:t>
            </a:r>
            <a:r>
              <a:rPr lang="en-US" altLang="ko-KR" dirty="0">
                <a:sym typeface="Wingdings" panose="05000000000000000000" pitchFamily="2" charset="2"/>
              </a:rPr>
              <a:t>) -&gt; </a:t>
            </a:r>
            <a:r>
              <a:rPr lang="ko-KR" altLang="en-US" dirty="0">
                <a:sym typeface="Wingdings" panose="05000000000000000000" pitchFamily="2" charset="2"/>
              </a:rPr>
              <a:t>문법적으로 안됨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_ </a:t>
            </a:r>
            <a:r>
              <a:rPr lang="ko-KR" altLang="en-US" dirty="0"/>
              <a:t>시작 하기 때문에 가능 </a:t>
            </a:r>
            <a:r>
              <a:rPr lang="en-US" altLang="ko-KR" dirty="0"/>
              <a:t>o</a:t>
            </a:r>
          </a:p>
          <a:p>
            <a:pPr marL="228600" indent="-228600">
              <a:buAutoNum type="arabicPeriod"/>
            </a:pPr>
            <a:r>
              <a:rPr lang="ko-KR" altLang="en-US" dirty="0"/>
              <a:t>숫자</a:t>
            </a:r>
            <a:r>
              <a:rPr lang="en-US" altLang="ko-KR" dirty="0"/>
              <a:t> </a:t>
            </a:r>
            <a:r>
              <a:rPr lang="ko-KR" altLang="en-US" dirty="0"/>
              <a:t>시작</a:t>
            </a:r>
            <a:r>
              <a:rPr lang="en-US" altLang="ko-KR" dirty="0"/>
              <a:t> x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9192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예약어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특수문자 </a:t>
            </a:r>
            <a:r>
              <a:rPr lang="en-US" altLang="ko-KR" dirty="0"/>
              <a:t>! X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에약어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정답 말해주기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0818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751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620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999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7812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DC87-4F07-AA02-A4E2-5786F803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F3D2-9DA9-2AE7-3BC1-4C615A0B4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CC0BAE-1C3B-919B-14D0-59446C9D6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3932BD-5191-B612-44BC-A3164639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3815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0607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003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006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2590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하고 핑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4863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430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708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049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144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833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3175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3138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7917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120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kdt3rd-workspace/04_javascript/</a:t>
            </a:r>
            <a:r>
              <a:rPr lang="en-US" altLang="ko-KR" b="1" dirty="0"/>
              <a:t>index2.html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kdt3rd-workspace/04_javascript/</a:t>
            </a:r>
            <a:r>
              <a:rPr lang="en-US" altLang="ko-KR" b="1" dirty="0"/>
              <a:t>index2.js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6737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456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7309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120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83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5BCA-E7F8-D07A-7A8B-FD12A73D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A96329-5AA1-866D-7675-51F69CA7A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82BBE2-51F2-3012-269B-D6FA167DF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kdt3rd-workspace/04_javascript/</a:t>
            </a:r>
            <a:r>
              <a:rPr lang="en-US" altLang="ko-KR" b="1" dirty="0"/>
              <a:t>index2.html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kdt3rd-workspace/04_javascript/</a:t>
            </a:r>
            <a:r>
              <a:rPr lang="en-US" altLang="ko-KR" b="1" dirty="0"/>
              <a:t>index2.js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3BD4C-9381-0852-5358-DE1145C23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104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4715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4202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296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0238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7876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2995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4EAC-0118-815D-3FA7-62060F75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1B295E-3C58-BE60-F720-808B42C9A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A862C-78C0-5977-77C6-8B601D8A5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 err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FBAFFA-A881-2DEA-A732-BC55062B7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5405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A98B-3BB6-62DB-11AA-76814916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F3867E-D0E7-5F3F-9B32-5DECB6481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A452FA-9532-B705-3FE3-7E34BE5B7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40C79-000B-7276-1957-FD7D231CE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1608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6947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534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0356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9711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23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 작성 </a:t>
            </a:r>
            <a:r>
              <a:rPr lang="en-US" altLang="ko-KR" dirty="0" err="1"/>
              <a:t>rr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실습</a:t>
            </a:r>
            <a:r>
              <a:rPr lang="en-US" altLang="ko-KR" dirty="0"/>
              <a:t>! </a:t>
            </a:r>
            <a:r>
              <a:rPr lang="ko-KR" altLang="en-US" dirty="0"/>
              <a:t>퀴즈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7624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0968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8008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81167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설명해주기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73292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9213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5980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23050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85698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98336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5295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6373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024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9259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29492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8120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44575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8216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27364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8037-0D06-8153-67AE-E1B40C41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B5208-B987-C63F-3F53-9943D9A16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2EF65C-1F27-BFE6-6844-37495F365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7D6F1C-BD38-6EF1-BEC4-0C356BA6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0489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A4BD5-71E1-55D2-A41F-FEB7BC34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CD7B7E-94BF-CFE3-D395-616114C83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A5891A-A904-D1B5-1B6E-481E05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8D8F51-6331-44C0-4169-71173016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493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5429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71346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60464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0235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74348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108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717342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8941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=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18066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9921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86457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5158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89464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5557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4032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225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88743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7314-3CC1-C361-ABD2-9A5997D1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F36067-C387-4A2A-0616-5ED6A77A6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24A4F6-5998-641F-0286-4BE43505E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19739-1F83-6D9A-9E19-248E439C1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72204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89382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79461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96979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22150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34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04346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2980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87234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57031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kdt3rd-workspace/05_javascript_object/</a:t>
            </a:r>
            <a:r>
              <a:rPr lang="en-US" altLang="ko-KR" b="1" dirty="0"/>
              <a:t>index4.html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kdt3rd-workspace/05_javascript_object/</a:t>
            </a:r>
            <a:r>
              <a:rPr lang="en-US" altLang="ko-KR" b="1" dirty="0"/>
              <a:t>index4.js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73327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child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05634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5567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43737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4451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213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22774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6182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84717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1717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03595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15872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10044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60273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82019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42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57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26" name="Picture 2" descr="자바스크립트(JavaScript) 공부하자">
            <a:extLst>
              <a:ext uri="{FF2B5EF4-FFF2-40B4-BE49-F238E27FC236}">
                <a16:creationId xmlns:a16="http://schemas.microsoft.com/office/drawing/2014/main" id="{97E9C49D-06DD-7059-EB87-3E2882A1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27" y="823411"/>
            <a:ext cx="4665746" cy="466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15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BFBFA-EBC3-4288-86D0-55A69B340430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10214802" y="290071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10161619" y="160337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10191612" y="419806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4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1287" y="2624617"/>
            <a:ext cx="6705600" cy="622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600" b="1" dirty="0"/>
              <a:t>💡</a:t>
            </a:r>
            <a:r>
              <a:rPr lang="en-US" altLang="ko-KR" sz="3600" b="1" dirty="0"/>
              <a:t>JavaScript</a:t>
            </a:r>
            <a:endParaRPr lang="ko-KR" altLang="en-US" sz="3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3588016" y="3240860"/>
            <a:ext cx="7339380" cy="132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웹 페이지에서 </a:t>
            </a:r>
            <a:r>
              <a:rPr lang="ko-KR" altLang="en-US" sz="24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복잡한 기능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구현할 수 있도록 하는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스크립팅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언어 또는 프로그래밍 언어 </a:t>
            </a:r>
          </a:p>
        </p:txBody>
      </p:sp>
      <p:pic>
        <p:nvPicPr>
          <p:cNvPr id="2050" name="Picture 2" descr="자바스크립트(JavaScript) 공부하자">
            <a:extLst>
              <a:ext uri="{FF2B5EF4-FFF2-40B4-BE49-F238E27FC236}">
                <a16:creationId xmlns:a16="http://schemas.microsoft.com/office/drawing/2014/main" id="{9A5E47C7-C122-1A09-93B5-2D1CF381B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42" y="1858847"/>
            <a:ext cx="2838835" cy="283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17354" y="4726679"/>
            <a:ext cx="2010042" cy="702766"/>
          </a:xfrm>
          <a:prstGeom prst="cloudCallout">
            <a:avLst>
              <a:gd name="adj1" fmla="val -48208"/>
              <a:gd name="adj2" fmla="val -9409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</a:rPr>
              <a:t>생동감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</a:rPr>
              <a:t>!!</a:t>
            </a:r>
            <a:endParaRPr lang="ko-KR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5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2569F-CADB-A1F0-F395-2257C8F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E3EC20-9262-D020-53CC-6A2031CD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사용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B3D1F8-C0C4-0C9B-76D5-AFAA100B7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28" y="1335088"/>
            <a:ext cx="7120168" cy="457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ACDD7E5-99CA-62A3-8D9D-EDB87686C78F}"/>
              </a:ext>
            </a:extLst>
          </p:cNvPr>
          <p:cNvSpPr txBox="1">
            <a:spLocks/>
          </p:cNvSpPr>
          <p:nvPr/>
        </p:nvSpPr>
        <p:spPr>
          <a:xfrm>
            <a:off x="8281364" y="1514268"/>
            <a:ext cx="2743199" cy="457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동적기능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이벤트 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슬라이드 메뉴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…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66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2D86FD1-8A88-9437-B0F4-114B06355694}"/>
              </a:ext>
            </a:extLst>
          </p:cNvPr>
          <p:cNvSpPr/>
          <p:nvPr/>
        </p:nvSpPr>
        <p:spPr>
          <a:xfrm>
            <a:off x="3379221" y="2791114"/>
            <a:ext cx="1956318" cy="145559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내장</a:t>
            </a:r>
            <a:endParaRPr lang="en-US" altLang="ko-KR" sz="2400" dirty="0">
              <a:solidFill>
                <a:schemeClr val="accent2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방식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249A84-FC24-7685-4223-FE2C76BDC731}"/>
              </a:ext>
            </a:extLst>
          </p:cNvPr>
          <p:cNvSpPr/>
          <p:nvPr/>
        </p:nvSpPr>
        <p:spPr>
          <a:xfrm>
            <a:off x="6936838" y="2791114"/>
            <a:ext cx="1956318" cy="1455594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링크</a:t>
            </a:r>
            <a:endParaRPr lang="en-US" altLang="ko-KR" sz="2400" dirty="0">
              <a:solidFill>
                <a:srgbClr val="00B050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방식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AA04D2-0716-0EEA-AD9A-F716A4E0F75D}"/>
              </a:ext>
            </a:extLst>
          </p:cNvPr>
          <p:cNvSpPr txBox="1">
            <a:spLocks/>
          </p:cNvSpPr>
          <p:nvPr/>
        </p:nvSpPr>
        <p:spPr>
          <a:xfrm>
            <a:off x="5763673" y="2791114"/>
            <a:ext cx="670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6600" dirty="0">
                <a:latin typeface="+mn-ea"/>
                <a:ea typeface="+mn-ea"/>
              </a:rPr>
              <a:t>?</a:t>
            </a:r>
            <a:endParaRPr lang="ko-KR" altLang="en-US" sz="6600" dirty="0">
              <a:latin typeface="+mn-ea"/>
              <a:ea typeface="+mn-ea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참조 방식</a:t>
            </a:r>
          </a:p>
        </p:txBody>
      </p:sp>
    </p:spTree>
    <p:extLst>
      <p:ext uri="{BB962C8B-B14F-4D97-AF65-F5344CB8AC3E}">
        <p14:creationId xmlns:p14="http://schemas.microsoft.com/office/powerpoint/2010/main" val="257971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3056785" y="2911453"/>
            <a:ext cx="6078430" cy="3258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2AAE3-17C1-F878-3741-66BF94C58A57}"/>
              </a:ext>
            </a:extLst>
          </p:cNvPr>
          <p:cNvSpPr txBox="1"/>
          <p:nvPr/>
        </p:nvSpPr>
        <p:spPr>
          <a:xfrm>
            <a:off x="2751985" y="1335932"/>
            <a:ext cx="66880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ko-KR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alert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헤드 그런데 </a:t>
            </a:r>
            <a:r>
              <a:rPr lang="en-US" altLang="ko-KR" sz="2800" b="0" dirty="0" err="1">
                <a:solidFill>
                  <a:srgbClr val="A31515"/>
                </a:solidFill>
                <a:effectLst/>
                <a:latin typeface="+mn-ea"/>
              </a:rPr>
              <a:t>js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 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파일 링크 위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&lt;/script&gt;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937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💡</a:t>
            </a:r>
            <a:r>
              <a:rPr lang="en-US" altLang="ko-KR" dirty="0">
                <a:latin typeface="+mn-ea"/>
                <a:ea typeface="+mn-ea"/>
              </a:rPr>
              <a:t>Java Script </a:t>
            </a:r>
            <a:r>
              <a:rPr lang="ko-KR" altLang="en-US" dirty="0">
                <a:latin typeface="+mn-ea"/>
                <a:ea typeface="+mn-ea"/>
              </a:rPr>
              <a:t>파일을 따로 만들어서 링크하는 방식 </a:t>
            </a:r>
            <a:r>
              <a:rPr lang="en-US" altLang="ko-KR" dirty="0">
                <a:latin typeface="+mn-ea"/>
                <a:ea typeface="+mn-ea"/>
              </a:rPr>
              <a:t>like CSS</a:t>
            </a:r>
          </a:p>
          <a:p>
            <a:endParaRPr lang="en-US" altLang="ko-KR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993D7-F513-7DF4-E6E7-A7EA5DEE8FCB}"/>
              </a:ext>
            </a:extLst>
          </p:cNvPr>
          <p:cNvSpPr txBox="1"/>
          <p:nvPr/>
        </p:nvSpPr>
        <p:spPr>
          <a:xfrm>
            <a:off x="2927275" y="1902134"/>
            <a:ext cx="6337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sz="2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src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sz="2800" b="0" dirty="0">
                <a:solidFill>
                  <a:srgbClr val="0000FF"/>
                </a:solidFill>
                <a:effectLst/>
                <a:latin typeface="+mn-ea"/>
              </a:rPr>
              <a:t>"./index.js"</a:t>
            </a:r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&gt;&lt;/script&gt;</a:t>
            </a:r>
            <a:endParaRPr lang="en-US" altLang="ko-KR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07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각각의 </a:t>
            </a:r>
            <a:r>
              <a:rPr lang="ko-KR" altLang="en-US" dirty="0">
                <a:solidFill>
                  <a:schemeClr val="accent1"/>
                </a:solidFill>
              </a:rPr>
              <a:t>장단점</a:t>
            </a:r>
            <a:r>
              <a:rPr lang="ko-KR" altLang="en-US" dirty="0"/>
              <a:t>이 존재 하겠죠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내장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간단하게 만들 수 있음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페이지에서만 작동하는 기능일 경우 내장 방식으로만 따로 구현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링크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코드의 양이 많아지면 파일로 관리하는 편이 편함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기능을 다른 페이지에서 사용하고 싶을 때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링크만 걸어서 사용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유지 보수 용이성이 편리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46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일단 해봅시다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51B1507-D26C-0164-32D8-F69EFF7A5668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</a:t>
            </a:r>
            <a:r>
              <a:rPr lang="en-US" altLang="ko-KR" dirty="0">
                <a:latin typeface="+mn-ea"/>
                <a:ea typeface="+mn-ea"/>
              </a:rPr>
              <a:t>console.log(“TEXT”);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콘솔에 내용을 출력함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우리의 디버깅 친구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</a:p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</a:t>
            </a:r>
            <a:r>
              <a:rPr lang="en-US" altLang="ko-KR" dirty="0">
                <a:latin typeface="+mn-ea"/>
                <a:ea typeface="+mn-ea"/>
              </a:rPr>
              <a:t>alert(“TEXT”);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화면에 뭐든 떠야 재미 있으니까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자매품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confirm(“TEXT”);</a:t>
            </a:r>
          </a:p>
          <a:p>
            <a:pPr lvl="2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애는 취소 버튼이 있어요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값을 </a:t>
            </a:r>
            <a:r>
              <a:rPr lang="ko-KR" altLang="en-US" dirty="0" err="1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리턴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한다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&amp;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IF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문에 사용 가능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615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097390-0195-EEBD-13E4-36CF255CAD5B}"/>
              </a:ext>
            </a:extLst>
          </p:cNvPr>
          <p:cNvSpPr txBox="1"/>
          <p:nvPr/>
        </p:nvSpPr>
        <p:spPr>
          <a:xfrm>
            <a:off x="5088958" y="5435300"/>
            <a:ext cx="1965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index.html</a:t>
            </a:r>
            <a:endParaRPr lang="ko-KR" altLang="en-US" sz="2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19F317-47C1-A1F7-1DA4-9BAA3E39F5A5}"/>
              </a:ext>
            </a:extLst>
          </p:cNvPr>
          <p:cNvGrpSpPr/>
          <p:nvPr/>
        </p:nvGrpSpPr>
        <p:grpSpPr>
          <a:xfrm>
            <a:off x="703810" y="976450"/>
            <a:ext cx="10541411" cy="5262979"/>
            <a:chOff x="703810" y="976450"/>
            <a:chExt cx="10541411" cy="52629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0080E2-F2C9-6166-5A17-5E5782668B3F}"/>
                </a:ext>
              </a:extLst>
            </p:cNvPr>
            <p:cNvSpPr txBox="1"/>
            <p:nvPr/>
          </p:nvSpPr>
          <p:spPr>
            <a:xfrm>
              <a:off x="703810" y="976450"/>
              <a:ext cx="6476172" cy="526297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&lt;!DOCTYPE html&gt;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&lt;html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lang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="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ko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&lt;head&gt;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&lt;meta charset="UTF-8"&gt;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&lt;meta http-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equiv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="X-UA-Compatible" content="IE=edge"&gt;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&lt;meta name="viewport" content="width=device-width, initial-scale=1.0"&gt;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&lt;title&gt;Document&lt;/title&gt;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헤드 그런데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링크 위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src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="./index.js"&gt;&lt;/script&gt;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헤드 그런데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링크 아래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&lt;/head&gt;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alert("</a:t>
              </a:r>
              <a:r>
                <a:rPr lang="ko-KR" altLang="en-US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헤드랑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바디 사이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&lt;body&gt;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&lt;h1&gt;hello,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World!&lt;/h1&gt;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 안쪽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&lt;/body&gt;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 아래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&lt;/html&gt;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4FC61E-8AF7-AB97-A4F8-9FD4B71D61E0}"/>
                </a:ext>
              </a:extLst>
            </p:cNvPr>
            <p:cNvSpPr txBox="1"/>
            <p:nvPr/>
          </p:nvSpPr>
          <p:spPr>
            <a:xfrm>
              <a:off x="7761792" y="976450"/>
              <a:ext cx="3483429" cy="3693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alert(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“</a:t>
              </a:r>
              <a:r>
                <a:rPr lang="ko-KR" altLang="en-US" b="0" dirty="0" err="1">
                  <a:solidFill>
                    <a:srgbClr val="CE9178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링크방식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);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09498-2AC3-DEE1-2526-BD3DCFED4984}"/>
                </a:ext>
              </a:extLst>
            </p:cNvPr>
            <p:cNvSpPr txBox="1"/>
            <p:nvPr/>
          </p:nvSpPr>
          <p:spPr>
            <a:xfrm>
              <a:off x="7761792" y="1345782"/>
              <a:ext cx="14662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+mn-ea"/>
                </a:rPr>
                <a:t>index.js</a:t>
              </a:r>
              <a:endParaRPr lang="ko-KR" altLang="en-US" sz="2800" dirty="0">
                <a:latin typeface="+mn-ea"/>
              </a:endParaRPr>
            </a:p>
          </p:txBody>
        </p:sp>
      </p:grpSp>
      <p:sp>
        <p:nvSpPr>
          <p:cNvPr id="2" name="제목 4">
            <a:extLst>
              <a:ext uri="{FF2B5EF4-FFF2-40B4-BE49-F238E27FC236}">
                <a16:creationId xmlns:a16="http://schemas.microsoft.com/office/drawing/2014/main" id="{6AE7C0CA-FC4A-CC8F-C3E2-9EE16F088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읽기</a:t>
            </a:r>
            <a:r>
              <a:rPr lang="en-US" altLang="ko-KR" dirty="0"/>
              <a:t> </a:t>
            </a:r>
            <a:r>
              <a:rPr lang="ko-KR" altLang="en-US" dirty="0"/>
              <a:t>순서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58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2328944"/>
            <a:ext cx="121920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JS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</a:p>
        </p:txBody>
      </p:sp>
    </p:spTree>
    <p:extLst>
      <p:ext uri="{BB962C8B-B14F-4D97-AF65-F5344CB8AC3E}">
        <p14:creationId xmlns:p14="http://schemas.microsoft.com/office/powerpoint/2010/main" val="243137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1102901"/>
            <a:ext cx="10515600" cy="1325563"/>
          </a:xfrm>
        </p:spPr>
        <p:txBody>
          <a:bodyPr/>
          <a:lstStyle/>
          <a:p>
            <a:r>
              <a:rPr lang="ko-KR" altLang="en-US" sz="4800" dirty="0">
                <a:solidFill>
                  <a:srgbClr val="ED7D31"/>
                </a:solidFill>
              </a:rPr>
              <a:t>표기법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C0264-2D2C-B74D-690D-09ABEE8D6A14}"/>
              </a:ext>
            </a:extLst>
          </p:cNvPr>
          <p:cNvSpPr txBox="1"/>
          <p:nvPr/>
        </p:nvSpPr>
        <p:spPr>
          <a:xfrm>
            <a:off x="1972809" y="2428464"/>
            <a:ext cx="824637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/>
              <a:t>dash-case (kebab-case)</a:t>
            </a:r>
          </a:p>
          <a:p>
            <a:pPr algn="ctr">
              <a:lnSpc>
                <a:spcPct val="150000"/>
              </a:lnSpc>
            </a:pPr>
            <a:r>
              <a:rPr lang="en-US" altLang="ko-KR" sz="2400" dirty="0" err="1"/>
              <a:t>snake_case</a:t>
            </a:r>
            <a:endParaRPr lang="en-US" altLang="ko-KR" sz="2400" dirty="0"/>
          </a:p>
          <a:p>
            <a:pPr algn="ctr">
              <a:lnSpc>
                <a:spcPct val="150000"/>
              </a:lnSpc>
            </a:pPr>
            <a:r>
              <a:rPr lang="en-US" altLang="ko-KR" sz="2400" dirty="0"/>
              <a:t>camelCase</a:t>
            </a:r>
          </a:p>
          <a:p>
            <a:pPr algn="ctr">
              <a:lnSpc>
                <a:spcPct val="150000"/>
              </a:lnSpc>
            </a:pPr>
            <a:r>
              <a:rPr lang="en-US" altLang="ko-KR" sz="2400" dirty="0" err="1"/>
              <a:t>PascalCase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77009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0DB307-7949-D58B-82A2-BD9AA9B7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58EF4-F0FC-F44C-A482-6DCA246F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E86DB-D526-9EBA-3FC4-AD9F816D5DF6}"/>
              </a:ext>
            </a:extLst>
          </p:cNvPr>
          <p:cNvSpPr txBox="1"/>
          <p:nvPr/>
        </p:nvSpPr>
        <p:spPr>
          <a:xfrm>
            <a:off x="982910" y="2782669"/>
            <a:ext cx="10226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/>
              <a:t>tomakeyoufeelmyloveknowmetoowell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2145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3607268" y="1479215"/>
            <a:ext cx="706180" cy="7061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dash-case(kebab-case)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to-make-you-feel-my-love-know-me-too-well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7BA256-0372-7B4B-0363-F95BF523E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6" t="8334" r="70543" b="16381"/>
          <a:stretch/>
        </p:blipFill>
        <p:spPr>
          <a:xfrm>
            <a:off x="4435119" y="4519017"/>
            <a:ext cx="781749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BDA870-D3E8-0979-B481-F7B7038BE5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61" t="12357" r="37847" b="12357"/>
          <a:stretch/>
        </p:blipFill>
        <p:spPr>
          <a:xfrm>
            <a:off x="6975132" y="4581096"/>
            <a:ext cx="834932" cy="11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50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5914240" y="1747425"/>
            <a:ext cx="836231" cy="83623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/>
              <a:t>snake_case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to_make_you_feel_my_love_know_me_too_well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7BA256-0372-7B4B-0363-F95BF523E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6" t="8334" r="70543" b="16381"/>
          <a:stretch/>
        </p:blipFill>
        <p:spPr>
          <a:xfrm>
            <a:off x="4435119" y="4519017"/>
            <a:ext cx="781749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BDA870-D3E8-0979-B481-F7B7038BE5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61" t="12357" r="37847" b="12357"/>
          <a:stretch/>
        </p:blipFill>
        <p:spPr>
          <a:xfrm>
            <a:off x="6975132" y="4581096"/>
            <a:ext cx="834932" cy="11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17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6134942" y="1309516"/>
            <a:ext cx="920200" cy="920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camelCase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toMakeYouFeelMyLoveKnowMeTooWell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C472D8-5DD8-279B-96FE-D86E7B0E6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55" t="6938" r="5976" b="13517"/>
          <a:stretch/>
        </p:blipFill>
        <p:spPr>
          <a:xfrm>
            <a:off x="5681936" y="4519017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5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3942826" y="1303723"/>
            <a:ext cx="947955" cy="9479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8A9060B-A033-8F5B-90C2-15E54BAC7EF2}"/>
              </a:ext>
            </a:extLst>
          </p:cNvPr>
          <p:cNvSpPr/>
          <p:nvPr/>
        </p:nvSpPr>
        <p:spPr>
          <a:xfrm>
            <a:off x="6137944" y="1303722"/>
            <a:ext cx="947955" cy="9479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/>
              <a:t>PascalCase</a:t>
            </a:r>
            <a:endParaRPr lang="ko-KR" altLang="en-US" sz="6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C472D8-5DD8-279B-96FE-D86E7B0E6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55" t="6938" r="5976" b="13517"/>
          <a:stretch/>
        </p:blipFill>
        <p:spPr>
          <a:xfrm>
            <a:off x="5681936" y="4519017"/>
            <a:ext cx="828128" cy="1195742"/>
          </a:xfrm>
          <a:prstGeom prst="rect">
            <a:avLst/>
          </a:prstGeom>
        </p:spPr>
      </p:pic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94F5186B-3CC4-C6C5-0E8F-A82DC1D4EADA}"/>
              </a:ext>
            </a:extLst>
          </p:cNvPr>
          <p:cNvSpPr txBox="1">
            <a:spLocks/>
          </p:cNvSpPr>
          <p:nvPr/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ToMakeYouFeelMyLoveKnowMeTooWell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683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788" y="1145407"/>
            <a:ext cx="7253913" cy="153683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프로그래밍에서는 </a:t>
            </a:r>
            <a:r>
              <a:rPr lang="en-US" altLang="ko-KR" dirty="0"/>
              <a:t>0 </a:t>
            </a:r>
            <a:r>
              <a:rPr lang="ko-KR" altLang="en-US" dirty="0"/>
              <a:t>기반으로 번호를 매긴다</a:t>
            </a:r>
            <a:r>
              <a:rPr lang="en-US" altLang="ko-KR" dirty="0"/>
              <a:t>!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특수한 경우를 제외하고는 </a:t>
            </a:r>
            <a:r>
              <a:rPr lang="en-US" altLang="ko-KR" b="1" dirty="0">
                <a:solidFill>
                  <a:schemeClr val="accent1"/>
                </a:solidFill>
              </a:rPr>
              <a:t>0</a:t>
            </a:r>
            <a:r>
              <a:rPr lang="ko-KR" altLang="en-US" b="1" dirty="0">
                <a:solidFill>
                  <a:schemeClr val="accent1"/>
                </a:solidFill>
              </a:rPr>
              <a:t>부터 숫자를 시작</a:t>
            </a:r>
            <a:r>
              <a:rPr lang="ko-KR" altLang="en-US" dirty="0"/>
              <a:t>함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Zero-based Numbering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3340868"/>
            <a:ext cx="84867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7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주석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30DBB1-02FD-B1DC-9BD9-C2F5B8DE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533" y="1433383"/>
            <a:ext cx="4295398" cy="470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76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</a:t>
            </a:r>
            <a:r>
              <a:rPr lang="ko-KR" altLang="en-US" sz="6000" dirty="0">
                <a:solidFill>
                  <a:srgbClr val="ED7D31"/>
                </a:solidFill>
              </a:rPr>
              <a:t>변수</a:t>
            </a:r>
          </a:p>
        </p:txBody>
      </p:sp>
    </p:spTree>
    <p:extLst>
      <p:ext uri="{BB962C8B-B14F-4D97-AF65-F5344CB8AC3E}">
        <p14:creationId xmlns:p14="http://schemas.microsoft.com/office/powerpoint/2010/main" val="1185911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5122" name="Picture 2" descr="memory allocation">
            <a:extLst>
              <a:ext uri="{FF2B5EF4-FFF2-40B4-BE49-F238E27FC236}">
                <a16:creationId xmlns:a16="http://schemas.microsoft.com/office/drawing/2014/main" id="{A410ECD0-EE04-9BEF-CB45-F8D3C2BB4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161" y="2475831"/>
            <a:ext cx="9211678" cy="294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5373AF-BD92-D239-BB61-44042A861D74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💡변수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자료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데이터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를 저장하는 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메모리 상의</a:t>
            </a:r>
            <a:r>
              <a:rPr lang="en-US" altLang="ko-KR" dirty="0">
                <a:latin typeface="+mn-ea"/>
                <a:ea typeface="+mn-ea"/>
              </a:rPr>
              <a:t>) </a:t>
            </a:r>
            <a:r>
              <a:rPr lang="ko-KR" altLang="en-US" dirty="0">
                <a:latin typeface="+mn-ea"/>
                <a:ea typeface="+mn-ea"/>
              </a:rPr>
              <a:t>공간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9882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1ACAE0-6926-0ED2-47FC-8020FFD77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25621"/>
            <a:ext cx="6982643" cy="50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62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557" y="2806465"/>
            <a:ext cx="8742886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선언 단계와 초기화가 동시에 이루어지며 아무것도 할당하지 않으면 자동으로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undefined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할당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선언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재선언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사용을 지양함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var</a:t>
            </a:r>
            <a:r>
              <a:rPr lang="en-US" altLang="ko-KR" dirty="0"/>
              <a:t> &amp; let &amp; const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A85657-EF9A-6723-328E-52249A34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91" y="1705852"/>
            <a:ext cx="4050931" cy="8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6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141" y="3247797"/>
            <a:ext cx="8911891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ko-KR" altLang="en-US" sz="24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선언이 불가능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하지만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재할당 가능</a:t>
            </a:r>
            <a:endParaRPr lang="en-US" altLang="ko-KR" sz="2400" b="1" dirty="0">
              <a:highlight>
                <a:srgbClr val="FFFF00"/>
              </a:highlight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마찬가지로 선언을 하지 않으면 자동으로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undefined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들어감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</a:t>
            </a:r>
            <a:r>
              <a:rPr lang="en-US" altLang="ko-KR" dirty="0">
                <a:solidFill>
                  <a:schemeClr val="accent1"/>
                </a:solidFill>
              </a:rPr>
              <a:t>let</a:t>
            </a:r>
            <a:r>
              <a:rPr lang="en-US" altLang="ko-KR" dirty="0"/>
              <a:t> &amp; const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94857E-BD2B-9E54-8DD3-8E494B669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141" y="1574301"/>
            <a:ext cx="4914444" cy="11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46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187" y="3274538"/>
            <a:ext cx="8296904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초반에 선언할 때 반드시 </a:t>
            </a:r>
            <a:r>
              <a:rPr lang="ko-KR" altLang="en-US" sz="24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초기화를 동시에 진행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해야 한다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재선언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재할당 불가능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let &amp; </a:t>
            </a:r>
            <a:r>
              <a:rPr lang="en-US" altLang="ko-KR" dirty="0">
                <a:solidFill>
                  <a:schemeClr val="accent1"/>
                </a:solidFill>
              </a:rPr>
              <a:t>const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812EEB-DFA2-3F5A-2891-EB16D28BD2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545"/>
          <a:stretch/>
        </p:blipFill>
        <p:spPr>
          <a:xfrm>
            <a:off x="1881187" y="1820571"/>
            <a:ext cx="6505219" cy="93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13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잠깐 퀴즈</a:t>
            </a:r>
            <a:r>
              <a:rPr lang="en-US" altLang="ko-KR" sz="6000" dirty="0">
                <a:solidFill>
                  <a:srgbClr val="ED7D31"/>
                </a:solidFill>
              </a:rPr>
              <a:t>!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947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my_variable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3rd_number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$money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function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751758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user-name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_</a:t>
            </a:r>
            <a:r>
              <a:rPr lang="en-US" altLang="ko-KR" sz="4800" dirty="0" err="1"/>
              <a:t>userAge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123var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return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63548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class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my_variable_1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special!char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true_false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0178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DFCAB3-0391-773B-6FFA-1E545FF7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5844212" cy="689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변수 이름은 읽기 쉽도록 센스 있게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12C72-3EBC-9E39-EC7C-90A26846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3233E-DF04-3A1E-CB33-63224AE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9470097-0D28-846A-31E9-D66BFB29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Tip!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F36A8-B893-1C92-C474-75BA8B726D06}"/>
              </a:ext>
            </a:extLst>
          </p:cNvPr>
          <p:cNvSpPr txBox="1"/>
          <p:nvPr/>
        </p:nvSpPr>
        <p:spPr>
          <a:xfrm>
            <a:off x="2245658" y="2933735"/>
            <a:ext cx="7700683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변수 이름은 읽기 쉽도록 센스 있게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길동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userNumber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userName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길동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115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DFCAB3-0391-773B-6FFA-1E545FF7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8958021" cy="889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상수는 대문자로 선언해서 다른 개발자도 알 수 있게 하기</a:t>
            </a:r>
            <a:r>
              <a:rPr lang="en-US" altLang="ko-KR" dirty="0"/>
              <a:t>!</a:t>
            </a:r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12C72-3EBC-9E39-EC7C-90A26846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3233E-DF04-3A1E-CB33-63224AE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9470097-0D28-846A-31E9-D66BFB29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Tip2!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26190-503F-113C-B75D-1207E3D31993}"/>
              </a:ext>
            </a:extLst>
          </p:cNvPr>
          <p:cNvSpPr txBox="1"/>
          <p:nvPr/>
        </p:nvSpPr>
        <p:spPr>
          <a:xfrm>
            <a:off x="1797097" y="3097674"/>
            <a:ext cx="86106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상수는 대문자로 선언해서 다른 개발자도 알 수 있게 해주세요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WIDTH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1100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CODINGON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codingon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4934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</a:t>
            </a:r>
            <a:r>
              <a:rPr lang="ko-KR" altLang="en-US" sz="6000" dirty="0" err="1">
                <a:solidFill>
                  <a:srgbClr val="ED7D31"/>
                </a:solidFill>
              </a:rPr>
              <a:t>자료형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589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B7D85-874F-952F-CA6D-BB5C81F1E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✅ 정적</a:t>
            </a:r>
            <a:r>
              <a:rPr lang="ko-KR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타입 언어</a:t>
            </a:r>
            <a:endParaRPr lang="en-US" altLang="ko-KR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ko-KR" altLang="en-US" dirty="0"/>
              <a:t>타입 검사를 통과하지 못한다면 실행 자체가 안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String, int, double </a:t>
            </a:r>
            <a:r>
              <a:rPr lang="ko-KR" altLang="en-US" dirty="0"/>
              <a:t>등처럼 타입을 </a:t>
            </a:r>
            <a:r>
              <a:rPr lang="en-US" altLang="ko-KR" dirty="0"/>
              <a:t>1</a:t>
            </a:r>
            <a:r>
              <a:rPr lang="ko-KR" altLang="en-US" dirty="0"/>
              <a:t>종류로 명확히 지정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b="1" dirty="0"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✅ 동적</a:t>
            </a:r>
            <a:r>
              <a:rPr lang="ko-KR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타입 언어</a:t>
            </a:r>
            <a:endParaRPr lang="en-US" altLang="ko-KR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ko-KR" altLang="en-US" dirty="0"/>
              <a:t>런타임에서 타입 오류를 만나더라도 실행을 막지 않는다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타입이 여러 종류인 값들이 상관없이 지정된다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6936F-9EAE-6400-2CC3-66B967F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67A6B-E266-25BD-4D0B-14B40A8B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DF478E-D774-DE90-8BAF-58EA597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 타입</a:t>
            </a:r>
          </a:p>
        </p:txBody>
      </p:sp>
    </p:spTree>
    <p:extLst>
      <p:ext uri="{BB962C8B-B14F-4D97-AF65-F5344CB8AC3E}">
        <p14:creationId xmlns:p14="http://schemas.microsoft.com/office/powerpoint/2010/main" val="1714757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는 느슨한 언어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579191" cy="3654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 err="1"/>
              <a:t>Javascript</a:t>
            </a:r>
            <a:r>
              <a:rPr lang="ko-KR" altLang="en-US" dirty="0"/>
              <a:t>는 데이터 종류와 관계 없이 변수를 선언하고 사용함</a:t>
            </a:r>
            <a:r>
              <a:rPr lang="en-US" altLang="ko-KR" dirty="0"/>
              <a:t>!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동적 타입 언어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정적 타입 언어들은 변수를 선언할 때 명확하게 타입을 </a:t>
            </a:r>
            <a:r>
              <a:rPr lang="en-US" altLang="ko-KR" dirty="0"/>
              <a:t>1</a:t>
            </a:r>
            <a:r>
              <a:rPr lang="ko-KR" altLang="en-US" dirty="0"/>
              <a:t>종류만 지정함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Ex. JAVA, C, C++ </a:t>
            </a:r>
          </a:p>
        </p:txBody>
      </p:sp>
    </p:spTree>
    <p:extLst>
      <p:ext uri="{BB962C8B-B14F-4D97-AF65-F5344CB8AC3E}">
        <p14:creationId xmlns:p14="http://schemas.microsoft.com/office/powerpoint/2010/main" val="2970408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4E2A-27BC-6C65-A362-5A516265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C1BD1-9CE3-E7D2-7C33-7F909D61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5ADE6F-F27E-74A1-9902-6AD37529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CEFE98-10C0-AF7E-48B6-73C93705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의 등장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D8AF174-BDCF-4EB1-786C-59F5114AF237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579191" cy="3654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자바스크립트에 정적 타입 시스템과 최신 문법을 추가하여 더 안전하고 유지보수하기 쉽게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만든 프로그래밍 언어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동적 타입 한계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런타임 오류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협업 난점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보완하기 위해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TS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정적 타입 시스템을 도입하여 안정성과 생산성을 높이는 도구로 등장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000" dirty="0"/>
              <a:t>신규 프로젝트에서는 타입스크립트</a:t>
            </a:r>
            <a:r>
              <a:rPr lang="en-US" altLang="ko-KR" sz="2000" dirty="0"/>
              <a:t>(TS) </a:t>
            </a:r>
            <a:r>
              <a:rPr lang="ko-KR" altLang="en-US" sz="2000" dirty="0"/>
              <a:t>사용이 사실상 표준처럼 자리잡았음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3074" name="Picture 2" descr="타입스크립트 - 위키백과, 우리 모두의 백과사전">
            <a:extLst>
              <a:ext uri="{FF2B5EF4-FFF2-40B4-BE49-F238E27FC236}">
                <a16:creationId xmlns:a16="http://schemas.microsoft.com/office/drawing/2014/main" id="{39052BC3-89A5-A00E-ED4C-4DB8DCAE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209" y="4216400"/>
            <a:ext cx="1955800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8860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자료형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C8ADAF6B-E2E4-3104-0C92-65F1ADDA3C45}"/>
              </a:ext>
            </a:extLst>
          </p:cNvPr>
          <p:cNvSpPr/>
          <p:nvPr/>
        </p:nvSpPr>
        <p:spPr>
          <a:xfrm>
            <a:off x="1371600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Primitive </a:t>
            </a:r>
            <a:r>
              <a:rPr lang="ko-KR" altLang="en-US" sz="3600" dirty="0"/>
              <a:t>자료형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E8F4A16-A580-8598-445C-BE56538BEF63}"/>
              </a:ext>
            </a:extLst>
          </p:cNvPr>
          <p:cNvSpPr/>
          <p:nvPr/>
        </p:nvSpPr>
        <p:spPr>
          <a:xfrm>
            <a:off x="6874042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Object </a:t>
            </a:r>
            <a:r>
              <a:rPr lang="ko-KR" altLang="en-US" sz="3600" dirty="0"/>
              <a:t>자료형</a:t>
            </a:r>
          </a:p>
        </p:txBody>
      </p:sp>
    </p:spTree>
    <p:extLst>
      <p:ext uri="{BB962C8B-B14F-4D97-AF65-F5344CB8AC3E}">
        <p14:creationId xmlns:p14="http://schemas.microsoft.com/office/powerpoint/2010/main" val="861625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38991" y="951424"/>
            <a:ext cx="9835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기본형</a:t>
            </a:r>
            <a:r>
              <a:rPr lang="en-US" altLang="ko-KR" dirty="0">
                <a:latin typeface="+mn-ea"/>
              </a:rPr>
              <a:t> / </a:t>
            </a:r>
            <a:r>
              <a:rPr lang="ko-KR" altLang="en-US" dirty="0">
                <a:latin typeface="+mn-ea"/>
              </a:rPr>
              <a:t>원시형 </a:t>
            </a:r>
            <a:r>
              <a:rPr lang="en-US" altLang="ko-KR" dirty="0">
                <a:latin typeface="+mn-ea"/>
              </a:rPr>
              <a:t>(Primitive)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string, number,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bigInt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boolean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null, undefined, symbol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객체 </a:t>
            </a:r>
            <a:r>
              <a:rPr lang="en-US" altLang="ko-KR" dirty="0">
                <a:latin typeface="+mn-ea"/>
              </a:rPr>
              <a:t>(Object)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기본형이 아닌 것은 모두 객체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3939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String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032" y="1638373"/>
            <a:ext cx="9005935" cy="300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0541" y="2248504"/>
            <a:ext cx="2211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>
              <a:solidFill>
                <a:srgbClr val="6A9955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6A9955"/>
                </a:solidFill>
                <a:latin typeface="+mn-ea"/>
              </a:rPr>
              <a:t>String 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문자형 데이터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r>
              <a:rPr lang="ko-KR" altLang="en-US" b="1" dirty="0">
                <a:solidFill>
                  <a:srgbClr val="6A9955"/>
                </a:solidFill>
                <a:latin typeface="+mn-ea"/>
              </a:rPr>
              <a:t>따옴표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를 사용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032" y="4777472"/>
            <a:ext cx="5905500" cy="1104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4990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+ </a:t>
            </a:r>
            <a:r>
              <a:rPr lang="ko-KR" altLang="en-US" dirty="0"/>
              <a:t>연산자를 사용해서 변수를 문자로 변환 후 더하여 사용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console.log(“</a:t>
            </a:r>
            <a:r>
              <a:rPr lang="ko-KR" altLang="en-US" dirty="0"/>
              <a:t>문자” </a:t>
            </a:r>
            <a:r>
              <a:rPr lang="en-US" altLang="ko-KR" dirty="0"/>
              <a:t>+ </a:t>
            </a:r>
            <a:r>
              <a:rPr lang="ko-KR" altLang="en-US" dirty="0"/>
              <a:t>변수 </a:t>
            </a:r>
            <a:r>
              <a:rPr lang="en-US" altLang="ko-KR" dirty="0"/>
              <a:t>+ “</a:t>
            </a:r>
            <a:r>
              <a:rPr lang="ko-KR" altLang="en-US" dirty="0"/>
              <a:t>문자”</a:t>
            </a:r>
            <a:r>
              <a:rPr lang="en-US" altLang="ko-KR" dirty="0"/>
              <a:t>);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백틱</a:t>
            </a:r>
            <a:r>
              <a:rPr lang="ko-KR" altLang="en-US" dirty="0"/>
              <a:t> 문자 사용</a:t>
            </a:r>
            <a:r>
              <a:rPr lang="en-US" altLang="ko-KR" dirty="0"/>
              <a:t>(Template literals)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`</a:t>
            </a:r>
            <a:r>
              <a:rPr lang="ko-KR" altLang="en-US" dirty="0"/>
              <a:t>문자를 쓰다가 변수를 쓰고 싶으면 </a:t>
            </a:r>
            <a:r>
              <a:rPr lang="en-US" altLang="ko-KR" dirty="0"/>
              <a:t>${variable} </a:t>
            </a:r>
            <a:r>
              <a:rPr lang="ko-KR" altLang="en-US" dirty="0"/>
              <a:t>처럼 쓰면 됩니다</a:t>
            </a:r>
            <a:r>
              <a:rPr lang="en-US" altLang="ko-KR" dirty="0"/>
              <a:t>`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</a:t>
            </a:r>
            <a:r>
              <a:rPr lang="en-US" altLang="ko-KR" dirty="0"/>
              <a:t> + </a:t>
            </a:r>
            <a:r>
              <a:rPr lang="ko-KR" altLang="en-US" dirty="0"/>
              <a:t>변수를 동시에 쓰고 싶을 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903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</a:t>
            </a:r>
            <a:r>
              <a:rPr lang="en-US" altLang="ko-KR" dirty="0"/>
              <a:t>Number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F57D2-A039-AD3B-96D2-8559F7FBFBC4}"/>
              </a:ext>
            </a:extLst>
          </p:cNvPr>
          <p:cNvSpPr txBox="1"/>
          <p:nvPr/>
        </p:nvSpPr>
        <p:spPr>
          <a:xfrm>
            <a:off x="3048786" y="2001604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Number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숫자형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정수 및 소수점 숫자를 나타냄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0.7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86" y="4879013"/>
            <a:ext cx="5829300" cy="3905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8300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</a:t>
            </a:r>
            <a:r>
              <a:rPr lang="en-US" altLang="ko-KR" dirty="0"/>
              <a:t> </a:t>
            </a:r>
            <a:r>
              <a:rPr lang="ko-KR" altLang="en-US" dirty="0"/>
              <a:t>거짓 데이터 </a:t>
            </a:r>
            <a:r>
              <a:rPr lang="en-US" altLang="ko-KR" dirty="0"/>
              <a:t>Boolean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6516A-6A13-986C-B07A-5571049E64FF}"/>
              </a:ext>
            </a:extLst>
          </p:cNvPr>
          <p:cNvSpPr txBox="1"/>
          <p:nvPr/>
        </p:nvSpPr>
        <p:spPr>
          <a:xfrm>
            <a:off x="3048786" y="2136338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Boolean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참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거짓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true, false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두 가지 값만 가지는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86" y="4944622"/>
            <a:ext cx="6094428" cy="3821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47453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미할당</a:t>
            </a:r>
            <a:r>
              <a:rPr lang="ko-KR" altLang="en-US" dirty="0"/>
              <a:t> 데이터 </a:t>
            </a:r>
            <a:r>
              <a:rPr lang="en-US" altLang="ko-KR" dirty="0"/>
              <a:t>undefined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83155-F799-0937-A9A9-96F9AB2F11E1}"/>
              </a:ext>
            </a:extLst>
          </p:cNvPr>
          <p:cNvSpPr txBox="1"/>
          <p:nvPr/>
        </p:nvSpPr>
        <p:spPr>
          <a:xfrm>
            <a:off x="3048786" y="1720840"/>
            <a:ext cx="6094428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en-US" altLang="ko-K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Undifined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값이 할당되지 않은 상태를 표기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efg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87" y="5220335"/>
            <a:ext cx="6094428" cy="5986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7830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빈</a:t>
            </a:r>
            <a:r>
              <a:rPr lang="en-US" altLang="ko-KR" dirty="0"/>
              <a:t> </a:t>
            </a:r>
            <a:r>
              <a:rPr lang="ko-KR" altLang="en-US" dirty="0"/>
              <a:t>데이터 </a:t>
            </a:r>
            <a:r>
              <a:rPr lang="en-US" altLang="ko-KR" dirty="0"/>
              <a:t>null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43D18-33A6-F5EE-203F-27284B118FF4}"/>
              </a:ext>
            </a:extLst>
          </p:cNvPr>
          <p:cNvSpPr txBox="1"/>
          <p:nvPr/>
        </p:nvSpPr>
        <p:spPr>
          <a:xfrm>
            <a:off x="2849644" y="2413337"/>
            <a:ext cx="6492711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Null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어떤 값이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의도적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으로 비어 있음을 의미할 때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644" y="4635414"/>
            <a:ext cx="6492711" cy="4685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013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 Array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A7A16-8B23-1325-C53C-13327683712D}"/>
              </a:ext>
            </a:extLst>
          </p:cNvPr>
          <p:cNvSpPr txBox="1"/>
          <p:nvPr/>
        </p:nvSpPr>
        <p:spPr>
          <a:xfrm>
            <a:off x="1418503" y="1438454"/>
            <a:ext cx="774647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Array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배열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여러 데이터를 순차적으로 저장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"Orange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"Pineapple"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"Banana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4D7F7-3FE2-7B61-6CE0-3D4E70271DF9}"/>
              </a:ext>
            </a:extLst>
          </p:cNvPr>
          <p:cNvSpPr txBox="1"/>
          <p:nvPr/>
        </p:nvSpPr>
        <p:spPr>
          <a:xfrm>
            <a:off x="1418503" y="4033808"/>
            <a:ext cx="7872629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it-IT" altLang="ko-KR" b="0" dirty="0">
              <a:solidFill>
                <a:srgbClr val="569CD6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undefined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it-IT" altLang="ko-KR" b="1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1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4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it-IT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596" y="3242322"/>
            <a:ext cx="6000750" cy="8001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232" y="5342320"/>
            <a:ext cx="5924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11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꾸러미 </a:t>
            </a:r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508537" y="1639885"/>
            <a:ext cx="6096000" cy="2308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나비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isCute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: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()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return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냐옹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08537" y="4757310"/>
            <a:ext cx="6096000" cy="120032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());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939" y="2932721"/>
            <a:ext cx="4257675" cy="2819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75344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620116" y="1253992"/>
            <a:ext cx="7339638" cy="66053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해당</a:t>
            </a:r>
            <a:r>
              <a:rPr lang="en-US" altLang="ko-KR" dirty="0"/>
              <a:t> </a:t>
            </a:r>
            <a:r>
              <a:rPr lang="ko-KR" altLang="en-US" dirty="0"/>
              <a:t>자료형이 어떤 것인지 알려주는 연산자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자료형을</a:t>
            </a:r>
            <a:r>
              <a:rPr lang="en-US" altLang="ko-KR" dirty="0"/>
              <a:t> </a:t>
            </a:r>
            <a:r>
              <a:rPr lang="ko-KR" altLang="en-US" dirty="0"/>
              <a:t>알려주는 </a:t>
            </a:r>
            <a:r>
              <a:rPr lang="en-US" altLang="ko-KR" dirty="0" err="1"/>
              <a:t>typeof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BA8876C-9EE0-A856-DCF9-AF8D98EDE2EF}"/>
              </a:ext>
            </a:extLst>
          </p:cNvPr>
          <p:cNvGrpSpPr/>
          <p:nvPr/>
        </p:nvGrpSpPr>
        <p:grpSpPr>
          <a:xfrm>
            <a:off x="1758821" y="1914526"/>
            <a:ext cx="8674358" cy="1763066"/>
            <a:chOff x="1172082" y="2492411"/>
            <a:chExt cx="8674358" cy="17630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97DF24-93AC-799A-6BA1-FDD933AFA492}"/>
                </a:ext>
              </a:extLst>
            </p:cNvPr>
            <p:cNvSpPr txBox="1"/>
            <p:nvPr/>
          </p:nvSpPr>
          <p:spPr>
            <a:xfrm>
              <a:off x="1172082" y="2492411"/>
              <a:ext cx="6002366" cy="14773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endPara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＂</a:t>
              </a:r>
              <a:r>
                <a:rPr lang="ko-KR" altLang="en-US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안뇽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3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null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37B203E-5ED9-28BA-25AD-0D3BD09A7A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3535"/>
            <a:stretch/>
          </p:blipFill>
          <p:spPr>
            <a:xfrm>
              <a:off x="7508329" y="2492411"/>
              <a:ext cx="2338111" cy="1763066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0CE99EED-10B8-81E5-D756-FAE72CF0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821" y="3444779"/>
            <a:ext cx="3822829" cy="27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212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 err="1">
                <a:solidFill>
                  <a:srgbClr val="ED7D31"/>
                </a:solidFill>
              </a:rPr>
              <a:t>형변환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131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914" y="2035099"/>
            <a:ext cx="6777663" cy="1202146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Prompt </a:t>
            </a:r>
            <a:r>
              <a:rPr lang="ko-KR" altLang="en-US" dirty="0">
                <a:latin typeface="+mn-ea"/>
              </a:rPr>
              <a:t>사용</a:t>
            </a:r>
            <a:r>
              <a:rPr lang="en-US" altLang="ko-KR" dirty="0">
                <a:latin typeface="+mn-ea"/>
              </a:rPr>
              <a:t>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 사용자에게 메시지를 표시하고 입력을 받는 함수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) </a:t>
            </a:r>
            <a:r>
              <a:rPr lang="ko-KR" altLang="en-US" dirty="0">
                <a:solidFill>
                  <a:srgbClr val="ED7D31"/>
                </a:solidFill>
              </a:rPr>
              <a:t>성적 평균 구하는 프로그램 만들기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B01D03-0905-DF6B-E417-DCE8A7B730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403"/>
          <a:stretch/>
        </p:blipFill>
        <p:spPr>
          <a:xfrm>
            <a:off x="607914" y="3362325"/>
            <a:ext cx="10976172" cy="10782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EDD59C-058F-9F7D-AAB0-0C6CDF940C0C}"/>
              </a:ext>
            </a:extLst>
          </p:cNvPr>
          <p:cNvSpPr txBox="1"/>
          <p:nvPr/>
        </p:nvSpPr>
        <p:spPr>
          <a:xfrm>
            <a:off x="607914" y="4544738"/>
            <a:ext cx="6930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두 성적의 평균을 구해보세요</a:t>
            </a:r>
            <a:r>
              <a:rPr lang="en-US" altLang="ko-KR" sz="2800" dirty="0"/>
              <a:t>!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083505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그런데 결과값이 좀 이상하다</a:t>
            </a:r>
            <a:r>
              <a:rPr lang="en-US" altLang="ko-KR" b="0" dirty="0">
                <a:effectLst/>
                <a:latin typeface="+mn-ea"/>
              </a:rPr>
              <a:t>?</a:t>
            </a:r>
          </a:p>
          <a:p>
            <a:r>
              <a:rPr lang="en-US" altLang="ko-KR" b="0" dirty="0">
                <a:effectLst/>
                <a:latin typeface="+mn-ea"/>
              </a:rPr>
              <a:t> </a:t>
            </a:r>
            <a:r>
              <a:rPr lang="en-US" altLang="ko-KR" b="0" dirty="0">
                <a:solidFill>
                  <a:srgbClr val="6EC173"/>
                </a:solidFill>
                <a:effectLst/>
                <a:latin typeface="+mn-ea"/>
              </a:rPr>
              <a:t>Prompt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>
                <a:effectLst/>
                <a:latin typeface="+mn-ea"/>
              </a:rPr>
              <a:t>로 입력 받은 값은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“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문자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”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로 저장</a:t>
            </a:r>
            <a:r>
              <a:rPr lang="ko-KR" altLang="en-US" dirty="0">
                <a:latin typeface="+mn-ea"/>
              </a:rPr>
              <a:t>이 됩니다</a:t>
            </a:r>
            <a:r>
              <a:rPr lang="en-US" altLang="ko-KR" dirty="0">
                <a:latin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</a:rPr>
              <a:t>“80” + “50” = “8050” </a:t>
            </a:r>
          </a:p>
          <a:p>
            <a:pPr lvl="1"/>
            <a:r>
              <a:rPr lang="en-US" altLang="ko-KR" dirty="0">
                <a:latin typeface="+mn-ea"/>
                <a:sym typeface="Wingdings" panose="05000000000000000000" pitchFamily="2" charset="2"/>
              </a:rPr>
              <a:t>“8050” / 2  4025</a:t>
            </a:r>
            <a:endParaRPr lang="en-US" altLang="ko-KR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성적 평균 구하는 프로그램 만들기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E79587-1EA8-1187-D42D-D3AE0801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83292"/>
            <a:ext cx="10467624" cy="19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59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AB2A2E-24B8-486B-1AA3-AA1495BEE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6042"/>
            <a:ext cx="11701221" cy="283223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0" dirty="0">
                <a:effectLst/>
                <a:latin typeface="+mn-ea"/>
              </a:rPr>
              <a:t>💡 </a:t>
            </a:r>
            <a:r>
              <a:rPr lang="ko-KR" altLang="en-US" sz="2400" dirty="0"/>
              <a:t>자바스크립트 엔진이 </a:t>
            </a:r>
            <a:r>
              <a:rPr lang="ko-KR" altLang="en-US" sz="2400" b="1" dirty="0"/>
              <a:t>개발자가 명시적으로 변환하지 않아도 자동으로 값의 타입을 다른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      </a:t>
            </a:r>
            <a:r>
              <a:rPr lang="ko-KR" altLang="en-US" sz="2400" b="1" dirty="0"/>
              <a:t>타입으로 바꾸는 것</a:t>
            </a:r>
            <a:endParaRPr lang="en-US" altLang="ko-KR" sz="2400" b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dirty="0">
                <a:effectLst/>
                <a:latin typeface="+mn-ea"/>
              </a:rPr>
              <a:t>처음에는 편할 수도 있지만</a:t>
            </a:r>
            <a:r>
              <a:rPr lang="en-US" altLang="ko-KR" sz="2000" b="0" dirty="0">
                <a:effectLst/>
                <a:latin typeface="+mn-ea"/>
              </a:rPr>
              <a:t> </a:t>
            </a:r>
            <a:r>
              <a:rPr lang="ko-KR" altLang="en-US" sz="2000" b="0" dirty="0">
                <a:effectLst/>
                <a:latin typeface="+mn-ea"/>
              </a:rPr>
              <a:t>큰 문제를 일으키게 됩니다</a:t>
            </a:r>
            <a:r>
              <a:rPr lang="en-US" altLang="ko-KR" sz="2000" b="0" dirty="0"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dirty="0">
                <a:effectLst/>
                <a:latin typeface="+mn-ea"/>
              </a:rPr>
              <a:t>지금은 작은 프로그램이라 문제가 없었지만</a:t>
            </a:r>
            <a:r>
              <a:rPr lang="en-US" altLang="ko-KR" sz="2000" b="0" dirty="0">
                <a:effectLst/>
                <a:latin typeface="+mn-ea"/>
              </a:rPr>
              <a:t>, </a:t>
            </a:r>
            <a:r>
              <a:rPr lang="ko-KR" altLang="en-US" sz="2000" b="0" dirty="0">
                <a:effectLst/>
                <a:latin typeface="+mn-ea"/>
              </a:rPr>
              <a:t>프로그램이 더 커진다면 의도하지 않은 중대한 문제를 일으킬 수도 있습니다</a:t>
            </a:r>
            <a:r>
              <a:rPr lang="en-US" altLang="ko-KR" sz="2000" b="0" dirty="0">
                <a:effectLst/>
                <a:latin typeface="+mn-ea"/>
              </a:rPr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2BDDC3-E475-786E-8D1B-D87E3842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8B029-5553-A2BA-1548-DE4C827E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B953ABE-5E7F-D621-91A2-9BAF6B82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</a:t>
            </a:r>
            <a:r>
              <a:rPr lang="ko-KR" altLang="en-US" dirty="0"/>
              <a:t>의 자동 </a:t>
            </a:r>
            <a:r>
              <a:rPr lang="ko-KR" altLang="en-US" dirty="0" err="1"/>
              <a:t>형변환</a:t>
            </a:r>
            <a:r>
              <a:rPr lang="en-US" altLang="ko-KR" dirty="0"/>
              <a:t>!(</a:t>
            </a:r>
            <a:r>
              <a:rPr lang="ko-KR" altLang="en-US" dirty="0"/>
              <a:t>암시적 </a:t>
            </a:r>
            <a:r>
              <a:rPr lang="ko-KR" altLang="en-US" dirty="0" err="1"/>
              <a:t>형변환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5953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23A6786-443F-3370-2126-AED2C8A33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081" y="1035498"/>
            <a:ext cx="9701837" cy="18835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>
                <a:effectLst/>
                <a:latin typeface="+mn-ea"/>
              </a:rPr>
              <a:t>💡자동 형변환에 의존 하지 않고 개발자가 직접 형 변환을 시키는 것</a:t>
            </a:r>
            <a:endParaRPr lang="en-US" altLang="ko-KR" b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문자로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String()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숫자로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Number();</a:t>
            </a:r>
            <a:endParaRPr lang="en-US" altLang="ko-KR" b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BACB0B-0278-9C4A-0F64-D2CE4EBE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CA814-76A7-4F0F-197C-2D14255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C829F0D-A1DF-E03F-A846-BC4E2925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명시적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01F95D8-32B7-AA1F-188C-C88FF42D7FF7}"/>
              </a:ext>
            </a:extLst>
          </p:cNvPr>
          <p:cNvGrpSpPr/>
          <p:nvPr/>
        </p:nvGrpSpPr>
        <p:grpSpPr>
          <a:xfrm>
            <a:off x="1610591" y="3254418"/>
            <a:ext cx="8950534" cy="2862322"/>
            <a:chOff x="1166809" y="3300603"/>
            <a:chExt cx="8950534" cy="28623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CEE2FB-7484-9B52-398E-3577216D8837}"/>
                </a:ext>
              </a:extLst>
            </p:cNvPr>
            <p:cNvSpPr txBox="1"/>
            <p:nvPr/>
          </p:nvSpPr>
          <p:spPr>
            <a:xfrm>
              <a:off x="1166809" y="3300603"/>
              <a:ext cx="6096000" cy="286232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</a:t>
              </a:r>
              <a:r>
                <a:rPr lang="ko-KR" altLang="en-US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문자 데이터로 변환</a:t>
              </a:r>
              <a:endPara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123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String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b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en-US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</a:t>
              </a:r>
              <a:r>
                <a:rPr lang="ko-KR" altLang="en-US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숫자 데이터로 변환</a:t>
              </a:r>
              <a:endPara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Number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Number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en-US" altLang="ko-KR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abcdefg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));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0BD6C23-4BFD-2D07-308F-262F8204D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7118" y="3300603"/>
              <a:ext cx="2640225" cy="1546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5533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01" y="2397126"/>
            <a:ext cx="10515600" cy="1735722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String()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toString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문자열로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D3A65B-5821-BC0A-19A5-92328A14B6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31" b="26011"/>
          <a:stretch/>
        </p:blipFill>
        <p:spPr>
          <a:xfrm>
            <a:off x="3466715" y="2278732"/>
            <a:ext cx="3828356" cy="6687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46E7A1-329E-9F72-BA8E-65C25C1B7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665"/>
          <a:stretch/>
        </p:blipFill>
        <p:spPr>
          <a:xfrm>
            <a:off x="3466714" y="3587619"/>
            <a:ext cx="5258572" cy="11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080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273301"/>
            <a:ext cx="10515600" cy="256344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Number()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parseInt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정수로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1B82B7-F65F-1104-A412-179FA83F7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878" y="2273301"/>
            <a:ext cx="5706500" cy="13446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9974B15-3E76-6160-ABD9-3C52AC69C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82" t="21453" r="4341" b="15270"/>
          <a:stretch/>
        </p:blipFill>
        <p:spPr>
          <a:xfrm>
            <a:off x="3223203" y="4048125"/>
            <a:ext cx="6271847" cy="9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8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2301B-7253-A2F3-287F-2ABE141C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F3BEC-2C91-C85F-C800-2246155D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B470ADA-2DCB-4E89-4CD9-585FD5B93562}"/>
              </a:ext>
            </a:extLst>
          </p:cNvPr>
          <p:cNvSpPr txBox="1">
            <a:spLocks/>
          </p:cNvSpPr>
          <p:nvPr/>
        </p:nvSpPr>
        <p:spPr>
          <a:xfrm>
            <a:off x="2218597" y="2919885"/>
            <a:ext cx="7754805" cy="101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6000" dirty="0" err="1">
                <a:solidFill>
                  <a:srgbClr val="ED7D31"/>
                </a:solidFill>
                <a:latin typeface="+mj-ea"/>
                <a:ea typeface="+mj-ea"/>
              </a:rPr>
              <a:t>Javascript</a:t>
            </a:r>
            <a:r>
              <a:rPr lang="en-US" altLang="ko-KR" sz="6000" dirty="0">
                <a:solidFill>
                  <a:srgbClr val="ED7D31"/>
                </a:solidFill>
                <a:latin typeface="+mj-ea"/>
                <a:ea typeface="+mj-ea"/>
              </a:rPr>
              <a:t> </a:t>
            </a:r>
            <a:r>
              <a:rPr lang="ko-KR" altLang="en-US" sz="6000" dirty="0">
                <a:solidFill>
                  <a:srgbClr val="ED7D31"/>
                </a:solidFill>
                <a:latin typeface="+mj-ea"/>
                <a:ea typeface="+mj-ea"/>
              </a:rPr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6895430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대입 연산자</a:t>
            </a:r>
            <a:r>
              <a:rPr lang="en-US" altLang="ko-KR" dirty="0"/>
              <a:t>: </a:t>
            </a:r>
            <a:r>
              <a:rPr lang="en-US" altLang="ko-KR" b="1" dirty="0"/>
              <a:t>=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산술 연산자</a:t>
            </a:r>
            <a:r>
              <a:rPr lang="en-US" altLang="ko-KR" dirty="0"/>
              <a:t>: </a:t>
            </a:r>
            <a:r>
              <a:rPr lang="en-US" altLang="ko-KR" b="1" dirty="0"/>
              <a:t>+</a:t>
            </a:r>
            <a:r>
              <a:rPr lang="en-US" altLang="ko-KR" dirty="0"/>
              <a:t>, </a:t>
            </a:r>
            <a:r>
              <a:rPr lang="en-US" altLang="ko-KR" b="1" dirty="0"/>
              <a:t>-</a:t>
            </a:r>
            <a:r>
              <a:rPr lang="en-US" altLang="ko-KR" dirty="0"/>
              <a:t>, </a:t>
            </a:r>
            <a:r>
              <a:rPr lang="en-US" altLang="ko-KR" b="1" dirty="0"/>
              <a:t>*</a:t>
            </a:r>
            <a:r>
              <a:rPr lang="en-US" altLang="ko-KR" dirty="0"/>
              <a:t>, </a:t>
            </a:r>
            <a:r>
              <a:rPr lang="en-US" altLang="ko-KR" b="1" dirty="0"/>
              <a:t>/, %</a:t>
            </a:r>
            <a:r>
              <a:rPr lang="en-US" altLang="ko-KR" dirty="0"/>
              <a:t>(</a:t>
            </a:r>
            <a:r>
              <a:rPr lang="ko-KR" altLang="en-US" dirty="0"/>
              <a:t>나머지</a:t>
            </a:r>
            <a:r>
              <a:rPr lang="en-US" altLang="ko-KR" dirty="0"/>
              <a:t>)</a:t>
            </a:r>
            <a:r>
              <a:rPr lang="en-US" altLang="ko-KR" b="1" dirty="0"/>
              <a:t>, **</a:t>
            </a:r>
            <a:r>
              <a:rPr lang="en-US" altLang="ko-KR" dirty="0"/>
              <a:t>(</a:t>
            </a:r>
            <a:r>
              <a:rPr lang="ko-KR" altLang="en-US" dirty="0"/>
              <a:t>거듭제곱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비교 연산자</a:t>
            </a:r>
            <a:r>
              <a:rPr lang="en-US" altLang="ko-KR" dirty="0"/>
              <a:t>: </a:t>
            </a:r>
            <a:r>
              <a:rPr lang="en-US" altLang="ko-KR" b="1" dirty="0"/>
              <a:t>==</a:t>
            </a:r>
            <a:r>
              <a:rPr lang="en-US" altLang="ko-KR" dirty="0"/>
              <a:t>, </a:t>
            </a:r>
            <a:r>
              <a:rPr lang="en-US" altLang="ko-KR" b="1" dirty="0"/>
              <a:t>!=</a:t>
            </a:r>
            <a:r>
              <a:rPr lang="en-US" altLang="ko-KR" dirty="0"/>
              <a:t>, </a:t>
            </a:r>
            <a:r>
              <a:rPr lang="en-US" altLang="ko-KR" b="1"/>
              <a:t>===</a:t>
            </a:r>
            <a:r>
              <a:rPr lang="en-US" altLang="ko-KR"/>
              <a:t>, </a:t>
            </a:r>
            <a:r>
              <a:rPr lang="en-US" altLang="ko-KR" b="1"/>
              <a:t>!==,</a:t>
            </a:r>
            <a:r>
              <a:rPr lang="ko-KR" altLang="en-US" b="1"/>
              <a:t> </a:t>
            </a:r>
            <a:r>
              <a:rPr lang="en-US" altLang="ko-KR" b="1" dirty="0"/>
              <a:t>&gt;</a:t>
            </a:r>
            <a:r>
              <a:rPr lang="en-US" altLang="ko-KR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&gt;=</a:t>
            </a:r>
            <a:r>
              <a:rPr lang="en-US" altLang="ko-KR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&lt;</a:t>
            </a:r>
            <a:r>
              <a:rPr lang="en-US" altLang="ko-KR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&lt;=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논리 연산자</a:t>
            </a:r>
            <a:r>
              <a:rPr lang="en-US" altLang="ko-KR" dirty="0"/>
              <a:t>: </a:t>
            </a:r>
            <a:r>
              <a:rPr lang="en-US" altLang="ko-KR" b="1" dirty="0"/>
              <a:t>!</a:t>
            </a:r>
            <a:r>
              <a:rPr lang="en-US" altLang="ko-KR" dirty="0"/>
              <a:t>(not), </a:t>
            </a:r>
            <a:r>
              <a:rPr lang="en-US" altLang="ko-KR" b="1" dirty="0"/>
              <a:t>&amp;&amp;</a:t>
            </a:r>
            <a:r>
              <a:rPr lang="en-US" altLang="ko-KR" dirty="0"/>
              <a:t>(and), </a:t>
            </a:r>
            <a:r>
              <a:rPr lang="en-US" altLang="ko-KR" b="1" dirty="0"/>
              <a:t>||</a:t>
            </a:r>
            <a:r>
              <a:rPr lang="en-US" altLang="ko-KR" dirty="0"/>
              <a:t>(or)</a:t>
            </a:r>
          </a:p>
        </p:txBody>
      </p:sp>
    </p:spTree>
    <p:extLst>
      <p:ext uri="{BB962C8B-B14F-4D97-AF65-F5344CB8AC3E}">
        <p14:creationId xmlns:p14="http://schemas.microsoft.com/office/powerpoint/2010/main" val="3268109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8F7C25-283A-4755-8C2E-69D30C716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+ 5 </a:t>
            </a:r>
            <a:r>
              <a:rPr lang="ko-KR" altLang="en-US" dirty="0"/>
              <a:t>➡ </a:t>
            </a:r>
            <a:r>
              <a:rPr lang="pt-BR" altLang="ko-KR" dirty="0"/>
              <a:t>num += 5</a:t>
            </a:r>
          </a:p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- 5 </a:t>
            </a:r>
            <a:r>
              <a:rPr lang="ko-KR" altLang="en-US" dirty="0"/>
              <a:t>➡</a:t>
            </a:r>
            <a:r>
              <a:rPr lang="pt-BR" altLang="ko-KR" dirty="0"/>
              <a:t> num -= 5</a:t>
            </a:r>
          </a:p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* 5 </a:t>
            </a:r>
            <a:r>
              <a:rPr lang="ko-KR" altLang="en-US" dirty="0"/>
              <a:t>➡</a:t>
            </a:r>
            <a:r>
              <a:rPr lang="pt-BR" altLang="ko-KR" dirty="0"/>
              <a:t> num *= 5</a:t>
            </a:r>
          </a:p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/ 5 </a:t>
            </a:r>
            <a:r>
              <a:rPr lang="ko-KR" altLang="en-US" dirty="0"/>
              <a:t>➡</a:t>
            </a:r>
            <a:r>
              <a:rPr lang="pt-BR" altLang="ko-KR" dirty="0"/>
              <a:t> num /= 5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77ED5C-C1E7-1A75-11F2-6545DD4B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47807-8C6D-6B84-6E07-53CF7141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7922242-11EC-906B-E639-286BEF5E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</a:p>
        </p:txBody>
      </p:sp>
    </p:spTree>
    <p:extLst>
      <p:ext uri="{BB962C8B-B14F-4D97-AF65-F5344CB8AC3E}">
        <p14:creationId xmlns:p14="http://schemas.microsoft.com/office/powerpoint/2010/main" val="36126826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31B477-9FCB-8621-B6FC-A3041798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555" y="1701667"/>
            <a:ext cx="2743200" cy="13272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++ : </a:t>
            </a:r>
            <a:r>
              <a:rPr lang="ko-KR" altLang="en-US" b="1" dirty="0"/>
              <a:t>한 칸 증가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-- : </a:t>
            </a:r>
            <a:r>
              <a:rPr lang="ko-KR" altLang="en-US" b="1" dirty="0"/>
              <a:t>한 칸 감소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B623D-ACF2-963D-110B-1D866636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2477A-8EA6-A620-43E0-80A6C9E4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8FC6A91-2088-0756-A50C-7B0FD801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증가</a:t>
            </a:r>
            <a:r>
              <a:rPr lang="en-US" altLang="ko-KR" dirty="0"/>
              <a:t>, </a:t>
            </a:r>
            <a:r>
              <a:rPr lang="ko-KR" altLang="en-US" dirty="0"/>
              <a:t>감소 연산자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AFD4344-5A68-ECDC-32BB-619891992408}"/>
              </a:ext>
            </a:extLst>
          </p:cNvPr>
          <p:cNvGrpSpPr/>
          <p:nvPr/>
        </p:nvGrpSpPr>
        <p:grpSpPr>
          <a:xfrm>
            <a:off x="1977556" y="3177422"/>
            <a:ext cx="8249682" cy="2308324"/>
            <a:chOff x="1549644" y="2653547"/>
            <a:chExt cx="8249682" cy="23083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5D057B-DA90-5AEC-0A6A-167BC5C9D7F7}"/>
                </a:ext>
              </a:extLst>
            </p:cNvPr>
            <p:cNvSpPr txBox="1"/>
            <p:nvPr/>
          </p:nvSpPr>
          <p:spPr>
            <a:xfrm>
              <a:off x="1549644" y="2653547"/>
              <a:ext cx="6096000" cy="230832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result1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,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pt-BR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pt-BR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,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pt-BR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b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++;</a:t>
              </a:r>
            </a:p>
            <a:p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pt-BR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b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++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pt-BR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29B69DE-693A-7FFC-E51E-22E9D3A08F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1298"/>
            <a:stretch/>
          </p:blipFill>
          <p:spPr>
            <a:xfrm>
              <a:off x="7791276" y="3592213"/>
              <a:ext cx="2008050" cy="13696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80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9841AB-3F5E-5A80-DF8D-66AC41550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|| </a:t>
            </a:r>
            <a:r>
              <a:rPr lang="en-US" altLang="ko-KR" dirty="0"/>
              <a:t>(or) : </a:t>
            </a:r>
            <a:r>
              <a:rPr lang="ko-KR" altLang="en-US" dirty="0"/>
              <a:t>여러 개 중 하나라도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&amp;&amp;</a:t>
            </a:r>
            <a:r>
              <a:rPr lang="en-US" altLang="ko-KR" dirty="0"/>
              <a:t> (and) : </a:t>
            </a:r>
            <a:r>
              <a:rPr lang="ko-KR" altLang="en-US" dirty="0"/>
              <a:t>모든 값이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!</a:t>
            </a:r>
            <a:r>
              <a:rPr lang="en-US" altLang="ko-KR" dirty="0"/>
              <a:t> (not) : true</a:t>
            </a:r>
            <a:r>
              <a:rPr lang="ko-KR" altLang="en-US" dirty="0"/>
              <a:t> ➡ </a:t>
            </a:r>
            <a:r>
              <a:rPr lang="en-US" altLang="ko-KR" dirty="0"/>
              <a:t>false,</a:t>
            </a:r>
            <a:r>
              <a:rPr lang="ko-KR" altLang="en-US" dirty="0"/>
              <a:t> </a:t>
            </a:r>
            <a:r>
              <a:rPr lang="en-US" altLang="ko-KR" dirty="0"/>
              <a:t>false</a:t>
            </a:r>
            <a:r>
              <a:rPr lang="ko-KR" altLang="en-US" dirty="0"/>
              <a:t> ➡ </a:t>
            </a:r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56F99-5A1C-3595-0F41-CB7932B7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120F0-522C-955B-B3FF-53923F03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2DC5AE3-6430-3C88-A3A2-DC7A3BA2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</a:p>
        </p:txBody>
      </p:sp>
    </p:spTree>
    <p:extLst>
      <p:ext uri="{BB962C8B-B14F-4D97-AF65-F5344CB8AC3E}">
        <p14:creationId xmlns:p14="http://schemas.microsoft.com/office/powerpoint/2010/main" val="21294936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5DFF-7331-8AF7-3271-A80E012C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B6940-58D0-BE9E-FB7D-ED9A10D4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1E68E5-2BA6-02F4-603D-E28E5456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954B8C4-2068-BCEA-C420-D32FA81D5FF1}"/>
              </a:ext>
            </a:extLst>
          </p:cNvPr>
          <p:cNvSpPr txBox="1">
            <a:spLocks/>
          </p:cNvSpPr>
          <p:nvPr/>
        </p:nvSpPr>
        <p:spPr>
          <a:xfrm>
            <a:off x="2218597" y="2919885"/>
            <a:ext cx="7754805" cy="101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6000" dirty="0">
                <a:solidFill>
                  <a:srgbClr val="ED7D31"/>
                </a:solidFill>
                <a:latin typeface="+mj-ea"/>
                <a:ea typeface="+mj-ea"/>
              </a:rPr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2671668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A4040C-F5C0-4186-1402-E2BFEA5B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08" y="4180076"/>
            <a:ext cx="11066783" cy="9077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200" dirty="0">
                <a:latin typeface="+mn-ea"/>
                <a:ea typeface="+mn-ea"/>
              </a:rPr>
              <a:t>특정 작업을 수행하기 위해 독립적으로 설계된 </a:t>
            </a:r>
            <a:r>
              <a:rPr lang="ko-KR" altLang="en-US" sz="3200" dirty="0">
                <a:highlight>
                  <a:srgbClr val="FFFF00"/>
                </a:highlight>
                <a:latin typeface="+mn-ea"/>
                <a:ea typeface="+mn-ea"/>
              </a:rPr>
              <a:t>코드 집합</a:t>
            </a:r>
            <a:r>
              <a:rPr lang="en-US" altLang="ko-KR" sz="3200" dirty="0">
                <a:latin typeface="+mn-ea"/>
                <a:ea typeface="+mn-ea"/>
              </a:rPr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2" y="1565213"/>
            <a:ext cx="9207774" cy="261486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8A47E5E-C12A-F6F5-19B2-84BD38E4EE85}"/>
              </a:ext>
            </a:extLst>
          </p:cNvPr>
          <p:cNvSpPr/>
          <p:nvPr/>
        </p:nvSpPr>
        <p:spPr>
          <a:xfrm>
            <a:off x="8893147" y="2290046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2252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0" y="3444604"/>
            <a:ext cx="3338918" cy="6350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</a:t>
            </a:r>
            <a:r>
              <a:rPr lang="en-US" altLang="ko-KR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3600" dirty="0"/>
              <a:t>Keyword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327990" y="1699629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2376082" y="2513924"/>
            <a:ext cx="2839453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2E735E-8881-5655-5266-354508ECBD37}"/>
              </a:ext>
            </a:extLst>
          </p:cNvPr>
          <p:cNvSpPr/>
          <p:nvPr/>
        </p:nvSpPr>
        <p:spPr>
          <a:xfrm>
            <a:off x="8723214" y="2314032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207127" y="1801760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5056964" y="2601420"/>
            <a:ext cx="1868906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9265" y="4612104"/>
            <a:ext cx="6215241" cy="16721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 </a:t>
            </a:r>
            <a:r>
              <a:rPr lang="en-US" altLang="ko-KR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 (</a:t>
            </a:r>
            <a:r>
              <a:rPr lang="ko-KR" altLang="en-US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이름</a:t>
            </a:r>
            <a:r>
              <a:rPr lang="en-US" altLang="ko-KR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일반적으로 </a:t>
            </a:r>
            <a:r>
              <a:rPr lang="en-US" altLang="ko-KR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camelCase 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이용</a:t>
            </a:r>
            <a:endParaRPr lang="en-US" altLang="ko-KR" sz="3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45F661-47FB-8AAE-E9A8-D19B70E29D89}"/>
              </a:ext>
            </a:extLst>
          </p:cNvPr>
          <p:cNvSpPr/>
          <p:nvPr/>
        </p:nvSpPr>
        <p:spPr>
          <a:xfrm>
            <a:off x="8618018" y="2539714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714" y="4185416"/>
            <a:ext cx="7413086" cy="12197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 </a:t>
            </a:r>
            <a:r>
              <a:rPr lang="en-US" altLang="ko-KR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Parameter</a:t>
            </a:r>
            <a:endParaRPr lang="en-US" altLang="ko-KR" sz="3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선언할 때 </a:t>
            </a:r>
            <a:r>
              <a:rPr lang="ko-KR" altLang="en-US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매개변수</a:t>
            </a:r>
            <a:r>
              <a:rPr lang="en-US" altLang="ko-KR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</a:t>
            </a:r>
            <a:r>
              <a:rPr lang="en-US" altLang="ko-KR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받을 것</a:t>
            </a:r>
            <a:endParaRPr lang="en-US" altLang="ko-KR" sz="3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152144" y="1811445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6774704" y="2646144"/>
            <a:ext cx="601580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EAE3E0-6CB0-3659-4200-A2C92667AB00}"/>
              </a:ext>
            </a:extLst>
          </p:cNvPr>
          <p:cNvSpPr/>
          <p:nvPr/>
        </p:nvSpPr>
        <p:spPr>
          <a:xfrm>
            <a:off x="8553281" y="2549399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9925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167" y="4350223"/>
            <a:ext cx="6697732" cy="1529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Body (Block)</a:t>
            </a: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함수가 실행되는 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Scope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라고도 한다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3" y="1325563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7964905" y="2160262"/>
            <a:ext cx="1018674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1791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F37647C-10FA-A40F-7646-54C4E59B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531" y="2578627"/>
            <a:ext cx="3897230" cy="561077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3000" dirty="0">
                <a:latin typeface="+mn-ea"/>
                <a:ea typeface="+mn-ea"/>
              </a:rPr>
              <a:t>명시적 함수 선언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 방식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E085A0E-15BB-DFCD-E7A1-8200B49E24CB}"/>
              </a:ext>
            </a:extLst>
          </p:cNvPr>
          <p:cNvSpPr txBox="1">
            <a:spLocks/>
          </p:cNvSpPr>
          <p:nvPr/>
        </p:nvSpPr>
        <p:spPr>
          <a:xfrm>
            <a:off x="7123649" y="2578627"/>
            <a:ext cx="2639365" cy="561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000" dirty="0">
                <a:latin typeface="+mn-ea"/>
              </a:rPr>
              <a:t>함수 표현식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3ABE13-F8C0-0411-5D33-AF1C353DCD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97" b="11962"/>
          <a:stretch/>
        </p:blipFill>
        <p:spPr>
          <a:xfrm>
            <a:off x="794859" y="3429000"/>
            <a:ext cx="4364574" cy="749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87C908-B7F9-E0AF-86AC-EAF71F19A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87" y="3429000"/>
            <a:ext cx="5811291" cy="7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11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4F15-635C-3314-7E69-13DCEB35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6CE1B3-5F2C-46CC-AF1F-D8D67188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C3D-697C-40F2-BC3D-E9F4D36B3635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DECCA-CC76-0DF0-AB31-D1B68935303D}"/>
              </a:ext>
            </a:extLst>
          </p:cNvPr>
          <p:cNvSpPr txBox="1"/>
          <p:nvPr/>
        </p:nvSpPr>
        <p:spPr>
          <a:xfrm>
            <a:off x="3048000" y="1613722"/>
            <a:ext cx="609600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함수 선언문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함수 표현식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화살표 함수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BAA8D62-2032-09E7-ADB2-BA0438842B7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다양한 함수 표현식 사용하기</a:t>
            </a:r>
          </a:p>
        </p:txBody>
      </p:sp>
    </p:spTree>
    <p:extLst>
      <p:ext uri="{BB962C8B-B14F-4D97-AF65-F5344CB8AC3E}">
        <p14:creationId xmlns:p14="http://schemas.microsoft.com/office/powerpoint/2010/main" val="893467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A3D5-710F-3D7E-1C87-24D1E35B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EF306-A4B9-2A64-7120-E86D456C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C3D-697C-40F2-BC3D-E9F4D36B3635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9C3E5DF-DC6B-15A1-AB85-C06934AA62C8}"/>
              </a:ext>
            </a:extLst>
          </p:cNvPr>
          <p:cNvSpPr txBox="1"/>
          <p:nvPr/>
        </p:nvSpPr>
        <p:spPr>
          <a:xfrm>
            <a:off x="6345467" y="1799026"/>
            <a:ext cx="57365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// 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매개변수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O,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반환값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X</a:t>
            </a: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2800" dirty="0">
              <a:solidFill>
                <a:srgbClr val="00B050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// 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매개변수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O,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반환값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O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6B8E98B-87C1-0F3E-B0E5-686F9DB91339}"/>
              </a:ext>
            </a:extLst>
          </p:cNvPr>
          <p:cNvSpPr txBox="1">
            <a:spLocks/>
          </p:cNvSpPr>
          <p:nvPr/>
        </p:nvSpPr>
        <p:spPr>
          <a:xfrm>
            <a:off x="821199" y="1799026"/>
            <a:ext cx="5168185" cy="4809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// 1. 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매개변수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X, </a:t>
            </a:r>
            <a:r>
              <a:rPr lang="ko-KR" altLang="en-US" sz="2800" dirty="0" err="1">
                <a:solidFill>
                  <a:srgbClr val="00B050"/>
                </a:solidFill>
                <a:latin typeface="+mn-ea"/>
              </a:rPr>
              <a:t>반환값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X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// 2. 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매개변수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X, </a:t>
            </a:r>
            <a:r>
              <a:rPr lang="ko-KR" altLang="en-US" sz="2800" dirty="0" err="1">
                <a:solidFill>
                  <a:srgbClr val="00B050"/>
                </a:solidFill>
                <a:latin typeface="+mn-ea"/>
              </a:rPr>
              <a:t>반환값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O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9196C27C-26D5-52BE-2732-D78046E3F160}"/>
              </a:ext>
            </a:extLst>
          </p:cNvPr>
          <p:cNvSpPr txBox="1"/>
          <p:nvPr/>
        </p:nvSpPr>
        <p:spPr>
          <a:xfrm>
            <a:off x="6345467" y="2460745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8D0C170-B340-F4D1-0D30-95941733699A}"/>
              </a:ext>
            </a:extLst>
          </p:cNvPr>
          <p:cNvSpPr txBox="1"/>
          <p:nvPr/>
        </p:nvSpPr>
        <p:spPr>
          <a:xfrm>
            <a:off x="821199" y="2465395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12EF4FE-6274-9A96-AF1A-AC1FBE3D0CDA}"/>
              </a:ext>
            </a:extLst>
          </p:cNvPr>
          <p:cNvSpPr txBox="1"/>
          <p:nvPr/>
        </p:nvSpPr>
        <p:spPr>
          <a:xfrm>
            <a:off x="821199" y="4205608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C735173-20A6-92CE-745C-FFDA2164AFA8}"/>
              </a:ext>
            </a:extLst>
          </p:cNvPr>
          <p:cNvSpPr txBox="1"/>
          <p:nvPr/>
        </p:nvSpPr>
        <p:spPr>
          <a:xfrm>
            <a:off x="6345467" y="4203700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4589D7BC-18E8-B4C1-1A39-99976F78281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함수의 형태</a:t>
            </a:r>
          </a:p>
        </p:txBody>
      </p:sp>
    </p:spTree>
    <p:extLst>
      <p:ext uri="{BB962C8B-B14F-4D97-AF65-F5344CB8AC3E}">
        <p14:creationId xmlns:p14="http://schemas.microsoft.com/office/powerpoint/2010/main" val="35493658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25794356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BA86382-93BA-1119-7DEF-8FBB48FC3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179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💡특정 조건일 때</a:t>
            </a:r>
            <a:r>
              <a:rPr lang="ko-KR" altLang="en-US" dirty="0"/>
              <a:t>만 실행하고 싶은 구문이 있을 때 사용합니다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prompt</a:t>
            </a:r>
            <a:r>
              <a:rPr lang="ko-KR" altLang="en-US" dirty="0"/>
              <a:t>에 입력한 수가 짝수인지 홀수인지 판별하는 프로그램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 ~ </a:t>
            </a:r>
            <a:r>
              <a:rPr lang="ko-KR" altLang="en-US" dirty="0"/>
              <a:t>일 때</a:t>
            </a:r>
            <a:r>
              <a:rPr lang="en-US" altLang="ko-KR" dirty="0"/>
              <a:t>, ~ </a:t>
            </a:r>
            <a:r>
              <a:rPr lang="ko-KR" altLang="en-US" dirty="0"/>
              <a:t>하는 프로그램을 만들 때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조건문 종류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if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switch </a:t>
            </a:r>
            <a:r>
              <a:rPr lang="ko-KR" altLang="en-US" dirty="0"/>
              <a:t>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E74F7B-534E-6BE5-5ECE-6AC884E5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A0CC2-53B4-FFA4-F071-A445DF70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FF1AD85-F818-5A44-FEB2-D046BE94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3156447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04D5F2E-A859-5D95-3F46-2862D936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5226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가장 기본적인 조건문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if</a:t>
            </a:r>
            <a:r>
              <a:rPr lang="ko-KR" altLang="en-US" dirty="0"/>
              <a:t>문 기본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조건은</a:t>
            </a:r>
            <a:r>
              <a:rPr lang="ko-KR" altLang="en-US" sz="2000" dirty="0">
                <a:solidFill>
                  <a:srgbClr val="00B050"/>
                </a:solidFill>
              </a:rPr>
              <a:t> </a:t>
            </a:r>
            <a:r>
              <a:rPr lang="en-US" altLang="ko-KR" sz="2000" dirty="0">
                <a:solidFill>
                  <a:srgbClr val="00B050"/>
                </a:solidFill>
              </a:rPr>
              <a:t>true</a:t>
            </a:r>
            <a:r>
              <a:rPr lang="en-US" altLang="ko-KR" sz="2000" dirty="0"/>
              <a:t>, </a:t>
            </a:r>
            <a:r>
              <a:rPr lang="en-US" altLang="ko-KR" sz="2000" dirty="0">
                <a:solidFill>
                  <a:srgbClr val="00B050"/>
                </a:solidFill>
              </a:rPr>
              <a:t>false</a:t>
            </a:r>
            <a:r>
              <a:rPr lang="ko-KR" altLang="en-US" sz="2000" dirty="0"/>
              <a:t>로 결과가 나와요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i="1" dirty="0"/>
              <a:t>a &gt; 10 (</a:t>
            </a:r>
            <a:r>
              <a:rPr lang="ko-KR" altLang="en-US" sz="1800" i="1" dirty="0"/>
              <a:t>변수 </a:t>
            </a:r>
            <a:r>
              <a:rPr lang="en-US" altLang="ko-KR" sz="1800" i="1" dirty="0"/>
              <a:t>a</a:t>
            </a:r>
            <a:r>
              <a:rPr lang="ko-KR" altLang="en-US" sz="1800" i="1" dirty="0"/>
              <a:t>가 </a:t>
            </a:r>
            <a:r>
              <a:rPr lang="en-US" altLang="ko-KR" sz="1800" i="1" dirty="0"/>
              <a:t>10</a:t>
            </a:r>
            <a:r>
              <a:rPr lang="ko-KR" altLang="en-US" sz="1800" i="1" dirty="0"/>
              <a:t>보다 크다면</a:t>
            </a:r>
            <a:r>
              <a:rPr lang="en-US" altLang="ko-KR" sz="1800" i="1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i="1" dirty="0"/>
              <a:t>str ===“</a:t>
            </a:r>
            <a:r>
              <a:rPr lang="en-US" altLang="ko-KR" sz="1800" i="1" dirty="0" err="1"/>
              <a:t>abcd</a:t>
            </a:r>
            <a:r>
              <a:rPr lang="en-US" altLang="ko-KR" sz="1800" i="1" dirty="0"/>
              <a:t>” (</a:t>
            </a:r>
            <a:r>
              <a:rPr lang="ko-KR" altLang="en-US" sz="1800" i="1" dirty="0"/>
              <a:t>변수 </a:t>
            </a:r>
            <a:r>
              <a:rPr lang="en-US" altLang="ko-KR" sz="1800" i="1" dirty="0"/>
              <a:t>str</a:t>
            </a:r>
            <a:r>
              <a:rPr lang="ko-KR" altLang="en-US" sz="1800" i="1" dirty="0"/>
              <a:t>이 </a:t>
            </a:r>
            <a:r>
              <a:rPr lang="en-US" altLang="ko-KR" sz="1800" i="1" dirty="0" err="1"/>
              <a:t>abcd</a:t>
            </a:r>
            <a:r>
              <a:rPr lang="ko-KR" altLang="en-US" sz="1800" i="1" dirty="0"/>
              <a:t>라는 문자열이라면</a:t>
            </a:r>
            <a:r>
              <a:rPr lang="en-US" altLang="ko-KR" sz="1800" i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조건에 변수 자체를 써도 되는 경우가 있는데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 경우는 변수자체가 </a:t>
            </a:r>
            <a:r>
              <a:rPr lang="en-US" altLang="ko-KR" sz="2000" dirty="0"/>
              <a:t>true</a:t>
            </a:r>
            <a:r>
              <a:rPr lang="ko-KR" altLang="en-US" sz="2000" dirty="0"/>
              <a:t>나 </a:t>
            </a:r>
            <a:r>
              <a:rPr lang="en-US" altLang="ko-KR" sz="2000" dirty="0"/>
              <a:t>false</a:t>
            </a:r>
            <a:r>
              <a:rPr lang="ko-KR" altLang="en-US" sz="2000" dirty="0"/>
              <a:t>로 판별 가능할 경우입니다</a:t>
            </a:r>
            <a:r>
              <a:rPr lang="en-US" altLang="ko-KR" sz="2000" dirty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AC0ED1-7720-E4C4-3616-96545CB6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38B52-D65F-72CC-37B0-D1065B9F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8289559-99AB-6FBA-EEE8-8E10A2A4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AC22E7-2472-B0A4-747A-317D6EBC44CA}"/>
              </a:ext>
            </a:extLst>
          </p:cNvPr>
          <p:cNvSpPr/>
          <p:nvPr/>
        </p:nvSpPr>
        <p:spPr>
          <a:xfrm>
            <a:off x="762000" y="2765614"/>
            <a:ext cx="6096000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조건이 만족할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9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62F867-7DB4-29A0-E556-E9951DCEE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기본 </a:t>
            </a:r>
            <a:r>
              <a:rPr lang="en-US" altLang="ko-KR" dirty="0"/>
              <a:t>if</a:t>
            </a:r>
            <a:r>
              <a:rPr lang="ko-KR" altLang="en-US" dirty="0"/>
              <a:t>문에서 진화한 형태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소괄호 속의 조건이 참이면 </a:t>
            </a:r>
            <a:r>
              <a:rPr lang="en-US" altLang="ko-KR" dirty="0"/>
              <a:t>if </a:t>
            </a:r>
            <a:r>
              <a:rPr lang="ko-KR" altLang="en-US" dirty="0"/>
              <a:t>이하의 문장</a:t>
            </a:r>
            <a:r>
              <a:rPr lang="en-US" altLang="ko-KR" dirty="0"/>
              <a:t>, </a:t>
            </a:r>
            <a:r>
              <a:rPr lang="ko-KR" altLang="en-US" dirty="0"/>
              <a:t>조건이 거짓이면 </a:t>
            </a:r>
            <a:r>
              <a:rPr lang="en-US" altLang="ko-KR" dirty="0"/>
              <a:t>else </a:t>
            </a:r>
            <a:r>
              <a:rPr lang="ko-KR" altLang="en-US" dirty="0"/>
              <a:t>이하의 문장 실행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두개의 문장이 전부 다 실행될 수는 없겠죠</a:t>
            </a:r>
            <a:r>
              <a:rPr lang="en-US" altLang="ko-KR" dirty="0"/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000" dirty="0"/>
              <a:t> </a:t>
            </a:r>
            <a:r>
              <a:rPr lang="en-US" altLang="ko-KR" sz="2000" dirty="0"/>
              <a:t>else</a:t>
            </a:r>
            <a:r>
              <a:rPr lang="ko-KR" altLang="en-US" sz="2000" dirty="0"/>
              <a:t>는 조건을 필요로 하지 않아요</a:t>
            </a:r>
            <a:r>
              <a:rPr lang="en-US" altLang="ko-KR" sz="2000" dirty="0"/>
              <a:t>!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5367E8-684E-D08E-9F81-22A1CBA0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305C8-7F13-8B09-ECE6-5CFFB707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8EA0C64-25F4-C2AB-8DB6-829AFE98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BFC7A8-D0D4-D377-721B-4C93FD9167E8}"/>
              </a:ext>
            </a:extLst>
          </p:cNvPr>
          <p:cNvSpPr/>
          <p:nvPr/>
        </p:nvSpPr>
        <p:spPr>
          <a:xfrm>
            <a:off x="1182447" y="1937053"/>
            <a:ext cx="609600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거짓일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549B72-56E1-4B4E-CE49-30569B85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9410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💡 마지막 </a:t>
            </a:r>
            <a:r>
              <a:rPr lang="en-US" altLang="ko-KR" dirty="0"/>
              <a:t>if</a:t>
            </a:r>
            <a:r>
              <a:rPr lang="ko-KR" altLang="en-US" dirty="0"/>
              <a:t>문의 모양입니다</a:t>
            </a:r>
            <a:r>
              <a:rPr lang="en-US" altLang="ko-KR" dirty="0"/>
              <a:t>! else if</a:t>
            </a:r>
            <a:r>
              <a:rPr lang="ko-KR" altLang="en-US" dirty="0"/>
              <a:t>가 포함된 문장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else if</a:t>
            </a:r>
            <a:r>
              <a:rPr lang="ko-KR" altLang="en-US" dirty="0"/>
              <a:t>도 </a:t>
            </a:r>
            <a:r>
              <a:rPr lang="en-US" altLang="ko-KR" dirty="0"/>
              <a:t>if</a:t>
            </a:r>
            <a:r>
              <a:rPr lang="ko-KR" altLang="en-US" dirty="0"/>
              <a:t>처럼 조건이 필요해요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else</a:t>
            </a:r>
            <a:r>
              <a:rPr lang="ko-KR" altLang="en-US" dirty="0"/>
              <a:t>는 있어도 되고 없어도 됩니다</a:t>
            </a:r>
            <a:r>
              <a:rPr lang="en-US" altLang="ko-KR" dirty="0"/>
              <a:t>. (else</a:t>
            </a:r>
            <a:r>
              <a:rPr lang="ko-KR" altLang="en-US" dirty="0"/>
              <a:t>는 조건 </a:t>
            </a:r>
            <a:r>
              <a:rPr lang="en-US" altLang="ko-KR" dirty="0"/>
              <a:t>x)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하지만 반드시 </a:t>
            </a:r>
            <a:r>
              <a:rPr lang="en-US" altLang="ko-KR" dirty="0"/>
              <a:t>if</a:t>
            </a:r>
            <a:r>
              <a:rPr lang="ko-KR" altLang="en-US" dirty="0"/>
              <a:t>문이 가장 먼저 나온 이후에 다른 구문이 나와야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DB653-3241-BA4D-8C69-BE2A6201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B7F1D-0DBD-45CB-1965-AD72DCA7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ED9C5E-A513-C330-6988-879D5D7F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 if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C4EE7E-72A4-430F-74FD-DB1E5971CFC2}"/>
              </a:ext>
            </a:extLst>
          </p:cNvPr>
          <p:cNvSpPr/>
          <p:nvPr/>
        </p:nvSpPr>
        <p:spPr>
          <a:xfrm>
            <a:off x="891944" y="1802038"/>
            <a:ext cx="6096000" cy="23391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1 2 3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모두 거짓일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2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6B4EAE-E0E1-8BB8-B428-C939A1398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중첩</a:t>
            </a:r>
            <a:r>
              <a:rPr lang="en-US" altLang="ko-KR" dirty="0"/>
              <a:t>, if</a:t>
            </a:r>
            <a:r>
              <a:rPr lang="ko-KR" altLang="en-US" dirty="0"/>
              <a:t>문 안에 또 다른 </a:t>
            </a:r>
            <a:r>
              <a:rPr lang="en-US" altLang="ko-KR" dirty="0"/>
              <a:t>if</a:t>
            </a:r>
            <a:r>
              <a:rPr lang="ko-KR" altLang="en-US" dirty="0"/>
              <a:t>문도 들어갈 수 있어요</a:t>
            </a:r>
            <a:r>
              <a:rPr lang="en-US" altLang="ko-KR" dirty="0"/>
              <a:t>!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10236F-58E4-0B79-13FC-BA2977BB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BD6FE-05CF-275A-FDDD-2DF90F36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0FFA7B6-6C0E-4A0A-02B8-9181BA23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중첩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345AB-902C-1158-5277-09CEE5479664}"/>
              </a:ext>
            </a:extLst>
          </p:cNvPr>
          <p:cNvSpPr/>
          <p:nvPr/>
        </p:nvSpPr>
        <p:spPr>
          <a:xfrm>
            <a:off x="865469" y="1912315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876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연령대별 단어 출력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조건문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3055112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AFCC2CB-5D69-B9D2-FB5C-3DF1627B5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216312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입력되는 값에 따라 코드를 실행하는 조건문</a:t>
            </a:r>
            <a:endParaRPr lang="en-US" altLang="ko-KR" dirty="0"/>
          </a:p>
          <a:p>
            <a:pPr lvl="1"/>
            <a:r>
              <a:rPr lang="ko-KR" altLang="en-US" dirty="0"/>
              <a:t>변수와 </a:t>
            </a:r>
            <a:r>
              <a:rPr lang="en-US" altLang="ko-KR" dirty="0"/>
              <a:t>case</a:t>
            </a:r>
            <a:r>
              <a:rPr lang="ko-KR" altLang="en-US" dirty="0"/>
              <a:t>의 값이 일치한다면 실행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</a:t>
            </a:r>
            <a:r>
              <a:rPr lang="en-US" altLang="ko-KR" dirty="0"/>
              <a:t>, a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일 때 각각 실행되는</a:t>
            </a:r>
            <a:br>
              <a:rPr lang="en-US" altLang="ko-KR" dirty="0"/>
            </a:br>
            <a:r>
              <a:rPr lang="ko-KR" altLang="en-US" dirty="0"/>
              <a:t>문장</a:t>
            </a:r>
            <a:endParaRPr lang="en-US" altLang="ko-KR" dirty="0"/>
          </a:p>
          <a:p>
            <a:pPr lvl="1"/>
            <a:r>
              <a:rPr lang="en-US" altLang="ko-KR" dirty="0"/>
              <a:t>break</a:t>
            </a:r>
            <a:r>
              <a:rPr lang="ko-KR" altLang="en-US" dirty="0"/>
              <a:t>와 </a:t>
            </a:r>
            <a:r>
              <a:rPr lang="en-US" altLang="ko-KR" dirty="0"/>
              <a:t>default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503426-3F7E-8E44-760A-88C394FF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17513-442A-EB3F-7A11-526DF34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96ADA82-6A6E-7BFA-DF4C-A1FBB26C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switch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FDD425-D394-2438-B7FA-05E395C0F228}"/>
              </a:ext>
            </a:extLst>
          </p:cNvPr>
          <p:cNvSpPr/>
          <p:nvPr/>
        </p:nvSpPr>
        <p:spPr>
          <a:xfrm>
            <a:off x="6662351" y="2109725"/>
            <a:ext cx="4805749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switch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값을 모르겠어요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88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725740-85CC-6134-E5EC-A79AE168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114540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조건식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?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참인 경우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: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거짓인 경우</a:t>
            </a:r>
            <a:r>
              <a:rPr lang="en-US" altLang="ko-KR" dirty="0">
                <a:latin typeface="+mn-ea"/>
              </a:rPr>
              <a:t>;</a:t>
            </a:r>
          </a:p>
          <a:p>
            <a:pPr lvl="1"/>
            <a:r>
              <a:rPr lang="ko-KR" altLang="en-US" dirty="0">
                <a:latin typeface="+mn-ea"/>
              </a:rPr>
              <a:t>조건문을 한 줄로 간단히 표현 가능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1AF694-DB76-4B04-8035-83CE3B0E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3EF6A-BA7C-702B-39DE-3CB6A5FF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4A68F2A-641E-E952-1743-2CD8EFD4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문을 간단하게 만드는 </a:t>
            </a: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E12CB-60EE-20D6-7A0E-7A85FBF21554}"/>
              </a:ext>
            </a:extLst>
          </p:cNvPr>
          <p:cNvSpPr txBox="1"/>
          <p:nvPr/>
        </p:nvSpPr>
        <p:spPr>
          <a:xfrm>
            <a:off x="926136" y="2767603"/>
            <a:ext cx="10509437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 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3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항 연산자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?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80564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지금은 오전</a:t>
            </a:r>
            <a:r>
              <a:rPr lang="en-US" altLang="ko-KR" dirty="0">
                <a:solidFill>
                  <a:srgbClr val="ED7D31"/>
                </a:solidFill>
              </a:rPr>
              <a:t>? </a:t>
            </a:r>
            <a:r>
              <a:rPr lang="ko-KR" altLang="en-US" dirty="0">
                <a:solidFill>
                  <a:srgbClr val="ED7D31"/>
                </a:solidFill>
              </a:rPr>
              <a:t>오후</a:t>
            </a:r>
            <a:r>
              <a:rPr lang="en-US" altLang="ko-KR" dirty="0">
                <a:solidFill>
                  <a:srgbClr val="ED7D31"/>
                </a:solidFill>
              </a:rPr>
              <a:t>?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조건문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40579353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 err="1">
                <a:solidFill>
                  <a:srgbClr val="ED7D31"/>
                </a:solidFill>
              </a:rPr>
              <a:t>반복문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6447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2EB20D-A898-691B-CCC2-65F22D88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391236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특정 코드를 반복</a:t>
            </a:r>
            <a:r>
              <a:rPr lang="ko-KR" altLang="en-US" dirty="0"/>
              <a:t>하고 싶을 때 사용합니다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100</a:t>
            </a:r>
            <a:r>
              <a:rPr lang="ko-KR" altLang="en-US" dirty="0"/>
              <a:t>번을 같은 동작을 반복하는데</a:t>
            </a:r>
            <a:r>
              <a:rPr lang="en-US" altLang="ko-KR" dirty="0"/>
              <a:t>, 100</a:t>
            </a:r>
            <a:r>
              <a:rPr lang="ko-KR" altLang="en-US" dirty="0"/>
              <a:t>줄을 쓰면 너무나 비효율적이니까요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✅ 반복문의 종류</a:t>
            </a:r>
            <a:endParaRPr lang="en-US" altLang="ko-KR" dirty="0"/>
          </a:p>
          <a:p>
            <a:pPr lvl="1"/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while</a:t>
            </a:r>
            <a:r>
              <a:rPr lang="ko-KR" altLang="en-US" dirty="0"/>
              <a:t>문</a:t>
            </a:r>
            <a:endParaRPr lang="en-US" altLang="ko-KR" dirty="0"/>
          </a:p>
          <a:p>
            <a:pPr lvl="2"/>
            <a:r>
              <a:rPr lang="en-US" altLang="ko-KR" dirty="0"/>
              <a:t>do ~ while …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4EE84-DC1F-73F1-CC52-EF8268C7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150C8-50D7-E97F-C991-D043498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359CE67-EDB1-39A0-3060-B358E2FE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9329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or문 흐름">
            <a:extLst>
              <a:ext uri="{FF2B5EF4-FFF2-40B4-BE49-F238E27FC236}">
                <a16:creationId xmlns:a16="http://schemas.microsoft.com/office/drawing/2014/main" id="{74848961-E8D6-0725-9D7F-A6DE41A8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860" y="1136978"/>
            <a:ext cx="6628279" cy="4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5386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D82798-5374-50D8-0166-8D059E7C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CAF76-C20F-DC20-2DEC-F64D737E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1A9DE3C-C243-E510-4B39-997AA6E5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07EC3-DC89-FDF2-4CAB-F9F0FF57D02C}"/>
              </a:ext>
            </a:extLst>
          </p:cNvPr>
          <p:cNvSpPr txBox="1"/>
          <p:nvPr/>
        </p:nvSpPr>
        <p:spPr>
          <a:xfrm>
            <a:off x="1123941" y="3429000"/>
            <a:ext cx="6981825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for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E017E8-BF34-F8D5-0B4B-7BAEEEC6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585" y="3429000"/>
            <a:ext cx="2786204" cy="2799286"/>
          </a:xfrm>
          <a:prstGeom prst="rect">
            <a:avLst/>
          </a:prstGeom>
        </p:spPr>
      </p:pic>
      <p:pic>
        <p:nvPicPr>
          <p:cNvPr id="9" name="Picture 2" descr="for문 흐름">
            <a:extLst>
              <a:ext uri="{FF2B5EF4-FFF2-40B4-BE49-F238E27FC236}">
                <a16:creationId xmlns:a16="http://schemas.microsoft.com/office/drawing/2014/main" id="{AB376F7E-41B8-B903-0B54-C0A700B36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79" y="572704"/>
            <a:ext cx="3857641" cy="266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87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E146D9-C95B-B1E5-752A-848BA2451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511" y="1856398"/>
            <a:ext cx="7038975" cy="6582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✅ 중첩 </a:t>
            </a:r>
            <a:r>
              <a:rPr lang="en-US" altLang="ko-KR" dirty="0"/>
              <a:t>if </a:t>
            </a:r>
            <a:r>
              <a:rPr lang="ko-KR" altLang="en-US" dirty="0"/>
              <a:t>문이 가능하듯 </a:t>
            </a:r>
            <a:r>
              <a:rPr lang="en-US" altLang="ko-KR" dirty="0"/>
              <a:t>for</a:t>
            </a:r>
            <a:r>
              <a:rPr lang="ko-KR" altLang="en-US" dirty="0"/>
              <a:t>문도 중첩이 가능하다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B7242-71AF-15C0-83CC-25E3DAD9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CAE97-B21E-53F9-4106-24D2D23B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64A0EF3-D247-E6B8-BF5A-FA3AC3E8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15BAA0-792F-CE82-286A-DDD886D0F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118" y="2786154"/>
            <a:ext cx="4773759" cy="22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427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5C3F1B-A936-8299-F4DC-DF35845F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3060675"/>
            <a:ext cx="10213975" cy="28067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조건에 따라 반복하는 </a:t>
            </a:r>
            <a:r>
              <a:rPr lang="ko-KR" altLang="en-US" sz="2400" dirty="0" err="1">
                <a:latin typeface="+mn-ea"/>
              </a:rPr>
              <a:t>반복문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>for </a:t>
            </a:r>
            <a:r>
              <a:rPr lang="ko-KR" altLang="en-US" sz="2000" dirty="0">
                <a:latin typeface="+mn-ea"/>
              </a:rPr>
              <a:t>문과는 달리 값을 제어하는 구문이 기본적으로 포함이 되어 있지 않기 때문에 무한 루프 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조건이 항상 참이라면</a:t>
            </a:r>
            <a:r>
              <a:rPr lang="en-US" altLang="ko-KR" sz="2000" dirty="0">
                <a:latin typeface="+mn-ea"/>
              </a:rPr>
              <a:t>? while</a:t>
            </a:r>
            <a:r>
              <a:rPr lang="ko-KR" altLang="en-US" sz="2000" dirty="0">
                <a:latin typeface="+mn-ea"/>
              </a:rPr>
              <a:t>문을 빠져나가지 못하고 끝없이 반복하겠지요</a:t>
            </a:r>
            <a:r>
              <a:rPr lang="en-US" altLang="ko-KR" sz="2000" dirty="0">
                <a:latin typeface="+mn-ea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따라서 주의하여 사용 필요합니다</a:t>
            </a:r>
            <a:r>
              <a:rPr lang="en-US" altLang="ko-KR" sz="2000" dirty="0">
                <a:latin typeface="+mn-ea"/>
              </a:rPr>
              <a:t>!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58CB3C-43DD-1458-C094-56ABBC4D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905F9-7A94-17BA-7F27-0B8F6153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7211F31-F22A-206A-645D-727DA0F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EF6DBA-0BA5-E981-64BD-0A3925308157}"/>
              </a:ext>
            </a:extLst>
          </p:cNvPr>
          <p:cNvSpPr/>
          <p:nvPr/>
        </p:nvSpPr>
        <p:spPr>
          <a:xfrm>
            <a:off x="3048000" y="1362768"/>
            <a:ext cx="60960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24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4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조건이 참일 때 실행할 코드</a:t>
            </a:r>
            <a:endParaRPr lang="ko-KR" altLang="en-US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005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DE6412-FF2F-E1DD-CA66-B6D0F6C5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187" y="387767"/>
            <a:ext cx="2771937" cy="4748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EDA4F6-0A28-9D38-29A7-17C14D53B100}"/>
              </a:ext>
            </a:extLst>
          </p:cNvPr>
          <p:cNvSpPr txBox="1"/>
          <p:nvPr/>
        </p:nvSpPr>
        <p:spPr>
          <a:xfrm>
            <a:off x="561974" y="387767"/>
            <a:ext cx="7191375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1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2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사용하지 않고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 break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절을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break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54885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2AF67-D7E2-E448-913D-2A13A83752B8}"/>
              </a:ext>
            </a:extLst>
          </p:cNvPr>
          <p:cNvSpPr txBox="1"/>
          <p:nvPr/>
        </p:nvSpPr>
        <p:spPr>
          <a:xfrm>
            <a:off x="2710734" y="1693856"/>
            <a:ext cx="6096000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구구단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버전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"="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112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구구단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구구단 출력하기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54595369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772AE6-8505-00CF-A012-4B53C0E4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F5B2B-20EE-0229-69BE-E1460B9B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7317199-4298-2814-22BB-832AD03A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9284"/>
            <a:ext cx="10515600" cy="1859431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루프 </a:t>
            </a:r>
            <a:r>
              <a:rPr lang="ko-KR" altLang="en-US" sz="6000" dirty="0" err="1">
                <a:solidFill>
                  <a:srgbClr val="ED7D31"/>
                </a:solidFill>
              </a:rPr>
              <a:t>제어문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>
                <a:solidFill>
                  <a:srgbClr val="ED7D31"/>
                </a:solidFill>
              </a:rPr>
              <a:t>break</a:t>
            </a:r>
            <a:r>
              <a:rPr lang="ko-KR" altLang="en-US" sz="6000" dirty="0">
                <a:solidFill>
                  <a:srgbClr val="ED7D31"/>
                </a:solidFill>
              </a:rPr>
              <a:t> </a:t>
            </a:r>
            <a:r>
              <a:rPr lang="en-US" altLang="ko-KR" sz="6000" dirty="0">
                <a:solidFill>
                  <a:srgbClr val="ED7D31"/>
                </a:solidFill>
              </a:rPr>
              <a:t>&amp;</a:t>
            </a:r>
            <a:r>
              <a:rPr lang="ko-KR" altLang="en-US" sz="6000" dirty="0">
                <a:solidFill>
                  <a:srgbClr val="ED7D31"/>
                </a:solidFill>
              </a:rPr>
              <a:t> </a:t>
            </a:r>
            <a:r>
              <a:rPr lang="en-US" altLang="ko-KR" sz="6000" dirty="0">
                <a:solidFill>
                  <a:srgbClr val="ED7D31"/>
                </a:solidFill>
              </a:rPr>
              <a:t>continue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1623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3BC4852-5274-5C13-DB4E-9F18E95E8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831"/>
            <a:ext cx="5167938" cy="76530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반복문을 멈추고 빠져나감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D4BA5-10D1-51C6-BB4E-2943FC98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9279A-9681-08F8-FC61-918F0FE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B9ED4A9-E865-7A54-5B51-664110DA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63521BF-E6E6-7C52-CE10-7E107C23377B}"/>
              </a:ext>
            </a:extLst>
          </p:cNvPr>
          <p:cNvGrpSpPr/>
          <p:nvPr/>
        </p:nvGrpSpPr>
        <p:grpSpPr>
          <a:xfrm>
            <a:off x="2179802" y="1905140"/>
            <a:ext cx="7832395" cy="4003914"/>
            <a:chOff x="1543653" y="1905140"/>
            <a:chExt cx="7832395" cy="400391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7287F3-6EF3-158F-BB22-DD28618A3D12}"/>
                </a:ext>
              </a:extLst>
            </p:cNvPr>
            <p:cNvSpPr txBox="1"/>
            <p:nvPr/>
          </p:nvSpPr>
          <p:spPr>
            <a:xfrm>
              <a:off x="1543653" y="2614436"/>
              <a:ext cx="6096000" cy="258532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break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b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en-US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for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&lt;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100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++) {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en-US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==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 {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   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ko-KR" alt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멈춰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!"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    </a:t>
              </a:r>
              <a:r>
                <a:rPr lang="en-US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break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}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}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7DC0984-9B65-A7A1-5028-17AADA989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68583" y="1905140"/>
              <a:ext cx="1107465" cy="4003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18813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EF26CA-5F83-A6D7-AA86-FEE70D39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8958022" cy="74133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반복문을 이번 반복 </a:t>
            </a:r>
            <a:r>
              <a:rPr lang="ko-KR" altLang="en-US" dirty="0" err="1"/>
              <a:t>회차를</a:t>
            </a:r>
            <a:r>
              <a:rPr lang="ko-KR" altLang="en-US" dirty="0"/>
              <a:t> </a:t>
            </a:r>
            <a:r>
              <a:rPr lang="ko-KR" altLang="en-US" dirty="0" err="1"/>
              <a:t>스킵하고</a:t>
            </a:r>
            <a:r>
              <a:rPr lang="ko-KR" altLang="en-US" dirty="0"/>
              <a:t> 다음 반복 </a:t>
            </a:r>
            <a:r>
              <a:rPr lang="ko-KR" altLang="en-US" dirty="0" err="1"/>
              <a:t>회차로</a:t>
            </a:r>
            <a:r>
              <a:rPr lang="ko-KR" altLang="en-US" dirty="0"/>
              <a:t> 진행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CB3291-7F70-190E-870D-60B4819C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6A841-CD08-A7EB-DAB7-BCA24C4E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F7752CA-1238-CBBC-AD68-3812D1A9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F905A50-F27B-12F5-3EF0-C88D0AD3422C}"/>
              </a:ext>
            </a:extLst>
          </p:cNvPr>
          <p:cNvGrpSpPr/>
          <p:nvPr/>
        </p:nvGrpSpPr>
        <p:grpSpPr>
          <a:xfrm>
            <a:off x="2141790" y="2503631"/>
            <a:ext cx="7908419" cy="3139321"/>
            <a:chOff x="1186099" y="2452802"/>
            <a:chExt cx="7908419" cy="31393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674A23-F739-BFE2-6C20-EDA8347B3924}"/>
                </a:ext>
              </a:extLst>
            </p:cNvPr>
            <p:cNvSpPr txBox="1"/>
            <p:nvPr/>
          </p:nvSpPr>
          <p:spPr>
            <a:xfrm>
              <a:off x="1186099" y="2452802"/>
              <a:ext cx="6096000" cy="313932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nn-NO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continue</a:t>
              </a:r>
              <a:endPara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nn-NO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sum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b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nn-NO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for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nn-NO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&lt;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++) {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nn-NO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if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%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2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==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 {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    </a:t>
              </a:r>
              <a:r>
                <a:rPr lang="nn-NO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continue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}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sum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+=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}</a:t>
              </a:r>
            </a:p>
            <a:p>
              <a:b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nn-NO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sum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595F052-8360-B821-20BB-F7EA41D2B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4522" y="2452802"/>
              <a:ext cx="1389996" cy="741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4074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배수 찾기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배수 찾기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1597611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배수의 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배수의 합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5422137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b="0" dirty="0">
                <a:solidFill>
                  <a:srgbClr val="ED7D31"/>
                </a:solidFill>
              </a:rPr>
              <a:t>문자열 관련</a:t>
            </a:r>
            <a:br>
              <a:rPr lang="en-US" altLang="ko-KR" sz="6000" b="0" dirty="0">
                <a:solidFill>
                  <a:srgbClr val="ED7D31"/>
                </a:solidFill>
              </a:rPr>
            </a:br>
            <a:r>
              <a:rPr lang="ko-KR" altLang="en-US" sz="6000" b="0" dirty="0">
                <a:solidFill>
                  <a:srgbClr val="ED7D31"/>
                </a:solidFill>
              </a:rPr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12407950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18896" y="1056911"/>
            <a:ext cx="11058007" cy="520632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length</a:t>
            </a:r>
            <a:r>
              <a:rPr lang="en-US" altLang="ko-KR" sz="2400" dirty="0">
                <a:latin typeface="+mn-ea"/>
                <a:ea typeface="+mn-ea"/>
              </a:rPr>
              <a:t> : </a:t>
            </a:r>
            <a:r>
              <a:rPr lang="ko-KR" altLang="en-US" sz="2400" dirty="0">
                <a:latin typeface="+mn-ea"/>
                <a:ea typeface="+mn-ea"/>
              </a:rPr>
              <a:t>문자열의 길이를 반환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 err="1">
                <a:latin typeface="+mn-ea"/>
                <a:ea typeface="+mn-ea"/>
              </a:rPr>
              <a:t>공백포함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latin typeface="+mn-ea"/>
                <a:ea typeface="+mn-ea"/>
              </a:rPr>
              <a:t>      			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toUpperCase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&amp; </a:t>
            </a: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toLowerCase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 전체를 대문자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혹은 소문자로 변경</a:t>
            </a:r>
            <a:endParaRPr lang="en-US" altLang="ko-KR" sz="2400" dirty="0">
              <a:latin typeface="+mn-ea"/>
              <a:ea typeface="+mn-ea"/>
            </a:endParaRPr>
          </a:p>
          <a:p>
            <a:pPr lvl="1">
              <a:lnSpc>
                <a:spcPct val="200000"/>
              </a:lnSpc>
            </a:pPr>
            <a:r>
              <a:rPr lang="en-US" altLang="ko-KR" sz="2400" dirty="0">
                <a:latin typeface="+mn-ea"/>
              </a:rPr>
              <a:t>  				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indexOf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(‘’)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문자열을 받아서 </a:t>
            </a:r>
            <a:r>
              <a:rPr lang="ko-KR" altLang="en-US" sz="2400" dirty="0" err="1">
                <a:latin typeface="+mn-ea"/>
                <a:ea typeface="+mn-ea"/>
              </a:rPr>
              <a:t>몇번째</a:t>
            </a:r>
            <a:r>
              <a:rPr lang="ko-KR" altLang="en-US" sz="2400" dirty="0">
                <a:latin typeface="+mn-ea"/>
                <a:ea typeface="+mn-ea"/>
              </a:rPr>
              <a:t> 인덱스인지 숫자 반환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5D3F26-8C6C-3EE6-4849-F28DFDC5D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207" y="1939771"/>
            <a:ext cx="6533198" cy="5973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B2C9EBB-D53E-578C-0562-16FF803C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843" y="3272807"/>
            <a:ext cx="6526563" cy="77453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1839380-7C1E-4029-D731-2D62A0A4C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842" y="4978006"/>
            <a:ext cx="6526563" cy="63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284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18896" y="1056911"/>
            <a:ext cx="11058007" cy="520632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slice(start, end) </a:t>
            </a:r>
            <a:r>
              <a:rPr lang="en-US" altLang="ko-KR" sz="2400" dirty="0">
                <a:latin typeface="+mn-ea"/>
                <a:ea typeface="+mn-ea"/>
              </a:rPr>
              <a:t>: start </a:t>
            </a:r>
            <a:r>
              <a:rPr lang="ko-KR" altLang="en-US" sz="2400" dirty="0">
                <a:latin typeface="+mn-ea"/>
                <a:ea typeface="+mn-ea"/>
              </a:rPr>
              <a:t>부터 </a:t>
            </a:r>
            <a:r>
              <a:rPr lang="en-US" altLang="ko-KR" sz="2400" dirty="0">
                <a:latin typeface="+mn-ea"/>
                <a:ea typeface="+mn-ea"/>
              </a:rPr>
              <a:t>end-1 </a:t>
            </a:r>
            <a:r>
              <a:rPr lang="ko-KR" altLang="en-US" sz="2400" dirty="0">
                <a:latin typeface="+mn-ea"/>
                <a:ea typeface="+mn-ea"/>
              </a:rPr>
              <a:t>까지 </a:t>
            </a:r>
            <a:r>
              <a:rPr lang="ko-KR" altLang="en-US" sz="2400" dirty="0" err="1">
                <a:latin typeface="+mn-ea"/>
                <a:ea typeface="+mn-ea"/>
              </a:rPr>
              <a:t>슬라이싱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해당 부분 문자열 추출</a:t>
            </a:r>
            <a:r>
              <a:rPr lang="en-US" altLang="ko-KR" sz="24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+mn-ea"/>
                <a:ea typeface="+mn-ea"/>
              </a:rPr>
              <a:t>		          </a:t>
            </a:r>
            <a:r>
              <a:rPr lang="ko-KR" altLang="en-US" sz="2400" dirty="0">
                <a:latin typeface="+mn-ea"/>
                <a:ea typeface="+mn-ea"/>
              </a:rPr>
              <a:t>매개변수로 </a:t>
            </a:r>
            <a:r>
              <a:rPr lang="ko-KR" altLang="en-US" sz="2400" dirty="0" err="1">
                <a:latin typeface="+mn-ea"/>
                <a:ea typeface="+mn-ea"/>
              </a:rPr>
              <a:t>음수값도</a:t>
            </a:r>
            <a:r>
              <a:rPr lang="ko-KR" altLang="en-US" sz="2400" dirty="0">
                <a:latin typeface="+mn-ea"/>
                <a:ea typeface="+mn-ea"/>
              </a:rPr>
              <a:t> 가능</a:t>
            </a: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replace(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 </a:t>
            </a:r>
            <a:r>
              <a:rPr lang="en-US" altLang="ko-KR" sz="2400" dirty="0">
                <a:latin typeface="+mn-ea"/>
                <a:ea typeface="+mn-ea"/>
              </a:rPr>
              <a:t>: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문자열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변경</a:t>
            </a: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replaceAll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</a:t>
            </a:r>
            <a:r>
              <a:rPr lang="ko-KR" altLang="en-US" sz="2400" dirty="0" err="1">
                <a:latin typeface="+mn-ea"/>
                <a:ea typeface="+mn-ea"/>
              </a:rPr>
              <a:t>전부찾아서</a:t>
            </a:r>
            <a:r>
              <a:rPr lang="ko-KR" altLang="en-US" sz="2400" dirty="0">
                <a:latin typeface="+mn-ea"/>
                <a:ea typeface="+mn-ea"/>
              </a:rPr>
              <a:t> 문자열 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</a:t>
            </a:r>
            <a:r>
              <a:rPr lang="ko-KR" altLang="en-US" sz="2400" dirty="0" err="1">
                <a:latin typeface="+mn-ea"/>
                <a:ea typeface="+mn-ea"/>
              </a:rPr>
              <a:t>바꿔줌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en-US" altLang="ko-KR" sz="2000" dirty="0">
                <a:latin typeface="+mn-ea"/>
                <a:ea typeface="+mn-ea"/>
              </a:rPr>
              <a:t>					</a:t>
            </a:r>
          </a:p>
          <a:p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repeat(n)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문자열에 대해 </a:t>
            </a:r>
            <a:r>
              <a:rPr lang="en-US" altLang="ko-KR" sz="2400" dirty="0">
                <a:latin typeface="+mn-ea"/>
                <a:ea typeface="+mn-ea"/>
              </a:rPr>
              <a:t>n</a:t>
            </a:r>
            <a:r>
              <a:rPr lang="ko-KR" altLang="en-US" sz="2400" dirty="0">
                <a:latin typeface="+mn-ea"/>
                <a:ea typeface="+mn-ea"/>
              </a:rPr>
              <a:t>번 반복</a:t>
            </a: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88234-1590-9464-662F-68DE49F0C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82" y="2372041"/>
            <a:ext cx="7301067" cy="6355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D80E6B-B3A9-67EF-8131-45CAF195F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82" y="3850442"/>
            <a:ext cx="7301067" cy="5205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9E84F7-DCAB-EF67-7685-86926B2C4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682" y="5070490"/>
            <a:ext cx="7301066" cy="4164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E873633-A463-00AB-5E1F-9923472E9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267" y="5623927"/>
            <a:ext cx="5671837" cy="44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821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790697" y="1260909"/>
            <a:ext cx="10515600" cy="463397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atin typeface="+mn-ea"/>
                <a:ea typeface="+mn-ea"/>
              </a:rPr>
              <a:t>    </a:t>
            </a:r>
          </a:p>
          <a:p>
            <a:pPr marL="571500" lvl="1" indent="-5715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</a:rPr>
              <a:t>trim()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문자열의 양끝 공백 없애기</a:t>
            </a:r>
            <a:endParaRPr lang="en-US" altLang="ko-KR" sz="2000" dirty="0">
              <a:latin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split()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들어온 문자열을 기준으로 </a:t>
            </a:r>
            <a:r>
              <a:rPr lang="en-US" altLang="ko-KR" sz="2400" dirty="0" err="1">
                <a:latin typeface="+mn-ea"/>
                <a:ea typeface="+mn-ea"/>
              </a:rPr>
              <a:t>str</a:t>
            </a:r>
            <a:r>
              <a:rPr lang="ko-KR" altLang="en-US" sz="2400" dirty="0">
                <a:latin typeface="+mn-ea"/>
                <a:ea typeface="+mn-ea"/>
              </a:rPr>
              <a:t>을 쪼개서 배열로 저장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CDBE78-E3C4-DE37-921D-603876BF1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032" y="2977259"/>
            <a:ext cx="4587394" cy="6473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0590DAF-1240-3253-9F96-8ADC69DAC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032" y="4436071"/>
            <a:ext cx="4689336" cy="6473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180CBA7-6040-D05F-DA50-CBC58ACC9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243" y="3795836"/>
            <a:ext cx="8734582" cy="471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EC05636-8D56-9180-BBEE-F8283C51E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243" y="5356336"/>
            <a:ext cx="4578470" cy="647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C368C708-155D-E547-EC86-29CE53711C55}"/>
              </a:ext>
            </a:extLst>
          </p:cNvPr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410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배열 관련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79021260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F47503-C3D9-ADDA-0E56-00D378F8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2045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변형 </a:t>
            </a:r>
            <a:r>
              <a:rPr lang="en-US" altLang="ko-KR" sz="2400" dirty="0"/>
              <a:t>(</a:t>
            </a:r>
            <a:r>
              <a:rPr lang="ko-KR" altLang="en-US" sz="2400" dirty="0"/>
              <a:t>원본 변경 </a:t>
            </a:r>
            <a:r>
              <a:rPr lang="en-US" altLang="ko-KR" sz="2400" dirty="0"/>
              <a:t>O)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push(item) → </a:t>
            </a:r>
            <a:r>
              <a:rPr lang="ko-KR" altLang="en-US" sz="2000" dirty="0"/>
              <a:t>배열 끝에 추가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pop() → </a:t>
            </a:r>
            <a:r>
              <a:rPr lang="ko-KR" altLang="en-US" sz="2000" dirty="0"/>
              <a:t>배열 끝 요소 제거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shift() → </a:t>
            </a:r>
            <a:r>
              <a:rPr lang="ko-KR" altLang="en-US" sz="2000" dirty="0"/>
              <a:t>배열 앞 요소 제거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unshift(item) → </a:t>
            </a:r>
            <a:r>
              <a:rPr lang="ko-KR" altLang="en-US" sz="2000" dirty="0"/>
              <a:t>배열 앞에 추가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splice(start, </a:t>
            </a:r>
            <a:r>
              <a:rPr lang="en-US" altLang="ko-KR" sz="2000" dirty="0" err="1"/>
              <a:t>deleteCount</a:t>
            </a:r>
            <a:r>
              <a:rPr lang="en-US" altLang="ko-KR" sz="2000" dirty="0"/>
              <a:t>, ...items) → </a:t>
            </a:r>
            <a:r>
              <a:rPr lang="ko-KR" altLang="en-US" sz="2000" dirty="0"/>
              <a:t>요소 삭제</a:t>
            </a:r>
            <a:r>
              <a:rPr lang="en-US" altLang="ko-KR" sz="2000" dirty="0"/>
              <a:t>/</a:t>
            </a:r>
            <a:r>
              <a:rPr lang="ko-KR" altLang="en-US" sz="2000" dirty="0"/>
              <a:t>추가</a:t>
            </a:r>
            <a:r>
              <a:rPr lang="en-US" altLang="ko-KR" sz="2000" dirty="0"/>
              <a:t>/</a:t>
            </a:r>
            <a:r>
              <a:rPr lang="ko-KR" altLang="en-US" sz="2000" dirty="0"/>
              <a:t>교체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sort(</a:t>
            </a:r>
            <a:r>
              <a:rPr lang="en-US" altLang="ko-KR" sz="2000" dirty="0" err="1"/>
              <a:t>compareFn</a:t>
            </a:r>
            <a:r>
              <a:rPr lang="en-US" altLang="ko-KR" sz="2000" dirty="0"/>
              <a:t>) → </a:t>
            </a:r>
            <a:r>
              <a:rPr lang="ko-KR" altLang="en-US" sz="2000" dirty="0"/>
              <a:t>정렬 </a:t>
            </a:r>
            <a:r>
              <a:rPr lang="en-US" altLang="ko-KR" sz="2000" dirty="0"/>
              <a:t>(</a:t>
            </a:r>
            <a:r>
              <a:rPr lang="ko-KR" altLang="en-US" sz="2000" dirty="0"/>
              <a:t>기본은 문자열 기준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reverse() → </a:t>
            </a:r>
            <a:r>
              <a:rPr lang="ko-KR" altLang="en-US" sz="2000" dirty="0"/>
              <a:t>배열 순서 뒤집기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A5B06-7851-4E64-BDFA-E6632CEF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46C2-718A-38FE-51B4-65052E1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195AB24-A38C-BF43-90A1-CE5371A3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661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D007-744E-236E-369C-E4DB55B1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CD8D3D-C5FB-1180-6F89-E79F741E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2045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복사</a:t>
            </a:r>
            <a:r>
              <a:rPr lang="en-US" altLang="ko-KR" sz="2400" dirty="0"/>
              <a:t>/</a:t>
            </a:r>
            <a:r>
              <a:rPr lang="ko-KR" altLang="en-US" sz="2400" dirty="0"/>
              <a:t>추출 </a:t>
            </a:r>
            <a:r>
              <a:rPr lang="en-US" altLang="ko-KR" sz="2400" dirty="0"/>
              <a:t>(</a:t>
            </a:r>
            <a:r>
              <a:rPr lang="ko-KR" altLang="en-US" sz="2400" dirty="0"/>
              <a:t>원본 변경 </a:t>
            </a:r>
            <a:r>
              <a:rPr lang="en-US" altLang="ko-KR" sz="2400" dirty="0"/>
              <a:t>X)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slice(start, end) → </a:t>
            </a:r>
            <a:r>
              <a:rPr lang="ko-KR" altLang="en-US" sz="2000" dirty="0"/>
              <a:t>배열 부분 복사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concat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) → </a:t>
            </a:r>
            <a:r>
              <a:rPr lang="ko-KR" altLang="en-US" sz="2000" dirty="0"/>
              <a:t>배열 합치기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join(</a:t>
            </a:r>
            <a:r>
              <a:rPr lang="en-US" altLang="ko-KR" sz="2000" dirty="0" err="1"/>
              <a:t>sep</a:t>
            </a:r>
            <a:r>
              <a:rPr lang="en-US" altLang="ko-KR" sz="2000" dirty="0"/>
              <a:t>) → </a:t>
            </a:r>
            <a:r>
              <a:rPr lang="ko-KR" altLang="en-US" sz="2000" dirty="0"/>
              <a:t>배열 → 문자열 변환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탐색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indexOf</a:t>
            </a:r>
            <a:r>
              <a:rPr lang="en-US" altLang="ko-KR" sz="2000" dirty="0"/>
              <a:t>(item)</a:t>
            </a:r>
            <a:r>
              <a:rPr lang="ko-KR" altLang="en-US" sz="2000" dirty="0"/>
              <a:t> → 처음 위치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lastIndexOf</a:t>
            </a:r>
            <a:r>
              <a:rPr lang="en-US" altLang="ko-KR" sz="2000" dirty="0"/>
              <a:t>(item)</a:t>
            </a:r>
            <a:r>
              <a:rPr lang="ko-KR" altLang="en-US" sz="2000" dirty="0"/>
              <a:t> → 마지막 위치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includes(item)</a:t>
            </a:r>
            <a:r>
              <a:rPr lang="ko-KR" altLang="en-US" sz="2000" dirty="0"/>
              <a:t> → 포함 여부 확인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D9E797-E3F9-DBBE-214F-B8FF0A7B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4D39E-2A57-1217-C5B5-77AB4214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462D8C-D3A8-B581-5369-6AA64AF1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58411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1FC9-4630-00A4-3B0B-DEE70F3F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46CDE3F-5BDD-8E90-167B-63E54BEDF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2045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순회</a:t>
            </a:r>
            <a:r>
              <a:rPr lang="en-US" altLang="ko-KR" sz="2400" dirty="0"/>
              <a:t>/</a:t>
            </a:r>
            <a:r>
              <a:rPr lang="ko-KR" altLang="en-US" sz="2400" dirty="0"/>
              <a:t>고차함수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forEach</a:t>
            </a:r>
            <a:r>
              <a:rPr lang="en-US" altLang="ko-KR" sz="2000" dirty="0"/>
              <a:t>(callback) → </a:t>
            </a:r>
            <a:r>
              <a:rPr lang="ko-KR" altLang="en-US" sz="2000" dirty="0"/>
              <a:t>각 요소에 대해 함수 실행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map(callback) → </a:t>
            </a:r>
            <a:r>
              <a:rPr lang="ko-KR" altLang="en-US" sz="2000" dirty="0"/>
              <a:t>각 요소 변환 후 새 배열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filter(callback) → </a:t>
            </a:r>
            <a:r>
              <a:rPr lang="ko-KR" altLang="en-US" sz="2000" dirty="0"/>
              <a:t>조건 만족하는 요소만 새 배열로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reduce(callback, </a:t>
            </a:r>
            <a:r>
              <a:rPr lang="en-US" altLang="ko-KR" sz="2000" dirty="0" err="1"/>
              <a:t>init</a:t>
            </a:r>
            <a:r>
              <a:rPr lang="en-US" altLang="ko-KR" sz="2000" dirty="0"/>
              <a:t>) → </a:t>
            </a:r>
            <a:r>
              <a:rPr lang="ko-KR" altLang="en-US" sz="2000" dirty="0"/>
              <a:t>누적 계산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some(callback) → </a:t>
            </a:r>
            <a:r>
              <a:rPr lang="ko-KR" altLang="en-US" sz="2000" dirty="0"/>
              <a:t>조건 만족하는 요소 하나라도 있으면 </a:t>
            </a:r>
            <a:r>
              <a:rPr lang="en-US" altLang="ko-KR" sz="2000" dirty="0"/>
              <a:t>true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every(callback) → </a:t>
            </a:r>
            <a:r>
              <a:rPr lang="ko-KR" altLang="en-US" sz="2000" dirty="0"/>
              <a:t>모든 요소가 조건 만족하면 </a:t>
            </a:r>
            <a:r>
              <a:rPr lang="en-US" altLang="ko-KR" sz="2000" dirty="0"/>
              <a:t>true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find(callback) → </a:t>
            </a:r>
            <a:r>
              <a:rPr lang="ko-KR" altLang="en-US" sz="2000" dirty="0"/>
              <a:t>조건 만족하는 첫 요소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findIndex</a:t>
            </a:r>
            <a:r>
              <a:rPr lang="en-US" altLang="ko-KR" sz="2000" dirty="0"/>
              <a:t>(callback) → </a:t>
            </a:r>
            <a:r>
              <a:rPr lang="ko-KR" altLang="en-US" sz="2000" dirty="0"/>
              <a:t>조건 만족하는 첫 요소 인덱스 반환</a:t>
            </a:r>
            <a:endParaRPr lang="ko-KR" altLang="en-US" sz="16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6BB506-1A12-CAB4-C5BE-B47B4736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DC6D4-2FA0-BB66-7E32-B41066A2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999662-EB69-6558-CF53-A5545117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67929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8217F2-D36A-5CEC-00A6-945EAF01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6F8C45-9E59-535A-4D1F-7D6ABE3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0CAE24-4239-0E74-8357-F289B236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b="0" dirty="0">
                <a:solidFill>
                  <a:srgbClr val="ED7D31"/>
                </a:solidFill>
              </a:rPr>
              <a:t>배열에서 반복</a:t>
            </a:r>
          </a:p>
        </p:txBody>
      </p:sp>
    </p:spTree>
    <p:extLst>
      <p:ext uri="{BB962C8B-B14F-4D97-AF65-F5344CB8AC3E}">
        <p14:creationId xmlns:p14="http://schemas.microsoft.com/office/powerpoint/2010/main" val="18027173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3F1AD5-28FD-4DBA-DFE2-D460A2BD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EC18F-EA1B-6551-EEDA-8D9F6247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299CAAC-9452-CEFE-5CA0-7D210A3E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) </a:t>
            </a:r>
            <a:r>
              <a:rPr lang="ko-KR" altLang="en-US" dirty="0">
                <a:solidFill>
                  <a:schemeClr val="accent1"/>
                </a:solidFill>
              </a:rPr>
              <a:t>기본 </a:t>
            </a:r>
            <a:r>
              <a:rPr lang="en-US" altLang="ko-KR" dirty="0">
                <a:solidFill>
                  <a:schemeClr val="accent1"/>
                </a:solidFill>
              </a:rPr>
              <a:t>for</a:t>
            </a:r>
            <a:r>
              <a:rPr lang="ko-KR" altLang="en-US" dirty="0">
                <a:solidFill>
                  <a:schemeClr val="accent1"/>
                </a:solidFill>
              </a:rPr>
              <a:t>문 </a:t>
            </a:r>
            <a:r>
              <a:rPr lang="ko-KR" altLang="en-US" dirty="0"/>
              <a:t>사용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7D0C0-1FA2-E08F-C57D-6ABD01CAEFAB}"/>
              </a:ext>
            </a:extLst>
          </p:cNvPr>
          <p:cNvSpPr txBox="1"/>
          <p:nvPr/>
        </p:nvSpPr>
        <p:spPr>
          <a:xfrm>
            <a:off x="1785107" y="2276857"/>
            <a:ext cx="8621786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9B58B444-0279-A70B-08B0-58EA06B60803}"/>
              </a:ext>
            </a:extLst>
          </p:cNvPr>
          <p:cNvSpPr txBox="1">
            <a:spLocks/>
          </p:cNvSpPr>
          <p:nvPr/>
        </p:nvSpPr>
        <p:spPr>
          <a:xfrm>
            <a:off x="251787" y="1139831"/>
            <a:ext cx="8374501" cy="7653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💡 카운터 변수를 직접 제어하면서 반복하는 문법</a:t>
            </a:r>
            <a:r>
              <a:rPr lang="en-US" altLang="ko-KR" sz="2400" dirty="0"/>
              <a:t>(</a:t>
            </a:r>
            <a:r>
              <a:rPr lang="ko-KR" altLang="en-US" sz="2400" dirty="0"/>
              <a:t>전통적인 </a:t>
            </a:r>
            <a:r>
              <a:rPr lang="en-US" altLang="ko-KR" dirty="0"/>
              <a:t>for</a:t>
            </a:r>
            <a:r>
              <a:rPr lang="ko-KR" altLang="en-US" sz="2400" dirty="0"/>
              <a:t>문</a:t>
            </a:r>
            <a:r>
              <a:rPr lang="en-US" altLang="ko-KR" sz="2400" dirty="0"/>
              <a:t>).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990803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) </a:t>
            </a:r>
            <a:r>
              <a:rPr lang="en-US" altLang="ko-KR" dirty="0">
                <a:solidFill>
                  <a:schemeClr val="accent1"/>
                </a:solidFill>
              </a:rPr>
              <a:t>for of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A928B-A4DF-AE90-01C8-04CC6E9B865E}"/>
              </a:ext>
            </a:extLst>
          </p:cNvPr>
          <p:cNvSpPr txBox="1"/>
          <p:nvPr/>
        </p:nvSpPr>
        <p:spPr>
          <a:xfrm>
            <a:off x="1785107" y="2002130"/>
            <a:ext cx="8621786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35F5CF-5427-4062-6499-69D8C5451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39831"/>
            <a:ext cx="8045047" cy="7653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💡 배열의 고차 함수</a:t>
            </a:r>
            <a:r>
              <a:rPr lang="en-US" altLang="ko-KR" sz="2400" dirty="0"/>
              <a:t>. </a:t>
            </a:r>
            <a:r>
              <a:rPr lang="ko-KR" altLang="en-US" sz="2400" dirty="0"/>
              <a:t>배열의 각 요소에 대해 </a:t>
            </a:r>
            <a:r>
              <a:rPr lang="ko-KR" altLang="en-US" sz="2400" dirty="0" err="1"/>
              <a:t>콜백</a:t>
            </a:r>
            <a:r>
              <a:rPr lang="ko-KR" altLang="en-US" sz="2400" dirty="0"/>
              <a:t> 함수를 실행</a:t>
            </a:r>
          </a:p>
        </p:txBody>
      </p:sp>
    </p:spTree>
    <p:extLst>
      <p:ext uri="{BB962C8B-B14F-4D97-AF65-F5344CB8AC3E}">
        <p14:creationId xmlns:p14="http://schemas.microsoft.com/office/powerpoint/2010/main" val="407039879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) </a:t>
            </a:r>
            <a:r>
              <a:rPr lang="en-US" altLang="ko-KR" dirty="0">
                <a:solidFill>
                  <a:schemeClr val="accent1"/>
                </a:solidFill>
              </a:rPr>
              <a:t>[].</a:t>
            </a:r>
            <a:r>
              <a:rPr lang="en-US" altLang="ko-KR" dirty="0" err="1">
                <a:solidFill>
                  <a:schemeClr val="accent1"/>
                </a:solidFill>
              </a:rPr>
              <a:t>forEach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7AE21-DD4A-5975-D523-7BC9D3C28787}"/>
              </a:ext>
            </a:extLst>
          </p:cNvPr>
          <p:cNvSpPr txBox="1"/>
          <p:nvPr/>
        </p:nvSpPr>
        <p:spPr>
          <a:xfrm>
            <a:off x="1815626" y="2234251"/>
            <a:ext cx="8560748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8EFD5B6-3E92-BF08-3D03-BC8636A0E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39831"/>
            <a:ext cx="9920913" cy="7653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💡 </a:t>
            </a:r>
            <a:r>
              <a:rPr lang="ko-KR" altLang="en-US" sz="2400" b="1" dirty="0" err="1"/>
              <a:t>이터러블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iterable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객체</a:t>
            </a:r>
            <a:r>
              <a:rPr lang="en-US" altLang="ko-KR" sz="2400" dirty="0"/>
              <a:t>(</a:t>
            </a:r>
            <a:r>
              <a:rPr lang="ko-KR" altLang="en-US" sz="2400" dirty="0"/>
              <a:t>배열</a:t>
            </a:r>
            <a:r>
              <a:rPr lang="en-US" altLang="ko-KR" sz="2400" dirty="0"/>
              <a:t>, </a:t>
            </a:r>
            <a:r>
              <a:rPr lang="ko-KR" altLang="en-US" sz="2400" dirty="0"/>
              <a:t>문자열</a:t>
            </a:r>
            <a:r>
              <a:rPr lang="en-US" altLang="ko-KR" sz="2400" dirty="0"/>
              <a:t>, Set, Map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의 </a:t>
            </a:r>
            <a:r>
              <a:rPr lang="ko-KR" altLang="en-US" sz="2400" b="1" dirty="0"/>
              <a:t>값</a:t>
            </a:r>
            <a:r>
              <a:rPr lang="ko-KR" altLang="en-US" sz="2400" dirty="0"/>
              <a:t>을 순회하는 문법</a:t>
            </a:r>
          </a:p>
        </p:txBody>
      </p:sp>
    </p:spTree>
    <p:extLst>
      <p:ext uri="{BB962C8B-B14F-4D97-AF65-F5344CB8AC3E}">
        <p14:creationId xmlns:p14="http://schemas.microsoft.com/office/powerpoint/2010/main" val="30162537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</a:t>
            </a:r>
            <a:r>
              <a:rPr lang="ko-KR" altLang="en-US" dirty="0">
                <a:solidFill>
                  <a:schemeClr val="accent1"/>
                </a:solidFill>
              </a:rPr>
              <a:t>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4224C-FD2E-6A16-0874-4558D2291B77}"/>
              </a:ext>
            </a:extLst>
          </p:cNvPr>
          <p:cNvSpPr txBox="1"/>
          <p:nvPr/>
        </p:nvSpPr>
        <p:spPr>
          <a:xfrm>
            <a:off x="3048699" y="751344"/>
            <a:ext cx="6094602" cy="53553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</a:t>
            </a:r>
            <a:r>
              <a:rPr lang="en-US" altLang="ko-KR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735062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7D7C6-9EFB-2E7A-25B1-FB720328B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904621" cy="5032375"/>
          </a:xfrm>
        </p:spPr>
        <p:txBody>
          <a:bodyPr>
            <a:noAutofit/>
          </a:bodyPr>
          <a:lstStyle/>
          <a:p>
            <a:r>
              <a:rPr lang="en-US" altLang="ko-KR" sz="2400" dirty="0" err="1"/>
              <a:t>arr.</a:t>
            </a:r>
            <a:r>
              <a:rPr lang="en-US" altLang="ko-KR" sz="2400" dirty="0" err="1">
                <a:highlight>
                  <a:srgbClr val="FFFF00"/>
                </a:highlight>
              </a:rPr>
              <a:t>filter</a:t>
            </a:r>
            <a:r>
              <a:rPr lang="en-US" altLang="ko-KR" sz="2400" dirty="0">
                <a:highlight>
                  <a:srgbClr val="FFFF00"/>
                </a:highlight>
              </a:rPr>
              <a:t>()</a:t>
            </a:r>
          </a:p>
          <a:p>
            <a:pPr lvl="1"/>
            <a:r>
              <a:rPr lang="ko-KR" altLang="en-US" sz="2000" dirty="0"/>
              <a:t>배열 내부에서 조건에 부합하는 요소만 찾아서 </a:t>
            </a:r>
            <a:r>
              <a:rPr lang="en-US" altLang="ko-KR" sz="2000" dirty="0"/>
              <a:t>“</a:t>
            </a:r>
            <a:r>
              <a:rPr lang="ko-KR" altLang="en-US" sz="2000" dirty="0"/>
              <a:t>배열로</a:t>
            </a:r>
            <a:r>
              <a:rPr lang="en-US" altLang="ko-KR" sz="2000" dirty="0"/>
              <a:t>” </a:t>
            </a:r>
            <a:r>
              <a:rPr lang="ko-KR" altLang="en-US" sz="2000" dirty="0"/>
              <a:t>반환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 err="1"/>
              <a:t>arr.</a:t>
            </a:r>
            <a:r>
              <a:rPr lang="en-US" altLang="ko-KR" sz="2400" dirty="0" err="1">
                <a:highlight>
                  <a:srgbClr val="FFFF00"/>
                </a:highlight>
              </a:rPr>
              <a:t>find</a:t>
            </a:r>
            <a:r>
              <a:rPr lang="en-US" altLang="ko-KR" sz="2400" dirty="0">
                <a:highlight>
                  <a:srgbClr val="FFFF00"/>
                </a:highlight>
              </a:rPr>
              <a:t>() </a:t>
            </a:r>
            <a:endParaRPr lang="en-US" altLang="ko-KR" sz="2400" dirty="0"/>
          </a:p>
          <a:p>
            <a:pPr lvl="1"/>
            <a:r>
              <a:rPr lang="ko-KR" altLang="en-US" sz="2000" dirty="0"/>
              <a:t>배열 내부에서 조건에 부합하는 첫번째 요소를 찾아서 </a:t>
            </a:r>
            <a:r>
              <a:rPr lang="en-US" altLang="ko-KR" sz="2000" dirty="0"/>
              <a:t>“</a:t>
            </a:r>
            <a:r>
              <a:rPr lang="ko-KR" altLang="en-US" sz="2000" dirty="0"/>
              <a:t>값</a:t>
            </a:r>
            <a:r>
              <a:rPr lang="en-US" altLang="ko-KR" sz="2000" dirty="0"/>
              <a:t>”</a:t>
            </a:r>
            <a:r>
              <a:rPr lang="ko-KR" altLang="en-US" sz="2000" dirty="0"/>
              <a:t>으로 반환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 err="1"/>
              <a:t>arr.</a:t>
            </a:r>
            <a:r>
              <a:rPr lang="en-US" altLang="ko-KR" sz="2400" dirty="0" err="1">
                <a:highlight>
                  <a:srgbClr val="FFFF00"/>
                </a:highlight>
              </a:rPr>
              <a:t>map</a:t>
            </a:r>
            <a:r>
              <a:rPr lang="en-US" altLang="ko-KR" sz="2400" dirty="0">
                <a:highlight>
                  <a:srgbClr val="FFFF00"/>
                </a:highlight>
              </a:rPr>
              <a:t>()</a:t>
            </a:r>
            <a:endParaRPr lang="en-US" altLang="ko-KR" sz="2400" dirty="0"/>
          </a:p>
          <a:p>
            <a:pPr lvl="1"/>
            <a:r>
              <a:rPr lang="ko-KR" altLang="en-US" sz="2000" dirty="0"/>
              <a:t>익명함수에 쓰여진 연산결과를 새로운 배열로 반환</a:t>
            </a:r>
            <a:endParaRPr lang="en-US" altLang="ko-KR" sz="20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➡️ 위의 메소드들은 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</a:rPr>
              <a:t>매개변수로 익명함수</a:t>
            </a:r>
            <a:r>
              <a:rPr lang="ko-KR" altLang="en-US" sz="2400" dirty="0"/>
              <a:t>를 받음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8BACF0-7E65-E056-AAF1-BA92C8B6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배열에서의 기타 메소드</a:t>
            </a:r>
          </a:p>
        </p:txBody>
      </p:sp>
    </p:spTree>
    <p:extLst>
      <p:ext uri="{BB962C8B-B14F-4D97-AF65-F5344CB8AC3E}">
        <p14:creationId xmlns:p14="http://schemas.microsoft.com/office/powerpoint/2010/main" val="192132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867E4F-1977-0BB7-55F1-A17D5D7E0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2531"/>
            <a:ext cx="12192000" cy="48438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88FBBF-0F1E-354D-365A-7949C3F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) for ~ in…</a:t>
            </a:r>
            <a:endParaRPr lang="ko-KR" altLang="en-US" dirty="0"/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940ACF47-A997-3737-8483-2D2F2EA79CAB}"/>
              </a:ext>
            </a:extLst>
          </p:cNvPr>
          <p:cNvSpPr txBox="1">
            <a:spLocks/>
          </p:cNvSpPr>
          <p:nvPr/>
        </p:nvSpPr>
        <p:spPr>
          <a:xfrm>
            <a:off x="251787" y="1139831"/>
            <a:ext cx="9920913" cy="7653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💡 객체의 열거 가능한 속성</a:t>
            </a:r>
            <a:r>
              <a:rPr lang="en-US" altLang="ko-KR" sz="2400" dirty="0"/>
              <a:t>(key)</a:t>
            </a:r>
            <a:r>
              <a:rPr lang="ko-KR" altLang="en-US" sz="2400" dirty="0"/>
              <a:t>을 순회하기 위한 </a:t>
            </a:r>
            <a:r>
              <a:rPr lang="ko-KR" altLang="en-US" sz="2400" dirty="0" err="1"/>
              <a:t>반복문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59313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DOM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0109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문서를 객체화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E4500-9B5B-98AF-AA55-5351857FF20F}"/>
              </a:ext>
            </a:extLst>
          </p:cNvPr>
          <p:cNvSpPr txBox="1"/>
          <p:nvPr/>
        </p:nvSpPr>
        <p:spPr>
          <a:xfrm>
            <a:off x="238990" y="1145407"/>
            <a:ext cx="11701221" cy="481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latin typeface="+mj-lt"/>
              </a:rPr>
              <a:t>💡 렌더링 </a:t>
            </a:r>
            <a:r>
              <a:rPr lang="en-US" altLang="ko-KR" sz="2800" b="1" dirty="0">
                <a:latin typeface="+mj-lt"/>
              </a:rPr>
              <a:t>(</a:t>
            </a:r>
            <a:r>
              <a:rPr lang="en-US" altLang="ko-K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Rendering)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데이터를 시각적인 형태로 변환하는 과정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화면에 표시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b="1" dirty="0"/>
              <a:t>💡 렌더링 엔진 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solidFill>
                  <a:srgbClr val="0D0D0D"/>
                </a:solidFill>
                <a:highlight>
                  <a:srgbClr val="FFFFFF"/>
                </a:highlight>
              </a:rPr>
              <a:t>Rendering Engine)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(HTML, CSS, JS)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 페이지 리소스를 해석하고 표시하는 역할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웹  페이지를 렌더링하고 사용자에게 표시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sz="2800" b="1" dirty="0"/>
          </a:p>
          <a:p>
            <a:pPr>
              <a:lnSpc>
                <a:spcPct val="150000"/>
              </a:lnSpc>
            </a:pPr>
            <a:endParaRPr lang="ko-KR" altLang="en-US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890377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문서를 객체화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582CA5-2CB9-B760-CE67-23F40AE25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1378132"/>
            <a:ext cx="75628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640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>
                <a:highlight>
                  <a:srgbClr val="FFFF00"/>
                </a:highlight>
              </a:rPr>
              <a:t>D</a:t>
            </a:r>
            <a:r>
              <a:rPr lang="en-US" altLang="ko-KR" b="1" dirty="0"/>
              <a:t>ocument </a:t>
            </a:r>
            <a:r>
              <a:rPr lang="en-US" altLang="ko-KR" b="1" dirty="0">
                <a:highlight>
                  <a:srgbClr val="FFFF00"/>
                </a:highlight>
              </a:rPr>
              <a:t>O</a:t>
            </a:r>
            <a:r>
              <a:rPr lang="en-US" altLang="ko-KR" b="1" dirty="0"/>
              <a:t>bject </a:t>
            </a:r>
            <a:r>
              <a:rPr lang="en-US" altLang="ko-KR" b="1" dirty="0">
                <a:highlight>
                  <a:srgbClr val="FFFF00"/>
                </a:highlight>
              </a:rPr>
              <a:t>M</a:t>
            </a:r>
            <a:r>
              <a:rPr lang="en-US" altLang="ko-KR" b="1" dirty="0"/>
              <a:t>odel ( </a:t>
            </a:r>
            <a:r>
              <a:rPr lang="ko-KR" altLang="en-US" b="1" dirty="0"/>
              <a:t>문서 객체 모델</a:t>
            </a:r>
            <a:r>
              <a:rPr lang="en-US" altLang="ko-KR" b="1" dirty="0"/>
              <a:t> 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XML </a:t>
            </a:r>
            <a:r>
              <a:rPr lang="ko-KR" altLang="en-US" dirty="0"/>
              <a:t>이나 </a:t>
            </a:r>
            <a:r>
              <a:rPr lang="en-US" altLang="ko-KR" dirty="0"/>
              <a:t>HTML </a:t>
            </a:r>
            <a:r>
              <a:rPr lang="ko-KR" altLang="en-US" dirty="0"/>
              <a:t>문서에 접근하기 위한 일종의 인터페이스로 문서 내의 모든 요소를 정의하고</a:t>
            </a:r>
            <a:r>
              <a:rPr lang="en-US" altLang="ko-KR" dirty="0"/>
              <a:t>, </a:t>
            </a:r>
            <a:r>
              <a:rPr lang="ko-KR" altLang="en-US" dirty="0"/>
              <a:t>각각의 요소에 접근하는 방법을 제공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0575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7C8DF42-47CD-0939-D2F4-5B1E62389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9" y="1325563"/>
            <a:ext cx="4200386" cy="4351338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F80D-3619-47B0-B506-C15A2DD33094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C2B14E1-0567-FD31-C62D-6CAF64C26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46" y="1325563"/>
            <a:ext cx="6193222" cy="292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95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0699" cy="48422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Light" panose="02000403000000020004" pitchFamily="2" charset="-127"/>
              </a:rPr>
              <a:t>✅ </a:t>
            </a:r>
            <a:r>
              <a:rPr lang="en-US" altLang="ko-KR" sz="2400" dirty="0">
                <a:latin typeface="+mn-ea"/>
                <a:ea typeface="+mn-ea"/>
                <a:cs typeface="Pretendard Light" panose="02000403000000020004" pitchFamily="2" charset="-127"/>
              </a:rPr>
              <a:t>DOM</a:t>
            </a:r>
            <a:r>
              <a:rPr lang="ko-KR" altLang="en-US" sz="2400" dirty="0">
                <a:latin typeface="+mn-ea"/>
                <a:ea typeface="+mn-ea"/>
                <a:cs typeface="Pretendard Light" panose="02000403000000020004" pitchFamily="2" charset="-127"/>
              </a:rPr>
              <a:t>을 통해 할 수 있는 일</a:t>
            </a:r>
            <a:endParaRPr lang="en-US" altLang="ko-KR" sz="2400" dirty="0">
              <a:latin typeface="+mn-ea"/>
              <a:ea typeface="+mn-ea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요소나 속성 추가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존재하는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요소나 속성 제거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변경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 변경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스타일 변경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문서에 새로운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이벤트 추가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이벤트에 반응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B4C8-8E0F-4E71-95F4-BC1A3913D5AA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90697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575718"/>
            <a:ext cx="10515600" cy="1325563"/>
          </a:xfrm>
        </p:spPr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Document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6145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06837" cy="4938661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/>
              <a:t>💡 웹 페이지에 존재하는 </a:t>
            </a:r>
            <a:r>
              <a:rPr lang="en-US" altLang="ko-KR" sz="2400" b="1" dirty="0"/>
              <a:t>HTML </a:t>
            </a:r>
            <a:r>
              <a:rPr lang="ko-KR" altLang="en-US" sz="2400" b="1" dirty="0"/>
              <a:t>요소에 접근</a:t>
            </a:r>
            <a:r>
              <a:rPr lang="ko-KR" altLang="en-US" sz="2400" dirty="0"/>
              <a:t>하여 행동을 하고자 할 때 사용하는 객체</a:t>
            </a:r>
            <a:endParaRPr lang="en-US" altLang="ko-KR" sz="2400" dirty="0"/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/>
              <a:t>✅ 속성</a:t>
            </a:r>
            <a:endParaRPr lang="en-US" altLang="ko-KR" sz="2400" dirty="0"/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document.documentElement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document.head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document.title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document.body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document.URL</a:t>
            </a: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document.domain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8230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117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277228"/>
            <a:ext cx="10515600" cy="1325563"/>
          </a:xfrm>
        </p:spPr>
        <p:txBody>
          <a:bodyPr/>
          <a:lstStyle/>
          <a:p>
            <a:r>
              <a:rPr lang="en-US" altLang="ko-KR" sz="7200" dirty="0">
                <a:solidFill>
                  <a:srgbClr val="ED7D31"/>
                </a:solidFill>
              </a:rPr>
              <a:t>DOM API</a:t>
            </a:r>
            <a:endParaRPr lang="ko-KR" altLang="en-US" sz="7200" dirty="0">
              <a:solidFill>
                <a:srgbClr val="ED7D31"/>
              </a:solidFill>
            </a:endParaRP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02BE41FA-E97B-AA9A-885F-9D61DE462AF2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0" b="1" kern="1200">
                <a:solidFill>
                  <a:srgbClr val="6EC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rgbClr val="ED7D31"/>
                </a:solidFill>
              </a:rPr>
              <a:t>D</a:t>
            </a:r>
            <a:r>
              <a:rPr lang="en-US" altLang="ko-KR" sz="3200" dirty="0">
                <a:solidFill>
                  <a:srgbClr val="2B2B2B"/>
                </a:solidFill>
              </a:rPr>
              <a:t>ocument </a:t>
            </a:r>
            <a:r>
              <a:rPr lang="en-US" altLang="ko-KR" sz="3200" dirty="0">
                <a:solidFill>
                  <a:srgbClr val="ED7D31"/>
                </a:solidFill>
              </a:rPr>
              <a:t>O</a:t>
            </a:r>
            <a:r>
              <a:rPr lang="en-US" altLang="ko-KR" sz="3200" dirty="0">
                <a:solidFill>
                  <a:srgbClr val="2B2B2B"/>
                </a:solidFill>
              </a:rPr>
              <a:t>bject </a:t>
            </a:r>
            <a:r>
              <a:rPr lang="en-US" altLang="ko-KR" sz="3200" dirty="0">
                <a:solidFill>
                  <a:srgbClr val="ED7D31"/>
                </a:solidFill>
              </a:rPr>
              <a:t>M</a:t>
            </a:r>
            <a:r>
              <a:rPr lang="en-US" altLang="ko-KR" sz="3200" dirty="0">
                <a:solidFill>
                  <a:srgbClr val="2B2B2B"/>
                </a:solidFill>
              </a:rPr>
              <a:t>odel,</a:t>
            </a:r>
          </a:p>
          <a:p>
            <a:r>
              <a:rPr lang="en-US" altLang="ko-KR" sz="3200" dirty="0">
                <a:solidFill>
                  <a:srgbClr val="ED7D31"/>
                </a:solidFill>
              </a:rPr>
              <a:t>A</a:t>
            </a:r>
            <a:r>
              <a:rPr lang="en-US" altLang="ko-KR" sz="3200" dirty="0">
                <a:solidFill>
                  <a:srgbClr val="2B2B2B"/>
                </a:solidFill>
              </a:rPr>
              <a:t>pplication </a:t>
            </a:r>
            <a:r>
              <a:rPr lang="en-US" altLang="ko-KR" sz="3200" dirty="0">
                <a:solidFill>
                  <a:srgbClr val="ED7D31"/>
                </a:solidFill>
              </a:rPr>
              <a:t>P</a:t>
            </a:r>
            <a:r>
              <a:rPr lang="en-US" altLang="ko-KR" sz="3200" dirty="0">
                <a:solidFill>
                  <a:srgbClr val="2B2B2B"/>
                </a:solidFill>
              </a:rPr>
              <a:t>rogramming </a:t>
            </a:r>
            <a:r>
              <a:rPr lang="en-US" altLang="ko-KR" sz="3200" dirty="0">
                <a:solidFill>
                  <a:srgbClr val="ED7D31"/>
                </a:solidFill>
              </a:rPr>
              <a:t>I</a:t>
            </a:r>
            <a:r>
              <a:rPr lang="en-US" altLang="ko-KR" sz="3200" dirty="0">
                <a:solidFill>
                  <a:srgbClr val="2B2B2B"/>
                </a:solidFill>
              </a:rPr>
              <a:t>nterface</a:t>
            </a:r>
            <a:endParaRPr lang="ko-KR" altLang="en-US" sz="3200" dirty="0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38481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20654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이전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.getElementById</a:t>
            </a:r>
            <a:r>
              <a:rPr lang="en-US" altLang="ko-KR" dirty="0"/>
              <a:t>(</a:t>
            </a:r>
            <a:r>
              <a:rPr lang="ko-KR" altLang="en-US" dirty="0"/>
              <a:t>아이디</a:t>
            </a:r>
            <a:r>
              <a:rPr lang="en-US" altLang="ko-KR" dirty="0"/>
              <a:t> </a:t>
            </a:r>
            <a:r>
              <a:rPr lang="ko-KR" altLang="en-US" dirty="0"/>
              <a:t>속성값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ByClassName</a:t>
            </a:r>
            <a:r>
              <a:rPr lang="en-US" altLang="ko-KR" dirty="0"/>
              <a:t>(</a:t>
            </a:r>
            <a:r>
              <a:rPr lang="ko-KR" altLang="en-US" dirty="0"/>
              <a:t>클래스 속성값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ByTagName</a:t>
            </a:r>
            <a:r>
              <a:rPr lang="en-US" altLang="ko-KR" dirty="0"/>
              <a:t>(</a:t>
            </a:r>
            <a:r>
              <a:rPr lang="ko-KR" altLang="en-US" dirty="0"/>
              <a:t>태그 이름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ByName</a:t>
            </a:r>
            <a:r>
              <a:rPr lang="en-US" altLang="ko-KR" dirty="0"/>
              <a:t>(name</a:t>
            </a:r>
            <a:r>
              <a:rPr lang="ko-KR" altLang="en-US" dirty="0"/>
              <a:t> 속성값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선택</a:t>
            </a:r>
          </a:p>
        </p:txBody>
      </p:sp>
    </p:spTree>
    <p:extLst>
      <p:ext uri="{BB962C8B-B14F-4D97-AF65-F5344CB8AC3E}">
        <p14:creationId xmlns:p14="http://schemas.microsoft.com/office/powerpoint/2010/main" val="170842479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6F7D3-6091-763C-5394-834CCD69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1E7FF6-7376-5C9A-DCD7-1C32869D2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8582526" cy="49378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권장되는 방식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.querySelectorAll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📌 최근 주로 사용되는 이유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CSS</a:t>
            </a:r>
            <a:r>
              <a:rPr lang="ko-KR" altLang="en-US" dirty="0"/>
              <a:t>에서 쓰던 선택자를 그대로 쓸 수 있어서 직관적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코드 간결성 </a:t>
            </a:r>
            <a:r>
              <a:rPr lang="en-US" altLang="ko-KR" dirty="0"/>
              <a:t>: </a:t>
            </a:r>
            <a:r>
              <a:rPr lang="ko-KR" altLang="en-US" dirty="0"/>
              <a:t>한 가지 통일된 문법으로 처리할 수 있음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 err="1"/>
              <a:t>NodeList</a:t>
            </a:r>
            <a:r>
              <a:rPr lang="en-US" altLang="ko-KR" dirty="0"/>
              <a:t> </a:t>
            </a:r>
            <a:r>
              <a:rPr lang="ko-KR" altLang="en-US" dirty="0"/>
              <a:t>반환 </a:t>
            </a:r>
            <a:r>
              <a:rPr lang="en-US" altLang="ko-KR" dirty="0"/>
              <a:t>: </a:t>
            </a:r>
            <a:r>
              <a:rPr lang="ko-KR" altLang="en-US" dirty="0"/>
              <a:t>반복문과 함께 쓸 수 있음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1B8E1-428E-3EA9-331F-5AB54BB8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C81D30-BC2F-6FDE-EEEF-920A2664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382F23-C242-7E0F-03C2-49BF7807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선택</a:t>
            </a:r>
          </a:p>
        </p:txBody>
      </p:sp>
    </p:spTree>
    <p:extLst>
      <p:ext uri="{BB962C8B-B14F-4D97-AF65-F5344CB8AC3E}">
        <p14:creationId xmlns:p14="http://schemas.microsoft.com/office/powerpoint/2010/main" val="174396576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getElementById</a:t>
            </a:r>
            <a:r>
              <a:rPr lang="en-US" altLang="ko-KR" dirty="0">
                <a:latin typeface="+mj-ea"/>
                <a:ea typeface="+mj-ea"/>
              </a:rPr>
              <a:t>(“ID</a:t>
            </a:r>
            <a:r>
              <a:rPr lang="ko-KR" altLang="en-US" dirty="0">
                <a:latin typeface="+mj-ea"/>
                <a:ea typeface="+mj-ea"/>
              </a:rPr>
              <a:t>이름</a:t>
            </a:r>
            <a:r>
              <a:rPr lang="en-US" altLang="ko-KR" dirty="0">
                <a:latin typeface="+mj-ea"/>
                <a:ea typeface="+mj-ea"/>
              </a:rPr>
              <a:t>”)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해당 </a:t>
            </a:r>
            <a:r>
              <a:rPr lang="en-US" altLang="ko-KR" dirty="0">
                <a:latin typeface="+mn-ea"/>
                <a:ea typeface="+mn-ea"/>
              </a:rPr>
              <a:t>ID</a:t>
            </a:r>
            <a:r>
              <a:rPr lang="ko-KR" altLang="en-US" dirty="0">
                <a:latin typeface="+mn-ea"/>
                <a:ea typeface="+mn-ea"/>
              </a:rPr>
              <a:t>를 가지는 요소를 불러오는 메소드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7B619-31A1-713E-4BB0-79C47F0A7F1D}"/>
              </a:ext>
            </a:extLst>
          </p:cNvPr>
          <p:cNvSpPr txBox="1"/>
          <p:nvPr/>
        </p:nvSpPr>
        <p:spPr>
          <a:xfrm>
            <a:off x="865094" y="2141747"/>
            <a:ext cx="7575176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F1C990-8257-26E3-F441-45F8CC35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94" y="2725144"/>
            <a:ext cx="4021134" cy="19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407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querySelector</a:t>
            </a:r>
            <a:r>
              <a:rPr lang="en-US" altLang="ko-KR" dirty="0">
                <a:latin typeface="+mj-ea"/>
                <a:ea typeface="+mj-ea"/>
              </a:rPr>
              <a:t>(“</a:t>
            </a:r>
            <a:r>
              <a:rPr lang="ko-KR" altLang="en-US" dirty="0">
                <a:latin typeface="+mj-ea"/>
                <a:ea typeface="+mj-ea"/>
              </a:rPr>
              <a:t>요소 </a:t>
            </a:r>
            <a:r>
              <a:rPr lang="ko-KR" altLang="en-US" dirty="0" err="1">
                <a:latin typeface="+mj-ea"/>
                <a:ea typeface="+mj-ea"/>
              </a:rPr>
              <a:t>선택자</a:t>
            </a:r>
            <a:r>
              <a:rPr lang="en-US" altLang="ko-KR" dirty="0">
                <a:latin typeface="+mj-ea"/>
                <a:ea typeface="+mj-ea"/>
              </a:rPr>
              <a:t>”)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11576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요소 선택자를 사용해서 자신이 가져오고 싶어하는 요소를 가져오는 메소드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문서에서 만나는 </a:t>
            </a:r>
            <a:r>
              <a:rPr lang="ko-KR" altLang="en-US" dirty="0">
                <a:solidFill>
                  <a:schemeClr val="accent2"/>
                </a:solidFill>
                <a:latin typeface="+mn-ea"/>
                <a:ea typeface="+mn-ea"/>
              </a:rPr>
              <a:t>제일 첫번째 요소</a:t>
            </a:r>
            <a:r>
              <a:rPr lang="ko-KR" altLang="en-US" dirty="0">
                <a:latin typeface="+mn-ea"/>
                <a:ea typeface="+mn-ea"/>
              </a:rPr>
              <a:t>를 반환 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8E2AB-FA79-8F86-7C5F-4808182CE30B}"/>
              </a:ext>
            </a:extLst>
          </p:cNvPr>
          <p:cNvSpPr txBox="1"/>
          <p:nvPr/>
        </p:nvSpPr>
        <p:spPr>
          <a:xfrm>
            <a:off x="824445" y="2884348"/>
            <a:ext cx="60960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11102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querySelectorAll</a:t>
            </a:r>
            <a:r>
              <a:rPr lang="en-US" altLang="ko-KR" dirty="0">
                <a:latin typeface="+mj-ea"/>
                <a:ea typeface="+mj-ea"/>
              </a:rPr>
              <a:t>(“</a:t>
            </a:r>
            <a:r>
              <a:rPr lang="ko-KR" altLang="en-US" dirty="0">
                <a:latin typeface="+mj-ea"/>
                <a:ea typeface="+mj-ea"/>
              </a:rPr>
              <a:t>요소 </a:t>
            </a:r>
            <a:r>
              <a:rPr lang="ko-KR" altLang="en-US" dirty="0" err="1">
                <a:latin typeface="+mj-ea"/>
                <a:ea typeface="+mj-ea"/>
              </a:rPr>
              <a:t>선택자</a:t>
            </a:r>
            <a:r>
              <a:rPr lang="en-US" altLang="ko-KR" dirty="0">
                <a:latin typeface="+mj-ea"/>
                <a:ea typeface="+mj-ea"/>
              </a:rPr>
              <a:t>”)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98636" y="1145407"/>
            <a:ext cx="9197790" cy="1643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문서에 존재하는 모든 요소를 찾아주는 메소드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요소를 가져와서 배열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데이터로 만들어 줍니다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B0C7FC-48A3-2B8A-32EF-509B02E0A6C3}"/>
              </a:ext>
            </a:extLst>
          </p:cNvPr>
          <p:cNvGrpSpPr/>
          <p:nvPr/>
        </p:nvGrpSpPr>
        <p:grpSpPr>
          <a:xfrm>
            <a:off x="472021" y="2646346"/>
            <a:ext cx="11247957" cy="3278204"/>
            <a:chOff x="370354" y="2789221"/>
            <a:chExt cx="11465861" cy="33417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9F813D4-EB6C-0D9F-848C-5B81BA152A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96"/>
            <a:stretch/>
          </p:blipFill>
          <p:spPr>
            <a:xfrm>
              <a:off x="6827569" y="4463825"/>
              <a:ext cx="5008646" cy="166710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095F28-A0CE-93E2-05B4-5D025AFEFCBA}"/>
                </a:ext>
              </a:extLst>
            </p:cNvPr>
            <p:cNvSpPr txBox="1"/>
            <p:nvPr/>
          </p:nvSpPr>
          <p:spPr>
            <a:xfrm>
              <a:off x="370354" y="5484602"/>
              <a:ext cx="6096000" cy="64633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let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boxEls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document</a:t>
              </a:r>
              <a:r>
                <a:rPr lang="en-US" altLang="ko-KR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querySelectorAll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".box"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boxEls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C8BC7C-2BC0-C035-EB89-B3241A6156F0}"/>
                </a:ext>
              </a:extLst>
            </p:cNvPr>
            <p:cNvSpPr txBox="1"/>
            <p:nvPr/>
          </p:nvSpPr>
          <p:spPr>
            <a:xfrm>
              <a:off x="370354" y="2789221"/>
              <a:ext cx="6270812" cy="258532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body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6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7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body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0449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228333" cy="49702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텍스트 내용 변경하기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textContent</a:t>
            </a:r>
            <a:r>
              <a:rPr lang="en-US" altLang="ko-KR" dirty="0"/>
              <a:t> = “</a:t>
            </a:r>
            <a:r>
              <a:rPr lang="ko-KR" altLang="en-US" dirty="0"/>
              <a:t>새로운 내용</a:t>
            </a:r>
            <a:r>
              <a:rPr lang="en-US" altLang="ko-KR" dirty="0"/>
              <a:t>”</a:t>
            </a:r>
          </a:p>
          <a:p>
            <a:pPr>
              <a:lnSpc>
                <a:spcPct val="16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내용 변경하기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innerHTML</a:t>
            </a:r>
            <a:r>
              <a:rPr lang="en-US" altLang="ko-KR" dirty="0"/>
              <a:t> = “&lt;p&gt; </a:t>
            </a:r>
            <a:r>
              <a:rPr lang="ko-KR" altLang="en-US" dirty="0"/>
              <a:t>새로운 </a:t>
            </a:r>
            <a:r>
              <a:rPr lang="en-US" altLang="ko-KR" dirty="0"/>
              <a:t>HTML </a:t>
            </a:r>
            <a:r>
              <a:rPr lang="ko-KR" altLang="en-US" dirty="0"/>
              <a:t>내용 </a:t>
            </a:r>
            <a:r>
              <a:rPr lang="en-US" altLang="ko-KR" dirty="0"/>
              <a:t>&lt;/p&gt;”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사용이 권장되지 않음</a:t>
            </a:r>
            <a:endParaRPr lang="en-US" altLang="ko-KR" dirty="0"/>
          </a:p>
          <a:p>
            <a:pPr>
              <a:lnSpc>
                <a:spcPct val="160000"/>
              </a:lnSpc>
            </a:pPr>
            <a:r>
              <a:rPr lang="en-US" altLang="ko-KR" dirty="0"/>
              <a:t>CSS</a:t>
            </a:r>
            <a:r>
              <a:rPr lang="ko-KR" altLang="en-US" dirty="0"/>
              <a:t> 스타일 변경하기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style.color</a:t>
            </a:r>
            <a:r>
              <a:rPr lang="en-US" altLang="ko-KR" dirty="0"/>
              <a:t> = “blue”;</a:t>
            </a:r>
          </a:p>
          <a:p>
            <a:pPr>
              <a:lnSpc>
                <a:spcPct val="160000"/>
              </a:lnSpc>
            </a:pPr>
            <a:r>
              <a:rPr lang="en-US" altLang="ko-KR" dirty="0"/>
              <a:t>CSS </a:t>
            </a:r>
            <a:r>
              <a:rPr lang="ko-KR" altLang="en-US" dirty="0"/>
              <a:t>클래스 추가</a:t>
            </a:r>
            <a:r>
              <a:rPr lang="en-US" altLang="ko-KR" dirty="0"/>
              <a:t>/</a:t>
            </a:r>
            <a:r>
              <a:rPr lang="ko-KR" altLang="en-US" dirty="0"/>
              <a:t>제거하기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classList.add</a:t>
            </a:r>
            <a:r>
              <a:rPr lang="en-US" altLang="ko-KR" dirty="0"/>
              <a:t>(“</a:t>
            </a:r>
            <a:r>
              <a:rPr lang="en-US" altLang="ko-KR" dirty="0" err="1"/>
              <a:t>newClass</a:t>
            </a:r>
            <a:r>
              <a:rPr lang="en-US" altLang="ko-KR" dirty="0"/>
              <a:t>”) / .remove(“</a:t>
            </a:r>
            <a:r>
              <a:rPr lang="en-US" altLang="ko-KR" dirty="0" err="1"/>
              <a:t>oldClass</a:t>
            </a:r>
            <a:r>
              <a:rPr lang="en-US" altLang="ko-KR" dirty="0"/>
              <a:t>”)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조작</a:t>
            </a:r>
          </a:p>
        </p:txBody>
      </p:sp>
    </p:spTree>
    <p:extLst>
      <p:ext uri="{BB962C8B-B14F-4D97-AF65-F5344CB8AC3E}">
        <p14:creationId xmlns:p14="http://schemas.microsoft.com/office/powerpoint/2010/main" val="124243663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ea typeface="Kim jung chul Gothic Bold" panose="020B0803000000000000" pitchFamily="50" charset="-127"/>
              </a:rPr>
              <a:t>.</a:t>
            </a:r>
            <a:r>
              <a:rPr lang="en-US" altLang="ko-KR" dirty="0" err="1">
                <a:ea typeface="Kim jung chul Gothic Bold" panose="020B0803000000000000" pitchFamily="50" charset="-127"/>
              </a:rPr>
              <a:t>textContent</a:t>
            </a:r>
            <a:r>
              <a:rPr lang="en-US" altLang="ko-KR" dirty="0">
                <a:ea typeface="Kim jung chul Gothic Bold" panose="020B0803000000000000" pitchFamily="50" charset="-127"/>
              </a:rPr>
              <a:t> .</a:t>
            </a:r>
            <a:r>
              <a:rPr lang="en-US" altLang="ko-KR" dirty="0" err="1">
                <a:ea typeface="Kim jung chul Gothic Bold" panose="020B0803000000000000" pitchFamily="50" charset="-127"/>
              </a:rPr>
              <a:t>innerText</a:t>
            </a:r>
            <a:r>
              <a:rPr lang="en-US" altLang="ko-KR" dirty="0">
                <a:ea typeface="Kim jung chul Gothic Bold" panose="020B0803000000000000" pitchFamily="50" charset="-127"/>
              </a:rPr>
              <a:t> .</a:t>
            </a:r>
            <a:r>
              <a:rPr lang="en-US" altLang="ko-KR" dirty="0" err="1">
                <a:ea typeface="Kim jung chul Gothic Bold" panose="020B0803000000000000" pitchFamily="50" charset="-127"/>
              </a:rPr>
              <a:t>innerHTML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253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태그 내에 들어갈 문자열을 지정</a:t>
            </a:r>
            <a:endParaRPr lang="en-US" altLang="ko-KR" dirty="0">
              <a:latin typeface="+mn-ea"/>
              <a:ea typeface="+mn-ea"/>
            </a:endParaRP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+mn-ea"/>
              </a:rPr>
              <a:t>요소</a:t>
            </a:r>
            <a:r>
              <a:rPr lang="en-US" altLang="ko-KR" dirty="0">
                <a:latin typeface="+mn-ea"/>
              </a:rPr>
              <a:t>.</a:t>
            </a:r>
            <a:r>
              <a:rPr lang="en-US" altLang="ko-KR" dirty="0" err="1">
                <a:latin typeface="+mn-ea"/>
              </a:rPr>
              <a:t>textContent</a:t>
            </a:r>
            <a:r>
              <a:rPr lang="en-US" altLang="ko-KR" dirty="0">
                <a:latin typeface="+mn-ea"/>
              </a:rPr>
              <a:t>=“hi”;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+mn-ea"/>
              </a:rPr>
              <a:t>선택된 요소에 내부의 문자열로 </a:t>
            </a:r>
            <a:r>
              <a:rPr lang="en-US" altLang="ko-KR" dirty="0">
                <a:latin typeface="+mn-ea"/>
              </a:rPr>
              <a:t>hi</a:t>
            </a:r>
            <a:r>
              <a:rPr lang="ko-KR" altLang="en-US" dirty="0">
                <a:latin typeface="+mn-ea"/>
              </a:rPr>
              <a:t>가 들어가게 됩니다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111734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ea typeface="Kim jung chul Gothic Bold" panose="020B0803000000000000" pitchFamily="50" charset="-127"/>
              </a:rPr>
              <a:t>classList</a:t>
            </a:r>
            <a:r>
              <a:rPr lang="en-US" altLang="ko-KR" dirty="0">
                <a:ea typeface="Kim jung chul Gothic Bold" panose="020B0803000000000000" pitchFamily="50" charset="-127"/>
              </a:rPr>
              <a:t>.~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093621"/>
            <a:ext cx="11559212" cy="4230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선택 요소에 </a:t>
            </a:r>
            <a:r>
              <a:rPr lang="en-US" altLang="ko-KR" dirty="0">
                <a:latin typeface="+mn-ea"/>
                <a:ea typeface="+mn-ea"/>
              </a:rPr>
              <a:t>class </a:t>
            </a:r>
            <a:r>
              <a:rPr lang="ko-KR" altLang="en-US" dirty="0">
                <a:latin typeface="+mn-ea"/>
                <a:ea typeface="+mn-ea"/>
              </a:rPr>
              <a:t>를 더하거나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빼거나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클래스가 존재하는지 체크하는 메소드</a:t>
            </a:r>
            <a:endParaRPr lang="en-US" altLang="ko-KR" dirty="0">
              <a:latin typeface="+mn-ea"/>
              <a:ea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기능과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잘 활용하면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액티브한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웹페이지 구성이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classList.add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lassList.remove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classList.contains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classList.toggle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381000" y="2583643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645973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setAttribute</a:t>
            </a:r>
            <a:r>
              <a:rPr lang="en-US" altLang="ko-KR" dirty="0">
                <a:latin typeface="+mj-ea"/>
                <a:ea typeface="+mj-ea"/>
              </a:rPr>
              <a:t>, html </a:t>
            </a:r>
            <a:r>
              <a:rPr lang="ko-KR" altLang="en-US" dirty="0">
                <a:latin typeface="+mj-ea"/>
                <a:ea typeface="+mj-ea"/>
              </a:rPr>
              <a:t>요소 속성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20705-E11C-5327-5556-DD8F657F0B8C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277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선택한 요소의 속성 값을 직접 지정할 수 있는 메소드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setAttribute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dirty="0" err="1">
                <a:solidFill>
                  <a:schemeClr val="accent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속성명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dirty="0">
                <a:solidFill>
                  <a:srgbClr val="0070C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지정할 속성</a:t>
            </a:r>
            <a:r>
              <a:rPr lang="en-US" altLang="ko-KR" dirty="0">
                <a:solidFill>
                  <a:srgbClr val="0070C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F66C8-B488-0F42-EBF1-D6DC713CB5C3}"/>
              </a:ext>
            </a:extLst>
          </p:cNvPr>
          <p:cNvSpPr txBox="1"/>
          <p:nvPr/>
        </p:nvSpPr>
        <p:spPr>
          <a:xfrm>
            <a:off x="1009650" y="2535263"/>
            <a:ext cx="8709212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searchInputEl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"placeholder"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통합검색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696475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다른 노드에 접근하기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4950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ko-KR" altLang="en-US" sz="2400" dirty="0">
                <a:latin typeface="+mn-ea"/>
                <a:ea typeface="+mn-ea"/>
              </a:rPr>
              <a:t>✅ 특정 노드를 선택한 후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그 노드의 형제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부모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자식 노드에 접근하는 방법</a:t>
            </a:r>
            <a:endParaRPr lang="en-US" altLang="ko-KR" sz="2400" dirty="0">
              <a:latin typeface="+mn-ea"/>
              <a:ea typeface="+mn-ea"/>
            </a:endParaRP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.children 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.children[0]</a:t>
            </a: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parentNode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previousElementSiblings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nextElementSiblings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542925" y="1756887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289062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Html </a:t>
            </a:r>
            <a:r>
              <a:rPr lang="ko-KR" altLang="en-US" dirty="0">
                <a:solidFill>
                  <a:srgbClr val="ED7D31"/>
                </a:solidFill>
              </a:rPr>
              <a:t>내용 변경하기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(1)]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html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내용 변경하기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55370858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en-US" altLang="ko-KR" dirty="0" err="1">
                <a:solidFill>
                  <a:srgbClr val="ED7D31"/>
                </a:solidFill>
              </a:rPr>
              <a:t>TodoList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변경하기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(1)]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en-US" altLang="ko-KR" sz="2800" b="1" dirty="0" err="1">
                <a:solidFill>
                  <a:schemeClr val="accent1"/>
                </a:solidFill>
                <a:latin typeface="+mn-ea"/>
              </a:rPr>
              <a:t>TodoList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변경하기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8519590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68" y="1145407"/>
            <a:ext cx="9232799" cy="47645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document.createElement</a:t>
            </a:r>
            <a:r>
              <a:rPr lang="en-US" altLang="ko-KR" dirty="0"/>
              <a:t>(html</a:t>
            </a:r>
            <a:r>
              <a:rPr lang="ko-KR" altLang="en-US" dirty="0"/>
              <a:t>요소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document.write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appendChild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removeChild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sz="2800" dirty="0"/>
              <a:t>[].append();</a:t>
            </a:r>
          </a:p>
          <a:p>
            <a:pPr>
              <a:lnSpc>
                <a:spcPct val="120000"/>
              </a:lnSpc>
            </a:pPr>
            <a:r>
              <a:rPr lang="en-US" altLang="ko-KR" sz="2800" dirty="0"/>
              <a:t>[].remove();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생성 및 추가</a:t>
            </a:r>
          </a:p>
        </p:txBody>
      </p:sp>
    </p:spTree>
    <p:extLst>
      <p:ext uri="{BB962C8B-B14F-4D97-AF65-F5344CB8AC3E}">
        <p14:creationId xmlns:p14="http://schemas.microsoft.com/office/powerpoint/2010/main" val="314309212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createElement</a:t>
            </a:r>
            <a:r>
              <a:rPr lang="en-US" altLang="ko-KR" dirty="0">
                <a:latin typeface="+mj-ea"/>
                <a:ea typeface="+mj-ea"/>
              </a:rPr>
              <a:t>(‘html </a:t>
            </a:r>
            <a:r>
              <a:rPr lang="ko-KR" altLang="en-US" dirty="0">
                <a:latin typeface="+mj-ea"/>
                <a:ea typeface="+mj-ea"/>
              </a:rPr>
              <a:t>요소</a:t>
            </a:r>
            <a:r>
              <a:rPr lang="en-US" altLang="ko-KR" dirty="0">
                <a:latin typeface="+mj-ea"/>
                <a:ea typeface="+mj-ea"/>
              </a:rPr>
              <a:t>’)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1593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</a:t>
            </a:r>
            <a:r>
              <a:rPr lang="en-US" altLang="ko-KR" dirty="0">
                <a:latin typeface="+mn-ea"/>
                <a:ea typeface="+mn-ea"/>
              </a:rPr>
              <a:t>html </a:t>
            </a:r>
            <a:r>
              <a:rPr lang="ko-KR" altLang="en-US" dirty="0">
                <a:latin typeface="+mn-ea"/>
                <a:ea typeface="+mn-ea"/>
              </a:rPr>
              <a:t>의 특정 노드를 생성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괄호안에는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요소인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태그명을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넣어주시면 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  <p:sp>
        <p:nvSpPr>
          <p:cNvPr id="3" name="직사각형 2"/>
          <p:cNvSpPr/>
          <p:nvPr/>
        </p:nvSpPr>
        <p:spPr>
          <a:xfrm>
            <a:off x="1019175" y="2643287"/>
            <a:ext cx="8125682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32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ko-KR" sz="32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3200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createElement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3200" dirty="0">
                <a:solidFill>
                  <a:srgbClr val="CE9178"/>
                </a:solidFill>
                <a:latin typeface="Consolas" panose="020B0609020204030204" pitchFamily="49" charset="0"/>
              </a:rPr>
              <a:t>'p'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ko-KR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5505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요소를 만들었으면 </a:t>
            </a:r>
            <a:r>
              <a:rPr lang="ko-KR" altLang="en-US" dirty="0" err="1">
                <a:latin typeface="+mj-ea"/>
                <a:ea typeface="+mj-ea"/>
              </a:rPr>
              <a:t>추가해야겠죠</a:t>
            </a:r>
            <a:r>
              <a:rPr lang="en-US" altLang="ko-KR" dirty="0">
                <a:latin typeface="+mj-ea"/>
                <a:ea typeface="+mj-ea"/>
              </a:rPr>
              <a:t>?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4693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  <a:ea typeface="+mn-ea"/>
              </a:rPr>
              <a:t>✔️ 요소</a:t>
            </a:r>
            <a:r>
              <a:rPr lang="en-US" altLang="ko-KR" sz="2400" dirty="0">
                <a:latin typeface="+mn-ea"/>
                <a:ea typeface="+mn-ea"/>
              </a:rPr>
              <a:t>.append() /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</a:t>
            </a:r>
            <a:r>
              <a:rPr lang="en-US" altLang="ko-KR" sz="2400" dirty="0" err="1">
                <a:latin typeface="+mn-ea"/>
                <a:ea typeface="+mn-ea"/>
              </a:rPr>
              <a:t>appendChild</a:t>
            </a:r>
            <a:r>
              <a:rPr lang="en-US" altLang="ko-KR" sz="2400" dirty="0">
                <a:latin typeface="+mn-ea"/>
                <a:ea typeface="+mn-ea"/>
              </a:rPr>
              <a:t>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맨 뒤의 자식 요소로 추가됨</a:t>
            </a:r>
            <a:endParaRPr lang="en-US" altLang="ko-KR" sz="2000" dirty="0">
              <a:latin typeface="+mn-ea"/>
              <a:ea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</a:rPr>
              <a:t>✔️ 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.prepend()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맨 앞쪽인 자식 요소로 추가됨</a:t>
            </a:r>
            <a:endParaRPr lang="en-US" altLang="ko-KR" sz="2000" dirty="0">
              <a:latin typeface="+mn-ea"/>
              <a:ea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</a:rPr>
              <a:t>✔️ 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.before()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앞에 있는 형제 요소로 추가됨</a:t>
            </a:r>
            <a:endParaRPr lang="en-US" altLang="ko-KR" sz="2000" dirty="0">
              <a:latin typeface="+mn-ea"/>
              <a:ea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</a:rPr>
              <a:t>✔️ 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.after()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바로 뒤인 형제 요소로 추가됨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72084637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effectLst/>
              </a:rPr>
              <a:t>append()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appendChild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 </a:t>
            </a:r>
            <a:r>
              <a:rPr lang="ko-KR" altLang="en-US" sz="5400">
                <a:solidFill>
                  <a:srgbClr val="FF0000"/>
                </a:solidFill>
                <a:effectLst/>
              </a:rPr>
              <a:t>차이</a:t>
            </a:r>
            <a:r>
              <a:rPr lang="en-US" altLang="ko-KR" sz="540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12549479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 삭제</a:t>
            </a:r>
            <a:r>
              <a:rPr lang="en-US" altLang="ko-KR" dirty="0"/>
              <a:t>, remove() </a:t>
            </a:r>
            <a:r>
              <a:rPr lang="en-US" altLang="ko-KR" dirty="0" err="1"/>
              <a:t>removeChild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2101349"/>
            <a:ext cx="10830017" cy="2747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✔️ 요소</a:t>
            </a:r>
            <a:r>
              <a:rPr lang="en-US" altLang="ko-KR" sz="2400" dirty="0">
                <a:latin typeface="+mn-ea"/>
                <a:ea typeface="+mn-ea"/>
              </a:rPr>
              <a:t>.remove();</a:t>
            </a:r>
          </a:p>
          <a:p>
            <a:pPr lvl="1"/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선택된 요소가 삭제 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600" dirty="0">
                <a:latin typeface="+mn-ea"/>
              </a:rPr>
              <a:t>✔️ </a:t>
            </a:r>
            <a:r>
              <a:rPr lang="ko-KR" altLang="en-US" sz="2600" dirty="0">
                <a:latin typeface="+mn-ea"/>
                <a:ea typeface="+mn-ea"/>
              </a:rPr>
              <a:t>요소</a:t>
            </a:r>
            <a:r>
              <a:rPr lang="en-US" altLang="ko-KR" sz="2600" dirty="0">
                <a:latin typeface="+mn-ea"/>
                <a:ea typeface="+mn-ea"/>
              </a:rPr>
              <a:t>.</a:t>
            </a:r>
            <a:r>
              <a:rPr lang="en-US" altLang="ko-KR" sz="2600" dirty="0" err="1">
                <a:latin typeface="+mn-ea"/>
                <a:ea typeface="+mn-ea"/>
              </a:rPr>
              <a:t>removeChild</a:t>
            </a:r>
            <a:r>
              <a:rPr lang="en-US" altLang="ko-KR" sz="2600" dirty="0">
                <a:latin typeface="+mn-ea"/>
                <a:ea typeface="+mn-ea"/>
              </a:rPr>
              <a:t>(‘</a:t>
            </a:r>
            <a:r>
              <a:rPr lang="ko-KR" altLang="en-US" sz="2600" dirty="0">
                <a:latin typeface="+mn-ea"/>
                <a:ea typeface="+mn-ea"/>
              </a:rPr>
              <a:t>요소의 </a:t>
            </a:r>
            <a:r>
              <a:rPr lang="ko-KR" altLang="en-US" sz="2600" dirty="0" err="1">
                <a:latin typeface="+mn-ea"/>
                <a:ea typeface="+mn-ea"/>
              </a:rPr>
              <a:t>자식요소</a:t>
            </a:r>
            <a:r>
              <a:rPr lang="en-US" altLang="ko-KR" sz="2600" dirty="0">
                <a:latin typeface="+mn-ea"/>
                <a:ea typeface="+mn-ea"/>
              </a:rPr>
              <a:t>‘);</a:t>
            </a:r>
          </a:p>
          <a:p>
            <a:pPr lvl="1"/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선택된 요소의 자식 요소가 삭제 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102903895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2026년 1월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/>
              <a:t>remove</a:t>
            </a:r>
            <a:r>
              <a:rPr lang="en-US" altLang="ko-KR" sz="5400" dirty="0">
                <a:effectLst/>
              </a:rPr>
              <a:t>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removeChild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</a:t>
            </a:r>
            <a:r>
              <a:rPr lang="ko-KR" altLang="en-US" sz="5400" dirty="0">
                <a:solidFill>
                  <a:srgbClr val="FF0000"/>
                </a:solidFill>
                <a:effectLst/>
              </a:rPr>
              <a:t>차이</a:t>
            </a:r>
            <a:r>
              <a:rPr lang="en-US" altLang="ko-KR" sz="5400" dirty="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74409484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 </a:t>
            </a:r>
            <a:r>
              <a:rPr lang="ko-KR" altLang="en-US" dirty="0">
                <a:solidFill>
                  <a:srgbClr val="ED7D31"/>
                </a:solidFill>
              </a:rPr>
              <a:t>아이스크림 베스트</a:t>
            </a:r>
            <a:r>
              <a:rPr lang="en-US" altLang="ko-KR" dirty="0">
                <a:solidFill>
                  <a:srgbClr val="ED7D31"/>
                </a:solidFill>
              </a:rPr>
              <a:t>9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(1)]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아이스크림 베스트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9]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5561104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137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이벤트 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 err="1">
                <a:solidFill>
                  <a:srgbClr val="ED7D31"/>
                </a:solidFill>
              </a:rPr>
              <a:t>addEventListener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08401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요소</a:t>
            </a:r>
            <a:r>
              <a:rPr lang="en-US" altLang="ko-KR" dirty="0">
                <a:latin typeface="+mj-ea"/>
                <a:ea typeface="+mj-ea"/>
              </a:rPr>
              <a:t>.</a:t>
            </a:r>
            <a:r>
              <a:rPr lang="en-US" altLang="ko-KR" dirty="0" err="1">
                <a:latin typeface="+mj-ea"/>
                <a:ea typeface="+mj-ea"/>
              </a:rPr>
              <a:t>addEventListener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이벤트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명령</a:t>
            </a:r>
            <a:r>
              <a:rPr lang="en-US" altLang="ko-KR" dirty="0">
                <a:latin typeface="+mj-ea"/>
                <a:ea typeface="+mj-ea"/>
              </a:rPr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419054" y="1299816"/>
            <a:ext cx="11353892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선택 요소에 지정한 이벤트가 발생하면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약속 된 명령어를 실행시키는 메소드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F8DB1-4A8C-5FD8-B306-66E48E333D7B}"/>
              </a:ext>
            </a:extLst>
          </p:cNvPr>
          <p:cNvSpPr txBox="1"/>
          <p:nvPr/>
        </p:nvSpPr>
        <p:spPr>
          <a:xfrm>
            <a:off x="1169894" y="2385907"/>
            <a:ext cx="6943165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"click!"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A8179-F830-703B-52B8-458B7490C17F}"/>
              </a:ext>
            </a:extLst>
          </p:cNvPr>
          <p:cNvSpPr txBox="1"/>
          <p:nvPr/>
        </p:nvSpPr>
        <p:spPr>
          <a:xfrm>
            <a:off x="1169894" y="4819465"/>
            <a:ext cx="9852212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31324602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addEventListener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이벤트의 종류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359919" y="994044"/>
            <a:ext cx="10830017" cy="48699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Click :  </a:t>
            </a:r>
            <a:r>
              <a:rPr lang="ko-KR" altLang="en-US" dirty="0">
                <a:latin typeface="+mn-ea"/>
                <a:ea typeface="+mn-ea"/>
              </a:rPr>
              <a:t>클릭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Mouse</a:t>
            </a:r>
            <a:r>
              <a:rPr lang="ko-KR" altLang="en-US" dirty="0">
                <a:latin typeface="+mn-ea"/>
                <a:ea typeface="+mn-ea"/>
              </a:rPr>
              <a:t> 계열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Mouseover : </a:t>
            </a:r>
            <a:r>
              <a:rPr lang="ko-KR" altLang="en-US" dirty="0">
                <a:latin typeface="+mn-ea"/>
                <a:ea typeface="+mn-ea"/>
              </a:rPr>
              <a:t>요소에 커서를 올렸을 때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Mouseout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:</a:t>
            </a:r>
            <a:r>
              <a:rPr lang="ko-KR" altLang="en-US" dirty="0">
                <a:latin typeface="+mn-ea"/>
                <a:ea typeface="+mn-ea"/>
              </a:rPr>
              <a:t> 마우스가 요소를 벗어날 때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Mousedown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마우스 버튼을 누르고 있는 상태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Mouseup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마우스 버튼을 떼는 순간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Focus : </a:t>
            </a:r>
            <a:r>
              <a:rPr lang="ko-KR" altLang="en-US" dirty="0">
                <a:latin typeface="+mn-ea"/>
                <a:ea typeface="+mn-ea"/>
              </a:rPr>
              <a:t>포커스가 갔을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Blur : </a:t>
            </a:r>
            <a:r>
              <a:rPr lang="ko-KR" altLang="en-US" dirty="0">
                <a:latin typeface="+mn-ea"/>
                <a:ea typeface="+mn-ea"/>
              </a:rPr>
              <a:t>포커스가 벗어나는 순간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1331289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addEventListener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이벤트의 종류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693712" cy="4956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Key </a:t>
            </a:r>
            <a:r>
              <a:rPr lang="ko-KR" altLang="en-US" dirty="0">
                <a:latin typeface="+mn-ea"/>
                <a:ea typeface="+mn-ea"/>
              </a:rPr>
              <a:t>계열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Keypress : </a:t>
            </a:r>
            <a:r>
              <a:rPr lang="ko-KR" altLang="en-US" dirty="0">
                <a:latin typeface="+mn-ea"/>
                <a:ea typeface="+mn-ea"/>
              </a:rPr>
              <a:t>키를 누르는 순간 </a:t>
            </a:r>
            <a:r>
              <a:rPr lang="en-US" altLang="ko-KR" dirty="0">
                <a:latin typeface="+mn-ea"/>
                <a:ea typeface="+mn-ea"/>
              </a:rPr>
              <a:t>+ </a:t>
            </a:r>
            <a:r>
              <a:rPr lang="ko-KR" altLang="en-US" dirty="0">
                <a:latin typeface="+mn-ea"/>
                <a:ea typeface="+mn-ea"/>
              </a:rPr>
              <a:t>누르고 있는 동안 계속 발생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Keydown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키를 누르는 순간에만 발생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Keyup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키를 눌렀다가 떼는 순간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Load : </a:t>
            </a:r>
            <a:r>
              <a:rPr lang="ko-KR" altLang="en-US" dirty="0">
                <a:latin typeface="+mn-ea"/>
                <a:ea typeface="+mn-ea"/>
              </a:rPr>
              <a:t>웹페이지에 필요한 모든 파일</a:t>
            </a:r>
            <a:r>
              <a:rPr lang="en-US" altLang="ko-KR" dirty="0">
                <a:latin typeface="+mn-ea"/>
                <a:ea typeface="+mn-ea"/>
              </a:rPr>
              <a:t>(html, </a:t>
            </a:r>
            <a:r>
              <a:rPr lang="en-US" altLang="ko-KR" dirty="0" err="1">
                <a:latin typeface="+mn-ea"/>
                <a:ea typeface="+mn-ea"/>
              </a:rPr>
              <a:t>css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 err="1">
                <a:latin typeface="+mn-ea"/>
                <a:ea typeface="+mn-ea"/>
              </a:rPr>
              <a:t>js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등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의 다운로드가 완료 되었을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Resize : </a:t>
            </a:r>
            <a:r>
              <a:rPr lang="ko-KR" altLang="en-US" dirty="0">
                <a:latin typeface="+mn-ea"/>
                <a:ea typeface="+mn-ea"/>
              </a:rPr>
              <a:t>브라우저 창의 크기가 변경 될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Scroll : </a:t>
            </a:r>
            <a:r>
              <a:rPr lang="ko-KR" altLang="en-US" dirty="0">
                <a:latin typeface="+mn-ea"/>
                <a:ea typeface="+mn-ea"/>
              </a:rPr>
              <a:t>스크롤이 발생할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Unload : </a:t>
            </a:r>
            <a:r>
              <a:rPr lang="ko-KR" altLang="en-US" dirty="0">
                <a:latin typeface="+mn-ea"/>
                <a:ea typeface="+mn-ea"/>
              </a:rPr>
              <a:t>링크를 타고 이동하거나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브라우저를 닫을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Change : </a:t>
            </a:r>
            <a:r>
              <a:rPr lang="ko-KR" altLang="en-US" dirty="0">
                <a:latin typeface="+mn-ea"/>
                <a:ea typeface="+mn-ea"/>
              </a:rPr>
              <a:t>폼 필드의 상태가 변경 되었을 때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944805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랜덤 색상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생성기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2463219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댓글 등록하기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84852412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계산기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07863639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  <a:r>
              <a:rPr lang="en-US" altLang="ko-KR" dirty="0">
                <a:solidFill>
                  <a:srgbClr val="ED7D31"/>
                </a:solidFill>
              </a:rPr>
              <a:t>(4)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방명록 등록하기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71578328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9250</TotalTime>
  <Words>5665</Words>
  <Application>Microsoft Office PowerPoint</Application>
  <PresentationFormat>와이드스크린</PresentationFormat>
  <Paragraphs>1297</Paragraphs>
  <Slides>145</Slides>
  <Notes>130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145</vt:i4>
      </vt:variant>
    </vt:vector>
  </HeadingPairs>
  <TitlesOfParts>
    <vt:vector size="158" baseType="lpstr">
      <vt:lpstr>Kim jung chul Gothic Bold</vt:lpstr>
      <vt:lpstr>Kim jung chul Gothic Regular</vt:lpstr>
      <vt:lpstr>굴림</vt:lpstr>
      <vt:lpstr>Arial</vt:lpstr>
      <vt:lpstr>Consolas</vt:lpstr>
      <vt:lpstr>G마켓 산스 TTF Bold</vt:lpstr>
      <vt:lpstr>Pretendard Black</vt:lpstr>
      <vt:lpstr>Pretendard Light</vt:lpstr>
      <vt:lpstr>Pretendard Medium</vt:lpstr>
      <vt:lpstr>Wingdings</vt:lpstr>
      <vt:lpstr>맑은 고딕</vt:lpstr>
      <vt:lpstr>메이플스토리</vt:lpstr>
      <vt:lpstr>1_Office 테마</vt:lpstr>
      <vt:lpstr>PowerPoint 프레젠테이션</vt:lpstr>
      <vt:lpstr>JavaScript</vt:lpstr>
      <vt:lpstr>PowerPoint 프레젠테이션</vt:lpstr>
      <vt:lpstr>PowerPoint 프레젠테이션</vt:lpstr>
      <vt:lpstr>JavaScript</vt:lpstr>
      <vt:lpstr>JavaScript 사용</vt:lpstr>
      <vt:lpstr>JavaScript 참조 방식</vt:lpstr>
      <vt:lpstr>내장 방식!</vt:lpstr>
      <vt:lpstr>링크 방식!</vt:lpstr>
      <vt:lpstr>각각의 장단점이 존재 하겠죠?</vt:lpstr>
      <vt:lpstr>일단 해봅시다!</vt:lpstr>
      <vt:lpstr>읽기 순서?</vt:lpstr>
      <vt:lpstr>PowerPoint 프레젠테이션</vt:lpstr>
      <vt:lpstr>표기법</vt:lpstr>
      <vt:lpstr>PowerPoint 프레젠테이션</vt:lpstr>
      <vt:lpstr>dash-case(kebab-case)</vt:lpstr>
      <vt:lpstr>snake_case</vt:lpstr>
      <vt:lpstr>camelCase</vt:lpstr>
      <vt:lpstr>PascalCase</vt:lpstr>
      <vt:lpstr>Zero-based Numbering</vt:lpstr>
      <vt:lpstr>JavaScript 주석 </vt:lpstr>
      <vt:lpstr>JavaScript 변수</vt:lpstr>
      <vt:lpstr>JavaScript 변수</vt:lpstr>
      <vt:lpstr>JavaScript 변수</vt:lpstr>
      <vt:lpstr>var &amp; let &amp; const</vt:lpstr>
      <vt:lpstr>var &amp; let &amp; const </vt:lpstr>
      <vt:lpstr>var &amp; let &amp; const</vt:lpstr>
      <vt:lpstr>잠깐 퀴즈!</vt:lpstr>
      <vt:lpstr>1. 다음 중 올바른 변수 이름은?</vt:lpstr>
      <vt:lpstr>2. 다음 중 올바른 변수 이름은?</vt:lpstr>
      <vt:lpstr>3. 다음 중 올바른 변수 이름은?</vt:lpstr>
      <vt:lpstr>변수명 Tip!</vt:lpstr>
      <vt:lpstr>변수명 Tip2!</vt:lpstr>
      <vt:lpstr>JavaScript 자료형</vt:lpstr>
      <vt:lpstr>언어 타입</vt:lpstr>
      <vt:lpstr>JavaScript 는 느슨한 언어!</vt:lpstr>
      <vt:lpstr>TypeScript의 등장</vt:lpstr>
      <vt:lpstr>JavaScript 자료형</vt:lpstr>
      <vt:lpstr>자료형</vt:lpstr>
      <vt:lpstr>문자열 String</vt:lpstr>
      <vt:lpstr>문자 + 변수를 동시에 쓰고 싶을 때!</vt:lpstr>
      <vt:lpstr>숫자 Number</vt:lpstr>
      <vt:lpstr>참 거짓 데이터 Boolean</vt:lpstr>
      <vt:lpstr>미할당 데이터 undefined</vt:lpstr>
      <vt:lpstr>빈 데이터 null</vt:lpstr>
      <vt:lpstr>배열 Array</vt:lpstr>
      <vt:lpstr>데이터 꾸러미 Object</vt:lpstr>
      <vt:lpstr>자료형을 알려주는 typeof</vt:lpstr>
      <vt:lpstr>형변환</vt:lpstr>
      <vt:lpstr>실습) 성적 평균 구하는 프로그램 만들기</vt:lpstr>
      <vt:lpstr>성적 평균 구하는 프로그램 만들기</vt:lpstr>
      <vt:lpstr>JS의 자동 형변환!(암시적 형변환)</vt:lpstr>
      <vt:lpstr>명시적 형변환</vt:lpstr>
      <vt:lpstr>형 변환 - 문자열로</vt:lpstr>
      <vt:lpstr>형 변환 - 정수로</vt:lpstr>
      <vt:lpstr>PowerPoint 프레젠테이션</vt:lpstr>
      <vt:lpstr>연산자</vt:lpstr>
      <vt:lpstr>복합 대입 연산자</vt:lpstr>
      <vt:lpstr>증가, 감소 연산자</vt:lpstr>
      <vt:lpstr>논리 연산자</vt:lpstr>
      <vt:lpstr>PowerPoint 프레젠테이션</vt:lpstr>
      <vt:lpstr>JavaScript 함수</vt:lpstr>
      <vt:lpstr>JavaScript 함수</vt:lpstr>
      <vt:lpstr>JavaScript 함수</vt:lpstr>
      <vt:lpstr>JavaScript 함수</vt:lpstr>
      <vt:lpstr>JavaScript 함수</vt:lpstr>
      <vt:lpstr>함수 선언 방식</vt:lpstr>
      <vt:lpstr>PowerPoint 프레젠테이션</vt:lpstr>
      <vt:lpstr>PowerPoint 프레젠테이션</vt:lpstr>
      <vt:lpstr>조건문</vt:lpstr>
      <vt:lpstr>조건문</vt:lpstr>
      <vt:lpstr>if 문</vt:lpstr>
      <vt:lpstr>if와 else</vt:lpstr>
      <vt:lpstr>if와 else if</vt:lpstr>
      <vt:lpstr>if 중첩</vt:lpstr>
      <vt:lpstr>실습. 연령대별 단어 출력</vt:lpstr>
      <vt:lpstr>switch 문</vt:lpstr>
      <vt:lpstr>if 문을 간단하게 만드는 삼항 연산자</vt:lpstr>
      <vt:lpstr>실습. 지금은 오전? 오후?</vt:lpstr>
      <vt:lpstr>반복문</vt:lpstr>
      <vt:lpstr>반복문</vt:lpstr>
      <vt:lpstr>PowerPoint 프레젠테이션</vt:lpstr>
      <vt:lpstr>for 문</vt:lpstr>
      <vt:lpstr>중첩 for 문</vt:lpstr>
      <vt:lpstr>while 문</vt:lpstr>
      <vt:lpstr>PowerPoint 프레젠테이션</vt:lpstr>
      <vt:lpstr>PowerPoint 프레젠테이션</vt:lpstr>
      <vt:lpstr>실습.  구구단 만들기</vt:lpstr>
      <vt:lpstr>루프 제어문 break &amp; continue</vt:lpstr>
      <vt:lpstr>break</vt:lpstr>
      <vt:lpstr>continue</vt:lpstr>
      <vt:lpstr>실습.  배수 찾기</vt:lpstr>
      <vt:lpstr>실습.  배수의 합</vt:lpstr>
      <vt:lpstr>문자열 관련 내장 메소드</vt:lpstr>
      <vt:lpstr>PowerPoint 프레젠테이션</vt:lpstr>
      <vt:lpstr>PowerPoint 프레젠테이션</vt:lpstr>
      <vt:lpstr>PowerPoint 프레젠테이션</vt:lpstr>
      <vt:lpstr>배열 관련 내장 메소드</vt:lpstr>
      <vt:lpstr>배열 관련 method</vt:lpstr>
      <vt:lpstr>배열 관련 method</vt:lpstr>
      <vt:lpstr>배열 관련 method</vt:lpstr>
      <vt:lpstr>배열에서 반복</vt:lpstr>
      <vt:lpstr>배열) 기본 for문 사용</vt:lpstr>
      <vt:lpstr>배열) for of 반복문</vt:lpstr>
      <vt:lpstr>배열) [].forEach</vt:lpstr>
      <vt:lpstr>배열의 합</vt:lpstr>
      <vt:lpstr>배열에서의 기타 메소드</vt:lpstr>
      <vt:lpstr>참고) for ~ in…</vt:lpstr>
      <vt:lpstr>JavaScript DOM</vt:lpstr>
      <vt:lpstr>문서를 객체화</vt:lpstr>
      <vt:lpstr>문서를 객체화</vt:lpstr>
      <vt:lpstr>DOM</vt:lpstr>
      <vt:lpstr>DOM</vt:lpstr>
      <vt:lpstr>DOM</vt:lpstr>
      <vt:lpstr>JavaScript Document</vt:lpstr>
      <vt:lpstr>Document</vt:lpstr>
      <vt:lpstr>DOM API</vt:lpstr>
      <vt:lpstr>Document – 요소 선택</vt:lpstr>
      <vt:lpstr>Document – 요소 선택</vt:lpstr>
      <vt:lpstr>getElementById(“ID이름”)</vt:lpstr>
      <vt:lpstr>querySelector(“요소 선택자”)</vt:lpstr>
      <vt:lpstr>querySelectorAll(“요소 선택자”)</vt:lpstr>
      <vt:lpstr>Document – 요소 조작</vt:lpstr>
      <vt:lpstr>.textContent .innerText .innerHTML</vt:lpstr>
      <vt:lpstr>classList.~</vt:lpstr>
      <vt:lpstr>setAttribute, html 요소 속성 추가</vt:lpstr>
      <vt:lpstr>다른 노드에 접근하기</vt:lpstr>
      <vt:lpstr>실습.  Html 내용 변경하기</vt:lpstr>
      <vt:lpstr>실습.  TodoList 변경하기</vt:lpstr>
      <vt:lpstr>Document – 요소 생성 및 추가</vt:lpstr>
      <vt:lpstr>createElement(‘html 요소’)</vt:lpstr>
      <vt:lpstr>요소를 만들었으면 추가해야겠죠?</vt:lpstr>
      <vt:lpstr>Document – 요소 다루기</vt:lpstr>
      <vt:lpstr>요소 삭제, remove() removeChild()</vt:lpstr>
      <vt:lpstr>Document – 요소 다루기</vt:lpstr>
      <vt:lpstr>실습.   아이스크림 베스트9</vt:lpstr>
      <vt:lpstr>이벤트  addEventListener</vt:lpstr>
      <vt:lpstr>요소.addEventListener(이벤트, 명령)</vt:lpstr>
      <vt:lpstr>addEventListener 이벤트의 종류</vt:lpstr>
      <vt:lpstr>addEventListener 이벤트의 종류</vt:lpstr>
      <vt:lpstr>실습. 이벤트 다루기</vt:lpstr>
      <vt:lpstr>실습. 이벤트 다루기(2)</vt:lpstr>
      <vt:lpstr>실습. 이벤트 다루기(3)</vt:lpstr>
      <vt:lpstr>실습. 이벤트 다루기(4)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651</cp:revision>
  <dcterms:created xsi:type="dcterms:W3CDTF">2023-01-31T04:26:23Z</dcterms:created>
  <dcterms:modified xsi:type="dcterms:W3CDTF">2026-01-06T08:06:51Z</dcterms:modified>
</cp:coreProperties>
</file>