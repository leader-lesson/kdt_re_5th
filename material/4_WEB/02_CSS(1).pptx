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1388" r:id="rId2"/>
    <p:sldId id="1005" r:id="rId3"/>
    <p:sldId id="1006" r:id="rId4"/>
    <p:sldId id="557" r:id="rId5"/>
    <p:sldId id="288" r:id="rId6"/>
    <p:sldId id="289" r:id="rId7"/>
    <p:sldId id="262" r:id="rId8"/>
    <p:sldId id="1007" r:id="rId9"/>
    <p:sldId id="290" r:id="rId10"/>
    <p:sldId id="266" r:id="rId11"/>
    <p:sldId id="267" r:id="rId12"/>
    <p:sldId id="269" r:id="rId13"/>
    <p:sldId id="1008" r:id="rId14"/>
    <p:sldId id="293" r:id="rId15"/>
    <p:sldId id="296" r:id="rId16"/>
    <p:sldId id="332" r:id="rId17"/>
    <p:sldId id="344" r:id="rId18"/>
    <p:sldId id="260" r:id="rId19"/>
    <p:sldId id="261" r:id="rId20"/>
    <p:sldId id="346" r:id="rId21"/>
    <p:sldId id="694" r:id="rId22"/>
    <p:sldId id="691" r:id="rId23"/>
    <p:sldId id="297" r:id="rId24"/>
    <p:sldId id="298" r:id="rId25"/>
    <p:sldId id="299" r:id="rId26"/>
    <p:sldId id="300" r:id="rId27"/>
    <p:sldId id="684" r:id="rId28"/>
    <p:sldId id="690" r:id="rId29"/>
    <p:sldId id="301" r:id="rId30"/>
    <p:sldId id="349" r:id="rId31"/>
    <p:sldId id="302" r:id="rId32"/>
    <p:sldId id="303" r:id="rId33"/>
    <p:sldId id="304" r:id="rId34"/>
    <p:sldId id="683" r:id="rId35"/>
    <p:sldId id="689" r:id="rId36"/>
    <p:sldId id="282" r:id="rId37"/>
    <p:sldId id="283" r:id="rId38"/>
    <p:sldId id="284" r:id="rId39"/>
    <p:sldId id="285" r:id="rId40"/>
    <p:sldId id="676" r:id="rId41"/>
    <p:sldId id="307" r:id="rId42"/>
    <p:sldId id="308" r:id="rId43"/>
    <p:sldId id="309" r:id="rId44"/>
    <p:sldId id="310" r:id="rId45"/>
    <p:sldId id="685" r:id="rId46"/>
    <p:sldId id="688" r:id="rId47"/>
    <p:sldId id="294" r:id="rId48"/>
    <p:sldId id="348" r:id="rId49"/>
    <p:sldId id="295" r:id="rId50"/>
    <p:sldId id="347" r:id="rId51"/>
    <p:sldId id="354" r:id="rId52"/>
    <p:sldId id="687" r:id="rId53"/>
    <p:sldId id="360" r:id="rId54"/>
    <p:sldId id="356" r:id="rId55"/>
    <p:sldId id="357" r:id="rId56"/>
    <p:sldId id="686" r:id="rId57"/>
    <p:sldId id="338" r:id="rId58"/>
    <p:sldId id="813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B050"/>
    <a:srgbClr val="00599C"/>
    <a:srgbClr val="2B2B2B"/>
    <a:srgbClr val="FF5050"/>
    <a:srgbClr val="00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7" autoAdjust="0"/>
    <p:restoredTop sz="91676" autoAdjust="0"/>
  </p:normalViewPr>
  <p:slideViewPr>
    <p:cSldViewPr snapToGrid="0">
      <p:cViewPr varScale="1">
        <p:scale>
          <a:sx n="79" d="100"/>
          <a:sy n="79" d="100"/>
        </p:scale>
        <p:origin x="84" y="5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웹 </a:t>
            </a:r>
            <a:r>
              <a:rPr lang="ko-KR" altLang="en-US" dirty="0" err="1"/>
              <a:t>퍼블리셔</a:t>
            </a:r>
            <a:r>
              <a:rPr lang="en-US" altLang="ko-KR" dirty="0"/>
              <a:t>, </a:t>
            </a:r>
            <a:r>
              <a:rPr lang="ko-KR" altLang="en-US" dirty="0" err="1"/>
              <a:t>프론트엔드</a:t>
            </a:r>
            <a:r>
              <a:rPr lang="ko-KR" altLang="en-US" dirty="0"/>
              <a:t> 개발자 희망한다</a:t>
            </a:r>
            <a:r>
              <a:rPr lang="en-US" altLang="ko-KR" dirty="0"/>
              <a:t>? </a:t>
            </a:r>
            <a:r>
              <a:rPr lang="ko-KR" altLang="en-US" dirty="0"/>
              <a:t>중요</a:t>
            </a:r>
            <a:r>
              <a:rPr lang="en-US" altLang="ko-KR" dirty="0"/>
              <a:t>! </a:t>
            </a:r>
            <a:r>
              <a:rPr lang="ko-KR" altLang="en-US" dirty="0" err="1"/>
              <a:t>집중집중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285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내가 좋아하는 </a:t>
            </a:r>
            <a:r>
              <a:rPr lang="ko-KR" altLang="en-US" dirty="0" err="1"/>
              <a:t>미니언</a:t>
            </a:r>
            <a:r>
              <a:rPr lang="ko-KR" altLang="en-US" dirty="0"/>
              <a:t> 등장 </a:t>
            </a:r>
            <a:r>
              <a:rPr lang="en-US" altLang="ko-KR" dirty="0"/>
              <a:t>&gt;_&lt;</a:t>
            </a:r>
          </a:p>
          <a:p>
            <a:endParaRPr lang="en-US" altLang="ko-KR" dirty="0"/>
          </a:p>
          <a:p>
            <a:r>
              <a:rPr lang="ko-KR" altLang="en-US" dirty="0"/>
              <a:t>문장에</a:t>
            </a:r>
            <a:r>
              <a:rPr lang="en-US" altLang="ko-KR" dirty="0"/>
              <a:t> </a:t>
            </a:r>
            <a:r>
              <a:rPr lang="ko-KR" altLang="en-US" dirty="0"/>
              <a:t>비유하기</a:t>
            </a:r>
            <a:endParaRPr lang="en-US" altLang="ko-KR" dirty="0"/>
          </a:p>
          <a:p>
            <a:r>
              <a:rPr lang="en-US" altLang="ko-KR" dirty="0"/>
              <a:t>- HTML:</a:t>
            </a:r>
            <a:r>
              <a:rPr lang="ko-KR" altLang="en-US" dirty="0"/>
              <a:t> 명사</a:t>
            </a:r>
            <a:endParaRPr lang="en-US" altLang="ko-KR" dirty="0"/>
          </a:p>
          <a:p>
            <a:r>
              <a:rPr lang="en-US" altLang="ko-KR" dirty="0"/>
              <a:t>- CSS: </a:t>
            </a:r>
            <a:r>
              <a:rPr lang="ko-KR" altLang="en-US" dirty="0"/>
              <a:t>형용사</a:t>
            </a:r>
            <a:endParaRPr lang="en-US" altLang="ko-KR" dirty="0"/>
          </a:p>
          <a:p>
            <a:r>
              <a:rPr lang="en-US" altLang="ko-KR" dirty="0"/>
              <a:t>- JS: </a:t>
            </a:r>
            <a:r>
              <a:rPr lang="ko-KR" altLang="en-US" dirty="0"/>
              <a:t>동사</a:t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24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324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빈 집</a:t>
            </a:r>
            <a:r>
              <a:rPr lang="en-US" altLang="ko-KR" dirty="0"/>
              <a:t>, </a:t>
            </a:r>
            <a:r>
              <a:rPr lang="ko-KR" altLang="en-US" dirty="0"/>
              <a:t>인테리어 이쁘게 된 집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0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37FEB-0363-4A76-9B5C-2F2FC2E9CA7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647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111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312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37FEB-0363-4A76-9B5C-2F2FC2E9CA7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927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37FEB-0363-4A76-9B5C-2F2FC2E9CA7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668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09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37FEB-0363-4A76-9B5C-2F2FC2E9CA7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040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270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660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4857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536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F2B5-E9AF-9D40-A629-A66BB45D84D2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88130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92325A-6885-4172-AFBD-3BFE4F9BD9DD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808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92325A-6885-4172-AFBD-3BFE4F9BD9DD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26097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선택자의 종류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1A1BA-5463-484A-B77A-5C292E222CA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129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9368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044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3473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실습 하기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9150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1078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4356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0423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9015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2464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9141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4222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92325A-6885-4172-AFBD-3BFE4F9BD9DD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34380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92325A-6885-4172-AFBD-3BFE4F9BD9DD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02602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92325A-6885-4172-AFBD-3BFE4F9BD9DD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79421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3600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Span, div </a:t>
            </a:r>
            <a:r>
              <a:rPr lang="ko-KR" altLang="en-US" dirty="0"/>
              <a:t>부분 삭제해도 </a:t>
            </a:r>
            <a:r>
              <a:rPr lang="ko-KR" altLang="en-US" dirty="0" err="1"/>
              <a:t>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7550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5636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8235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175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34226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6857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4E131-4E67-4CC3-AC0A-C0E63D678D16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0744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: 2</a:t>
            </a:r>
            <a:r>
              <a:rPr lang="ko-KR" altLang="en-US" dirty="0"/>
              <a:t>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7073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F2B5-E9AF-9D40-A629-A66BB45D84D2}" type="slidenum">
              <a:rPr kumimoji="1" lang="ko-Kore-KR" altLang="en-US" smtClean="0"/>
              <a:t>51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19967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66716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9736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0817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13003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4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4F83B95-025C-AC87-8046-071D0DD4554A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48F0A9-FDDA-E71D-DD30-E1619DCA2B8F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8F4052-FE38-304A-F46B-2EF3535EC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7" name="그림 16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42E42E39-6264-E7FF-331C-8FDB95643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8" name="부제목 2">
            <a:extLst>
              <a:ext uri="{FF2B5EF4-FFF2-40B4-BE49-F238E27FC236}">
                <a16:creationId xmlns:a16="http://schemas.microsoft.com/office/drawing/2014/main" id="{F23AD29E-761A-EAD6-2600-534B24C77F4B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8BC923E-D74D-0802-5C5B-91A3D4972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>
                <a:solidFill>
                  <a:srgbClr val="ED7D31"/>
                </a:solidFill>
              </a:rPr>
              <a:t>CSS(1)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20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7EE994-4906-15FA-0A97-CBA23B4A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6146" name="Picture 2" descr="css란에 대한 이미지 검색결과">
            <a:extLst>
              <a:ext uri="{FF2B5EF4-FFF2-40B4-BE49-F238E27FC236}">
                <a16:creationId xmlns:a16="http://schemas.microsoft.com/office/drawing/2014/main" id="{BFA3DE42-B75C-B369-558E-D5C79BE9B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426" y="1138444"/>
            <a:ext cx="2916513" cy="414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480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노란색이(가) 표시된 사진&#10;&#10;자동 생성된 설명">
            <a:extLst>
              <a:ext uri="{FF2B5EF4-FFF2-40B4-BE49-F238E27FC236}">
                <a16:creationId xmlns:a16="http://schemas.microsoft.com/office/drawing/2014/main" id="{BFA66821-F4F3-9FEF-1B8C-13C88961F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7" y="1400176"/>
            <a:ext cx="3470273" cy="3470273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C26C2-F30B-D886-0F39-161B6A3B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7929-DE41-4EFD-B9A3-21C9B8736D52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3E3B06F-1C1A-D12E-6FD4-F6328DA1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6AEBB6C-CE05-3C2C-EC00-AB5F72908457}"/>
              </a:ext>
            </a:extLst>
          </p:cNvPr>
          <p:cNvSpPr txBox="1">
            <a:spLocks/>
          </p:cNvSpPr>
          <p:nvPr/>
        </p:nvSpPr>
        <p:spPr>
          <a:xfrm>
            <a:off x="4724400" y="1400176"/>
            <a:ext cx="7200900" cy="38544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dirty="0"/>
              <a:t>귀여운 </a:t>
            </a:r>
            <a:r>
              <a:rPr lang="en-US" altLang="ko-KR" dirty="0"/>
              <a:t>– </a:t>
            </a:r>
            <a:r>
              <a:rPr lang="ko-KR" altLang="en-US" sz="4800" dirty="0"/>
              <a:t>형용사 </a:t>
            </a:r>
            <a:br>
              <a:rPr lang="en-US" altLang="ko-KR" sz="4800" dirty="0"/>
            </a:br>
            <a:r>
              <a:rPr lang="ko-KR" altLang="en-US" dirty="0" err="1"/>
              <a:t>미니언이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sz="4800" dirty="0"/>
              <a:t>명사</a:t>
            </a:r>
            <a:endParaRPr lang="en-US" altLang="ko-KR" sz="4800" dirty="0"/>
          </a:p>
          <a:p>
            <a:pPr algn="l">
              <a:lnSpc>
                <a:spcPct val="150000"/>
              </a:lnSpc>
            </a:pPr>
            <a:r>
              <a:rPr lang="ko-KR" altLang="en-US" dirty="0"/>
              <a:t>춤춘다</a:t>
            </a:r>
            <a:r>
              <a:rPr lang="en-US" altLang="ko-KR" dirty="0"/>
              <a:t> – </a:t>
            </a:r>
            <a:r>
              <a:rPr lang="ko-KR" altLang="en-US" sz="4800" dirty="0"/>
              <a:t>동사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8AD632-EA7B-824A-FE5C-70FA1C5B0A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6" t="8334" r="70543" b="16381"/>
          <a:stretch/>
        </p:blipFill>
        <p:spPr>
          <a:xfrm>
            <a:off x="9672635" y="2863139"/>
            <a:ext cx="781749" cy="11317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AB6420-C25C-C332-739A-ECD92BF63F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61" t="12357" r="37847" b="12357"/>
          <a:stretch/>
        </p:blipFill>
        <p:spPr>
          <a:xfrm>
            <a:off x="9619452" y="1565797"/>
            <a:ext cx="834932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23D4AFD-E2A5-EF52-68E6-FE121A5D83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755" t="6938" r="5976" b="13517"/>
          <a:stretch/>
        </p:blipFill>
        <p:spPr>
          <a:xfrm>
            <a:off x="9649445" y="4160481"/>
            <a:ext cx="828128" cy="11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45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1D7A679-B8D0-186F-C971-BA7EA2851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46" y="2655412"/>
            <a:ext cx="6705600" cy="6228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3600" b="1" dirty="0"/>
              <a:t>💡 </a:t>
            </a:r>
            <a:r>
              <a:rPr lang="en-US" altLang="ko-KR" sz="3600" b="1" dirty="0"/>
              <a:t>Cascading Style Sheet</a:t>
            </a:r>
            <a:endParaRPr lang="ko-KR" altLang="en-US" sz="36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0E118-13FA-729A-60AF-684E084F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786A31-D818-35BC-E175-84E0289F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1DA36C-65CF-DE57-B375-6D86D2A7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D05DCB7-AD04-98BC-4552-F188A7F03DB7}"/>
              </a:ext>
            </a:extLst>
          </p:cNvPr>
          <p:cNvSpPr txBox="1">
            <a:spLocks/>
          </p:cNvSpPr>
          <p:nvPr/>
        </p:nvSpPr>
        <p:spPr>
          <a:xfrm>
            <a:off x="4048216" y="3579737"/>
            <a:ext cx="7222622" cy="622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웹 페이지를 디자인하기 위해 사용하는 언어</a:t>
            </a:r>
          </a:p>
        </p:txBody>
      </p:sp>
      <p:pic>
        <p:nvPicPr>
          <p:cNvPr id="12" name="Picture 2" descr="css란에 대한 이미지 검색결과">
            <a:extLst>
              <a:ext uri="{FF2B5EF4-FFF2-40B4-BE49-F238E27FC236}">
                <a16:creationId xmlns:a16="http://schemas.microsoft.com/office/drawing/2014/main" id="{67DB9E5B-44BC-818E-CD11-A4ECF978C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180" y="1785249"/>
            <a:ext cx="2103065" cy="2986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049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사용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6" name="Picture 2" descr="아파트 '올수리' 안해도 새집처럼 바꿀 수 있다 - 땅집고 &gt; 인테리어">
            <a:extLst>
              <a:ext uri="{FF2B5EF4-FFF2-40B4-BE49-F238E27FC236}">
                <a16:creationId xmlns:a16="http://schemas.microsoft.com/office/drawing/2014/main" id="{98F82BCD-06C1-5124-0FBA-F046390EE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667" y="1813379"/>
            <a:ext cx="4834775" cy="323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아파트 '올수리' 안해도 새집처럼 바꿀 수 있다 - 땅집고 &gt; 인테리어">
            <a:extLst>
              <a:ext uri="{FF2B5EF4-FFF2-40B4-BE49-F238E27FC236}">
                <a16:creationId xmlns:a16="http://schemas.microsoft.com/office/drawing/2014/main" id="{D264FB04-75FC-4EB5-17E6-D9B8EEAA9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560" y="1813379"/>
            <a:ext cx="4823730" cy="32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15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515600" cy="49124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브라우저에서 </a:t>
            </a:r>
            <a:r>
              <a:rPr lang="ko-KR" altLang="en-US" sz="2400" dirty="0">
                <a:solidFill>
                  <a:schemeClr val="accent1"/>
                </a:solidFill>
              </a:rPr>
              <a:t>개발 편의</a:t>
            </a:r>
            <a:r>
              <a:rPr lang="ko-KR" altLang="en-US" sz="2400" dirty="0"/>
              <a:t>를 위해 제공하는 도구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지금 보고 있는 웹페이지의 </a:t>
            </a:r>
            <a:r>
              <a:rPr lang="en-US" altLang="ko-KR" sz="2000" dirty="0">
                <a:solidFill>
                  <a:schemeClr val="accent1"/>
                </a:solidFill>
              </a:rPr>
              <a:t>HTML, CSS, JavaScript </a:t>
            </a:r>
            <a:r>
              <a:rPr lang="ko-KR" altLang="en-US" sz="2000" dirty="0"/>
              <a:t>등을 볼 수 있음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해당 코드를 </a:t>
            </a:r>
            <a:r>
              <a:rPr lang="ko-KR" altLang="en-US" sz="2000" dirty="0">
                <a:solidFill>
                  <a:schemeClr val="accent1"/>
                </a:solidFill>
              </a:rPr>
              <a:t>수정</a:t>
            </a:r>
            <a:r>
              <a:rPr lang="ko-KR" altLang="en-US" sz="2000" dirty="0"/>
              <a:t>하여 자기 마음대로 변경이 가능</a:t>
            </a:r>
            <a:r>
              <a:rPr lang="en-US" altLang="ko-KR" sz="2000" dirty="0"/>
              <a:t>!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HTML </a:t>
            </a:r>
            <a:r>
              <a:rPr lang="ko-KR" altLang="en-US" sz="2000" dirty="0"/>
              <a:t>구조 및 </a:t>
            </a:r>
            <a:r>
              <a:rPr lang="en-US" altLang="ko-KR" sz="2000" dirty="0"/>
              <a:t>CSS </a:t>
            </a:r>
            <a:r>
              <a:rPr lang="ko-KR" altLang="en-US" sz="2000" dirty="0"/>
              <a:t>값 등을 확인 가능하므로 자주 사용 예정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특정 요소 코드 보기 </a:t>
            </a:r>
            <a:r>
              <a:rPr lang="en-US" altLang="ko-KR" sz="2000" dirty="0"/>
              <a:t>/ </a:t>
            </a:r>
            <a:r>
              <a:rPr lang="ko-KR" altLang="en-US" sz="2000" dirty="0"/>
              <a:t>크기 줄이기 </a:t>
            </a:r>
            <a:r>
              <a:rPr lang="en-US" altLang="ko-KR" sz="2000" dirty="0"/>
              <a:t>/ </a:t>
            </a:r>
            <a:r>
              <a:rPr lang="ko-KR" altLang="en-US" sz="2000" dirty="0"/>
              <a:t>모바일 버전 확인 가능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개발자 도구 열기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(Widows) F12 / ctrl + shift + </a:t>
            </a:r>
            <a:r>
              <a:rPr lang="en-US" altLang="ko-KR" sz="2000" dirty="0" err="1"/>
              <a:t>i</a:t>
            </a:r>
            <a:br>
              <a:rPr lang="en-US" altLang="ko-KR" sz="2000" dirty="0"/>
            </a:br>
            <a:r>
              <a:rPr lang="en-US" altLang="ko-KR" sz="2000" dirty="0"/>
              <a:t>(Mac) command + option +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292F-9570-41D6-B1EF-AD0662BD256A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</a:rPr>
              <a:t>우리의 친구</a:t>
            </a:r>
            <a:r>
              <a:rPr lang="en-US" altLang="ko-KR" dirty="0">
                <a:latin typeface="+mj-ea"/>
              </a:rPr>
              <a:t>! </a:t>
            </a:r>
            <a:r>
              <a:rPr lang="ko-KR" altLang="en-US" dirty="0">
                <a:solidFill>
                  <a:schemeClr val="accent1"/>
                </a:solidFill>
                <a:latin typeface="+mj-ea"/>
              </a:rPr>
              <a:t>개발자 도구</a:t>
            </a:r>
          </a:p>
        </p:txBody>
      </p:sp>
    </p:spTree>
    <p:extLst>
      <p:ext uri="{BB962C8B-B14F-4D97-AF65-F5344CB8AC3E}">
        <p14:creationId xmlns:p14="http://schemas.microsoft.com/office/powerpoint/2010/main" val="1780364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를 지워보자</a:t>
            </a:r>
            <a:r>
              <a:rPr lang="en-US" altLang="ko-KR" dirty="0"/>
              <a:t>?!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588" y="1364037"/>
            <a:ext cx="2985717" cy="455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965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4D63F7-0011-FB55-E934-B46245FFF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1️⃣ </a:t>
            </a:r>
            <a:r>
              <a:rPr lang="ko-KR" altLang="en-US" dirty="0"/>
              <a:t>인라인 방식 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2️⃣ </a:t>
            </a:r>
            <a:r>
              <a:rPr lang="ko-KR" altLang="en-US" dirty="0"/>
              <a:t>내장 방식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3️⃣ </a:t>
            </a:r>
            <a:r>
              <a:rPr lang="ko-KR" altLang="en-US" dirty="0"/>
              <a:t>링크 방식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A8276D-3584-C341-BDB4-1B0016FA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6EA7AA-F339-9A8D-2D5B-DD119FBC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C7D9BB0-1165-0949-4CBD-457F0BA9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참조 방식</a:t>
            </a:r>
          </a:p>
        </p:txBody>
      </p:sp>
    </p:spTree>
    <p:extLst>
      <p:ext uri="{BB962C8B-B14F-4D97-AF65-F5344CB8AC3E}">
        <p14:creationId xmlns:p14="http://schemas.microsoft.com/office/powerpoint/2010/main" val="1692528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EF63463-606A-588E-E74B-279A25C3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38" y="3051217"/>
            <a:ext cx="7959888" cy="169223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각 요소의 </a:t>
            </a:r>
            <a:r>
              <a:rPr lang="en-US" altLang="ko-KR" sz="2400" dirty="0"/>
              <a:t>style </a:t>
            </a:r>
            <a:r>
              <a:rPr lang="ko-KR" altLang="en-US" sz="2400" dirty="0"/>
              <a:t>속성에 전부 스타일을 직접 적어줘야 함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아래에서 같은 스타일을 가진 태그를 사용하려고 해도 코드를 </a:t>
            </a:r>
            <a:r>
              <a:rPr lang="ko-KR" altLang="en-US" sz="2000" dirty="0" err="1"/>
              <a:t>복붙</a:t>
            </a:r>
            <a:r>
              <a:rPr lang="ko-KR" altLang="en-US" sz="2000" dirty="0"/>
              <a:t> 필요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즉</a:t>
            </a:r>
            <a:r>
              <a:rPr lang="en-US" altLang="ko-KR" sz="2000" dirty="0"/>
              <a:t>, </a:t>
            </a:r>
            <a:r>
              <a:rPr lang="ko-KR" altLang="en-US" sz="2000" dirty="0">
                <a:solidFill>
                  <a:srgbClr val="6EC173"/>
                </a:solidFill>
              </a:rPr>
              <a:t>재사용이 불가능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9065-B160-4C23-B986-5A3C55D6AFAF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인라인 방식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9CE2DBF-F6CE-AB68-EA6D-2A1734F39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706" y="2459370"/>
            <a:ext cx="9762587" cy="50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589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EF63463-606A-588E-E74B-279A25C3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630" y="3429000"/>
            <a:ext cx="10150740" cy="259391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</a:t>
            </a:r>
            <a:r>
              <a:rPr lang="en-US" altLang="ko-KR" sz="2400" dirty="0"/>
              <a:t>HTML</a:t>
            </a:r>
            <a:r>
              <a:rPr lang="ko-KR" altLang="en-US" sz="2400" dirty="0"/>
              <a:t>의 </a:t>
            </a:r>
            <a:r>
              <a:rPr lang="en-US" altLang="ko-KR" sz="2400" dirty="0"/>
              <a:t>&lt;head&gt; </a:t>
            </a:r>
            <a:r>
              <a:rPr lang="ko-KR" altLang="en-US" sz="2400" dirty="0"/>
              <a:t>태그 내부에 사용할 </a:t>
            </a:r>
            <a:r>
              <a:rPr lang="en-US" altLang="ko-KR" sz="2400" dirty="0"/>
              <a:t>Style</a:t>
            </a:r>
            <a:r>
              <a:rPr lang="ko-KR" altLang="en-US" sz="2400" dirty="0"/>
              <a:t>을 </a:t>
            </a:r>
            <a:r>
              <a:rPr lang="en-US" altLang="ko-KR" sz="2400" dirty="0">
                <a:solidFill>
                  <a:srgbClr val="00B050"/>
                </a:solidFill>
              </a:rPr>
              <a:t>&lt;style&gt;</a:t>
            </a:r>
            <a:r>
              <a:rPr lang="en-US" altLang="ko-KR" sz="2400" dirty="0"/>
              <a:t> </a:t>
            </a:r>
            <a:r>
              <a:rPr lang="ko-KR" altLang="en-US" sz="2400" dirty="0"/>
              <a:t>태그로 선언하여 사용</a:t>
            </a:r>
            <a:r>
              <a:rPr lang="en-US" altLang="ko-KR" sz="2400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태그에 같은 스타일 적용이 가능</a:t>
            </a:r>
            <a:r>
              <a:rPr lang="en-US" altLang="ko-KR" sz="2000" dirty="0"/>
              <a:t>!!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그런데 </a:t>
            </a:r>
            <a:r>
              <a:rPr lang="ko-KR" altLang="en-US" sz="2000" dirty="0">
                <a:solidFill>
                  <a:srgbClr val="6EC173"/>
                </a:solidFill>
              </a:rPr>
              <a:t>다른 </a:t>
            </a:r>
            <a:r>
              <a:rPr lang="en-US" altLang="ko-KR" sz="2000" dirty="0">
                <a:solidFill>
                  <a:srgbClr val="6EC173"/>
                </a:solidFill>
              </a:rPr>
              <a:t>HTML </a:t>
            </a:r>
            <a:r>
              <a:rPr lang="ko-KR" altLang="en-US" sz="2000" dirty="0">
                <a:solidFill>
                  <a:srgbClr val="6EC173"/>
                </a:solidFill>
              </a:rPr>
              <a:t>파일</a:t>
            </a:r>
            <a:r>
              <a:rPr lang="ko-KR" altLang="en-US" sz="2000" dirty="0"/>
              <a:t>에는 어떻게 쓰죠</a:t>
            </a:r>
            <a:r>
              <a:rPr lang="en-US" altLang="ko-KR" sz="2000" dirty="0"/>
              <a:t>? 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혹시나 </a:t>
            </a:r>
            <a:r>
              <a:rPr lang="ko-KR" altLang="en-US" sz="2000" dirty="0">
                <a:solidFill>
                  <a:srgbClr val="6EC173"/>
                </a:solidFill>
              </a:rPr>
              <a:t>스타일이 바뀌면 </a:t>
            </a:r>
            <a:r>
              <a:rPr lang="ko-KR" altLang="en-US" sz="2000" dirty="0"/>
              <a:t>모두 바꿔줘야 하나요</a:t>
            </a:r>
            <a:r>
              <a:rPr lang="en-US" altLang="ko-KR" sz="2000" dirty="0"/>
              <a:t>?</a:t>
            </a:r>
            <a:endParaRPr lang="ko-KR" altLang="en-US" sz="200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1034-6CCC-40D2-8922-9671B2240F59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BFADBAC3-47FB-02E5-DBEF-098FAED5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내장 방식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7784D8A-0964-9115-3206-32C6847D0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300" y="1163235"/>
            <a:ext cx="4279399" cy="203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40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3B807C3-7CED-56DB-6F88-319863F62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0759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모든 </a:t>
            </a:r>
            <a:r>
              <a:rPr lang="en-US" altLang="ko-KR" dirty="0"/>
              <a:t>Style</a:t>
            </a:r>
            <a:r>
              <a:rPr lang="ko-KR" altLang="en-US" dirty="0"/>
              <a:t>을 </a:t>
            </a:r>
            <a:r>
              <a:rPr lang="ko-KR" altLang="en-US" dirty="0">
                <a:solidFill>
                  <a:srgbClr val="6EC173"/>
                </a:solidFill>
              </a:rPr>
              <a:t>하나의 </a:t>
            </a:r>
            <a:r>
              <a:rPr lang="en-US" altLang="ko-KR" dirty="0">
                <a:solidFill>
                  <a:srgbClr val="6EC173"/>
                </a:solidFill>
              </a:rPr>
              <a:t>CSS </a:t>
            </a:r>
            <a:r>
              <a:rPr lang="ko-KR" altLang="en-US" dirty="0">
                <a:solidFill>
                  <a:srgbClr val="6EC173"/>
                </a:solidFill>
              </a:rPr>
              <a:t>파일</a:t>
            </a:r>
            <a:r>
              <a:rPr lang="ko-KR" altLang="en-US" dirty="0"/>
              <a:t>에 넣고</a:t>
            </a:r>
            <a:r>
              <a:rPr lang="en-US" altLang="ko-KR" dirty="0"/>
              <a:t>, </a:t>
            </a:r>
            <a:r>
              <a:rPr lang="ko-KR" altLang="en-US" dirty="0"/>
              <a:t>필요한 </a:t>
            </a:r>
            <a:r>
              <a:rPr lang="en-US" altLang="ko-KR" dirty="0"/>
              <a:t>HTML </a:t>
            </a:r>
            <a:r>
              <a:rPr lang="ko-KR" altLang="en-US" dirty="0"/>
              <a:t>파일에서 해당 </a:t>
            </a:r>
            <a:r>
              <a:rPr lang="ko-KR" altLang="en-US" dirty="0">
                <a:solidFill>
                  <a:srgbClr val="6EC173"/>
                </a:solidFill>
              </a:rPr>
              <a:t>파일을</a:t>
            </a:r>
            <a:endParaRPr lang="en-US" altLang="ko-KR" dirty="0">
              <a:solidFill>
                <a:srgbClr val="6EC173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solidFill>
                  <a:srgbClr val="6EC173"/>
                </a:solidFill>
              </a:rPr>
              <a:t>      </a:t>
            </a:r>
            <a:r>
              <a:rPr lang="ko-KR" altLang="en-US" dirty="0">
                <a:solidFill>
                  <a:srgbClr val="6EC173"/>
                </a:solidFill>
              </a:rPr>
              <a:t>링크</a:t>
            </a:r>
            <a:r>
              <a:rPr lang="ko-KR" altLang="en-US" dirty="0"/>
              <a:t>해서 사용하는 방식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재사용</a:t>
            </a:r>
            <a:r>
              <a:rPr lang="en-US" altLang="ko-KR" dirty="0"/>
              <a:t>? </a:t>
            </a:r>
            <a:r>
              <a:rPr lang="en-US" altLang="ko-KR" dirty="0">
                <a:solidFill>
                  <a:srgbClr val="6EC173"/>
                </a:solidFill>
              </a:rPr>
              <a:t>OK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스타일 변경 발생</a:t>
            </a:r>
            <a:r>
              <a:rPr lang="en-US" altLang="ko-KR" dirty="0"/>
              <a:t>? </a:t>
            </a:r>
            <a:r>
              <a:rPr lang="en-US" altLang="ko-KR" dirty="0">
                <a:solidFill>
                  <a:srgbClr val="6EC173"/>
                </a:solidFill>
              </a:rPr>
              <a:t>OK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0917-1ED7-489B-87EB-30911B0F206C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14241401-BD37-E512-45E7-DF8B28D2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링크 방식</a:t>
            </a:r>
          </a:p>
        </p:txBody>
      </p:sp>
    </p:spTree>
    <p:extLst>
      <p:ext uri="{BB962C8B-B14F-4D97-AF65-F5344CB8AC3E}">
        <p14:creationId xmlns:p14="http://schemas.microsoft.com/office/powerpoint/2010/main" val="1924980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C25A3367-F72C-63F9-6B71-5A842F2E2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623" y="3063214"/>
            <a:ext cx="1857073" cy="61764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index.css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C1A1-740B-40EC-B341-AFFFABB3121A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0600E99A-E7A6-BFEA-4F0C-DEE5E1CDA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링크 방식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B25A2A0-2EFE-DBDF-BEA7-7B428F1A3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253" y="1934500"/>
            <a:ext cx="6451963" cy="5241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2FE1777-D472-2B01-21DB-11775EC7C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623" y="3680854"/>
            <a:ext cx="4203942" cy="1567061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460AD68-B060-D5B0-0EBE-91729FDB93D3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345594" y="2492214"/>
            <a:ext cx="6290775" cy="11886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2BE560E-384F-696C-BF00-70E15B06646F}"/>
              </a:ext>
            </a:extLst>
          </p:cNvPr>
          <p:cNvSpPr txBox="1">
            <a:spLocks/>
          </p:cNvSpPr>
          <p:nvPr/>
        </p:nvSpPr>
        <p:spPr>
          <a:xfrm>
            <a:off x="4533253" y="1306893"/>
            <a:ext cx="1857073" cy="617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dirty="0"/>
              <a:t>index.html</a:t>
            </a:r>
          </a:p>
        </p:txBody>
      </p:sp>
    </p:spTree>
    <p:extLst>
      <p:ext uri="{BB962C8B-B14F-4D97-AF65-F5344CB8AC3E}">
        <p14:creationId xmlns:p14="http://schemas.microsoft.com/office/powerpoint/2010/main" val="2550726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B230545-0757-9D17-38A3-54D3E1361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8384" y="3467367"/>
            <a:ext cx="7115232" cy="2807677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🤔 그런데 </a:t>
            </a:r>
            <a:r>
              <a:rPr lang="en-US" altLang="ko-KR" dirty="0"/>
              <a:t>3</a:t>
            </a:r>
            <a:r>
              <a:rPr lang="ko-KR" altLang="en-US" dirty="0"/>
              <a:t>가지 방식이 </a:t>
            </a:r>
            <a:r>
              <a:rPr lang="ko-KR" altLang="en-US" dirty="0">
                <a:solidFill>
                  <a:schemeClr val="accent1"/>
                </a:solidFill>
              </a:rPr>
              <a:t>겹치면</a:t>
            </a:r>
            <a:r>
              <a:rPr lang="ko-KR" altLang="en-US" dirty="0"/>
              <a:t> 어떻게 되죠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기본 룰은 </a:t>
            </a:r>
            <a:r>
              <a:rPr lang="ko-KR" altLang="en-US" dirty="0">
                <a:solidFill>
                  <a:schemeClr val="accent1"/>
                </a:solidFill>
              </a:rPr>
              <a:t>가장 늦게 읽히는 것이 우선</a:t>
            </a:r>
            <a:r>
              <a:rPr lang="ko-KR" altLang="en-US" dirty="0"/>
              <a:t>으로 적용 됩니다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인라인 방식</a:t>
            </a:r>
            <a:r>
              <a:rPr lang="ko-KR" altLang="en-US" dirty="0"/>
              <a:t>은 내장</a:t>
            </a:r>
            <a:r>
              <a:rPr lang="en-US" altLang="ko-KR" dirty="0"/>
              <a:t>, </a:t>
            </a:r>
            <a:r>
              <a:rPr lang="ko-KR" altLang="en-US" dirty="0"/>
              <a:t>링크 방식에 </a:t>
            </a:r>
            <a:r>
              <a:rPr lang="ko-KR" altLang="en-US" dirty="0">
                <a:solidFill>
                  <a:schemeClr val="accent1"/>
                </a:solidFill>
              </a:rPr>
              <a:t>무조건 우선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내장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ko-KR" altLang="en-US" dirty="0">
                <a:solidFill>
                  <a:schemeClr val="accent1"/>
                </a:solidFill>
              </a:rPr>
              <a:t>링크 </a:t>
            </a:r>
            <a:r>
              <a:rPr lang="ko-KR" altLang="en-US" dirty="0"/>
              <a:t>방식은 </a:t>
            </a:r>
            <a:r>
              <a:rPr lang="ko-KR" altLang="en-US" dirty="0">
                <a:solidFill>
                  <a:schemeClr val="accent1"/>
                </a:solidFill>
              </a:rPr>
              <a:t>늦게 쓰여진 </a:t>
            </a:r>
            <a:r>
              <a:rPr lang="ko-KR" altLang="en-US" dirty="0"/>
              <a:t>것이 우선</a:t>
            </a:r>
            <a:r>
              <a:rPr lang="en-US" altLang="ko-KR" dirty="0"/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A8276D-3584-C341-BDB4-1B0016FA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6EA7AA-F339-9A8D-2D5B-DD119FBC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C7D9BB0-1165-0949-4CBD-457F0BA9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참조 방식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371600" y="1565213"/>
            <a:ext cx="9071551" cy="1468971"/>
            <a:chOff x="1530999" y="2440355"/>
            <a:chExt cx="9071551" cy="1468971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35F840AF-3B4A-77C2-EC3C-064BA094DA90}"/>
                </a:ext>
              </a:extLst>
            </p:cNvPr>
            <p:cNvSpPr/>
            <p:nvPr/>
          </p:nvSpPr>
          <p:spPr>
            <a:xfrm>
              <a:off x="1530999" y="2440355"/>
              <a:ext cx="1956318" cy="1455594"/>
            </a:xfrm>
            <a:prstGeom prst="roundRect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인라인</a:t>
              </a:r>
              <a:endParaRPr lang="en-US" altLang="ko-KR" sz="2400" dirty="0">
                <a:solidFill>
                  <a:srgbClr val="0070C0"/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방식</a:t>
              </a: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73522CCA-BE4B-0CC2-DC8D-1EB067814F05}"/>
                </a:ext>
              </a:extLst>
            </p:cNvPr>
            <p:cNvSpPr/>
            <p:nvPr/>
          </p:nvSpPr>
          <p:spPr>
            <a:xfrm>
              <a:off x="5088615" y="2453732"/>
              <a:ext cx="1956318" cy="1455594"/>
            </a:xfrm>
            <a:prstGeom prst="roundRect">
              <a:avLst/>
            </a:prstGeom>
            <a:noFill/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chemeClr val="accent2"/>
                  </a:solidFill>
                  <a:latin typeface="+mn-ea"/>
                </a:rPr>
                <a:t>내장</a:t>
              </a:r>
              <a:endParaRPr lang="en-US" altLang="ko-KR" sz="2400" dirty="0">
                <a:solidFill>
                  <a:schemeClr val="accent2"/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chemeClr val="accent2"/>
                  </a:solidFill>
                  <a:latin typeface="+mn-ea"/>
                </a:rPr>
                <a:t>방식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4119E43F-BFD6-8249-D2A3-2E5012D2104F}"/>
                </a:ext>
              </a:extLst>
            </p:cNvPr>
            <p:cNvSpPr/>
            <p:nvPr/>
          </p:nvSpPr>
          <p:spPr>
            <a:xfrm>
              <a:off x="8646232" y="2453732"/>
              <a:ext cx="1956318" cy="1455594"/>
            </a:xfrm>
            <a:prstGeom prst="round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B050"/>
                  </a:solidFill>
                  <a:latin typeface="+mn-ea"/>
                </a:rPr>
                <a:t>링크</a:t>
              </a:r>
              <a:endParaRPr lang="en-US" altLang="ko-KR" sz="2400" dirty="0">
                <a:solidFill>
                  <a:srgbClr val="00B050"/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B050"/>
                  </a:solidFill>
                  <a:latin typeface="+mn-ea"/>
                </a:rPr>
                <a:t>방식</a:t>
              </a:r>
            </a:p>
          </p:txBody>
        </p:sp>
        <p:sp>
          <p:nvSpPr>
            <p:cNvPr id="10" name="제목 1">
              <a:extLst>
                <a:ext uri="{FF2B5EF4-FFF2-40B4-BE49-F238E27FC236}">
                  <a16:creationId xmlns:a16="http://schemas.microsoft.com/office/drawing/2014/main" id="{841B6AC9-54CA-E243-C12D-B1AF603640BF}"/>
                </a:ext>
              </a:extLst>
            </p:cNvPr>
            <p:cNvSpPr txBox="1">
              <a:spLocks/>
            </p:cNvSpPr>
            <p:nvPr/>
          </p:nvSpPr>
          <p:spPr>
            <a:xfrm>
              <a:off x="7510137" y="2514401"/>
              <a:ext cx="67089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강한공군체 Medium" panose="020B0600000101010101" pitchFamily="50" charset="-127"/>
                  <a:ea typeface="강한공군체 Medium" panose="020B0600000101010101" pitchFamily="50" charset="-127"/>
                  <a:cs typeface="+mj-cs"/>
                </a:defRPr>
              </a:lvl1pPr>
            </a:lstStyle>
            <a:p>
              <a:pPr algn="ctr"/>
              <a:r>
                <a:rPr lang="en-US" altLang="ko-KR" sz="6600" dirty="0">
                  <a:latin typeface="+mn-ea"/>
                  <a:ea typeface="+mn-ea"/>
                </a:rPr>
                <a:t>?</a:t>
              </a:r>
              <a:endParaRPr lang="ko-KR" altLang="en-US" sz="6600" dirty="0">
                <a:latin typeface="+mn-ea"/>
                <a:ea typeface="+mn-ea"/>
              </a:endParaRPr>
            </a:p>
          </p:txBody>
        </p:sp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841B6AC9-54CA-E243-C12D-B1AF603640BF}"/>
                </a:ext>
              </a:extLst>
            </p:cNvPr>
            <p:cNvSpPr txBox="1">
              <a:spLocks/>
            </p:cNvSpPr>
            <p:nvPr/>
          </p:nvSpPr>
          <p:spPr>
            <a:xfrm>
              <a:off x="3992848" y="2514401"/>
              <a:ext cx="67089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강한공군체 Medium" panose="020B0600000101010101" pitchFamily="50" charset="-127"/>
                  <a:ea typeface="강한공군체 Medium" panose="020B0600000101010101" pitchFamily="50" charset="-127"/>
                  <a:cs typeface="+mj-cs"/>
                </a:defRPr>
              </a:lvl1pPr>
            </a:lstStyle>
            <a:p>
              <a:pPr algn="ctr"/>
              <a:r>
                <a:rPr lang="en-US" altLang="ko-KR" sz="6600" dirty="0">
                  <a:latin typeface="+mn-ea"/>
                  <a:ea typeface="+mn-ea"/>
                </a:rPr>
                <a:t>&gt;</a:t>
              </a:r>
              <a:endParaRPr lang="ko-KR" altLang="en-US" sz="660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5626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CACE4B-89C4-F135-0CB0-8A3A38082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B79716-4245-E6F3-A3EC-D7E296BA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E2252B-B408-0AEE-0EBE-AE21EC46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5" y="823188"/>
            <a:ext cx="10515600" cy="4840564"/>
          </a:xfrm>
        </p:spPr>
        <p:txBody>
          <a:bodyPr>
            <a:normAutofit/>
          </a:bodyPr>
          <a:lstStyle/>
          <a:p>
            <a:pPr algn="ctr"/>
            <a:r>
              <a:rPr lang="en-US" altLang="ko-KR" b="1" dirty="0">
                <a:solidFill>
                  <a:srgbClr val="6EC173"/>
                </a:solidFill>
              </a:rPr>
              <a:t>Quiz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/>
              <a:t>내장 방식을 이용할 때 </a:t>
            </a:r>
            <a:br>
              <a:rPr lang="en-US" altLang="ko-KR" dirty="0"/>
            </a:br>
            <a:r>
              <a:rPr lang="en-US" altLang="ko-KR" dirty="0"/>
              <a:t>&lt;style&gt; </a:t>
            </a:r>
            <a:r>
              <a:rPr lang="ko-KR" altLang="en-US" dirty="0"/>
              <a:t>태그는 어느 곳에 사용될까요</a:t>
            </a:r>
            <a:r>
              <a:rPr lang="en-US" altLang="ko-KR" dirty="0"/>
              <a:t>?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1. &lt;html&gt;</a:t>
            </a:r>
            <a:br>
              <a:rPr lang="en-US" altLang="ko-KR" dirty="0"/>
            </a:br>
            <a:r>
              <a:rPr lang="en-US" altLang="ko-KR" dirty="0"/>
              <a:t>2. &lt;head&gt;</a:t>
            </a:r>
            <a:br>
              <a:rPr lang="en-US" altLang="ko-KR" dirty="0"/>
            </a:br>
            <a:r>
              <a:rPr lang="en-US" altLang="ko-KR" dirty="0"/>
              <a:t>3. &lt;body&gt;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기타</a:t>
            </a:r>
          </a:p>
        </p:txBody>
      </p:sp>
    </p:spTree>
    <p:extLst>
      <p:ext uri="{BB962C8B-B14F-4D97-AF65-F5344CB8AC3E}">
        <p14:creationId xmlns:p14="http://schemas.microsoft.com/office/powerpoint/2010/main" val="278520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B79716-4245-E6F3-A3EC-D7E296BA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E2252B-B408-0AEE-0EBE-AE21EC46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5" y="823188"/>
            <a:ext cx="10515600" cy="4840564"/>
          </a:xfrm>
        </p:spPr>
        <p:txBody>
          <a:bodyPr>
            <a:normAutofit/>
          </a:bodyPr>
          <a:lstStyle/>
          <a:p>
            <a:pPr algn="ctr"/>
            <a:r>
              <a:rPr lang="en-US" altLang="ko-KR" b="1" dirty="0">
                <a:solidFill>
                  <a:srgbClr val="6EC173"/>
                </a:solidFill>
              </a:rPr>
              <a:t>Quiz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/>
              <a:t>내장 방식을 이용할 때 </a:t>
            </a:r>
            <a:br>
              <a:rPr lang="en-US" altLang="ko-KR" dirty="0"/>
            </a:br>
            <a:r>
              <a:rPr lang="en-US" altLang="ko-KR" dirty="0"/>
              <a:t>&lt;style&gt; </a:t>
            </a:r>
            <a:r>
              <a:rPr lang="ko-KR" altLang="en-US" dirty="0"/>
              <a:t>태그는 어느 곳에 사용될까요</a:t>
            </a:r>
            <a:r>
              <a:rPr lang="en-US" altLang="ko-KR" dirty="0"/>
              <a:t>?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1. &lt;html&gt;</a:t>
            </a:r>
            <a:br>
              <a:rPr lang="en-US" altLang="ko-KR" dirty="0"/>
            </a:br>
            <a:r>
              <a:rPr lang="en-US" altLang="ko-KR" dirty="0">
                <a:highlight>
                  <a:srgbClr val="FFFF00"/>
                </a:highlight>
              </a:rPr>
              <a:t>2. &lt;head&gt;</a:t>
            </a:r>
            <a:br>
              <a:rPr lang="en-US" altLang="ko-KR" dirty="0"/>
            </a:br>
            <a:r>
              <a:rPr lang="en-US" altLang="ko-KR" dirty="0"/>
              <a:t>3. &lt;body&gt;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기타</a:t>
            </a:r>
          </a:p>
        </p:txBody>
      </p:sp>
    </p:spTree>
    <p:extLst>
      <p:ext uri="{BB962C8B-B14F-4D97-AF65-F5344CB8AC3E}">
        <p14:creationId xmlns:p14="http://schemas.microsoft.com/office/powerpoint/2010/main" val="301343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540" y="1130974"/>
            <a:ext cx="11260802" cy="1145407"/>
          </a:xfrm>
        </p:spPr>
        <p:txBody>
          <a:bodyPr>
            <a:normAutofit/>
          </a:bodyPr>
          <a:lstStyle/>
          <a:p>
            <a:r>
              <a:rPr lang="ko-KR" altLang="en-US" dirty="0"/>
              <a:t>인라인 방식</a:t>
            </a:r>
            <a:r>
              <a:rPr lang="en-US" altLang="ko-KR" dirty="0"/>
              <a:t>, </a:t>
            </a:r>
            <a:r>
              <a:rPr lang="ko-KR" altLang="en-US" dirty="0"/>
              <a:t>내장 방식</a:t>
            </a:r>
            <a:r>
              <a:rPr lang="en-US" altLang="ko-KR" dirty="0"/>
              <a:t>, </a:t>
            </a:r>
            <a:r>
              <a:rPr lang="ko-KR" altLang="en-US" dirty="0"/>
              <a:t>링크 방식을 자유롭게 사용하여 아래 사진과 같이 만들어보세요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CSS </a:t>
            </a:r>
            <a:r>
              <a:rPr lang="ko-KR" altLang="en-US" dirty="0">
                <a:solidFill>
                  <a:srgbClr val="ED7D31"/>
                </a:solidFill>
              </a:rPr>
              <a:t>맛보기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52C0E9-776C-F95F-69EA-056430642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72" y="2207173"/>
            <a:ext cx="3546787" cy="40090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5260" y="3288343"/>
            <a:ext cx="76490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힌트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&lt;div </a:t>
            </a:r>
            <a:r>
              <a:rPr lang="en-US" altLang="ko-KR" b="1" dirty="0"/>
              <a:t>style=“background-color: </a:t>
            </a:r>
            <a:r>
              <a:rPr lang="en-US" altLang="ko-KR" b="1" dirty="0">
                <a:solidFill>
                  <a:schemeClr val="accent1"/>
                </a:solidFill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</a:rPr>
              <a:t>색상</a:t>
            </a:r>
            <a:r>
              <a:rPr lang="en-US" altLang="ko-KR" b="1" dirty="0">
                <a:solidFill>
                  <a:schemeClr val="accent1"/>
                </a:solidFill>
              </a:rPr>
              <a:t>’</a:t>
            </a:r>
            <a:r>
              <a:rPr lang="en-US" altLang="ko-KR" b="1" dirty="0"/>
              <a:t>; width: </a:t>
            </a:r>
            <a:r>
              <a:rPr lang="en-US" altLang="ko-KR" b="1" dirty="0">
                <a:solidFill>
                  <a:schemeClr val="accent1"/>
                </a:solidFill>
              </a:rPr>
              <a:t>0px</a:t>
            </a:r>
            <a:r>
              <a:rPr lang="en-US" altLang="ko-KR" b="1" dirty="0"/>
              <a:t>; height: </a:t>
            </a:r>
            <a:r>
              <a:rPr lang="en-US" altLang="ko-KR" b="1" dirty="0">
                <a:solidFill>
                  <a:schemeClr val="accent1"/>
                </a:solidFill>
              </a:rPr>
              <a:t>0px</a:t>
            </a:r>
            <a:r>
              <a:rPr lang="en-US" altLang="ko-KR" b="1" dirty="0"/>
              <a:t>”</a:t>
            </a:r>
            <a:r>
              <a:rPr lang="en-US" altLang="ko-KR" dirty="0"/>
              <a:t>&gt;&lt;/div&gt;</a:t>
            </a:r>
          </a:p>
        </p:txBody>
      </p:sp>
    </p:spTree>
    <p:extLst>
      <p:ext uri="{BB962C8B-B14F-4D97-AF65-F5344CB8AC3E}">
        <p14:creationId xmlns:p14="http://schemas.microsoft.com/office/powerpoint/2010/main" val="3782139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D40988C-D5D5-5F07-2D62-0B157671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30936"/>
            <a:ext cx="10515600" cy="19898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i="0" dirty="0">
                <a:effectLst/>
              </a:rPr>
              <a:t>CSS</a:t>
            </a:r>
            <a:r>
              <a:rPr lang="ko-KR" altLang="en-US" i="0" dirty="0">
                <a:effectLst/>
              </a:rPr>
              <a:t>는 </a:t>
            </a:r>
            <a:r>
              <a:rPr lang="en-US" altLang="ko-KR" i="0" dirty="0">
                <a:effectLst/>
              </a:rPr>
              <a:t>HTML </a:t>
            </a:r>
            <a:r>
              <a:rPr lang="ko-KR" altLang="en-US" i="0" dirty="0">
                <a:effectLst/>
              </a:rPr>
              <a:t>요소의 </a:t>
            </a:r>
            <a:r>
              <a:rPr lang="en-US" altLang="ko-KR" i="0" dirty="0">
                <a:effectLst/>
              </a:rPr>
              <a:t>style</a:t>
            </a:r>
            <a:r>
              <a:rPr lang="ko-KR" altLang="en-US" i="0" dirty="0">
                <a:effectLst/>
              </a:rPr>
              <a:t>을 정의하여야 하므로 스타일을 적용하고자 하는 </a:t>
            </a:r>
            <a:r>
              <a:rPr lang="en-US" altLang="ko-KR" i="0" dirty="0">
                <a:effectLst/>
              </a:rPr>
              <a:t>HTML </a:t>
            </a:r>
            <a:r>
              <a:rPr lang="ko-KR" altLang="en-US" i="0" dirty="0">
                <a:effectLst/>
              </a:rPr>
              <a:t>요소를 선택할 수 있어야 한다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b="0" i="0" dirty="0">
                <a:effectLst/>
              </a:rPr>
              <a:t>선택자는 스타일을 적용하고자 하는 </a:t>
            </a:r>
            <a:r>
              <a:rPr lang="en-US" altLang="ko-KR" b="0" i="0" dirty="0">
                <a:effectLst/>
              </a:rPr>
              <a:t>HTML </a:t>
            </a:r>
            <a:r>
              <a:rPr lang="ko-KR" altLang="en-US" b="0" i="0" dirty="0">
                <a:effectLst/>
              </a:rPr>
              <a:t>요소를 선택하기 위해 </a:t>
            </a:r>
            <a:r>
              <a:rPr lang="en-US" altLang="ko-KR" b="0" i="0" dirty="0">
                <a:effectLst/>
              </a:rPr>
              <a:t>CSS</a:t>
            </a:r>
            <a:r>
              <a:rPr lang="ko-KR" altLang="en-US" b="0" i="0" dirty="0">
                <a:effectLst/>
              </a:rPr>
              <a:t>에서 제공하는 수단</a:t>
            </a:r>
            <a:endParaRPr lang="en-US" altLang="ko-KR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C03C4-2E39-4D58-800A-57885450E72F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18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1DE44D4-B4E3-097A-FACE-0CD25F6671E1}"/>
              </a:ext>
            </a:extLst>
          </p:cNvPr>
          <p:cNvGrpSpPr/>
          <p:nvPr/>
        </p:nvGrpSpPr>
        <p:grpSpPr>
          <a:xfrm>
            <a:off x="2099602" y="1595829"/>
            <a:ext cx="7992795" cy="2210507"/>
            <a:chOff x="838199" y="1480842"/>
            <a:chExt cx="7992795" cy="2210507"/>
          </a:xfrm>
        </p:grpSpPr>
        <p:pic>
          <p:nvPicPr>
            <p:cNvPr id="13314" name="Picture 2" descr="CSS: 선택자(Selector) 이해">
              <a:extLst>
                <a:ext uri="{FF2B5EF4-FFF2-40B4-BE49-F238E27FC236}">
                  <a16:creationId xmlns:a16="http://schemas.microsoft.com/office/drawing/2014/main" id="{65144CC9-3187-AFC1-8BE0-A14EA4719B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199" y="1480842"/>
              <a:ext cx="7992795" cy="22105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직사각형 2"/>
            <p:cNvSpPr/>
            <p:nvPr/>
          </p:nvSpPr>
          <p:spPr>
            <a:xfrm>
              <a:off x="1119553" y="2208528"/>
              <a:ext cx="531221" cy="69651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1A5D54EB-8AD8-B6B2-6B0A-87F9B19B9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CSS,</a:t>
            </a:r>
            <a:r>
              <a:rPr lang="ko-KR" altLang="en-US" dirty="0"/>
              <a:t> </a:t>
            </a:r>
            <a:r>
              <a:rPr lang="ko-KR" altLang="en-US" dirty="0" err="1">
                <a:solidFill>
                  <a:schemeClr val="accent1"/>
                </a:solidFill>
              </a:rPr>
              <a:t>선택자</a:t>
            </a:r>
            <a:r>
              <a:rPr lang="en-US" altLang="ko-KR" dirty="0">
                <a:solidFill>
                  <a:schemeClr val="accent1"/>
                </a:solidFill>
              </a:rPr>
              <a:t>(Selector)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924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SS: 선택자(Selector) 이해">
            <a:extLst>
              <a:ext uri="{FF2B5EF4-FFF2-40B4-BE49-F238E27FC236}">
                <a16:creationId xmlns:a16="http://schemas.microsoft.com/office/drawing/2014/main" id="{3FF23653-4554-FABA-1C7F-22BD8EF0B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602" y="1595829"/>
            <a:ext cx="7992795" cy="2210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D40988C-D5D5-5F07-2D62-0B157671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458" y="4093028"/>
            <a:ext cx="10515600" cy="193052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b="0" i="0" dirty="0">
                <a:effectLst/>
              </a:rPr>
              <a:t>선택자로 </a:t>
            </a:r>
            <a:r>
              <a:rPr lang="en-US" altLang="ko-KR" b="0" i="0" dirty="0">
                <a:effectLst/>
              </a:rPr>
              <a:t>HTML </a:t>
            </a:r>
            <a:r>
              <a:rPr lang="ko-KR" altLang="en-US" b="0" i="0" dirty="0">
                <a:effectLst/>
              </a:rPr>
              <a:t>요소를 선택하고 </a:t>
            </a:r>
            <a:r>
              <a:rPr lang="en-US" altLang="ko-KR" b="0" i="0" dirty="0">
                <a:effectLst/>
              </a:rPr>
              <a:t>{ } </a:t>
            </a:r>
            <a:r>
              <a:rPr lang="ko-KR" altLang="en-US" b="0" i="0" dirty="0">
                <a:effectLst/>
              </a:rPr>
              <a:t>내에 속성 값을 지정하여 다양한 </a:t>
            </a:r>
            <a:r>
              <a:rPr lang="en-US" altLang="ko-KR" b="0" i="0" dirty="0">
                <a:effectLst/>
              </a:rPr>
              <a:t>style</a:t>
            </a:r>
            <a:r>
              <a:rPr lang="ko-KR" altLang="en-US" b="0" i="0" dirty="0">
                <a:effectLst/>
              </a:rPr>
              <a:t>을 정의</a:t>
            </a:r>
            <a:endParaRPr lang="en-US" altLang="ko-KR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여러 개의 </a:t>
            </a:r>
            <a:r>
              <a:rPr lang="ko-KR" altLang="en-US" dirty="0" err="1"/>
              <a:t>프로퍼티를</a:t>
            </a:r>
            <a:r>
              <a:rPr lang="ko-KR" altLang="en-US" dirty="0"/>
              <a:t> 연속해서 지정할 수 있으며 세미콜론</a:t>
            </a:r>
            <a:r>
              <a:rPr lang="en-US" altLang="ko-KR" dirty="0"/>
              <a:t>(;)</a:t>
            </a:r>
            <a:r>
              <a:rPr lang="ko-KR" altLang="en-US" dirty="0"/>
              <a:t>으로 구분</a:t>
            </a:r>
            <a:endParaRPr lang="en-US" altLang="ko-KR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b="0" i="0" dirty="0">
                <a:effectLst/>
              </a:rPr>
              <a:t>속성은 </a:t>
            </a:r>
            <a:r>
              <a:rPr lang="ko-KR" altLang="en-US" b="0" i="0" u="none" strike="noStrike" dirty="0">
                <a:effectLst/>
              </a:rPr>
              <a:t>표준 스펙</a:t>
            </a:r>
            <a:r>
              <a:rPr lang="ko-KR" altLang="en-US" b="0" i="0" dirty="0">
                <a:effectLst/>
              </a:rPr>
              <a:t>으로 이미 지정되어 있는 것을 사용</a:t>
            </a:r>
            <a:r>
              <a:rPr lang="en-US" altLang="ko-KR" b="0" i="0" dirty="0">
                <a:effectLst/>
              </a:rPr>
              <a:t>,</a:t>
            </a:r>
            <a:r>
              <a:rPr lang="ko-KR" altLang="en-US" b="0" i="0" dirty="0">
                <a:effectLst/>
              </a:rPr>
              <a:t> 사용자가 임의로 정의할 수 없다</a:t>
            </a:r>
            <a:endParaRPr lang="en-US" altLang="ko-KR" b="0" i="0" dirty="0">
              <a:effectLst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AC3B9-9608-4505-872F-E91F76B287B7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306739" y="2306156"/>
            <a:ext cx="1361639" cy="7059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6106258" y="2318856"/>
            <a:ext cx="2155092" cy="64758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723C21B-0223-C847-7F4B-6BF3D7468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CSS,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속성</a:t>
            </a:r>
            <a:r>
              <a:rPr lang="en-US" altLang="ko-KR" dirty="0">
                <a:solidFill>
                  <a:schemeClr val="accent1"/>
                </a:solidFill>
              </a:rPr>
              <a:t>(Property)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776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SS: 선택자(Selector) 이해">
            <a:extLst>
              <a:ext uri="{FF2B5EF4-FFF2-40B4-BE49-F238E27FC236}">
                <a16:creationId xmlns:a16="http://schemas.microsoft.com/office/drawing/2014/main" id="{68FA6694-37DA-2ACC-2511-9D7A91DEB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602" y="1595829"/>
            <a:ext cx="7992795" cy="2210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D40988C-D5D5-5F07-2D62-0B157671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56758"/>
            <a:ext cx="10515600" cy="13780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b="0" i="0" dirty="0">
                <a:effectLst/>
                <a:latin typeface="Lora" pitchFamily="2" charset="0"/>
              </a:rPr>
              <a:t>값은 해당 속성에 사용할 수 있는 값을 키워드나 크기 단위 또는 색상 단위 등의 특정 단위로 지정</a:t>
            </a: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05331-6A24-430B-98C3-C2EBD49CD31F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925695" y="2301297"/>
            <a:ext cx="1101762" cy="723370"/>
          </a:xfrm>
          <a:prstGeom prst="rect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8454842" y="2333665"/>
            <a:ext cx="1229470" cy="658634"/>
          </a:xfrm>
          <a:prstGeom prst="rect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479DD8C-F955-9B44-ACBF-EF74BB5E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CSS,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값</a:t>
            </a:r>
            <a:r>
              <a:rPr lang="en-US" altLang="ko-KR" dirty="0">
                <a:solidFill>
                  <a:schemeClr val="accent1"/>
                </a:solidFill>
              </a:rPr>
              <a:t>(Value)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18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F01F0F0-7DDB-051F-B636-EEDB77D4F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467" y="1809524"/>
            <a:ext cx="8345065" cy="3238952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821B38FF-42EF-30C5-D419-6D7C425F4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6D116-B16C-4336-A3EE-0C1DB28D93C7}" type="datetime6">
              <a:rPr lang="ko-KR" altLang="en-US" smtClean="0"/>
              <a:t>2026년 1월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7271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기본</a:t>
            </a:r>
            <a:r>
              <a:rPr lang="en-US" altLang="ko-KR" sz="6000" dirty="0">
                <a:solidFill>
                  <a:srgbClr val="ED7D31"/>
                </a:solidFill>
              </a:rPr>
              <a:t>(</a:t>
            </a:r>
            <a:r>
              <a:rPr lang="ko-KR" altLang="en-US" sz="6000" dirty="0">
                <a:solidFill>
                  <a:srgbClr val="ED7D31"/>
                </a:solidFill>
              </a:rPr>
              <a:t>단일</a:t>
            </a:r>
            <a:r>
              <a:rPr lang="en-US" altLang="ko-KR" sz="6000" dirty="0">
                <a:solidFill>
                  <a:srgbClr val="ED7D31"/>
                </a:solidFill>
              </a:rPr>
              <a:t>) </a:t>
            </a:r>
            <a:r>
              <a:rPr lang="ko-KR" altLang="en-US" sz="6000" dirty="0" err="1">
                <a:solidFill>
                  <a:srgbClr val="ED7D31"/>
                </a:solidFill>
              </a:rPr>
              <a:t>선택자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084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69977"/>
            <a:ext cx="2743200" cy="31226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00B050"/>
                </a:solidFill>
              </a:rPr>
              <a:t>전체 </a:t>
            </a:r>
            <a:r>
              <a:rPr lang="ko-KR" altLang="en-US" dirty="0" err="1">
                <a:solidFill>
                  <a:srgbClr val="00B050"/>
                </a:solidFill>
              </a:rPr>
              <a:t>선택자</a:t>
            </a:r>
            <a:endParaRPr lang="en-US" altLang="ko-KR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태그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Class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ID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단일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5828CA-A2B3-593A-FA71-35064F5BCB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53"/>
          <a:stretch/>
        </p:blipFill>
        <p:spPr>
          <a:xfrm>
            <a:off x="4150321" y="1202557"/>
            <a:ext cx="7736013" cy="485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887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단일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1C85A4E-6D3C-E76C-90AE-E14356A590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54"/>
          <a:stretch/>
        </p:blipFill>
        <p:spPr>
          <a:xfrm>
            <a:off x="4486275" y="1145407"/>
            <a:ext cx="7279924" cy="4793788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6ABD6D0-F599-16A8-9CD8-B3BCDAE1F8AA}"/>
              </a:ext>
            </a:extLst>
          </p:cNvPr>
          <p:cNvSpPr txBox="1">
            <a:spLocks/>
          </p:cNvSpPr>
          <p:nvPr/>
        </p:nvSpPr>
        <p:spPr>
          <a:xfrm>
            <a:off x="609600" y="2069977"/>
            <a:ext cx="2743200" cy="3122612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/>
              <a:t>전체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00B050"/>
                </a:solidFill>
              </a:rPr>
              <a:t>태그 </a:t>
            </a:r>
            <a:r>
              <a:rPr lang="ko-KR" altLang="en-US" dirty="0" err="1">
                <a:solidFill>
                  <a:srgbClr val="00B050"/>
                </a:solidFill>
              </a:rPr>
              <a:t>선택자</a:t>
            </a:r>
            <a:endParaRPr lang="en-US" altLang="ko-KR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Class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ID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4857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단일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E150EFF-FB0B-DDB2-F91B-BCFCA9C6F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292" y="1145407"/>
            <a:ext cx="7128992" cy="4595873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321CC41-5BD0-AAB5-13F5-59F62868577A}"/>
              </a:ext>
            </a:extLst>
          </p:cNvPr>
          <p:cNvSpPr txBox="1">
            <a:spLocks/>
          </p:cNvSpPr>
          <p:nvPr/>
        </p:nvSpPr>
        <p:spPr>
          <a:xfrm>
            <a:off x="609600" y="2069977"/>
            <a:ext cx="2743200" cy="3122612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/>
              <a:t>전체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태그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Class </a:t>
            </a:r>
            <a:r>
              <a:rPr lang="ko-KR" altLang="en-US" dirty="0" err="1">
                <a:solidFill>
                  <a:srgbClr val="00B050"/>
                </a:solidFill>
              </a:rPr>
              <a:t>선택자</a:t>
            </a:r>
            <a:endParaRPr lang="en-US" altLang="ko-KR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ID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3024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단일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41712F-C28B-BBD9-F77C-818D853D33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51"/>
          <a:stretch/>
        </p:blipFill>
        <p:spPr>
          <a:xfrm>
            <a:off x="4685070" y="1116832"/>
            <a:ext cx="7007948" cy="4685921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92D454A-E2F5-D6FF-0DF0-2403C645953E}"/>
              </a:ext>
            </a:extLst>
          </p:cNvPr>
          <p:cNvSpPr txBox="1">
            <a:spLocks/>
          </p:cNvSpPr>
          <p:nvPr/>
        </p:nvSpPr>
        <p:spPr>
          <a:xfrm>
            <a:off x="609600" y="2069977"/>
            <a:ext cx="2743200" cy="3122612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/>
              <a:t>전체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태그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Class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ID </a:t>
            </a:r>
            <a:r>
              <a:rPr lang="ko-KR" altLang="en-US" dirty="0" err="1">
                <a:solidFill>
                  <a:srgbClr val="00B050"/>
                </a:solidFill>
              </a:rPr>
              <a:t>선택자</a:t>
            </a:r>
            <a:endParaRPr lang="ko-KR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268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26500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연습하기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기본클래스 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선택자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 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기본클래스 </a:t>
            </a:r>
            <a:r>
              <a:rPr lang="ko-KR" altLang="en-US" dirty="0" err="1">
                <a:solidFill>
                  <a:srgbClr val="ED7D31"/>
                </a:solidFill>
              </a:rPr>
              <a:t>선택자</a:t>
            </a:r>
            <a:r>
              <a:rPr lang="ko-KR" altLang="en-US" dirty="0">
                <a:solidFill>
                  <a:srgbClr val="ED7D31"/>
                </a:solidFill>
              </a:rPr>
              <a:t> 실습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407179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4731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복합 </a:t>
            </a:r>
            <a:r>
              <a:rPr lang="ko-KR" altLang="en-US" sz="6000" dirty="0" err="1">
                <a:solidFill>
                  <a:srgbClr val="ED7D31"/>
                </a:solidFill>
              </a:rPr>
              <a:t>선택자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387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A0B2603-41E1-2960-094C-0F1A4EED6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특수한 요소를 호출하고 싶을 때</a:t>
            </a:r>
            <a:r>
              <a:rPr lang="en-US" altLang="ko-KR" sz="2400" dirty="0"/>
              <a:t>, </a:t>
            </a:r>
            <a:r>
              <a:rPr lang="ko-KR" altLang="en-US" sz="2400" dirty="0">
                <a:solidFill>
                  <a:schemeClr val="accent1"/>
                </a:solidFill>
              </a:rPr>
              <a:t>기본 선택자</a:t>
            </a:r>
            <a:r>
              <a:rPr lang="ko-KR" altLang="en-US" sz="2400" dirty="0"/>
              <a:t>만으로는</a:t>
            </a:r>
            <a:r>
              <a:rPr lang="ko-KR" altLang="en-US" sz="2400" dirty="0">
                <a:solidFill>
                  <a:schemeClr val="accent1"/>
                </a:solidFill>
              </a:rPr>
              <a:t> 선택이 불가능한 경우에 사용</a:t>
            </a:r>
            <a:endParaRPr lang="en-US" altLang="ko-KR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복합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8682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2524125" cy="76004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하위</a:t>
            </a:r>
            <a:r>
              <a:rPr lang="en-US" altLang="ko-KR" dirty="0"/>
              <a:t>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복합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CEBC474-3777-1899-459C-336F399FB3CD}"/>
              </a:ext>
            </a:extLst>
          </p:cNvPr>
          <p:cNvGrpSpPr/>
          <p:nvPr/>
        </p:nvGrpSpPr>
        <p:grpSpPr>
          <a:xfrm>
            <a:off x="4102315" y="1517545"/>
            <a:ext cx="7850694" cy="4479237"/>
            <a:chOff x="235971" y="330821"/>
            <a:chExt cx="10755490" cy="619635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48C150B-BA78-0040-8204-35A6AC95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971" y="330821"/>
              <a:ext cx="10606200" cy="6196358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D701CE0-96B5-6A3C-AD48-5EBFE70A5BF1}"/>
                </a:ext>
              </a:extLst>
            </p:cNvPr>
            <p:cNvSpPr/>
            <p:nvPr/>
          </p:nvSpPr>
          <p:spPr>
            <a:xfrm>
              <a:off x="9937102" y="4521098"/>
              <a:ext cx="1054359" cy="20060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727A7723-54F7-0E71-B48A-DE047FEBF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61" y="2459216"/>
            <a:ext cx="3448454" cy="316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120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3222422" cy="76166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자식</a:t>
            </a:r>
            <a:r>
              <a:rPr lang="en-US" altLang="ko-KR" dirty="0"/>
              <a:t>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b="1" dirty="0"/>
              <a:t>&gt;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복합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0654F5D-285F-5C17-4E28-C571E7DE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547" y="1414419"/>
            <a:ext cx="6888719" cy="45210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92939B6-0FA5-75AD-DA51-9675D14389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39" y="2637483"/>
            <a:ext cx="3222422" cy="289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6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3891587" cy="84458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인접 형제</a:t>
            </a:r>
            <a:r>
              <a:rPr lang="en-US" altLang="ko-KR" dirty="0"/>
              <a:t> </a:t>
            </a:r>
            <a:r>
              <a:rPr lang="ko-KR" altLang="en-US" dirty="0" err="1"/>
              <a:t>선택자</a:t>
            </a:r>
            <a:r>
              <a:rPr lang="en-US" altLang="ko-KR" dirty="0"/>
              <a:t> (</a:t>
            </a:r>
            <a:r>
              <a:rPr lang="en-US" altLang="ko-KR" b="1" dirty="0"/>
              <a:t>+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복합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7F3ED1-8759-F60C-354C-79DCE7DA1086}"/>
              </a:ext>
            </a:extLst>
          </p:cNvPr>
          <p:cNvSpPr txBox="1"/>
          <p:nvPr/>
        </p:nvSpPr>
        <p:spPr>
          <a:xfrm>
            <a:off x="3485458" y="4299311"/>
            <a:ext cx="5208599" cy="1484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/>
              <a:t># h1 </a:t>
            </a:r>
            <a:r>
              <a:rPr lang="ko-KR" altLang="en-US" sz="3200" dirty="0"/>
              <a:t>다음 형제 중 </a:t>
            </a:r>
            <a:r>
              <a:rPr lang="en-US" altLang="ko-KR" sz="3200" dirty="0" err="1"/>
              <a:t>ul</a:t>
            </a:r>
            <a:r>
              <a:rPr lang="en-US" altLang="ko-KR" sz="3200" dirty="0"/>
              <a:t> </a:t>
            </a:r>
            <a:r>
              <a:rPr lang="ko-KR" altLang="en-US" sz="3200" dirty="0"/>
              <a:t>하나 선택</a:t>
            </a:r>
            <a:endParaRPr lang="en-US" altLang="ko-KR" sz="3200" dirty="0"/>
          </a:p>
          <a:p>
            <a:pPr>
              <a:lnSpc>
                <a:spcPct val="150000"/>
              </a:lnSpc>
            </a:pPr>
            <a:r>
              <a:rPr lang="en-US" altLang="ko-KR" sz="3200" dirty="0"/>
              <a:t>h1 + </a:t>
            </a:r>
            <a:r>
              <a:rPr lang="en-US" altLang="ko-KR" sz="3200" dirty="0" err="1"/>
              <a:t>ul</a:t>
            </a:r>
            <a:r>
              <a:rPr lang="en-US" altLang="ko-KR" sz="3200" dirty="0"/>
              <a:t> { }</a:t>
            </a:r>
            <a:endParaRPr lang="ko-KR" altLang="en-US" sz="3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8F7EFE9-E1C4-32E7-E22D-29065D68C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0" y="1989994"/>
            <a:ext cx="8115300" cy="199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65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3736552" cy="75472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일반 형제</a:t>
            </a:r>
            <a:r>
              <a:rPr lang="en-US" altLang="ko-KR" dirty="0"/>
              <a:t>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b="1" dirty="0"/>
              <a:t>~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복합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7F3ED1-8759-F60C-354C-79DCE7DA1086}"/>
              </a:ext>
            </a:extLst>
          </p:cNvPr>
          <p:cNvSpPr txBox="1"/>
          <p:nvPr/>
        </p:nvSpPr>
        <p:spPr>
          <a:xfrm>
            <a:off x="3537147" y="4264753"/>
            <a:ext cx="5113368" cy="1484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/>
              <a:t># h1 </a:t>
            </a:r>
            <a:r>
              <a:rPr lang="ko-KR" altLang="en-US" sz="3200" dirty="0"/>
              <a:t>다음 형제 중 </a:t>
            </a:r>
            <a:r>
              <a:rPr lang="en-US" altLang="ko-KR" sz="3200" dirty="0" err="1"/>
              <a:t>ul</a:t>
            </a:r>
            <a:r>
              <a:rPr lang="en-US" altLang="ko-KR" sz="3200" dirty="0"/>
              <a:t> </a:t>
            </a:r>
            <a:r>
              <a:rPr lang="ko-KR" altLang="en-US" sz="3200" dirty="0"/>
              <a:t>모두 선택</a:t>
            </a:r>
            <a:endParaRPr lang="en-US" altLang="ko-KR" sz="3200" dirty="0"/>
          </a:p>
          <a:p>
            <a:pPr>
              <a:lnSpc>
                <a:spcPct val="150000"/>
              </a:lnSpc>
            </a:pPr>
            <a:r>
              <a:rPr lang="en-US" altLang="ko-KR" sz="3200" dirty="0"/>
              <a:t>h1 ~ </a:t>
            </a:r>
            <a:r>
              <a:rPr lang="en-US" altLang="ko-KR" sz="3200" dirty="0" err="1"/>
              <a:t>ul</a:t>
            </a:r>
            <a:r>
              <a:rPr lang="en-US" altLang="ko-KR" sz="3200" dirty="0"/>
              <a:t> { }</a:t>
            </a:r>
            <a:endParaRPr lang="ko-KR" altLang="en-US" sz="3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C3A8E0-F84A-B0CD-80A4-A300B6695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513" y="1982345"/>
            <a:ext cx="8098974" cy="19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801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44841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연습하기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복합클래스 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선택자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복합클래스 </a:t>
            </a:r>
            <a:r>
              <a:rPr lang="ko-KR" altLang="en-US" dirty="0" err="1">
                <a:solidFill>
                  <a:srgbClr val="ED7D31"/>
                </a:solidFill>
              </a:rPr>
              <a:t>선택자</a:t>
            </a:r>
            <a:r>
              <a:rPr lang="ko-KR" altLang="en-US" dirty="0">
                <a:solidFill>
                  <a:srgbClr val="ED7D31"/>
                </a:solidFill>
              </a:rPr>
              <a:t> 실습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325520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92268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가상 클래스 </a:t>
            </a:r>
            <a:r>
              <a:rPr lang="ko-KR" altLang="en-US" sz="6000" dirty="0" err="1">
                <a:solidFill>
                  <a:srgbClr val="ED7D31"/>
                </a:solidFill>
              </a:rPr>
              <a:t>선택자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5461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3B807C3-7CED-56DB-6F88-319863F62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3494"/>
            <a:ext cx="11260802" cy="5310535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ko-KR" altLang="en-US" dirty="0"/>
              <a:t>💡 사용자의 행동에 따라 변화하는 </a:t>
            </a:r>
            <a:r>
              <a:rPr lang="ko-KR" altLang="en-US" dirty="0">
                <a:solidFill>
                  <a:schemeClr val="accent1"/>
                </a:solidFill>
              </a:rPr>
              <a:t>가상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상황에 따라서 요소 선택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시</a:t>
            </a:r>
            <a:r>
              <a:rPr lang="en-US" altLang="ko-KR" dirty="0"/>
              <a:t> </a:t>
            </a:r>
            <a:r>
              <a:rPr lang="ko-KR" altLang="en-US" dirty="0"/>
              <a:t>각 요소의 </a:t>
            </a:r>
            <a:endParaRPr lang="en-US" altLang="ko-KR" dirty="0"/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상황에 따라 사용자가 원하는 요소를 선택 할 때 사용</a:t>
            </a:r>
            <a:endParaRPr lang="en-US" altLang="ko-KR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ko-KR" altLang="en-US" dirty="0"/>
              <a:t>✅ 종류</a:t>
            </a:r>
            <a:endParaRPr lang="en-US" altLang="ko-KR" dirty="0"/>
          </a:p>
          <a:p>
            <a:pPr lvl="2">
              <a:lnSpc>
                <a:spcPct val="160000"/>
              </a:lnSpc>
            </a:pPr>
            <a:r>
              <a:rPr lang="ko-KR" altLang="en-US" dirty="0"/>
              <a:t>가상 클래스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 lvl="2">
              <a:lnSpc>
                <a:spcPct val="160000"/>
              </a:lnSpc>
            </a:pPr>
            <a:r>
              <a:rPr lang="ko-KR" altLang="en-US" dirty="0"/>
              <a:t>사용자의 행동에 따라 변화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tx2"/>
                </a:solidFill>
              </a:rPr>
              <a:t>hover, active, focus, visited</a:t>
            </a:r>
          </a:p>
          <a:p>
            <a:pPr lvl="2">
              <a:lnSpc>
                <a:spcPct val="160000"/>
              </a:lnSpc>
            </a:pPr>
            <a:r>
              <a:rPr lang="ko-KR" altLang="en-US" dirty="0"/>
              <a:t>요소의 상황 </a:t>
            </a:r>
            <a:r>
              <a:rPr lang="en-US" altLang="ko-KR" dirty="0"/>
              <a:t>:</a:t>
            </a:r>
            <a:r>
              <a:rPr lang="en-US" altLang="ko-KR" dirty="0">
                <a:solidFill>
                  <a:schemeClr val="tx2"/>
                </a:solidFill>
              </a:rPr>
              <a:t> first-child, last-child, nth-child, …</a:t>
            </a:r>
          </a:p>
          <a:p>
            <a:pPr lvl="2">
              <a:lnSpc>
                <a:spcPct val="160000"/>
              </a:lnSpc>
            </a:pPr>
            <a:r>
              <a:rPr lang="ko-KR" altLang="en-US" dirty="0"/>
              <a:t>부정 선택 </a:t>
            </a:r>
            <a:r>
              <a:rPr lang="en-US" altLang="ko-KR" dirty="0"/>
              <a:t>:</a:t>
            </a:r>
            <a:r>
              <a:rPr lang="en-US" altLang="ko-KR" dirty="0">
                <a:solidFill>
                  <a:schemeClr val="tx2"/>
                </a:solidFill>
              </a:rPr>
              <a:t> not</a:t>
            </a:r>
            <a:endParaRPr lang="en-US" altLang="ko-KR" dirty="0"/>
          </a:p>
          <a:p>
            <a:pPr lvl="1">
              <a:lnSpc>
                <a:spcPct val="160000"/>
              </a:lnSpc>
            </a:pPr>
            <a:endParaRPr lang="en-US" altLang="ko-KR" dirty="0"/>
          </a:p>
          <a:p>
            <a:pPr lvl="1">
              <a:lnSpc>
                <a:spcPct val="160000"/>
              </a:lnSpc>
            </a:pPr>
            <a:endParaRPr lang="en-US" altLang="ko-KR" dirty="0"/>
          </a:p>
          <a:p>
            <a:pPr lvl="1">
              <a:lnSpc>
                <a:spcPct val="160000"/>
              </a:lnSpc>
            </a:pPr>
            <a:endParaRPr lang="en-US" altLang="ko-KR" dirty="0"/>
          </a:p>
          <a:p>
            <a:pPr lvl="1">
              <a:lnSpc>
                <a:spcPct val="160000"/>
              </a:lnSpc>
            </a:pP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B722-57EB-4C7D-BC60-B27FF3003CA8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가상 클래스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18263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8A18302B-E4E9-812D-77BE-14C67E10B093}"/>
              </a:ext>
            </a:extLst>
          </p:cNvPr>
          <p:cNvGrpSpPr/>
          <p:nvPr/>
        </p:nvGrpSpPr>
        <p:grpSpPr>
          <a:xfrm>
            <a:off x="777058" y="488593"/>
            <a:ext cx="10929209" cy="5880813"/>
            <a:chOff x="304800" y="665416"/>
            <a:chExt cx="10929209" cy="588081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27DCEAC-24BB-5622-F4A5-EFB1F73CB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" y="665416"/>
              <a:ext cx="10810875" cy="581321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01D456C-0693-B133-2839-D1D3445838F2}"/>
                </a:ext>
              </a:extLst>
            </p:cNvPr>
            <p:cNvSpPr/>
            <p:nvPr/>
          </p:nvSpPr>
          <p:spPr>
            <a:xfrm>
              <a:off x="9983707" y="4657725"/>
              <a:ext cx="1250302" cy="18885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0BFA4-2311-4DC3-B2C1-0D497B3BCA74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531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3976644E-96C7-0800-4019-7CF6F5DACE27}"/>
              </a:ext>
            </a:extLst>
          </p:cNvPr>
          <p:cNvGrpSpPr/>
          <p:nvPr/>
        </p:nvGrpSpPr>
        <p:grpSpPr>
          <a:xfrm>
            <a:off x="638629" y="520531"/>
            <a:ext cx="10914742" cy="5604498"/>
            <a:chOff x="200025" y="524210"/>
            <a:chExt cx="11033984" cy="580958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E245B92-DFD3-8D00-6133-0223A3A52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025" y="524210"/>
              <a:ext cx="10848975" cy="580958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30ED125-FB5A-0E2C-B851-92ED873207DD}"/>
                </a:ext>
              </a:extLst>
            </p:cNvPr>
            <p:cNvSpPr/>
            <p:nvPr/>
          </p:nvSpPr>
          <p:spPr>
            <a:xfrm>
              <a:off x="9983707" y="4445286"/>
              <a:ext cx="1250302" cy="18885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D5D9-DBB0-49B3-AB99-1510880DCA1B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7621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29D0F7D-D56F-1A40-F908-494B66D6A670}"/>
              </a:ext>
            </a:extLst>
          </p:cNvPr>
          <p:cNvGrpSpPr/>
          <p:nvPr/>
        </p:nvGrpSpPr>
        <p:grpSpPr>
          <a:xfrm>
            <a:off x="655208" y="478338"/>
            <a:ext cx="10881584" cy="5901324"/>
            <a:chOff x="152400" y="549655"/>
            <a:chExt cx="10881584" cy="590132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F611224-E71D-23D0-E30B-431337B23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" y="549655"/>
              <a:ext cx="10791825" cy="575869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21FD7CF-0A21-8279-AF09-89EBCC419A4D}"/>
                </a:ext>
              </a:extLst>
            </p:cNvPr>
            <p:cNvSpPr/>
            <p:nvPr/>
          </p:nvSpPr>
          <p:spPr>
            <a:xfrm>
              <a:off x="9783682" y="4562475"/>
              <a:ext cx="1250302" cy="18885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FEB8-C760-4D31-9EF4-0616A68A79B2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189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연습하기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가상클래스 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- 1]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가상클래스 </a:t>
            </a:r>
            <a:r>
              <a:rPr lang="ko-KR" altLang="en-US" dirty="0" err="1">
                <a:solidFill>
                  <a:srgbClr val="ED7D31"/>
                </a:solidFill>
              </a:rPr>
              <a:t>선택자</a:t>
            </a:r>
            <a:r>
              <a:rPr lang="ko-KR" altLang="en-US" dirty="0">
                <a:solidFill>
                  <a:srgbClr val="ED7D31"/>
                </a:solidFill>
              </a:rPr>
              <a:t> 실습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226086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855921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2838451" cy="77946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가상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가상클래스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33D033-15CB-79B8-292A-09EBE00134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493" y="1384418"/>
            <a:ext cx="7226223" cy="408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6957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가상클래스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EB88CF8-448B-E590-8EB4-02FAC2586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712" y="1213046"/>
            <a:ext cx="7686106" cy="4431908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362C52A-E64A-CFD4-1CFB-A7D69EFF133F}"/>
              </a:ext>
            </a:extLst>
          </p:cNvPr>
          <p:cNvSpPr txBox="1">
            <a:spLocks/>
          </p:cNvSpPr>
          <p:nvPr/>
        </p:nvSpPr>
        <p:spPr>
          <a:xfrm>
            <a:off x="838199" y="1325563"/>
            <a:ext cx="2838451" cy="779462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/>
              <a:t>✅ 가상 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71548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가상클래스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8DD19A0-3F01-2ED8-8EB7-2C9D56668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362" y="1193490"/>
            <a:ext cx="7752135" cy="4471019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44BF548-5391-BD5E-205D-9BE815CB5118}"/>
              </a:ext>
            </a:extLst>
          </p:cNvPr>
          <p:cNvSpPr txBox="1">
            <a:spLocks/>
          </p:cNvSpPr>
          <p:nvPr/>
        </p:nvSpPr>
        <p:spPr>
          <a:xfrm>
            <a:off x="902936" y="1285103"/>
            <a:ext cx="2838451" cy="779462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가상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26423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가상클래스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7E72F8B-27AB-75E0-3B68-023DE5FBB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85" y="1325563"/>
            <a:ext cx="7327816" cy="4509074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5F824B4-157F-5DC3-82B1-ADBC2AC4F24C}"/>
              </a:ext>
            </a:extLst>
          </p:cNvPr>
          <p:cNvSpPr txBox="1">
            <a:spLocks/>
          </p:cNvSpPr>
          <p:nvPr/>
        </p:nvSpPr>
        <p:spPr>
          <a:xfrm>
            <a:off x="838199" y="1325563"/>
            <a:ext cx="2838451" cy="779462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/>
              <a:t>✅ 가상 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92638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연습하기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가상클래스 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- 2]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줄무늬 만들기 실습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64311" y="2226086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8406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가상 요소 </a:t>
            </a:r>
            <a:r>
              <a:rPr lang="ko-KR" altLang="en-US" sz="6000" dirty="0" err="1">
                <a:solidFill>
                  <a:srgbClr val="ED7D31"/>
                </a:solidFill>
              </a:rPr>
              <a:t>선택자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3936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216C78D-A7FD-07F0-A3F6-C3C40B285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260802" cy="404189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선택 된 요소의</a:t>
            </a:r>
            <a:r>
              <a:rPr lang="ko-KR" altLang="en-US" dirty="0">
                <a:solidFill>
                  <a:schemeClr val="accent1"/>
                </a:solidFill>
              </a:rPr>
              <a:t> 앞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ko-KR" altLang="en-US" dirty="0">
                <a:solidFill>
                  <a:schemeClr val="accent1"/>
                </a:solidFill>
              </a:rPr>
              <a:t>뒤에 별도의 </a:t>
            </a:r>
            <a:r>
              <a:rPr lang="en-US" altLang="ko-KR" dirty="0">
                <a:solidFill>
                  <a:schemeClr val="accent1"/>
                </a:solidFill>
              </a:rPr>
              <a:t>Content </a:t>
            </a:r>
            <a:r>
              <a:rPr lang="ko-KR" altLang="en-US" dirty="0">
                <a:solidFill>
                  <a:schemeClr val="accent1"/>
                </a:solidFill>
              </a:rPr>
              <a:t>를 삽입</a:t>
            </a:r>
            <a:r>
              <a:rPr lang="ko-KR" altLang="en-US" dirty="0"/>
              <a:t>하는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반드시 </a:t>
            </a:r>
            <a:r>
              <a:rPr lang="en-US" altLang="ko-KR" dirty="0"/>
              <a:t>content </a:t>
            </a:r>
            <a:r>
              <a:rPr lang="ko-KR" altLang="en-US" dirty="0"/>
              <a:t>라는 속성을 사용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빈 값</a:t>
            </a:r>
            <a:r>
              <a:rPr lang="en-US" altLang="ko-KR" dirty="0"/>
              <a:t>(“”) </a:t>
            </a:r>
            <a:r>
              <a:rPr lang="ko-KR" altLang="en-US" dirty="0"/>
              <a:t>이라도 넣어 주어야 적용이 됨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종류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>
                <a:solidFill>
                  <a:srgbClr val="0070C0"/>
                </a:solidFill>
              </a:rPr>
              <a:t>after : </a:t>
            </a:r>
            <a:r>
              <a:rPr lang="ko-KR" altLang="en-US" dirty="0"/>
              <a:t>요소의 뒤에 내용 삽입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>
                <a:solidFill>
                  <a:srgbClr val="0070C0"/>
                </a:solidFill>
              </a:rPr>
              <a:t>before : </a:t>
            </a:r>
            <a:r>
              <a:rPr lang="ko-KR" altLang="en-US" dirty="0"/>
              <a:t>요소의 앞에 내용 삽입</a:t>
            </a: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2F2F0-264A-4EA2-93EE-294AC811292F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>
                <a:solidFill>
                  <a:schemeClr val="accent1"/>
                </a:solidFill>
              </a:rPr>
              <a:t>가상 요소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27728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216C78D-A7FD-07F0-A3F6-C3C40B285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238168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실제로 의미 없는 </a:t>
            </a:r>
            <a:r>
              <a:rPr lang="en-US" altLang="ko-KR" sz="2400" dirty="0"/>
              <a:t>HTML </a:t>
            </a:r>
            <a:r>
              <a:rPr lang="ko-KR" altLang="en-US" sz="2400" dirty="0"/>
              <a:t>태그를 만들지 않고 요소 삽입이 가능하여 자주 사용</a:t>
            </a:r>
            <a:r>
              <a:rPr lang="en-US" altLang="ko-KR" sz="2400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예를 들어 쇼핑몰 페이지에 메뉴에 </a:t>
            </a:r>
            <a:r>
              <a:rPr lang="en-US" altLang="ko-KR" sz="2000" dirty="0"/>
              <a:t>Hot, </a:t>
            </a:r>
            <a:r>
              <a:rPr lang="ko-KR" altLang="en-US" sz="2000" dirty="0"/>
              <a:t>추천 등을 넣기 위해 별도의 태그를 삽입 하는 것이 아니라 가상 요소 선택자를 활용하여 처리하면 편리함</a:t>
            </a:r>
            <a:r>
              <a:rPr lang="en-US" altLang="ko-KR" sz="2000" dirty="0"/>
              <a:t>!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4887-5B85-4208-BDD2-4B17A24C1DB5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CDB75F-4496-D5DB-05E0-51C6D3B86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>
                <a:solidFill>
                  <a:schemeClr val="accent1"/>
                </a:solidFill>
              </a:rPr>
              <a:t>가상 요소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67777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695F5B3-4968-AEF6-2006-03C2FE34ED15}"/>
              </a:ext>
            </a:extLst>
          </p:cNvPr>
          <p:cNvGrpSpPr/>
          <p:nvPr/>
        </p:nvGrpSpPr>
        <p:grpSpPr>
          <a:xfrm>
            <a:off x="829382" y="484410"/>
            <a:ext cx="10533235" cy="5889180"/>
            <a:chOff x="330508" y="394175"/>
            <a:chExt cx="10703476" cy="61399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136FCDE-073D-BFA2-27A1-CCCA3A340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508" y="394175"/>
              <a:ext cx="10508942" cy="606965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6FF971-89E3-3C0F-FB9B-05738BBE1308}"/>
                </a:ext>
              </a:extLst>
            </p:cNvPr>
            <p:cNvSpPr/>
            <p:nvPr/>
          </p:nvSpPr>
          <p:spPr>
            <a:xfrm>
              <a:off x="8917724" y="3558240"/>
              <a:ext cx="2116260" cy="29759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E9F80-0264-4434-88D8-C9536FF3E001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7002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804CEDA0-CBFE-4AA2-FB21-43ACB3779DD7}"/>
              </a:ext>
            </a:extLst>
          </p:cNvPr>
          <p:cNvGrpSpPr/>
          <p:nvPr/>
        </p:nvGrpSpPr>
        <p:grpSpPr>
          <a:xfrm>
            <a:off x="837795" y="393639"/>
            <a:ext cx="10516410" cy="5924550"/>
            <a:chOff x="517573" y="466725"/>
            <a:chExt cx="10516410" cy="592455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1107F1B-416A-4922-65DE-818D23EF9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7573" y="466725"/>
              <a:ext cx="10461135" cy="592455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FA4DB29-1D8F-A0BA-5197-26F73231EE1E}"/>
                </a:ext>
              </a:extLst>
            </p:cNvPr>
            <p:cNvSpPr/>
            <p:nvPr/>
          </p:nvSpPr>
          <p:spPr>
            <a:xfrm>
              <a:off x="9783681" y="4419600"/>
              <a:ext cx="1250302" cy="19716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48235-6FEC-4BF8-965D-29B53E220D3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0322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E3D48-DC77-7165-8A3B-28E74664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가상요소 </a:t>
            </a:r>
            <a:r>
              <a:rPr lang="ko-KR" altLang="en-US" dirty="0" err="1">
                <a:solidFill>
                  <a:srgbClr val="ED7D31"/>
                </a:solidFill>
              </a:rPr>
              <a:t>선택자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9128036-F2D6-AE81-C434-5C4A08FE1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6847755" cy="24743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&lt;div class=“box”&gt;</a:t>
            </a:r>
            <a:r>
              <a:rPr lang="ko-KR" altLang="en-US" dirty="0"/>
              <a:t>여기요</a:t>
            </a:r>
            <a:r>
              <a:rPr lang="en-US" altLang="ko-KR" dirty="0"/>
              <a:t>!&lt;/div&gt; </a:t>
            </a:r>
            <a:r>
              <a:rPr lang="ko-KR" altLang="en-US" dirty="0"/>
              <a:t>만들기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여기요 앞에</a:t>
            </a:r>
            <a:r>
              <a:rPr lang="en-US" altLang="ko-KR" dirty="0"/>
              <a:t>, “</a:t>
            </a:r>
            <a:r>
              <a:rPr lang="ko-KR" altLang="en-US" dirty="0"/>
              <a:t>택시</a:t>
            </a:r>
            <a:r>
              <a:rPr lang="en-US" altLang="ko-KR" dirty="0"/>
              <a:t>“ </a:t>
            </a:r>
            <a:r>
              <a:rPr lang="ko-KR" altLang="en-US" dirty="0"/>
              <a:t>넣기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여기요 뒤에</a:t>
            </a:r>
            <a:r>
              <a:rPr lang="en-US" altLang="ko-KR" dirty="0"/>
              <a:t>, “</a:t>
            </a:r>
            <a:r>
              <a:rPr lang="ko-KR" altLang="en-US" dirty="0"/>
              <a:t>빨리</a:t>
            </a:r>
            <a:r>
              <a:rPr lang="en-US" altLang="ko-KR" dirty="0"/>
              <a:t>” </a:t>
            </a:r>
            <a:r>
              <a:rPr lang="ko-KR" altLang="en-US" dirty="0"/>
              <a:t>넣기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B57C-BCBE-412B-AA4F-0DC2556C58A0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3015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속성 </a:t>
            </a:r>
            <a:r>
              <a:rPr lang="ko-KR" altLang="en-US" sz="6000" dirty="0" err="1">
                <a:solidFill>
                  <a:srgbClr val="ED7D31"/>
                </a:solidFill>
              </a:rPr>
              <a:t>선택자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4785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515600" cy="273126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지정한 </a:t>
            </a:r>
            <a:r>
              <a:rPr lang="ko-KR" altLang="en-US" dirty="0">
                <a:solidFill>
                  <a:schemeClr val="accent1"/>
                </a:solidFill>
              </a:rPr>
              <a:t>특정 속성</a:t>
            </a:r>
            <a:r>
              <a:rPr lang="ko-KR" altLang="en-US" dirty="0"/>
              <a:t>을 가지고 있는 태그를 선택하는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종류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특정 속성만 지정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속성과 속성의 값을 지정</a:t>
            </a:r>
            <a:endParaRPr lang="en-US" altLang="ko-KR" dirty="0"/>
          </a:p>
        </p:txBody>
      </p:sp>
      <p:sp>
        <p:nvSpPr>
          <p:cNvPr id="8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속성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90173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1859084-008C-3034-A8E3-F2FB3E1C7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718" y="663330"/>
            <a:ext cx="8132564" cy="5531340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C5EB-03AD-4166-9269-5F883D4A789A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9625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AAB28CE-6AF4-FFB0-F996-DCED6BC53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124" y="654838"/>
            <a:ext cx="9355752" cy="5548324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3D48-1A73-419D-B320-DFD528E13373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0027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44841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연습하기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가상클래스 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- 3]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속성 </a:t>
            </a:r>
            <a:r>
              <a:rPr lang="ko-KR" altLang="en-US" dirty="0" err="1">
                <a:solidFill>
                  <a:srgbClr val="ED7D31"/>
                </a:solidFill>
              </a:rPr>
              <a:t>선택자</a:t>
            </a:r>
            <a:r>
              <a:rPr lang="ko-KR" altLang="en-US" dirty="0">
                <a:solidFill>
                  <a:srgbClr val="ED7D31"/>
                </a:solidFill>
              </a:rPr>
              <a:t> 실습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325520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88555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801596"/>
            <a:ext cx="10163176" cy="150201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동일한 요소를 다른 선택자로 적용해 여러 스타일이 적용되는 난감한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      상황이 발생하기도 함</a:t>
            </a:r>
            <a:r>
              <a:rPr lang="en-US" altLang="ko-KR" dirty="0"/>
              <a:t>.</a:t>
            </a:r>
          </a:p>
        </p:txBody>
      </p:sp>
      <p:sp>
        <p:nvSpPr>
          <p:cNvPr id="8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우선순위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DE904-87CD-9C09-F461-2DD6FF000CE0}"/>
              </a:ext>
            </a:extLst>
          </p:cNvPr>
          <p:cNvSpPr txBox="1"/>
          <p:nvPr/>
        </p:nvSpPr>
        <p:spPr>
          <a:xfrm>
            <a:off x="896178" y="3551853"/>
            <a:ext cx="10399643" cy="1502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dirty="0">
                <a:highlight>
                  <a:srgbClr val="FFFF00"/>
                </a:highlight>
              </a:rPr>
              <a:t>!important</a:t>
            </a:r>
            <a:r>
              <a:rPr lang="en-US" altLang="ko-KR" sz="3200" dirty="0"/>
              <a:t> &gt; </a:t>
            </a:r>
            <a:r>
              <a:rPr lang="ko-KR" altLang="en-US" sz="3200" dirty="0">
                <a:highlight>
                  <a:srgbClr val="FFFF00"/>
                </a:highlight>
              </a:rPr>
              <a:t>인라인 스타일</a:t>
            </a:r>
            <a:r>
              <a:rPr lang="ko-KR" altLang="en-US" sz="3200" dirty="0"/>
              <a:t> </a:t>
            </a:r>
            <a:r>
              <a:rPr lang="en-US" altLang="ko-KR" sz="3200" dirty="0"/>
              <a:t>&gt; </a:t>
            </a:r>
            <a:r>
              <a:rPr lang="ko-KR" altLang="en-US" sz="3200" dirty="0">
                <a:highlight>
                  <a:srgbClr val="FFFF00"/>
                </a:highlight>
              </a:rPr>
              <a:t>아이디 </a:t>
            </a:r>
            <a:r>
              <a:rPr lang="ko-KR" altLang="en-US" sz="3200" dirty="0" err="1">
                <a:highlight>
                  <a:srgbClr val="FFFF00"/>
                </a:highlight>
              </a:rPr>
              <a:t>선택자</a:t>
            </a:r>
            <a:endParaRPr lang="en-US" altLang="ko-KR" sz="3200" dirty="0">
              <a:highlight>
                <a:srgbClr val="FFFF00"/>
              </a:highlight>
            </a:endParaRPr>
          </a:p>
          <a:p>
            <a:pPr algn="ctr">
              <a:lnSpc>
                <a:spcPct val="150000"/>
              </a:lnSpc>
            </a:pPr>
            <a:r>
              <a:rPr lang="en-US" altLang="ko-KR" sz="3200" dirty="0"/>
              <a:t>&gt; </a:t>
            </a:r>
            <a:r>
              <a:rPr lang="ko-KR" altLang="en-US" sz="3200" dirty="0">
                <a:highlight>
                  <a:srgbClr val="FFFF00"/>
                </a:highlight>
              </a:rPr>
              <a:t>클래스</a:t>
            </a:r>
            <a:r>
              <a:rPr lang="en-US" altLang="ko-KR" sz="3200" dirty="0">
                <a:highlight>
                  <a:srgbClr val="FFFF00"/>
                </a:highlight>
              </a:rPr>
              <a:t>/</a:t>
            </a:r>
            <a:r>
              <a:rPr lang="ko-KR" altLang="en-US" sz="3200" dirty="0">
                <a:highlight>
                  <a:srgbClr val="FFFF00"/>
                </a:highlight>
              </a:rPr>
              <a:t>속성</a:t>
            </a:r>
            <a:r>
              <a:rPr lang="en-US" altLang="ko-KR" sz="3200" dirty="0">
                <a:highlight>
                  <a:srgbClr val="FFFF00"/>
                </a:highlight>
              </a:rPr>
              <a:t>/</a:t>
            </a:r>
            <a:r>
              <a:rPr lang="ko-KR" altLang="en-US" sz="3200" dirty="0">
                <a:highlight>
                  <a:srgbClr val="FFFF00"/>
                </a:highlight>
              </a:rPr>
              <a:t>가상 </a:t>
            </a:r>
            <a:r>
              <a:rPr lang="ko-KR" altLang="en-US" sz="3200" dirty="0" err="1">
                <a:highlight>
                  <a:srgbClr val="FFFF00"/>
                </a:highlight>
              </a:rPr>
              <a:t>선택자</a:t>
            </a:r>
            <a:r>
              <a:rPr lang="ko-KR" altLang="en-US" sz="3200" dirty="0"/>
              <a:t> </a:t>
            </a:r>
            <a:r>
              <a:rPr lang="en-US" altLang="ko-KR" sz="3200" dirty="0"/>
              <a:t>&gt; </a:t>
            </a:r>
            <a:r>
              <a:rPr lang="ko-KR" altLang="en-US" sz="3200" dirty="0">
                <a:highlight>
                  <a:srgbClr val="FFFF00"/>
                </a:highlight>
              </a:rPr>
              <a:t>태그 </a:t>
            </a:r>
            <a:r>
              <a:rPr lang="ko-KR" altLang="en-US" sz="3200" dirty="0" err="1">
                <a:highlight>
                  <a:srgbClr val="FFFF00"/>
                </a:highlight>
              </a:rPr>
              <a:t>선택자</a:t>
            </a:r>
            <a:r>
              <a:rPr lang="ko-KR" altLang="en-US" sz="3200" dirty="0"/>
              <a:t> </a:t>
            </a:r>
            <a:r>
              <a:rPr lang="en-US" altLang="ko-KR" sz="3200" dirty="0"/>
              <a:t>&gt; </a:t>
            </a:r>
            <a:r>
              <a:rPr lang="ko-KR" altLang="en-US" sz="3200" dirty="0">
                <a:highlight>
                  <a:srgbClr val="FFFF00"/>
                </a:highlight>
              </a:rPr>
              <a:t>전체 </a:t>
            </a:r>
            <a:r>
              <a:rPr lang="ko-KR" altLang="en-US" sz="3200" dirty="0" err="1">
                <a:highlight>
                  <a:srgbClr val="FFFF00"/>
                </a:highlight>
              </a:rPr>
              <a:t>선택자</a:t>
            </a:r>
            <a:endParaRPr lang="ko-KR" altLang="en-US" sz="3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337119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9226</TotalTime>
  <Words>1444</Words>
  <Application>Microsoft Office PowerPoint</Application>
  <PresentationFormat>와이드스크린</PresentationFormat>
  <Paragraphs>381</Paragraphs>
  <Slides>58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8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Lora</vt:lpstr>
      <vt:lpstr>Wingdings</vt:lpstr>
      <vt:lpstr>1_Office 테마</vt:lpstr>
      <vt:lpstr>PowerPoint 프레젠테이션</vt:lpstr>
      <vt:lpstr>CSS(1)</vt:lpstr>
      <vt:lpstr>PowerPoint 프레젠테이션</vt:lpstr>
      <vt:lpstr>PowerPoint 프레젠테이션</vt:lpstr>
      <vt:lpstr>CSS</vt:lpstr>
      <vt:lpstr>CSS 사용 이유?</vt:lpstr>
      <vt:lpstr>우리의 친구! 개발자 도구</vt:lpstr>
      <vt:lpstr>CSS를 지워보자?!</vt:lpstr>
      <vt:lpstr>CSS 참조 방식</vt:lpstr>
      <vt:lpstr>인라인 방식</vt:lpstr>
      <vt:lpstr>내장 방식</vt:lpstr>
      <vt:lpstr>링크 방식</vt:lpstr>
      <vt:lpstr>링크 방식</vt:lpstr>
      <vt:lpstr>CSS 참조 방식</vt:lpstr>
      <vt:lpstr>Quiz. 내장 방식을 이용할 때  &lt;style&gt; 태그는 어느 곳에 사용될까요?  1. &lt;html&gt; 2. &lt;head&gt; 3. &lt;body&gt; 4. 기타</vt:lpstr>
      <vt:lpstr>Quiz. 내장 방식을 이용할 때  &lt;style&gt; 태그는 어느 곳에 사용될까요?  1. &lt;html&gt; 2. &lt;head&gt; 3. &lt;body&gt; 4. 기타</vt:lpstr>
      <vt:lpstr>실습. CSS 맛보기</vt:lpstr>
      <vt:lpstr>CSS, 선택자(Selector)</vt:lpstr>
      <vt:lpstr>CSS, 속성(Property)</vt:lpstr>
      <vt:lpstr>CSS, 값(Value)</vt:lpstr>
      <vt:lpstr>PowerPoint 프레젠테이션</vt:lpstr>
      <vt:lpstr>기본(단일) 선택자</vt:lpstr>
      <vt:lpstr>CSS 선택자 – 단일 선택자</vt:lpstr>
      <vt:lpstr>CSS 선택자 – 단일 선택자</vt:lpstr>
      <vt:lpstr>CSS 선택자 – 단일 선택자</vt:lpstr>
      <vt:lpstr>CSS 선택자 – 단일 선택자</vt:lpstr>
      <vt:lpstr>실습. 기본클래스 선택자 실습</vt:lpstr>
      <vt:lpstr>복합 선택자</vt:lpstr>
      <vt:lpstr>CSS 선택자 – 복합 선택자</vt:lpstr>
      <vt:lpstr>CSS 선택자 – 복합 선택자</vt:lpstr>
      <vt:lpstr>CSS 선택자 – 복합 선택자</vt:lpstr>
      <vt:lpstr>CSS 선택자 – 복합 선택자</vt:lpstr>
      <vt:lpstr>CSS 선택자 – 복합 선택자</vt:lpstr>
      <vt:lpstr>실습. 복합클래스 선택자 실습</vt:lpstr>
      <vt:lpstr>가상 클래스 선택자</vt:lpstr>
      <vt:lpstr>CSS 선택자 – 가상 클래스 선택자</vt:lpstr>
      <vt:lpstr>PowerPoint 프레젠테이션</vt:lpstr>
      <vt:lpstr>PowerPoint 프레젠테이션</vt:lpstr>
      <vt:lpstr>PowerPoint 프레젠테이션</vt:lpstr>
      <vt:lpstr>실습. 가상클래스 선택자 실습</vt:lpstr>
      <vt:lpstr>CSS 선택자 – 가상클래스 선택자</vt:lpstr>
      <vt:lpstr>CSS 선택자 – 가상클래스 선택자</vt:lpstr>
      <vt:lpstr>CSS 선택자 – 가상클래스 선택자</vt:lpstr>
      <vt:lpstr>CSS 선택자 – 가상클래스 선택자</vt:lpstr>
      <vt:lpstr>실습. 줄무늬 만들기 실습</vt:lpstr>
      <vt:lpstr>가상 요소 선택자</vt:lpstr>
      <vt:lpstr>CSS 선택자 – 가상 요소 선택자</vt:lpstr>
      <vt:lpstr>CSS 선택자 – 가상 요소 선택자</vt:lpstr>
      <vt:lpstr>PowerPoint 프레젠테이션</vt:lpstr>
      <vt:lpstr>PowerPoint 프레젠테이션</vt:lpstr>
      <vt:lpstr>실습. 가상요소 선택자</vt:lpstr>
      <vt:lpstr>속성 선택자</vt:lpstr>
      <vt:lpstr>속성 선택자</vt:lpstr>
      <vt:lpstr>PowerPoint 프레젠테이션</vt:lpstr>
      <vt:lpstr>PowerPoint 프레젠테이션</vt:lpstr>
      <vt:lpstr>실습. 속성 선택자 실습</vt:lpstr>
      <vt:lpstr>CSS 우선순위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625</cp:revision>
  <dcterms:created xsi:type="dcterms:W3CDTF">2023-01-31T04:26:23Z</dcterms:created>
  <dcterms:modified xsi:type="dcterms:W3CDTF">2026-01-15T05:07:12Z</dcterms:modified>
</cp:coreProperties>
</file>