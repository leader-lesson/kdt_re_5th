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1388" r:id="rId2"/>
    <p:sldId id="1005" r:id="rId3"/>
    <p:sldId id="341" r:id="rId4"/>
    <p:sldId id="1023" r:id="rId5"/>
    <p:sldId id="1024" r:id="rId6"/>
    <p:sldId id="1022" r:id="rId7"/>
    <p:sldId id="336" r:id="rId8"/>
    <p:sldId id="325" r:id="rId9"/>
    <p:sldId id="1009" r:id="rId10"/>
    <p:sldId id="326" r:id="rId11"/>
    <p:sldId id="337" r:id="rId12"/>
    <p:sldId id="693" r:id="rId13"/>
    <p:sldId id="1010" r:id="rId14"/>
    <p:sldId id="312" r:id="rId15"/>
    <p:sldId id="339" r:id="rId16"/>
    <p:sldId id="1011" r:id="rId17"/>
    <p:sldId id="315" r:id="rId18"/>
    <p:sldId id="1015" r:id="rId19"/>
    <p:sldId id="314" r:id="rId20"/>
    <p:sldId id="1019" r:id="rId21"/>
    <p:sldId id="1017" r:id="rId22"/>
    <p:sldId id="1018" r:id="rId23"/>
    <p:sldId id="699" r:id="rId24"/>
    <p:sldId id="700" r:id="rId25"/>
    <p:sldId id="1012" r:id="rId26"/>
    <p:sldId id="1013" r:id="rId27"/>
    <p:sldId id="323" r:id="rId28"/>
    <p:sldId id="324" r:id="rId29"/>
    <p:sldId id="322" r:id="rId30"/>
    <p:sldId id="1014" r:id="rId31"/>
    <p:sldId id="692" r:id="rId32"/>
    <p:sldId id="1020" r:id="rId33"/>
    <p:sldId id="373" r:id="rId34"/>
    <p:sldId id="697" r:id="rId35"/>
    <p:sldId id="698" r:id="rId36"/>
    <p:sldId id="1016" r:id="rId37"/>
    <p:sldId id="317" r:id="rId38"/>
    <p:sldId id="374" r:id="rId39"/>
    <p:sldId id="1021" r:id="rId40"/>
    <p:sldId id="376" r:id="rId41"/>
    <p:sldId id="330" r:id="rId42"/>
    <p:sldId id="701" r:id="rId43"/>
    <p:sldId id="702" r:id="rId44"/>
    <p:sldId id="813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B050"/>
    <a:srgbClr val="00599C"/>
    <a:srgbClr val="2B2B2B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101" d="100"/>
          <a:sy n="101" d="100"/>
        </p:scale>
        <p:origin x="105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122F-F93F-9C8E-1BA3-E7CB2083C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7C6718-F3C8-EA6E-76CC-4318420C4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45ADEB-2F0F-A8EB-2097-9E6454F05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3B965-D0E4-3F83-57AD-C06F0592B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26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6B9E-9322-6B8D-BE5C-F31BF247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4DB98A-9737-A8FB-5267-90DBCE616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5E4C3F-0A8A-970B-D757-F75396AB2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4A130-8B1E-BCB0-9FDD-139ABFF67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776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구조를 다시 한 번 살펴보자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586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58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085C-FD31-3344-5D24-8E8105A5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14DC08-236D-5FE9-DD5E-BE1180E3A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A7627F-0C31-1B60-F9B3-57EF4D2BB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DCFEE-D019-E579-292F-28903A405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046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26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068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4E131-4E67-4CC3-AC0A-C0E63D678D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055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272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334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422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2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99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77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8569-99F2-F30F-E19F-7A784B2B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8D8463-DF0B-2D3F-504A-55C1AB310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883B8-075B-6E9F-15A7-67D43A973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3BB22-EC6F-58B9-2098-3E2665496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718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C3D30-8775-2E29-659B-7D5CBAD7E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14F4B8-4307-C727-B6B5-9092BE35C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E7D607-0173-BB94-219B-9A04540BE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3B47E2-5041-93C7-C032-8E41EC269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597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CB39-2BFF-5C37-2E61-B8B777C1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1F05B3-DE7A-57BA-D2B3-8054F8686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C5D608-A6E7-7382-E12B-B32F69EB7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49A295-5689-3530-FF33-EB21BBE44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450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나중에 수업 끝나고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495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나중에 수업 끝나고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961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 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0C596-B40F-4F83-8FE4-5CF99F6F672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439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62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56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4054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031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2379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endParaRPr lang="en-US" altLang="ko-KR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38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2425-71F3-7B00-BF9D-60FDA6A9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FFB726-4FD6-3E00-DA7F-B2BA34352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A34A21-D0CC-18B6-7152-65C8A56BE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3E92A1-7FD7-6B96-B96C-17C5602B8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9114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46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0084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252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324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구성 모양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0C596-B40F-4F83-8FE4-5CF99F6F672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2680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241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DEEF-968F-AC5E-C5D0-F70F149F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E323A5-0C55-67CD-E37F-CDCE29EAA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3AD01D-DB00-02C6-B2D3-F0652D985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159685-97ED-0DA7-2F1E-589E3F5B9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1126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AD15D-3FC6-4EBB-8A1D-F20C53EB7780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0543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107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75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989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83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CSS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20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CSS </a:t>
            </a:r>
            <a:r>
              <a:rPr lang="ko-KR" altLang="en-US" sz="6000" dirty="0">
                <a:solidFill>
                  <a:srgbClr val="ED7D31"/>
                </a:solidFill>
              </a:rPr>
              <a:t>크기 단위</a:t>
            </a:r>
          </a:p>
        </p:txBody>
      </p:sp>
    </p:spTree>
    <p:extLst>
      <p:ext uri="{BB962C8B-B14F-4D97-AF65-F5344CB8AC3E}">
        <p14:creationId xmlns:p14="http://schemas.microsoft.com/office/powerpoint/2010/main" val="137556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9CAD-F84D-A68A-8A81-A539D5C4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4DE0F654-5BE1-9285-4EC9-3E089E546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18289" cy="35497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</a:t>
            </a:r>
            <a:r>
              <a:rPr lang="ko-KR" altLang="en-US" sz="2400" b="1" dirty="0"/>
              <a:t>절대 단위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고정된 크기를 의미하며</a:t>
            </a:r>
            <a:r>
              <a:rPr lang="en-US" altLang="ko-KR" sz="2000" dirty="0"/>
              <a:t>, </a:t>
            </a:r>
            <a:r>
              <a:rPr lang="ko-KR" altLang="en-US" sz="2000" dirty="0"/>
              <a:t>디스플레이나 화면 크기에 따라 변하지 않음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/>
              <a:t>✔️ </a:t>
            </a:r>
            <a:r>
              <a:rPr lang="en-US" altLang="ko-KR" sz="2000" b="1" dirty="0" err="1"/>
              <a:t>px</a:t>
            </a:r>
            <a:r>
              <a:rPr lang="en-US" altLang="ko-KR" sz="2000" b="1" dirty="0"/>
              <a:t> : </a:t>
            </a:r>
            <a:r>
              <a:rPr lang="ko-KR" altLang="en-US" sz="2000" b="1" dirty="0"/>
              <a:t>픽셀 단위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화면에서 가장 기본적으로 많이 쓰이는 단위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A751CA-5AB0-B88B-C674-98245951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BE9E9-F64A-D46F-6E42-2999DCE5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66D6E9-3244-8DDA-9EA0-516FC44C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CSS</a:t>
            </a:r>
            <a:r>
              <a:rPr lang="ko-KR" altLang="en-US" sz="4400" dirty="0"/>
              <a:t> 크기 단위</a:t>
            </a:r>
            <a:endParaRPr lang="ko-KR" altLang="en-US" dirty="0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D9211A42-BD55-C8C5-BC28-C4A4A6E90CF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67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9034-DF9D-4E4D-B2EE-4BC4D891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764FF9-7FC1-8E27-FDE2-87E9A9DBA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18289" cy="35497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</a:t>
            </a:r>
            <a:r>
              <a:rPr lang="ko-KR" altLang="en-US" sz="2400" b="1" dirty="0"/>
              <a:t>상대 단위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부모 요소</a:t>
            </a:r>
            <a:r>
              <a:rPr lang="en-US" altLang="ko-KR" sz="2000" dirty="0"/>
              <a:t>, </a:t>
            </a:r>
            <a:r>
              <a:rPr lang="ko-KR" altLang="en-US" sz="2000" dirty="0"/>
              <a:t>루트 요소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뷰포트</a:t>
            </a:r>
            <a:r>
              <a:rPr lang="ko-KR" altLang="en-US" sz="2000" dirty="0"/>
              <a:t> 등에 상대적으로 크기가 결정됨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0CB123-6351-850D-0608-FFBD8747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2FC8-D976-FB20-B0E0-0B647EE1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DC4F62-9F63-C5AC-5E27-03532F59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CSS</a:t>
            </a:r>
            <a:r>
              <a:rPr lang="ko-KR" altLang="en-US" sz="4400" dirty="0"/>
              <a:t> 크기 단위</a:t>
            </a:r>
            <a:endParaRPr lang="ko-KR" altLang="en-US" dirty="0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B0C4F232-019A-373F-31C6-C5849FA8F2A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830B9DB-974F-BE0C-82D3-A0FC7D850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742635"/>
              </p:ext>
            </p:extLst>
          </p:nvPr>
        </p:nvGraphicFramePr>
        <p:xfrm>
          <a:off x="1034504" y="2322074"/>
          <a:ext cx="10122992" cy="3727032"/>
        </p:xfrm>
        <a:graphic>
          <a:graphicData uri="http://schemas.openxmlformats.org/drawingml/2006/table">
            <a:tbl>
              <a:tblPr/>
              <a:tblGrid>
                <a:gridCol w="1026112">
                  <a:extLst>
                    <a:ext uri="{9D8B030D-6E8A-4147-A177-3AD203B41FA5}">
                      <a16:colId xmlns:a16="http://schemas.microsoft.com/office/drawing/2014/main" val="261893629"/>
                    </a:ext>
                  </a:extLst>
                </a:gridCol>
                <a:gridCol w="4262312">
                  <a:extLst>
                    <a:ext uri="{9D8B030D-6E8A-4147-A177-3AD203B41FA5}">
                      <a16:colId xmlns:a16="http://schemas.microsoft.com/office/drawing/2014/main" val="1009136721"/>
                    </a:ext>
                  </a:extLst>
                </a:gridCol>
                <a:gridCol w="4834568">
                  <a:extLst>
                    <a:ext uri="{9D8B030D-6E8A-4147-A177-3AD203B41FA5}">
                      <a16:colId xmlns:a16="http://schemas.microsoft.com/office/drawing/2014/main" val="2983243158"/>
                    </a:ext>
                  </a:extLst>
                </a:gridCol>
              </a:tblGrid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779474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요소의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font-size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기준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font-size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px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 → 32px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67979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루트 요소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(html)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font-size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기준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{ font-size: 16px }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rem → 32px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022667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요소 크기를 기준으로 비율을 지정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부모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width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200px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width: 50%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→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100px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42528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뷰포트 너비를 기준으로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1%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100vw =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화면 너비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100%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599535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뷰포트 높이를 기준으로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1%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100vh =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화면 높이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100%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196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2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96EE-954C-380D-9274-6E66AB7C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DFE1B5-4A34-CD6E-7875-039CC68B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5105B8-9D01-A2D4-E600-1F057394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C63FA86-ADAD-6B34-0D50-AC2D496A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자주 쓰이는 </a:t>
            </a:r>
            <a:r>
              <a:rPr lang="en-US" altLang="ko-KR" sz="6000" dirty="0">
                <a:solidFill>
                  <a:srgbClr val="ED7D31"/>
                </a:solidFill>
              </a:rPr>
              <a:t>CSS </a:t>
            </a:r>
            <a:r>
              <a:rPr lang="ko-KR" altLang="en-US" sz="6000" dirty="0">
                <a:solidFill>
                  <a:srgbClr val="ED7D31"/>
                </a:solidFill>
              </a:rPr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203369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1F4806-24EF-B692-3264-5003122D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AD7806-8A8E-F30D-CE94-300C78C4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작성법</a:t>
            </a:r>
          </a:p>
        </p:txBody>
      </p:sp>
      <p:pic>
        <p:nvPicPr>
          <p:cNvPr id="6" name="Picture 2" descr="CSS: 선택자(Selector) 이해">
            <a:extLst>
              <a:ext uri="{FF2B5EF4-FFF2-40B4-BE49-F238E27FC236}">
                <a16:creationId xmlns:a16="http://schemas.microsoft.com/office/drawing/2014/main" id="{6F0ED52C-167B-9BC0-38E0-F5E8EDAA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841" y="1325563"/>
            <a:ext cx="9688315" cy="267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B6DDA5B-71CD-A295-66EB-8606EB867E39}"/>
              </a:ext>
            </a:extLst>
          </p:cNvPr>
          <p:cNvSpPr txBox="1">
            <a:spLocks/>
          </p:cNvSpPr>
          <p:nvPr/>
        </p:nvSpPr>
        <p:spPr>
          <a:xfrm>
            <a:off x="838199" y="4085844"/>
            <a:ext cx="10515600" cy="1793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4000" b="1" dirty="0" err="1">
                <a:solidFill>
                  <a:srgbClr val="6EC173"/>
                </a:solidFill>
              </a:rPr>
              <a:t>선택자</a:t>
            </a:r>
            <a:r>
              <a:rPr lang="ko-KR" altLang="en-US" sz="4000" b="1" dirty="0">
                <a:solidFill>
                  <a:srgbClr val="6EC173"/>
                </a:solidFill>
              </a:rPr>
              <a:t> </a:t>
            </a:r>
            <a:r>
              <a:rPr lang="en-US" altLang="ko-KR" sz="4000" b="1" dirty="0">
                <a:solidFill>
                  <a:srgbClr val="6EC173"/>
                </a:solidFill>
              </a:rPr>
              <a:t>{ </a:t>
            </a:r>
            <a:r>
              <a:rPr lang="ko-KR" altLang="en-US" sz="4000" b="1" dirty="0">
                <a:solidFill>
                  <a:srgbClr val="6EC173"/>
                </a:solidFill>
              </a:rPr>
              <a:t>프로퍼티</a:t>
            </a:r>
            <a:r>
              <a:rPr lang="en-US" altLang="ko-KR" sz="4000" b="1" dirty="0">
                <a:solidFill>
                  <a:srgbClr val="6EC173"/>
                </a:solidFill>
              </a:rPr>
              <a:t>: </a:t>
            </a:r>
            <a:r>
              <a:rPr lang="ko-KR" altLang="en-US" sz="4000" b="1" dirty="0">
                <a:solidFill>
                  <a:srgbClr val="6EC173"/>
                </a:solidFill>
              </a:rPr>
              <a:t>값</a:t>
            </a:r>
            <a:r>
              <a:rPr lang="en-US" altLang="ko-KR" sz="4000" b="1" dirty="0">
                <a:solidFill>
                  <a:srgbClr val="6EC173"/>
                </a:solidFill>
              </a:rPr>
              <a:t>; }</a:t>
            </a:r>
          </a:p>
          <a:p>
            <a:pPr algn="ctr">
              <a:lnSpc>
                <a:spcPct val="150000"/>
              </a:lnSpc>
            </a:pPr>
            <a:r>
              <a:rPr lang="en-US" altLang="ko-KR" sz="4000" dirty="0"/>
              <a:t>= </a:t>
            </a:r>
            <a:r>
              <a:rPr lang="ko-KR" altLang="en-US" sz="4000" b="1" dirty="0"/>
              <a:t>선택자</a:t>
            </a:r>
            <a:r>
              <a:rPr lang="ko-KR" altLang="en-US" sz="4000" dirty="0"/>
              <a:t>의 </a:t>
            </a:r>
            <a:r>
              <a:rPr lang="ko-KR" altLang="en-US" sz="4000" b="1" dirty="0"/>
              <a:t>프로퍼티</a:t>
            </a:r>
            <a:r>
              <a:rPr lang="ko-KR" altLang="en-US" sz="4000" dirty="0"/>
              <a:t>를 </a:t>
            </a:r>
            <a:r>
              <a:rPr lang="ko-KR" altLang="en-US" sz="4000" b="1" dirty="0"/>
              <a:t>값</a:t>
            </a:r>
            <a:r>
              <a:rPr lang="ko-KR" altLang="en-US" sz="4000" dirty="0"/>
              <a:t>으로 변경하겠음</a:t>
            </a:r>
            <a:r>
              <a:rPr lang="en-US" altLang="ko-KR" sz="4000" dirty="0"/>
              <a:t>!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5314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608DF141-0DFD-C4B2-7294-250CE764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822845"/>
            <a:ext cx="10618289" cy="35497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color, background-color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font-size, font-weight, font-family, font-style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width, height, max-width, min-width, max-height, min-height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border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margin, padding</a:t>
            </a:r>
            <a:endParaRPr lang="ko-KR" altLang="en-US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D28680-D86B-6511-182E-065DD105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7D60C-7B02-42B6-4588-37FC8864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1BC4B8-C07C-DA59-C110-6FE2283E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/>
              <a:t>자주 쓰이는 </a:t>
            </a:r>
            <a:r>
              <a:rPr lang="en-US" altLang="ko-KR" sz="4400" dirty="0"/>
              <a:t>CSS </a:t>
            </a:r>
            <a:r>
              <a:rPr lang="ko-KR" altLang="en-US" sz="4400" dirty="0"/>
              <a:t>속성</a:t>
            </a:r>
            <a:endParaRPr lang="ko-KR" altLang="en-US" dirty="0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606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71CC-BF47-021E-CB1F-BCBA7F8C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FCEAFFB-4BBB-3CEE-C66D-66A2B6B82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841"/>
            <a:ext cx="11701221" cy="46657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Border-width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속성으로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4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테두리 두께 변경하기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Border-style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속성으로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4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테두리 스타일 변경하기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Border-color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속성으로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4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테두리 색상 변경하기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Border-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방향 속성으로 모든 방향의 테두리 스타일이 다른 </a:t>
            </a:r>
            <a:r>
              <a:rPr lang="en-US" altLang="ko-KR" dirty="0">
                <a:solidFill>
                  <a:srgbClr val="212529"/>
                </a:solidFill>
                <a:latin typeface="+mn-ea"/>
                <a:ea typeface="+mn-ea"/>
              </a:rPr>
              <a:t>div </a:t>
            </a:r>
            <a:r>
              <a:rPr lang="ko-KR" altLang="en-US" dirty="0">
                <a:solidFill>
                  <a:srgbClr val="212529"/>
                </a:solidFill>
                <a:latin typeface="+mn-ea"/>
                <a:ea typeface="+mn-ea"/>
              </a:rPr>
              <a:t>완성하기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C38DC7-91EA-9965-EE3F-66FAF842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DA5F8C-604A-6B27-53AC-4188CBCD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200258F-F504-68CA-C23C-F850DBDE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테두리 그리기</a:t>
            </a:r>
          </a:p>
        </p:txBody>
      </p:sp>
    </p:spTree>
    <p:extLst>
      <p:ext uri="{BB962C8B-B14F-4D97-AF65-F5344CB8AC3E}">
        <p14:creationId xmlns:p14="http://schemas.microsoft.com/office/powerpoint/2010/main" val="163117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715680-5286-E05F-8CAC-8B3DDEE9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64E1-7F13-44DE-8021-CDAF6015FD20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903EB0-033B-B6E8-4189-615A7761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BB34DB-2705-CFE4-0482-31A522E2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여백</a:t>
            </a:r>
          </a:p>
        </p:txBody>
      </p:sp>
      <p:sp>
        <p:nvSpPr>
          <p:cNvPr id="11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B846C-D219-0292-6697-829FBACBB7BF}"/>
              </a:ext>
            </a:extLst>
          </p:cNvPr>
          <p:cNvSpPr txBox="1"/>
          <p:nvPr/>
        </p:nvSpPr>
        <p:spPr>
          <a:xfrm>
            <a:off x="2402591" y="4964494"/>
            <a:ext cx="7386818" cy="13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✅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margin, padding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margin: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바깥쪽 여백을 지정하는 속성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요소와 요소 사이 간격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padding: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안쪽 여백을 지정하는 속성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내용과 테두리 사이 간격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92DC0E-E85D-40DF-4B62-FA513ED48787}"/>
              </a:ext>
            </a:extLst>
          </p:cNvPr>
          <p:cNvGrpSpPr/>
          <p:nvPr/>
        </p:nvGrpSpPr>
        <p:grpSpPr>
          <a:xfrm>
            <a:off x="1070114" y="831148"/>
            <a:ext cx="9697275" cy="4178766"/>
            <a:chOff x="2340018" y="1457143"/>
            <a:chExt cx="11026913" cy="475173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EC080C1-C3D9-D212-AADA-B57981E54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3615" y="1457143"/>
              <a:ext cx="7390435" cy="449418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1B817D-0078-D49C-DE0D-B2CCD7810147}"/>
                </a:ext>
              </a:extLst>
            </p:cNvPr>
            <p:cNvSpPr txBox="1"/>
            <p:nvPr/>
          </p:nvSpPr>
          <p:spPr>
            <a:xfrm>
              <a:off x="2952414" y="5928897"/>
              <a:ext cx="10414517" cy="279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90000"/>
                    </a:schemeClr>
                  </a:solidFill>
                </a:rPr>
                <a:t>사진 출처</a:t>
              </a:r>
              <a:r>
                <a:rPr lang="en-US" altLang="ko-KR" sz="1000" dirty="0">
                  <a:solidFill>
                    <a:schemeClr val="bg2">
                      <a:lumMod val="90000"/>
                    </a:schemeClr>
                  </a:solidFill>
                </a:rPr>
                <a:t>: https://ofcourse.kr/css-course/margin-padding-%EC%86%8D%EC%84%B1</a:t>
              </a:r>
              <a:endParaRPr lang="ko-KR" altLang="en-US" sz="1000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DCDF495C-0D26-494E-E8E2-3929D720CAB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3664198"/>
              <a:ext cx="153217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A865612-1E0F-C8BF-BB25-8ECD2AE08532}"/>
                </a:ext>
              </a:extLst>
            </p:cNvPr>
            <p:cNvSpPr/>
            <p:nvPr/>
          </p:nvSpPr>
          <p:spPr>
            <a:xfrm>
              <a:off x="5189779" y="2133600"/>
              <a:ext cx="5944946" cy="3133725"/>
            </a:xfrm>
            <a:prstGeom prst="rect">
              <a:avLst/>
            </a:prstGeom>
            <a:noFill/>
            <a:ln w="730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91A29F-00CC-D29A-BF9E-6F29397FFBB4}"/>
                </a:ext>
              </a:extLst>
            </p:cNvPr>
            <p:cNvSpPr txBox="1"/>
            <p:nvPr/>
          </p:nvSpPr>
          <p:spPr>
            <a:xfrm>
              <a:off x="2340018" y="3429000"/>
              <a:ext cx="123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accent1"/>
                  </a:solidFill>
                </a:rPr>
                <a:t>border</a:t>
              </a:r>
              <a:endParaRPr lang="ko-KR" altLang="en-US" sz="24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2033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715680-5286-E05F-8CAC-8B3DDEE9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903EB0-033B-B6E8-4189-615A7761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BB34DB-2705-CFE4-0482-31A522E2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박스 모델</a:t>
            </a:r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48B9B71E-4449-AF2B-44F2-8A8C3DC9D828}"/>
              </a:ext>
            </a:extLst>
          </p:cNvPr>
          <p:cNvSpPr txBox="1">
            <a:spLocks/>
          </p:cNvSpPr>
          <p:nvPr/>
        </p:nvSpPr>
        <p:spPr>
          <a:xfrm>
            <a:off x="838200" y="4742832"/>
            <a:ext cx="10515600" cy="1242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2400" dirty="0"/>
              <a:t>➡️ 개발 초기 단계에서 </a:t>
            </a:r>
            <a:r>
              <a:rPr lang="ko-KR" altLang="en-US" sz="2400" b="1" dirty="0"/>
              <a:t>두 속성 값 중 하나로 결정</a:t>
            </a:r>
            <a:r>
              <a:rPr lang="ko-KR" altLang="en-US" sz="2400" dirty="0"/>
              <a:t>하는 것이 좋음</a:t>
            </a:r>
            <a:r>
              <a:rPr lang="en-US" altLang="ko-KR" sz="2400" dirty="0"/>
              <a:t>!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/>
              <a:t>그렇지 않으면 요소 크기 계산이 진짜 복잡해짐😫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5AD00-CED0-C48A-3F52-549BFDD350D1}"/>
              </a:ext>
            </a:extLst>
          </p:cNvPr>
          <p:cNvSpPr txBox="1"/>
          <p:nvPr/>
        </p:nvSpPr>
        <p:spPr>
          <a:xfrm>
            <a:off x="351810" y="2176679"/>
            <a:ext cx="7065286" cy="132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 </a:t>
            </a:r>
            <a:r>
              <a:rPr lang="ko-KR" altLang="en-US" sz="3200" b="1" dirty="0"/>
              <a:t>✅ </a:t>
            </a:r>
            <a:r>
              <a:rPr lang="en-US" altLang="ko-KR" sz="3200" b="1" dirty="0"/>
              <a:t>box-sizing</a:t>
            </a:r>
            <a:r>
              <a:rPr lang="en-US" altLang="ko-KR" sz="3200" dirty="0"/>
              <a:t> </a:t>
            </a:r>
            <a:r>
              <a:rPr lang="ko-KR" altLang="en-US" sz="3200" dirty="0"/>
              <a:t>속성</a:t>
            </a:r>
            <a:endParaRPr lang="en-US" altLang="ko-KR" sz="32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요소의 전체 너비와 높이를 어떻게 계산할지 결정</a:t>
            </a:r>
            <a:r>
              <a:rPr lang="en-US" altLang="ko-KR" sz="2400" dirty="0"/>
              <a:t>.</a:t>
            </a:r>
            <a:endParaRPr lang="en-US" altLang="ko-KR" sz="36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9910377-B541-F0F8-1175-A97831C92DD7}"/>
              </a:ext>
            </a:extLst>
          </p:cNvPr>
          <p:cNvGrpSpPr/>
          <p:nvPr/>
        </p:nvGrpSpPr>
        <p:grpSpPr>
          <a:xfrm>
            <a:off x="7718899" y="1309067"/>
            <a:ext cx="3949841" cy="2958415"/>
            <a:chOff x="7587468" y="1855369"/>
            <a:chExt cx="3949841" cy="2958415"/>
          </a:xfrm>
        </p:grpSpPr>
        <p:pic>
          <p:nvPicPr>
            <p:cNvPr id="1026" name="Picture 2" descr="HTML 기초 - 4">
              <a:extLst>
                <a:ext uri="{FF2B5EF4-FFF2-40B4-BE49-F238E27FC236}">
                  <a16:creationId xmlns:a16="http://schemas.microsoft.com/office/drawing/2014/main" id="{5D511AF8-1DB9-5704-25DC-8E9F02F331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7468" y="1855369"/>
              <a:ext cx="3949841" cy="2958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108D2DB-5F06-E302-2D24-A7B81DB512E8}"/>
                </a:ext>
              </a:extLst>
            </p:cNvPr>
            <p:cNvSpPr/>
            <p:nvPr/>
          </p:nvSpPr>
          <p:spPr>
            <a:xfrm>
              <a:off x="8559978" y="3127432"/>
              <a:ext cx="1992923" cy="4122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9BDFD8B-A416-10FB-73B9-550CB2CCCF9F}"/>
                </a:ext>
              </a:extLst>
            </p:cNvPr>
            <p:cNvSpPr/>
            <p:nvPr/>
          </p:nvSpPr>
          <p:spPr>
            <a:xfrm>
              <a:off x="7967963" y="2321115"/>
              <a:ext cx="3182815" cy="2004062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108D2DB-5F06-E302-2D24-A7B81DB512E8}"/>
                </a:ext>
              </a:extLst>
            </p:cNvPr>
            <p:cNvSpPr/>
            <p:nvPr/>
          </p:nvSpPr>
          <p:spPr>
            <a:xfrm>
              <a:off x="8264703" y="2737356"/>
              <a:ext cx="2584272" cy="1196469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9671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6A51CA-F316-A2A8-36AE-A913E288C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2209873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/>
              <a:t>✅ 콘텐츠 영역을 기준으로 크기를 정함</a:t>
            </a:r>
            <a:r>
              <a:rPr lang="en-US" altLang="ko-KR" sz="2800" dirty="0"/>
              <a:t>. (</a:t>
            </a:r>
            <a:r>
              <a:rPr lang="ko-KR" altLang="en-US" dirty="0"/>
              <a:t>기본 값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padding,</a:t>
            </a:r>
            <a:r>
              <a:rPr lang="ko-KR" altLang="en-US" dirty="0"/>
              <a:t> </a:t>
            </a:r>
            <a:r>
              <a:rPr lang="en-US" altLang="ko-KR" dirty="0"/>
              <a:t>border</a:t>
            </a:r>
            <a:r>
              <a:rPr lang="ko-KR" altLang="en-US" dirty="0"/>
              <a:t>는 이 크기에 추가로 </a:t>
            </a:r>
            <a:r>
              <a:rPr lang="ko-KR" altLang="en-US" dirty="0" err="1"/>
              <a:t>더해짐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402AA-A9BE-CE35-E2D8-ED65A8D7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E0C7C-8E3B-528D-12FD-CD80139B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B3BBCF0-6378-A380-DDDD-F0FAE2E8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113619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Context-box</a:t>
            </a:r>
            <a:endParaRPr lang="ko-KR" altLang="en-US" sz="4000" dirty="0"/>
          </a:p>
        </p:txBody>
      </p:sp>
      <p:sp>
        <p:nvSpPr>
          <p:cNvPr id="6" name="제목 4">
            <a:extLst>
              <a:ext uri="{FF2B5EF4-FFF2-40B4-BE49-F238E27FC236}">
                <a16:creationId xmlns:a16="http://schemas.microsoft.com/office/drawing/2014/main" id="{36CB34A1-3367-0622-10A0-5DF0D4415784}"/>
              </a:ext>
            </a:extLst>
          </p:cNvPr>
          <p:cNvSpPr txBox="1">
            <a:spLocks/>
          </p:cNvSpPr>
          <p:nvPr/>
        </p:nvSpPr>
        <p:spPr>
          <a:xfrm>
            <a:off x="361950" y="35383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/>
              <a:t>Border-box</a:t>
            </a:r>
            <a:endParaRPr lang="ko-KR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6B1DB-0714-D55D-F861-B7319DBB66C4}"/>
              </a:ext>
            </a:extLst>
          </p:cNvPr>
          <p:cNvSpPr txBox="1"/>
          <p:nvPr/>
        </p:nvSpPr>
        <p:spPr>
          <a:xfrm>
            <a:off x="361950" y="4480797"/>
            <a:ext cx="10688782" cy="13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콘텐츠 영역</a:t>
            </a:r>
            <a:r>
              <a:rPr lang="en-US" altLang="ko-KR" sz="2800" dirty="0"/>
              <a:t>, padding,</a:t>
            </a:r>
            <a:r>
              <a:rPr lang="ko-KR" altLang="en-US" sz="2800" dirty="0"/>
              <a:t> </a:t>
            </a:r>
            <a:r>
              <a:rPr lang="en-US" altLang="ko-KR" sz="2800" dirty="0"/>
              <a:t>border</a:t>
            </a:r>
            <a:r>
              <a:rPr lang="ko-KR" altLang="en-US" sz="2800" dirty="0"/>
              <a:t>를 포함한 총 크기를 지정</a:t>
            </a:r>
            <a:r>
              <a:rPr lang="en-US" altLang="ko-KR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      (</a:t>
            </a:r>
            <a:r>
              <a:rPr lang="en-US" altLang="ko-KR" sz="2800" dirty="0">
                <a:solidFill>
                  <a:srgbClr val="00B050"/>
                </a:solidFill>
              </a:rPr>
              <a:t>content</a:t>
            </a:r>
            <a:r>
              <a:rPr lang="en-US" altLang="ko-KR" sz="2800" dirty="0"/>
              <a:t> + </a:t>
            </a:r>
            <a:r>
              <a:rPr lang="en-US" altLang="ko-KR" sz="2800" dirty="0">
                <a:solidFill>
                  <a:schemeClr val="accent3">
                    <a:lumMod val="75000"/>
                  </a:schemeClr>
                </a:solidFill>
              </a:rPr>
              <a:t>padding</a:t>
            </a:r>
            <a:r>
              <a:rPr lang="en-US" altLang="ko-KR" sz="2800" dirty="0"/>
              <a:t> + </a:t>
            </a:r>
            <a:r>
              <a:rPr lang="en-US" altLang="ko-KR" sz="2800" dirty="0">
                <a:solidFill>
                  <a:srgbClr val="7030A0"/>
                </a:solidFill>
              </a:rPr>
              <a:t>border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48D2C3F-B4AE-05FE-4128-B20575BF7DC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/>
              <a:t>CSS </a:t>
            </a:r>
            <a:r>
              <a:rPr lang="ko-KR" altLang="en-US"/>
              <a:t>박스 모델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9590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position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798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7654206-EECB-4A13-81A8-6C5D73A49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32741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position</a:t>
            </a:r>
            <a:r>
              <a:rPr lang="ko-KR" altLang="en-US" dirty="0"/>
              <a:t>의 종류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static : </a:t>
            </a:r>
            <a:r>
              <a:rPr lang="ko-KR" altLang="en-US" dirty="0"/>
              <a:t>정적 위치 지정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relative : </a:t>
            </a:r>
            <a:r>
              <a:rPr lang="ko-KR" altLang="en-US" dirty="0"/>
              <a:t>상대 위치 지정 방식 → 자기 자신 기준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absolute : </a:t>
            </a:r>
            <a:r>
              <a:rPr lang="ko-KR" altLang="en-US" dirty="0"/>
              <a:t>절대 위치 지정 방식 → 부모 요소 기준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fixed : </a:t>
            </a:r>
            <a:r>
              <a:rPr lang="ko-KR" altLang="en-US" dirty="0"/>
              <a:t>고정 위치 지정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04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position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CDBE80E-3DAC-EA9A-5A41-3361BBD11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46167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position</a:t>
            </a:r>
            <a:r>
              <a:rPr lang="ko-KR" altLang="en-US" dirty="0"/>
              <a:t>의 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top	: </a:t>
            </a:r>
            <a:r>
              <a:rPr lang="ko-KR" altLang="en-US" dirty="0"/>
              <a:t>위치가 설정된 조상 요소의 위로부터의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right	: </a:t>
            </a:r>
            <a:r>
              <a:rPr lang="ko-KR" altLang="en-US" dirty="0"/>
              <a:t>위치가 설정된 조상 요소의 오른쪽으로부터의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bottom	: </a:t>
            </a:r>
            <a:r>
              <a:rPr lang="ko-KR" altLang="en-US" dirty="0"/>
              <a:t>위치가 설정된 조상 요소의 아래로부터의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left	: </a:t>
            </a:r>
            <a:r>
              <a:rPr lang="ko-KR" altLang="en-US" dirty="0"/>
              <a:t>위치가 설정된 조상 요소의 왼쪽으로부터의 여백을 설정함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z-index	: </a:t>
            </a:r>
            <a:r>
              <a:rPr lang="ko-KR" altLang="en-US" dirty="0"/>
              <a:t>겹쳐지는 요소들이 쌓이는 스택</a:t>
            </a:r>
            <a:r>
              <a:rPr lang="en-US" altLang="ko-KR" dirty="0"/>
              <a:t>(stack)</a:t>
            </a:r>
            <a:r>
              <a:rPr lang="ko-KR" altLang="en-US" dirty="0"/>
              <a:t>의 순서를 설정함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accent1"/>
                </a:solidFill>
              </a:rPr>
              <a:t>position</a:t>
            </a:r>
            <a:r>
              <a:rPr lang="ko-KR" altLang="en-US" dirty="0">
                <a:solidFill>
                  <a:schemeClr val="accent1"/>
                </a:solidFill>
              </a:rPr>
              <a:t> 속성이 정의되어 있어야 사용 가능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132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326500"/>
            <a:ext cx="11701221" cy="466579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position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기본 실습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Position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7473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애벌레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position]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애벌레 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30551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display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224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AC2E97-18FD-4237-589C-515E368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7963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HTML </a:t>
            </a:r>
            <a:r>
              <a:rPr lang="ko-KR" altLang="en-US" dirty="0"/>
              <a:t>요소가 페이지 레이아웃에서 어떤 방식으로 배치되고 보여질지를 결정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inline: </a:t>
            </a:r>
            <a:r>
              <a:rPr lang="ko-KR" altLang="en-US" dirty="0"/>
              <a:t>글자처럼 나란히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block: </a:t>
            </a:r>
            <a:r>
              <a:rPr lang="ko-KR" altLang="en-US" dirty="0"/>
              <a:t>한 줄 다 차지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inline-block: </a:t>
            </a:r>
            <a:r>
              <a:rPr lang="ko-KR" altLang="en-US" dirty="0"/>
              <a:t>줄은 유지 </a:t>
            </a:r>
            <a:r>
              <a:rPr lang="en-US" altLang="ko-KR" dirty="0"/>
              <a:t>+ </a:t>
            </a:r>
            <a:r>
              <a:rPr lang="ko-KR" altLang="en-US" dirty="0"/>
              <a:t>크기 조절 가능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flex: </a:t>
            </a:r>
            <a:r>
              <a:rPr lang="ko-KR" altLang="en-US" dirty="0"/>
              <a:t>가로나 세로 줄 정렬에 최적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grid: </a:t>
            </a:r>
            <a:r>
              <a:rPr lang="ko-KR" altLang="en-US" dirty="0"/>
              <a:t>행과 열의 격자 배치에 최적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3B6E7-C258-1708-6F45-31FFDE08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display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9561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ECFB-6838-91FF-18A7-3574BC61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A832FD-3296-0CBC-E0AB-C6E9D604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0C3675-192E-232D-6125-2128060C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D142B0-AE63-1D50-402E-0B469D1F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Flex vs Grid</a:t>
            </a:r>
            <a:endParaRPr lang="ko-KR" altLang="en-US" dirty="0"/>
          </a:p>
        </p:txBody>
      </p:sp>
      <p:pic>
        <p:nvPicPr>
          <p:cNvPr id="2052" name="Picture 4" descr="Flex vs. Grid, 비교, 차이점, 적합한 레이아웃">
            <a:extLst>
              <a:ext uri="{FF2B5EF4-FFF2-40B4-BE49-F238E27FC236}">
                <a16:creationId xmlns:a16="http://schemas.microsoft.com/office/drawing/2014/main" id="{3BE51AB1-DE55-2896-B7F8-D99073CBD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1762125"/>
            <a:ext cx="714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10B1A0-4E4C-E5E5-59A0-6E4CB22E7799}"/>
              </a:ext>
            </a:extLst>
          </p:cNvPr>
          <p:cNvSpPr txBox="1"/>
          <p:nvPr/>
        </p:nvSpPr>
        <p:spPr>
          <a:xfrm>
            <a:off x="888741" y="5251009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https://mari-mo.tistory.com/133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268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D3968-FED8-F054-CA2D-BE8B1984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E5878F82-FFB3-3263-41F1-A86933651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464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요소를 </a:t>
            </a:r>
            <a:r>
              <a:rPr lang="en-US" altLang="ko-KR" dirty="0"/>
              <a:t>1</a:t>
            </a:r>
            <a:r>
              <a:rPr lang="ko-KR" altLang="en-US" dirty="0"/>
              <a:t>차원 구조로 쉽게 정렬하고 공간을 분배할 수 있도록 해주는 속성 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display: flex;</a:t>
            </a:r>
            <a:r>
              <a:rPr lang="en-US" altLang="ko-KR" dirty="0"/>
              <a:t> </a:t>
            </a:r>
            <a:r>
              <a:rPr lang="ko-KR" altLang="en-US" dirty="0"/>
              <a:t>로 </a:t>
            </a:r>
            <a:r>
              <a:rPr lang="en-US" altLang="ko-KR" dirty="0"/>
              <a:t>flex </a:t>
            </a:r>
            <a:r>
              <a:rPr lang="ko-KR" altLang="en-US" dirty="0"/>
              <a:t>컨테이너 선언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flex-direction: </a:t>
            </a:r>
            <a:r>
              <a:rPr lang="ko-KR" altLang="en-US" dirty="0"/>
              <a:t>주축 방향 설정 </a:t>
            </a:r>
            <a:r>
              <a:rPr lang="en-US" altLang="ko-KR" dirty="0"/>
              <a:t>(row, row-reverse, column, column-reverse)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justify-content: </a:t>
            </a:r>
            <a:r>
              <a:rPr lang="ko-KR" altLang="en-US" dirty="0"/>
              <a:t>주축 정렬 </a:t>
            </a:r>
            <a:r>
              <a:rPr lang="en-US" altLang="ko-KR" dirty="0"/>
              <a:t>(flex-start, center, space-between, space-around, space-evenly)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align-items: </a:t>
            </a:r>
            <a:r>
              <a:rPr lang="ko-KR" altLang="en-US" dirty="0" err="1"/>
              <a:t>교차축</a:t>
            </a:r>
            <a:r>
              <a:rPr lang="ko-KR" altLang="en-US" dirty="0"/>
              <a:t> 정렬 </a:t>
            </a:r>
            <a:r>
              <a:rPr lang="en-US" altLang="ko-KR" dirty="0"/>
              <a:t>(flex-start, center, flex-end, stretch)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flex-wrap: </a:t>
            </a:r>
            <a:r>
              <a:rPr lang="ko-KR" altLang="en-US" dirty="0"/>
              <a:t>아이템 </a:t>
            </a:r>
            <a:r>
              <a:rPr lang="ko-KR" altLang="en-US" dirty="0" err="1"/>
              <a:t>줄바꿈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nowrap</a:t>
            </a:r>
            <a:r>
              <a:rPr lang="en-US" altLang="ko-KR" dirty="0"/>
              <a:t>, wrap, wrap-reverse)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C1ADD-0E5F-350C-C66B-898A7798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C6D4B4-0553-5F7D-9FB8-4FCA3D2A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CB5695-F5A2-3F13-26F2-8F8AC9DC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flex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449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4775A-23FE-6612-50AB-FD635067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3CC2CF5B-EEDF-C557-0971-FE74C4EED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7963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웹 페이지를 행과 열로 나누어 </a:t>
            </a:r>
            <a:r>
              <a:rPr lang="en-US" altLang="ko-KR" dirty="0"/>
              <a:t>2</a:t>
            </a:r>
            <a:r>
              <a:rPr lang="ko-KR" altLang="en-US" dirty="0"/>
              <a:t>차원 레이아웃을 설계할 수 있도록 해주는 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display: grid; </a:t>
            </a:r>
            <a:r>
              <a:rPr lang="ko-KR" altLang="en-US" dirty="0"/>
              <a:t>로 </a:t>
            </a:r>
            <a:r>
              <a:rPr lang="en-US" altLang="ko-KR" dirty="0"/>
              <a:t>grid </a:t>
            </a:r>
            <a:r>
              <a:rPr lang="ko-KR" altLang="en-US" dirty="0"/>
              <a:t>컨테이너 선언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grid-template-columns: </a:t>
            </a:r>
            <a:r>
              <a:rPr lang="ko-KR" altLang="en-US" dirty="0"/>
              <a:t>열의 크기 정의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200px 1fr 2fr)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grid-template-rows: </a:t>
            </a:r>
            <a:r>
              <a:rPr lang="ko-KR" altLang="en-US" dirty="0"/>
              <a:t>행의 크기 정의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gap: </a:t>
            </a:r>
            <a:r>
              <a:rPr lang="ko-KR" altLang="en-US" dirty="0"/>
              <a:t>아이템 간격 설정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justify-items: </a:t>
            </a:r>
            <a:r>
              <a:rPr lang="ko-KR" altLang="en-US" dirty="0"/>
              <a:t>열 기준 정렬 </a:t>
            </a:r>
            <a:r>
              <a:rPr lang="en-US" altLang="ko-KR" dirty="0"/>
              <a:t>(start, center, end, stretch)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align-items: </a:t>
            </a:r>
            <a:r>
              <a:rPr lang="ko-KR" altLang="en-US" dirty="0"/>
              <a:t>행 기준 정렬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6503A-D4E1-6263-FF0C-743464FD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1B9897-03F0-8AF2-700D-996C89FA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1F7A44-3101-D9FB-DD77-AC239142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766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Flex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[flex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[flex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– header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631425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Flex &amp; background</a:t>
            </a:r>
            <a:r>
              <a:rPr lang="ko-KR" altLang="en-US" dirty="0">
                <a:solidFill>
                  <a:srgbClr val="ED7D31"/>
                </a:solidFill>
              </a:rPr>
              <a:t> 종합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[background &amp; flex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종합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게임 선택창 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697967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transform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738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1175A-699D-3F6A-9D29-A3C0D8BFFAA6}"/>
              </a:ext>
            </a:extLst>
          </p:cNvPr>
          <p:cNvSpPr txBox="1"/>
          <p:nvPr/>
        </p:nvSpPr>
        <p:spPr>
          <a:xfrm>
            <a:off x="238991" y="1145407"/>
            <a:ext cx="11701221" cy="484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 💡요소에 이동</a:t>
            </a:r>
            <a:r>
              <a:rPr lang="en-US" altLang="ko-KR" sz="2400" b="0" i="0" dirty="0">
                <a:effectLst/>
              </a:rPr>
              <a:t>(translate), </a:t>
            </a:r>
            <a:r>
              <a:rPr lang="ko-KR" altLang="en-US" sz="2400" b="0" i="0" dirty="0">
                <a:effectLst/>
              </a:rPr>
              <a:t>회전</a:t>
            </a:r>
            <a:r>
              <a:rPr lang="en-US" altLang="ko-KR" sz="2400" b="0" i="0" dirty="0">
                <a:effectLst/>
              </a:rPr>
              <a:t>(rotate), </a:t>
            </a:r>
            <a:r>
              <a:rPr lang="ko-KR" altLang="en-US" sz="2400" b="0" i="0" dirty="0">
                <a:effectLst/>
              </a:rPr>
              <a:t>확대축소</a:t>
            </a:r>
            <a:r>
              <a:rPr lang="en-US" altLang="ko-KR" sz="2400" b="0" i="0" dirty="0">
                <a:effectLst/>
              </a:rPr>
              <a:t>(scale), </a:t>
            </a:r>
            <a:r>
              <a:rPr lang="ko-KR" altLang="en-US" sz="2400" b="0" i="0" dirty="0">
                <a:effectLst/>
              </a:rPr>
              <a:t>비틀기</a:t>
            </a:r>
            <a:r>
              <a:rPr lang="en-US" altLang="ko-KR" sz="2400" b="0" i="0" dirty="0">
                <a:effectLst/>
              </a:rPr>
              <a:t>(skew) </a:t>
            </a:r>
            <a:r>
              <a:rPr lang="ko-KR" altLang="en-US" sz="2400" b="0" i="0" dirty="0">
                <a:effectLst/>
              </a:rPr>
              <a:t>효과를 부여하기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b="0" i="0" dirty="0">
                <a:effectLst/>
              </a:rPr>
              <a:t>      </a:t>
            </a:r>
            <a:r>
              <a:rPr lang="ko-KR" altLang="en-US" sz="2400" b="0" i="0" dirty="0">
                <a:effectLst/>
              </a:rPr>
              <a:t>위한 함수를 제공</a:t>
            </a:r>
            <a:endParaRPr lang="en-US" altLang="ko-KR" sz="2400" b="0" i="0" dirty="0">
              <a:effectLst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translate(x, y)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방향으로 이동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translate(50px, 20px);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scale(x, y)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확대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축소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scale(1.5, 1.5); (150%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rotate(angle)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회전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rotate(45deg);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skew(x-angle, y-angle)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요소를 비틀기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기울이기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transform: skew(20deg, 10deg);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77105-A565-6BCB-0201-636B69F3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419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43398-BC25-1AF2-28F5-643094CF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572E856-2744-3177-F4D6-C34F5D5B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transform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88189-E2ED-D019-EADD-698D2508E453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translate : </a:t>
            </a:r>
            <a:r>
              <a:rPr lang="ko-KR" altLang="en-US" sz="2400" dirty="0"/>
              <a:t>이동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7FC036-3A8B-5347-561B-CE6984C0B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050" y="1403122"/>
            <a:ext cx="7392118" cy="4536634"/>
          </a:xfrm>
          <a:prstGeom prst="rect">
            <a:avLst/>
          </a:prstGeom>
        </p:spPr>
      </p:pic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D268920-A35C-14E9-205A-195574AB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76C9A-1CAB-ECED-9542-FF2DDA6FF62F}"/>
              </a:ext>
            </a:extLst>
          </p:cNvPr>
          <p:cNvSpPr txBox="1"/>
          <p:nvPr/>
        </p:nvSpPr>
        <p:spPr>
          <a:xfrm>
            <a:off x="888741" y="6012875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https://dev.to/kunaal438/css-transform-complete-guide-on-css-transform-everything-you-need-for-good-developer-841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4262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730F9-1B38-77DA-37B0-877B8EE8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88C3C44-5967-85DC-3ED4-2830FAE3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1B55B-F1C6-0A10-1027-CFD8B7D83D79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rotate : </a:t>
            </a:r>
            <a:r>
              <a:rPr lang="ko-KR" altLang="en-US" sz="2400" dirty="0"/>
              <a:t>회전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3F812-1055-34ED-1764-51CA5AAD8D34}"/>
              </a:ext>
            </a:extLst>
          </p:cNvPr>
          <p:cNvSpPr txBox="1"/>
          <p:nvPr/>
        </p:nvSpPr>
        <p:spPr>
          <a:xfrm>
            <a:off x="888741" y="6012875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https://dev.to/kunaal438/css-transform-complete-guide-on-css-transform-everything-you-need-for-good-developer-841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127D8A1-0953-615B-45A2-D16B65AE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897" y="1222069"/>
            <a:ext cx="7619074" cy="4714143"/>
          </a:xfrm>
          <a:prstGeom prst="rect">
            <a:avLst/>
          </a:prstGeom>
        </p:spPr>
      </p:pic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63B85F5-FEE4-C78C-3E54-49003A19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496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9C8E9-1013-83FC-78A7-FAC88BA2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C54C0C-A81C-EA63-CA0A-E67C1DF7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28815-C171-2CEF-7C76-A8138A5CDC06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skew : </a:t>
            </a:r>
            <a:r>
              <a:rPr lang="ko-KR" altLang="en-US" sz="2400" dirty="0"/>
              <a:t>기울기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0174F42-5A06-BBCB-2633-071872223B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366"/>
          <a:stretch/>
        </p:blipFill>
        <p:spPr>
          <a:xfrm>
            <a:off x="556185" y="1915517"/>
            <a:ext cx="11079630" cy="4012476"/>
          </a:xfrm>
          <a:prstGeom prst="rect">
            <a:avLst/>
          </a:prstGeom>
        </p:spPr>
      </p:pic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44174072-38FA-4712-1328-8F7E9C3E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0ED32-AE3F-E16C-80A6-5225D4E53431}"/>
              </a:ext>
            </a:extLst>
          </p:cNvPr>
          <p:cNvSpPr txBox="1"/>
          <p:nvPr/>
        </p:nvSpPr>
        <p:spPr>
          <a:xfrm>
            <a:off x="888741" y="6012875"/>
            <a:ext cx="10414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 출처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https://dev.to/kunaal438/css-transform-complete-guide-on-css-transform-everything-you-need-for-good-developer-841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594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transition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469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267FBA-00D8-6DD1-2E1C-9E61B981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A50C0E-9399-A65E-FEBD-B5B85EE3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FEE57-9A6F-2DB7-23D2-E8F9F0230FEE}"/>
              </a:ext>
            </a:extLst>
          </p:cNvPr>
          <p:cNvSpPr txBox="1"/>
          <p:nvPr/>
        </p:nvSpPr>
        <p:spPr>
          <a:xfrm>
            <a:off x="565868" y="2587841"/>
            <a:ext cx="11060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/>
              <a:t>transition: </a:t>
            </a:r>
            <a:r>
              <a:rPr lang="ko-KR" altLang="en-US" sz="4000" b="1" dirty="0" err="1"/>
              <a:t>속성명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solidFill>
                  <a:srgbClr val="6EC17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지속시간</a:t>
            </a:r>
            <a:r>
              <a:rPr lang="ko-KR" altLang="en-US" sz="4000" b="1" dirty="0"/>
              <a:t> 타이밍함수 대기시간</a:t>
            </a:r>
            <a:r>
              <a:rPr lang="en-US" altLang="ko-KR" sz="4000" b="1" dirty="0"/>
              <a:t>;</a:t>
            </a:r>
            <a:endParaRPr lang="ko-KR" altLang="en-US" sz="4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6C8806-6AB3-2AA9-637C-A83D9C5FAA86}"/>
              </a:ext>
            </a:extLst>
          </p:cNvPr>
          <p:cNvSpPr/>
          <p:nvPr/>
        </p:nvSpPr>
        <p:spPr>
          <a:xfrm>
            <a:off x="452762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Transition-property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B4BBC0-FE6F-6D6D-D138-1073137A7513}"/>
              </a:ext>
            </a:extLst>
          </p:cNvPr>
          <p:cNvSpPr/>
          <p:nvPr/>
        </p:nvSpPr>
        <p:spPr>
          <a:xfrm>
            <a:off x="3186023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Transition-duration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967931E-0EF2-108A-0A64-59FCC357EECC}"/>
              </a:ext>
            </a:extLst>
          </p:cNvPr>
          <p:cNvSpPr/>
          <p:nvPr/>
        </p:nvSpPr>
        <p:spPr>
          <a:xfrm>
            <a:off x="5880257" y="4278110"/>
            <a:ext cx="3200132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Transition-timing-function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3C91530-3247-6294-C16C-07AAF1D6C3B2}"/>
              </a:ext>
            </a:extLst>
          </p:cNvPr>
          <p:cNvSpPr/>
          <p:nvPr/>
        </p:nvSpPr>
        <p:spPr>
          <a:xfrm>
            <a:off x="9434422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Transition-delay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CD09ECC4-B809-0866-B735-12121F83A724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6379218" y="728581"/>
            <a:ext cx="1576042" cy="2142478"/>
          </a:xfrm>
          <a:prstGeom prst="curvedConnector2">
            <a:avLst/>
          </a:prstGeom>
          <a:ln w="571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9AC2D0-E69B-992A-B11E-B6E86C75764E}"/>
              </a:ext>
            </a:extLst>
          </p:cNvPr>
          <p:cNvSpPr txBox="1"/>
          <p:nvPr/>
        </p:nvSpPr>
        <p:spPr>
          <a:xfrm>
            <a:off x="8692525" y="580600"/>
            <a:ext cx="2530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단축형 작성 시</a:t>
            </a:r>
            <a:r>
              <a:rPr lang="en-US" altLang="ko-KR" sz="2400" b="1" dirty="0"/>
              <a:t>, </a:t>
            </a:r>
          </a:p>
          <a:p>
            <a:r>
              <a:rPr lang="ko-KR" altLang="en-US" sz="2400" b="1" dirty="0">
                <a:solidFill>
                  <a:srgbClr val="FF0000"/>
                </a:solidFill>
              </a:rPr>
              <a:t>필수</a:t>
            </a:r>
            <a:r>
              <a:rPr lang="en-US" altLang="ko-KR" sz="2400" b="1" dirty="0">
                <a:solidFill>
                  <a:srgbClr val="FF0000"/>
                </a:solidFill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포함</a:t>
            </a:r>
            <a:r>
              <a:rPr lang="ko-KR" altLang="en-US" sz="2400" b="1" dirty="0"/>
              <a:t> 속성</a:t>
            </a:r>
          </a:p>
        </p:txBody>
      </p:sp>
    </p:spTree>
    <p:extLst>
      <p:ext uri="{BB962C8B-B14F-4D97-AF65-F5344CB8AC3E}">
        <p14:creationId xmlns:p14="http://schemas.microsoft.com/office/powerpoint/2010/main" val="2011734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268E-8E27-9711-8E93-B2804B1B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CFEDB8-2B8C-77FB-46C2-B2289C2F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5AB929-C357-947D-2EF9-C423329D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CD050-652E-C632-D2AA-65C2818CF02C}"/>
              </a:ext>
            </a:extLst>
          </p:cNvPr>
          <p:cNvSpPr txBox="1"/>
          <p:nvPr/>
        </p:nvSpPr>
        <p:spPr>
          <a:xfrm>
            <a:off x="238991" y="1145407"/>
            <a:ext cx="11701221" cy="2901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 💡</a:t>
            </a:r>
            <a:r>
              <a:rPr lang="ko-KR" altLang="en-US" sz="2400" dirty="0"/>
              <a:t>속성의 값이 변화할 때 그 변화를 일정 시간 동안 부드럽게 적용할 수 있게 해주는 속성</a:t>
            </a:r>
            <a:endParaRPr lang="en-US" altLang="ko-KR" sz="2400" b="0" i="0" dirty="0">
              <a:effectLst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transition: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속성명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지속시간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타이밍함수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[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지연시간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transition-property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속성을 변화시킬지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(color, transform, all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transition-duration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변화가 일어나는 시간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0.5s, 200ms)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transition-timing-function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변화 속도 곡선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(ease, linear, ease-in, ease-out, cubic-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bezier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transition-delay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변화가 시작되기 전 지연 시간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901F59-6FF3-B510-C3B6-BA3A8D56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24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9474841" cy="3330695"/>
          </a:xfrm>
        </p:spPr>
        <p:txBody>
          <a:bodyPr>
            <a:normAutofit/>
          </a:bodyPr>
          <a:lstStyle/>
          <a:p>
            <a:r>
              <a:rPr lang="en-US" altLang="ko-KR" dirty="0"/>
              <a:t>100px, 100px div </a:t>
            </a:r>
            <a:r>
              <a:rPr lang="ko-KR" altLang="en-US" dirty="0"/>
              <a:t>만들고 배경은 검정</a:t>
            </a:r>
            <a:r>
              <a:rPr lang="en-US" altLang="ko-KR" dirty="0"/>
              <a:t>, </a:t>
            </a:r>
            <a:r>
              <a:rPr lang="ko-KR" altLang="en-US" dirty="0"/>
              <a:t>글자는 흰색으로 만들기</a:t>
            </a:r>
            <a:endParaRPr lang="en-US" altLang="ko-KR" dirty="0"/>
          </a:p>
          <a:p>
            <a:r>
              <a:rPr lang="en-US" altLang="ko-KR" dirty="0"/>
              <a:t>transition</a:t>
            </a:r>
            <a:r>
              <a:rPr lang="ko-KR" altLang="en-US" dirty="0"/>
              <a:t>은 우측 </a:t>
            </a:r>
            <a:r>
              <a:rPr lang="en-US" altLang="ko-KR" dirty="0"/>
              <a:t>gif</a:t>
            </a:r>
            <a:r>
              <a:rPr lang="ko-KR" altLang="en-US" dirty="0"/>
              <a:t>대로 실행</a:t>
            </a:r>
            <a:endParaRPr lang="en-US" altLang="ko-KR" dirty="0"/>
          </a:p>
          <a:p>
            <a:r>
              <a:rPr lang="en-US" altLang="ko-KR" dirty="0"/>
              <a:t>div </a:t>
            </a:r>
            <a:r>
              <a:rPr lang="ko-KR" altLang="en-US" dirty="0"/>
              <a:t>에 마우스를 올려놓았을 때 </a:t>
            </a:r>
            <a:r>
              <a:rPr lang="en-US" altLang="ko-KR" dirty="0"/>
              <a:t>300px, 300px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en-US" altLang="ko-KR" dirty="0"/>
              <a:t>( delay</a:t>
            </a:r>
            <a:r>
              <a:rPr lang="ko-KR" altLang="en-US" dirty="0"/>
              <a:t>는 </a:t>
            </a:r>
            <a:r>
              <a:rPr lang="en-US" altLang="ko-KR" dirty="0"/>
              <a:t>0.5s, </a:t>
            </a:r>
            <a:r>
              <a:rPr lang="ko-KR" altLang="en-US" dirty="0"/>
              <a:t>진행속도는 </a:t>
            </a:r>
            <a:r>
              <a:rPr lang="en-US" altLang="ko-KR" dirty="0"/>
              <a:t>1s 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2C74C6-170F-58B4-9872-82945C9AF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780" y="2290813"/>
            <a:ext cx="2672656" cy="3021263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1B4BA17D-F899-7728-8321-56D7E18065E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transition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4853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transition &amp; transform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[transition &amp; transform]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이미지 연달아 나열하기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133622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transition &amp; transform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[transition &amp; transform]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[transform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여러 개 사용해보기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074529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animation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795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AC2E97-18FD-4237-589C-515E368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923" y="2147578"/>
            <a:ext cx="8574154" cy="256284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3600" dirty="0">
                <a:latin typeface="+mj-ea"/>
                <a:ea typeface="+mj-ea"/>
              </a:rPr>
              <a:t>애니메이션을 나타내는 </a:t>
            </a:r>
            <a:r>
              <a:rPr lang="en-US" altLang="ko-KR" sz="3600" dirty="0" err="1">
                <a:latin typeface="+mj-ea"/>
                <a:ea typeface="+mj-ea"/>
              </a:rPr>
              <a:t>css</a:t>
            </a:r>
            <a:r>
              <a:rPr lang="en-US" altLang="ko-KR" sz="3600" dirty="0">
                <a:latin typeface="+mj-ea"/>
                <a:ea typeface="+mj-ea"/>
              </a:rPr>
              <a:t> </a:t>
            </a:r>
            <a:r>
              <a:rPr lang="ko-KR" altLang="en-US" sz="3600" dirty="0">
                <a:latin typeface="+mj-ea"/>
                <a:ea typeface="+mj-ea"/>
              </a:rPr>
              <a:t>스타일</a:t>
            </a:r>
            <a:endParaRPr lang="en-US" altLang="ko-KR" sz="36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4800" dirty="0">
                <a:latin typeface="+mj-ea"/>
                <a:ea typeface="+mj-ea"/>
              </a:rPr>
              <a:t>➕</a:t>
            </a:r>
            <a:endParaRPr lang="en-US" altLang="ko-KR" sz="32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3600" dirty="0">
                <a:latin typeface="+mj-ea"/>
                <a:ea typeface="+mj-ea"/>
              </a:rPr>
              <a:t>애니메이션의 중간 상태를 나타내는 키 프레임</a:t>
            </a:r>
            <a:endParaRPr lang="en-US" altLang="ko-KR" sz="3600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3B6E7-C258-1708-6F45-31FFDE08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318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87412-1235-5E33-5E2D-CB2C9A183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ym typeface="Wingdings" panose="05000000000000000000" pitchFamily="2" charset="2"/>
              </a:rPr>
              <a:t>💡 </a:t>
            </a:r>
            <a:r>
              <a:rPr lang="en-US" altLang="ko-KR" dirty="0">
                <a:sym typeface="Wingdings" panose="05000000000000000000" pitchFamily="2" charset="2"/>
              </a:rPr>
              <a:t>CSS</a:t>
            </a:r>
            <a:r>
              <a:rPr lang="ko-KR" altLang="en-US" dirty="0">
                <a:sym typeface="Wingdings" panose="05000000000000000000" pitchFamily="2" charset="2"/>
              </a:rPr>
              <a:t>의 애니메이션 효과를 개발자가 직접 지정하는 기능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ym typeface="Wingdings" panose="05000000000000000000" pitchFamily="2" charset="2"/>
              </a:rPr>
              <a:t>애니메이션의 중간 지점마다 </a:t>
            </a:r>
            <a:r>
              <a:rPr lang="en-US" altLang="ko-KR" dirty="0">
                <a:sym typeface="Wingdings" panose="05000000000000000000" pitchFamily="2" charset="2"/>
              </a:rPr>
              <a:t>CSS </a:t>
            </a:r>
            <a:r>
              <a:rPr lang="ko-KR" altLang="en-US" dirty="0">
                <a:sym typeface="Wingdings" panose="05000000000000000000" pitchFamily="2" charset="2"/>
              </a:rPr>
              <a:t>속성 값을 지정하여 세밀하게 애니메이션 조절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ym typeface="Wingdings" panose="05000000000000000000" pitchFamily="2" charset="2"/>
              </a:rPr>
              <a:t>키프레임을 변수에 선언하고 해당 변수를 </a:t>
            </a:r>
            <a:r>
              <a:rPr lang="en-US" altLang="ko-KR" dirty="0">
                <a:sym typeface="Wingdings" panose="05000000000000000000" pitchFamily="2" charset="2"/>
              </a:rPr>
              <a:t>CSS </a:t>
            </a:r>
            <a:r>
              <a:rPr lang="ko-KR" altLang="en-US" dirty="0">
                <a:sym typeface="Wingdings" panose="05000000000000000000" pitchFamily="2" charset="2"/>
              </a:rPr>
              <a:t>에서 불러와서 사용할 수 있다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sym typeface="Wingdings" panose="05000000000000000000" pitchFamily="2" charset="2"/>
              </a:rPr>
              <a:t>Keyframes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로 설정되는 값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to/from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0% ~ 100%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872D8F0-548E-0B0A-DD3A-5FBD6A2B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@keyframes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3007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BBF92-C89E-66BB-C3E4-1CBE1CC8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3FE65C-124F-461D-7602-00AC0662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1A31F2-A247-0F6A-5EB8-2AB607B1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9CBE9-7A25-E7E2-259D-3FF548CC097E}"/>
              </a:ext>
            </a:extLst>
          </p:cNvPr>
          <p:cNvSpPr txBox="1"/>
          <p:nvPr/>
        </p:nvSpPr>
        <p:spPr>
          <a:xfrm>
            <a:off x="238991" y="1145407"/>
            <a:ext cx="11701221" cy="3998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 💡</a:t>
            </a:r>
            <a:r>
              <a:rPr lang="en-US" altLang="ko-KR" sz="2400" dirty="0"/>
              <a:t>@keyframes</a:t>
            </a:r>
            <a:r>
              <a:rPr lang="ko-KR" altLang="en-US" sz="2400" dirty="0"/>
              <a:t>를 통해 정의한 여러 단계의 스타일 변화를 일정 시간 동안 자동으로 실행하고</a:t>
            </a:r>
            <a:r>
              <a:rPr lang="en-US" altLang="ko-KR" sz="2400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   </a:t>
            </a:r>
            <a:r>
              <a:rPr lang="ko-KR" altLang="en-US" sz="2400" dirty="0"/>
              <a:t>반복까지 제어할 수 있는 기능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keyframes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지정한 애니메이션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지속시간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애니메이션 지속 시간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진행형태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애니메이션이 진행되는 형태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 / linear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반복횟수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반복되는 횟수를 지정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소수점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infinite</a:t>
            </a:r>
          </a:p>
          <a:p>
            <a:pPr>
              <a:lnSpc>
                <a:spcPct val="150000"/>
              </a:lnSpc>
            </a:pPr>
            <a:endParaRPr lang="en-US" altLang="ko-KR" sz="2400" b="0" i="0" dirty="0">
              <a:effectLst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3962F9-6F62-7A05-3A37-A94A2A60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991" y="6470010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D7EA3F-36B9-0D26-4BA7-6D834B56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512" y="1485900"/>
            <a:ext cx="5219700" cy="411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33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61374" y="1281533"/>
            <a:ext cx="488882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animation-name (</a:t>
            </a:r>
            <a:r>
              <a:rPr lang="ko-KR" altLang="en-US" dirty="0">
                <a:latin typeface="+mn-ea"/>
              </a:rPr>
              <a:t>이름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animation-duration (</a:t>
            </a:r>
            <a:r>
              <a:rPr lang="ko-KR" altLang="en-US" dirty="0">
                <a:latin typeface="+mn-ea"/>
              </a:rPr>
              <a:t>지속 시간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animation-delay (</a:t>
            </a:r>
            <a:r>
              <a:rPr lang="ko-KR" altLang="en-US" dirty="0">
                <a:latin typeface="+mn-ea"/>
              </a:rPr>
              <a:t>지연 시간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animation-iteration-count (</a:t>
            </a:r>
            <a:r>
              <a:rPr lang="ko-KR" altLang="en-US" dirty="0">
                <a:latin typeface="+mn-ea"/>
              </a:rPr>
              <a:t>반복 횟수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animation-timing-function (</a:t>
            </a:r>
            <a:r>
              <a:rPr lang="ko-KR" altLang="en-US" dirty="0">
                <a:latin typeface="+mn-ea"/>
              </a:rPr>
              <a:t>반복 형태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animation-direction (</a:t>
            </a:r>
            <a:r>
              <a:rPr lang="ko-KR" altLang="en-US" dirty="0">
                <a:latin typeface="+mn-ea"/>
              </a:rPr>
              <a:t>애니메이션 방향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r="30174"/>
          <a:stretch/>
        </p:blipFill>
        <p:spPr>
          <a:xfrm>
            <a:off x="5909160" y="1485156"/>
            <a:ext cx="5221466" cy="21674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8527" y="4814387"/>
            <a:ext cx="10614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+mn-ea"/>
              </a:rPr>
              <a:t>✅ 단축 속성 </a:t>
            </a:r>
            <a:r>
              <a:rPr lang="en-US" altLang="ko-KR" sz="2400" dirty="0">
                <a:latin typeface="+mn-ea"/>
              </a:rPr>
              <a:t>: 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</a:rPr>
              <a:t>name duration </a:t>
            </a:r>
            <a:r>
              <a:rPr lang="en-US" altLang="ko-KR" sz="2400" dirty="0">
                <a:latin typeface="+mn-ea"/>
              </a:rPr>
              <a:t>timing-function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delay 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</a:rPr>
              <a:t>iteration-count</a:t>
            </a:r>
            <a:r>
              <a:rPr lang="en-US" altLang="ko-KR" sz="2400" dirty="0">
                <a:latin typeface="+mn-ea"/>
              </a:rPr>
              <a:t> direction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556" y="5323126"/>
            <a:ext cx="10252888" cy="579597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 rot="5400000">
            <a:off x="5791200" y="4033775"/>
            <a:ext cx="609599" cy="526857"/>
          </a:xfrm>
          <a:prstGeom prst="rightArrow">
            <a:avLst>
              <a:gd name="adj1" fmla="val 50000"/>
              <a:gd name="adj2" fmla="val 61339"/>
            </a:avLst>
          </a:prstGeom>
          <a:solidFill>
            <a:srgbClr val="6EC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1B49D69-BFBF-B276-114E-75B1765A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animation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450243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5ED8DA-072B-7FC5-E113-8C17B68B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4C6097A-AC2A-AACF-3345-E85A4A06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animation</a:t>
            </a:r>
            <a:endParaRPr lang="ko-KR" altLang="en-US" dirty="0"/>
          </a:p>
        </p:txBody>
      </p:sp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86A9CA44-D60E-DE88-52D8-5E8743377533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465695" cy="4048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Animation-timing-function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Linear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처음 속도와 마지막 속도가 일정합니다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처음엔 천천히 시작하여 빨라지고 마지막에 다시 느려집니다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ease-in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천천히 시작되어 정상 속도가 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ease-out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마지막에 천천히 속도를 줄여 끝납니다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ease-in-out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천천히 시작되어 정상 속도가 되었다가 마지막에 느려집니다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2503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Animation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[animation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공 움직이기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023397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Animation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[animation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글자 움직이기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866836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9000</TotalTime>
  <Words>1657</Words>
  <Application>Microsoft Office PowerPoint</Application>
  <PresentationFormat>와이드스크린</PresentationFormat>
  <Paragraphs>372</Paragraphs>
  <Slides>44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Kim jung chul Gothic Regular</vt:lpstr>
      <vt:lpstr>Söhne</vt:lpstr>
      <vt:lpstr>Arial</vt:lpstr>
      <vt:lpstr>G마켓 산스 TTF Bold</vt:lpstr>
      <vt:lpstr>Pretendard Black</vt:lpstr>
      <vt:lpstr>Pretendard Light</vt:lpstr>
      <vt:lpstr>Pretendard Medium</vt:lpstr>
      <vt:lpstr>Wingdings</vt:lpstr>
      <vt:lpstr>맑은 고딕</vt:lpstr>
      <vt:lpstr>메이플스토리</vt:lpstr>
      <vt:lpstr>1_Office 테마</vt:lpstr>
      <vt:lpstr>PowerPoint 프레젠테이션</vt:lpstr>
      <vt:lpstr>CSS</vt:lpstr>
      <vt:lpstr>CSS 크기 단위</vt:lpstr>
      <vt:lpstr>CSS 크기 단위</vt:lpstr>
      <vt:lpstr>CSS 크기 단위</vt:lpstr>
      <vt:lpstr>자주 쓰이는 CSS 속성</vt:lpstr>
      <vt:lpstr>CSS 작성법</vt:lpstr>
      <vt:lpstr>자주 쓰이는 CSS 속성</vt:lpstr>
      <vt:lpstr>실습. 테두리 그리기</vt:lpstr>
      <vt:lpstr>CSS 여백</vt:lpstr>
      <vt:lpstr>CSS 박스 모델</vt:lpstr>
      <vt:lpstr>Context-box</vt:lpstr>
      <vt:lpstr>position</vt:lpstr>
      <vt:lpstr>position</vt:lpstr>
      <vt:lpstr>position</vt:lpstr>
      <vt:lpstr>실습. Position실습</vt:lpstr>
      <vt:lpstr>실습. 애벌레 만들기</vt:lpstr>
      <vt:lpstr>display</vt:lpstr>
      <vt:lpstr>display</vt:lpstr>
      <vt:lpstr>Flex vs Grid</vt:lpstr>
      <vt:lpstr>flex</vt:lpstr>
      <vt:lpstr>grid</vt:lpstr>
      <vt:lpstr>실습. Flex</vt:lpstr>
      <vt:lpstr>실습. Flex &amp; background 종합 실습</vt:lpstr>
      <vt:lpstr>transform</vt:lpstr>
      <vt:lpstr>transform</vt:lpstr>
      <vt:lpstr>CSS 복잡한 속성 - transform</vt:lpstr>
      <vt:lpstr>transform</vt:lpstr>
      <vt:lpstr>transform</vt:lpstr>
      <vt:lpstr>transition</vt:lpstr>
      <vt:lpstr>PowerPoint 프레젠테이션</vt:lpstr>
      <vt:lpstr>Transition</vt:lpstr>
      <vt:lpstr>PowerPoint 프레젠테이션</vt:lpstr>
      <vt:lpstr>실습. transition &amp; transform</vt:lpstr>
      <vt:lpstr>실습. transition &amp; transform</vt:lpstr>
      <vt:lpstr>animation</vt:lpstr>
      <vt:lpstr>animation</vt:lpstr>
      <vt:lpstr>@keyframes</vt:lpstr>
      <vt:lpstr>animation</vt:lpstr>
      <vt:lpstr>animation 속성</vt:lpstr>
      <vt:lpstr>animation</vt:lpstr>
      <vt:lpstr>실습. Animation 실습</vt:lpstr>
      <vt:lpstr>실습. Animation 실습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637</cp:revision>
  <dcterms:created xsi:type="dcterms:W3CDTF">2023-01-31T04:26:23Z</dcterms:created>
  <dcterms:modified xsi:type="dcterms:W3CDTF">2026-01-06T08:06:33Z</dcterms:modified>
</cp:coreProperties>
</file>