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1388" r:id="rId2"/>
    <p:sldId id="792" r:id="rId3"/>
    <p:sldId id="752" r:id="rId4"/>
    <p:sldId id="791" r:id="rId5"/>
    <p:sldId id="570" r:id="rId6"/>
    <p:sldId id="268" r:id="rId7"/>
    <p:sldId id="557" r:id="rId8"/>
    <p:sldId id="549" r:id="rId9"/>
    <p:sldId id="550" r:id="rId10"/>
    <p:sldId id="558" r:id="rId11"/>
    <p:sldId id="291" r:id="rId12"/>
    <p:sldId id="574" r:id="rId13"/>
    <p:sldId id="575" r:id="rId14"/>
    <p:sldId id="576" r:id="rId15"/>
    <p:sldId id="577" r:id="rId16"/>
    <p:sldId id="578" r:id="rId17"/>
    <p:sldId id="559" r:id="rId18"/>
    <p:sldId id="292" r:id="rId19"/>
    <p:sldId id="560" r:id="rId20"/>
    <p:sldId id="561" r:id="rId21"/>
    <p:sldId id="562" r:id="rId22"/>
    <p:sldId id="563" r:id="rId23"/>
    <p:sldId id="586" r:id="rId24"/>
    <p:sldId id="584" r:id="rId25"/>
    <p:sldId id="1386" r:id="rId26"/>
    <p:sldId id="579" r:id="rId27"/>
    <p:sldId id="580" r:id="rId28"/>
    <p:sldId id="581" r:id="rId29"/>
    <p:sldId id="582" r:id="rId30"/>
    <p:sldId id="585" r:id="rId31"/>
    <p:sldId id="676" r:id="rId32"/>
    <p:sldId id="587" r:id="rId33"/>
    <p:sldId id="588" r:id="rId34"/>
    <p:sldId id="280" r:id="rId35"/>
    <p:sldId id="599" r:id="rId36"/>
    <p:sldId id="590" r:id="rId37"/>
    <p:sldId id="591" r:id="rId38"/>
    <p:sldId id="592" r:id="rId39"/>
    <p:sldId id="593" r:id="rId40"/>
    <p:sldId id="594" r:id="rId41"/>
    <p:sldId id="595" r:id="rId42"/>
    <p:sldId id="596" r:id="rId43"/>
    <p:sldId id="597" r:id="rId44"/>
    <p:sldId id="677" r:id="rId45"/>
    <p:sldId id="571" r:id="rId46"/>
    <p:sldId id="601" r:id="rId47"/>
    <p:sldId id="277" r:id="rId48"/>
    <p:sldId id="282" r:id="rId49"/>
    <p:sldId id="602" r:id="rId50"/>
    <p:sldId id="603" r:id="rId51"/>
    <p:sldId id="1387" r:id="rId52"/>
    <p:sldId id="679" r:id="rId53"/>
    <p:sldId id="678" r:id="rId54"/>
    <p:sldId id="572" r:id="rId55"/>
    <p:sldId id="568" r:id="rId56"/>
    <p:sldId id="573" r:id="rId57"/>
    <p:sldId id="298" r:id="rId58"/>
    <p:sldId id="299" r:id="rId59"/>
    <p:sldId id="301" r:id="rId60"/>
    <p:sldId id="302" r:id="rId61"/>
    <p:sldId id="303" r:id="rId62"/>
    <p:sldId id="304" r:id="rId63"/>
    <p:sldId id="305" r:id="rId64"/>
    <p:sldId id="300" r:id="rId65"/>
    <p:sldId id="813" r:id="rId6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ED7D31"/>
    <a:srgbClr val="00599C"/>
    <a:srgbClr val="2B2B2B"/>
    <a:srgbClr val="FF5050"/>
    <a:srgbClr val="00FF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81" autoAdjust="0"/>
    <p:restoredTop sz="91676" autoAdjust="0"/>
  </p:normalViewPr>
  <p:slideViewPr>
    <p:cSldViewPr snapToGrid="0">
      <p:cViewPr varScale="1">
        <p:scale>
          <a:sx n="101" d="100"/>
          <a:sy n="101" d="100"/>
        </p:scale>
        <p:origin x="116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825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7CE-B526-908F-5442-88C4EF13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2849C-7EF5-88B9-4352-B46B9C5E3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91E7B0-B0EC-84FB-0ACF-3F543309C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A13708-1BBA-2BBF-45EA-8D4E377FC8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42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사전지식 확인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62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내가 좋아하는 </a:t>
            </a:r>
            <a:r>
              <a:rPr lang="ko-KR" altLang="en-US" dirty="0" err="1"/>
              <a:t>미니언</a:t>
            </a:r>
            <a:r>
              <a:rPr lang="ko-KR" altLang="en-US" dirty="0"/>
              <a:t> 등장 </a:t>
            </a:r>
            <a:r>
              <a:rPr lang="en-US" altLang="ko-KR" dirty="0"/>
              <a:t>&gt;_&lt;</a:t>
            </a:r>
          </a:p>
          <a:p>
            <a:endParaRPr lang="en-US" altLang="ko-KR" dirty="0"/>
          </a:p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dirty="0"/>
              <a:t>- CSS: </a:t>
            </a:r>
            <a:r>
              <a:rPr lang="ko-KR" altLang="en-US" dirty="0"/>
              <a:t>형용사</a:t>
            </a:r>
            <a:endParaRPr lang="en-US" altLang="ko-KR" dirty="0"/>
          </a:p>
          <a:p>
            <a:r>
              <a:rPr lang="en-US" altLang="ko-KR" dirty="0"/>
              <a:t>- JS: </a:t>
            </a:r>
            <a:r>
              <a:rPr lang="ko-KR" altLang="en-US" dirty="0"/>
              <a:t>동사</a:t>
            </a:r>
            <a:br>
              <a:rPr lang="en-US" altLang="ko-KR" dirty="0"/>
            </a:b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337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438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9006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110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096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시작태그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 err="1"/>
              <a:t>속성명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/>
              <a:t>속성값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내용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종료태그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56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태그 안에 태그 중첩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038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9172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9246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883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7343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81929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499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20599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361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600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81615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310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41485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39648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7772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name</a:t>
            </a:r>
            <a:r>
              <a:rPr lang="ko-KR" altLang="en-US" dirty="0"/>
              <a:t>이라는 속성으로 하나의 그룹으로 묶는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06283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742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0158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7818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0314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30915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2985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353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69247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011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262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94057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9971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9549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72109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2EC3-8DBB-4DBC-D313-62955DDC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92BCC-8B27-282D-A740-7641D19A881D}"/>
              </a:ext>
            </a:extLst>
          </p:cNvPr>
          <p:cNvSpPr txBox="1"/>
          <p:nvPr/>
        </p:nvSpPr>
        <p:spPr>
          <a:xfrm>
            <a:off x="2826515" y="2459504"/>
            <a:ext cx="653897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클라우드 서버 구축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섹션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776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42A63A88-000E-F3D6-56EE-1DA212B95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학습목표🎓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33A33-3958-3DBC-55E7-C37F059DAEF6}"/>
              </a:ext>
            </a:extLst>
          </p:cNvPr>
          <p:cNvSpPr txBox="1"/>
          <p:nvPr/>
        </p:nvSpPr>
        <p:spPr>
          <a:xfrm>
            <a:off x="490331" y="2184204"/>
            <a:ext cx="6426759" cy="24895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742950" indent="-74295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웹 관련 기술의 기초 이해</a:t>
            </a:r>
            <a:endParaRPr lang="en-US" altLang="ko-KR" sz="3600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marL="742950" indent="-74295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웹 서버 구축과 배포</a:t>
            </a:r>
            <a:endParaRPr lang="en-US" altLang="ko-KR" sz="3600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marL="742950" indent="-74295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클라우드 서비스를 이용한 배포</a:t>
            </a:r>
          </a:p>
        </p:txBody>
      </p:sp>
    </p:spTree>
    <p:extLst>
      <p:ext uri="{BB962C8B-B14F-4D97-AF65-F5344CB8AC3E}">
        <p14:creationId xmlns:p14="http://schemas.microsoft.com/office/powerpoint/2010/main" val="3051677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87BE-9772-50EF-DA54-260DB1D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0240D39-FECC-C440-0F4B-0758DD48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커리큘럼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D3E2A3-F23C-8714-44A1-23CE45C633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1598113"/>
              </p:ext>
            </p:extLst>
          </p:nvPr>
        </p:nvGraphicFramePr>
        <p:xfrm>
          <a:off x="355600" y="1334747"/>
          <a:ext cx="11480800" cy="4411134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1480800">
                  <a:extLst>
                    <a:ext uri="{9D8B030D-6E8A-4147-A177-3AD203B41FA5}">
                      <a16:colId xmlns:a16="http://schemas.microsoft.com/office/drawing/2014/main" val="979755339"/>
                    </a:ext>
                  </a:extLst>
                </a:gridCol>
              </a:tblGrid>
              <a:tr h="627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chemeClr val="tx1"/>
                          </a:solidFill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과정</a:t>
                      </a:r>
                    </a:p>
                  </a:txBody>
                  <a:tcPr anchor="ctr"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625762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HTML, CSS, </a:t>
                      </a:r>
                      <a:r>
                        <a:rPr lang="en-US" altLang="ko-KR" sz="2000" dirty="0" err="1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Javascript</a:t>
                      </a: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학습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380177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React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기초 학습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5345343"/>
                  </a:ext>
                </a:extLst>
              </a:tr>
              <a:tr h="9750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웹 서버 구축과 배포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07216"/>
                  </a:ext>
                </a:extLst>
              </a:tr>
              <a:tr h="938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클라우드 서비스를 이용한 배포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497745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D5F04AA1-6C84-4DD9-EACC-F6626C563B51}"/>
              </a:ext>
            </a:extLst>
          </p:cNvPr>
          <p:cNvGrpSpPr/>
          <p:nvPr/>
        </p:nvGrpSpPr>
        <p:grpSpPr>
          <a:xfrm>
            <a:off x="7634614" y="5925061"/>
            <a:ext cx="4252586" cy="348714"/>
            <a:chOff x="709733" y="5253343"/>
            <a:chExt cx="4783540" cy="3487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63FC5-DE57-6ACA-CD4E-22E78A54AA2D}"/>
                </a:ext>
              </a:extLst>
            </p:cNvPr>
            <p:cNvSpPr txBox="1"/>
            <p:nvPr/>
          </p:nvSpPr>
          <p:spPr>
            <a:xfrm>
              <a:off x="709733" y="5263503"/>
              <a:ext cx="44863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※ </a:t>
              </a:r>
              <a:r>
                <a:rPr lang="ko-KR" altLang="en-US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커리큘럼은 상황에 따라서 변동될 수 있습니다</a:t>
              </a:r>
              <a:r>
                <a:rPr lang="en-US" altLang="ko-KR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.</a:t>
              </a:r>
              <a:r>
                <a:rPr lang="ko-KR" altLang="en-US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 </a:t>
              </a:r>
            </a:p>
          </p:txBody>
        </p:sp>
        <p:pic>
          <p:nvPicPr>
            <p:cNvPr id="2052" name="Picture 4" descr="https://upload.wikimedia.org/wikipedia/commons/thumb/e/e6/Noto_Emoji_KitKat_263a.svg/220px-Noto_Emoji_KitKat_263a.svg.png">
              <a:extLst>
                <a:ext uri="{FF2B5EF4-FFF2-40B4-BE49-F238E27FC236}">
                  <a16:creationId xmlns:a16="http://schemas.microsoft.com/office/drawing/2014/main" id="{02873CF5-5F3A-48E2-1457-DB5725EBA2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2982" y="5253343"/>
              <a:ext cx="330291" cy="330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펼쳐진 책 이모티콘 📖">
            <a:extLst>
              <a:ext uri="{FF2B5EF4-FFF2-40B4-BE49-F238E27FC236}">
                <a16:creationId xmlns:a16="http://schemas.microsoft.com/office/drawing/2014/main" id="{0C86B5CB-1D1F-61DA-897A-24F654265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9287" y="165302"/>
            <a:ext cx="814803" cy="81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32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ED7D31"/>
                </a:solidFill>
              </a:rPr>
              <a:t>HTML</a:t>
            </a:r>
            <a:endParaRPr lang="ko-KR" altLang="en-US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8140-662B-4C70-8D54-95183800525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6AA2F-B8E7-A2EF-0578-8EF88B065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52EA24-2D13-56F8-F480-D4CE1C25B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44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7929-DE41-4EFD-B9A3-21C9B8736D52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9672635" y="286313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9619452" y="156579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9649445" y="416048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09D5B2F-BAE4-2D11-FD57-5737AF70E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7532" y="2806148"/>
            <a:ext cx="7233918" cy="62285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2B2B2B"/>
                </a:solidFill>
              </a:rPr>
              <a:t>💡 </a:t>
            </a:r>
            <a:r>
              <a:rPr lang="en-US" altLang="ko-KR" sz="3600" b="1" dirty="0">
                <a:solidFill>
                  <a:srgbClr val="2B2B2B"/>
                </a:solidFill>
              </a:rPr>
              <a:t>Hypertext Markup Language</a:t>
            </a:r>
            <a:endParaRPr lang="ko-KR" altLang="en-US" sz="3600" b="1" dirty="0">
              <a:solidFill>
                <a:srgbClr val="2B2B2B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55FA2E-6F25-ED04-4010-07127101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ACD98A-296E-5205-6F3F-69AA5D2D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DA9F0D-8AC9-C950-4E29-CDDE1C43D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207A9B6-6876-97C7-ABB0-E318FF6E2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566" y="2022705"/>
            <a:ext cx="2616476" cy="337123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91614D6-D49C-8B70-4966-325109E31AF1}"/>
              </a:ext>
            </a:extLst>
          </p:cNvPr>
          <p:cNvSpPr txBox="1">
            <a:spLocks/>
          </p:cNvSpPr>
          <p:nvPr/>
        </p:nvSpPr>
        <p:spPr>
          <a:xfrm>
            <a:off x="4510407" y="3708320"/>
            <a:ext cx="6705600" cy="7858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웹 페이지를 구성하는 가장 기초적인 언어</a:t>
            </a:r>
          </a:p>
        </p:txBody>
      </p:sp>
    </p:spTree>
    <p:extLst>
      <p:ext uri="{BB962C8B-B14F-4D97-AF65-F5344CB8AC3E}">
        <p14:creationId xmlns:p14="http://schemas.microsoft.com/office/powerpoint/2010/main" val="2973108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4372032-120B-9A0C-D8CA-6F064ABEE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541" y="2944240"/>
            <a:ext cx="8600918" cy="962432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altLang="ko-KR" sz="6000" dirty="0">
                <a:solidFill>
                  <a:srgbClr val="FF0000"/>
                </a:solidFill>
                <a:latin typeface="+mj-ea"/>
                <a:ea typeface="+mj-ea"/>
              </a:rPr>
              <a:t>Hypertext</a:t>
            </a:r>
            <a:r>
              <a:rPr lang="en-US" altLang="ko-KR" sz="4400" dirty="0">
                <a:latin typeface="+mj-ea"/>
                <a:ea typeface="+mj-ea"/>
              </a:rPr>
              <a:t> </a:t>
            </a:r>
            <a:r>
              <a:rPr lang="en-US" altLang="ko-KR" sz="6000" dirty="0">
                <a:solidFill>
                  <a:srgbClr val="0070C0"/>
                </a:solidFill>
                <a:latin typeface="+mj-ea"/>
                <a:ea typeface="+mj-ea"/>
              </a:rPr>
              <a:t>Markup</a:t>
            </a:r>
            <a:r>
              <a:rPr lang="en-US" altLang="ko-KR" sz="4400" dirty="0">
                <a:latin typeface="+mj-ea"/>
                <a:ea typeface="+mj-ea"/>
              </a:rPr>
              <a:t> Language</a:t>
            </a:r>
            <a:endParaRPr lang="ko-KR" altLang="en-US" sz="4400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A93B80-D1A2-D6A3-3964-EC0BFB5B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4B4D81-70D0-E858-37B3-9D17CA66F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EF3C5D1-1CAA-A3D2-29C0-1F3AE60AB798}"/>
              </a:ext>
            </a:extLst>
          </p:cNvPr>
          <p:cNvSpPr txBox="1">
            <a:spLocks/>
          </p:cNvSpPr>
          <p:nvPr/>
        </p:nvSpPr>
        <p:spPr>
          <a:xfrm>
            <a:off x="-225467" y="1681579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FF0000"/>
                </a:solidFill>
              </a:rPr>
              <a:t>하이퍼텍스트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2400" dirty="0"/>
              <a:t>웹 페이지에서 다른 페이지로 이동할 수 있도록 하는 것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DB91E2B-653F-6C18-95E5-160071529D9A}"/>
              </a:ext>
            </a:extLst>
          </p:cNvPr>
          <p:cNvSpPr txBox="1">
            <a:spLocks/>
          </p:cNvSpPr>
          <p:nvPr/>
        </p:nvSpPr>
        <p:spPr>
          <a:xfrm>
            <a:off x="2418070" y="4283281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0070C0"/>
                </a:solidFill>
              </a:rPr>
              <a:t>마크업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endParaRPr lang="en-US" altLang="ko-KR" dirty="0">
              <a:solidFill>
                <a:srgbClr val="FF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2400" dirty="0"/>
              <a:t>문서나 데이터의 구조를 명기하는 언어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4BB3170-810E-FB3F-8F1E-0819AFA5228C}"/>
              </a:ext>
            </a:extLst>
          </p:cNvPr>
          <p:cNvCxnSpPr>
            <a:cxnSpLocks/>
          </p:cNvCxnSpPr>
          <p:nvPr/>
        </p:nvCxnSpPr>
        <p:spPr>
          <a:xfrm flipV="1">
            <a:off x="3744685" y="2684069"/>
            <a:ext cx="0" cy="391886"/>
          </a:xfrm>
          <a:prstGeom prst="straightConnector1">
            <a:avLst/>
          </a:prstGeom>
          <a:ln w="25400">
            <a:solidFill>
              <a:srgbClr val="2B2B2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63F696C-10F6-0487-377D-AF6517FEDF68}"/>
              </a:ext>
            </a:extLst>
          </p:cNvPr>
          <p:cNvCxnSpPr>
            <a:cxnSpLocks/>
          </p:cNvCxnSpPr>
          <p:nvPr/>
        </p:nvCxnSpPr>
        <p:spPr>
          <a:xfrm flipV="1">
            <a:off x="6521510" y="3768786"/>
            <a:ext cx="0" cy="391886"/>
          </a:xfrm>
          <a:prstGeom prst="straightConnector1">
            <a:avLst/>
          </a:prstGeom>
          <a:ln w="25400">
            <a:solidFill>
              <a:srgbClr val="2B2B2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64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C69CDC-E9C2-360F-E5DA-BEBC3CE9D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1839" y="1961331"/>
            <a:ext cx="6068321" cy="399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1BF078-1727-925A-CF31-A89190D36191}"/>
              </a:ext>
            </a:extLst>
          </p:cNvPr>
          <p:cNvSpPr txBox="1"/>
          <p:nvPr/>
        </p:nvSpPr>
        <p:spPr>
          <a:xfrm>
            <a:off x="324716" y="113450"/>
            <a:ext cx="6503703" cy="13318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600" dirty="0">
                <a:solidFill>
                  <a:srgbClr val="FF0000"/>
                </a:solidFill>
                <a:latin typeface="+mj-ea"/>
                <a:ea typeface="+mj-ea"/>
              </a:rPr>
              <a:t>Hypertext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: </a:t>
            </a:r>
            <a:r>
              <a:rPr lang="ko-KR" altLang="en-US" sz="2000" dirty="0"/>
              <a:t>웹 페이지에서 다른 페이지로 연결되는 링크를 포함하는 텍스트</a:t>
            </a:r>
          </a:p>
        </p:txBody>
      </p:sp>
    </p:spTree>
    <p:extLst>
      <p:ext uri="{BB962C8B-B14F-4D97-AF65-F5344CB8AC3E}">
        <p14:creationId xmlns:p14="http://schemas.microsoft.com/office/powerpoint/2010/main" val="2648636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B5E08-CDC4-0054-D619-3EB8F985AD1D}"/>
              </a:ext>
            </a:extLst>
          </p:cNvPr>
          <p:cNvSpPr txBox="1"/>
          <p:nvPr/>
        </p:nvSpPr>
        <p:spPr>
          <a:xfrm>
            <a:off x="324959" y="120649"/>
            <a:ext cx="6072886" cy="1331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600" dirty="0">
                <a:solidFill>
                  <a:srgbClr val="0070C0"/>
                </a:solidFill>
                <a:latin typeface="+mj-ea"/>
                <a:ea typeface="+mj-ea"/>
              </a:rPr>
              <a:t>Markup</a:t>
            </a:r>
            <a:br>
              <a:rPr lang="en-US" altLang="ko-KR" sz="3600" dirty="0">
                <a:solidFill>
                  <a:srgbClr val="F9A130"/>
                </a:solidFill>
                <a:latin typeface="+mj-ea"/>
                <a:ea typeface="+mj-ea"/>
              </a:rPr>
            </a:b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태그 등을 이용하여 문서나 데이터의 구조를 명기하는 언어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EA069-3788-3460-1BDD-523F726F3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678" y="2074264"/>
            <a:ext cx="9010644" cy="394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30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036C060-E889-021E-C1D0-70A306032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008" y="1565641"/>
            <a:ext cx="6443942" cy="4179865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/>
              <a:t>HTML5 </a:t>
            </a:r>
            <a:r>
              <a:rPr lang="ko-KR" altLang="en-US" sz="2000" dirty="0"/>
              <a:t>문서는 반드시 </a:t>
            </a:r>
            <a:r>
              <a:rPr lang="en-US" altLang="ko-KR" sz="2000" dirty="0">
                <a:solidFill>
                  <a:srgbClr val="00B050"/>
                </a:solidFill>
              </a:rPr>
              <a:t>&lt;!DOCTYPE html&gt;</a:t>
            </a:r>
            <a:r>
              <a:rPr lang="ko-KR" altLang="en-US" sz="2000" dirty="0"/>
              <a:t>으로 시작하여 문서 형식을 </a:t>
            </a:r>
            <a:r>
              <a:rPr lang="en-US" altLang="ko-KR" sz="2000" dirty="0"/>
              <a:t>HTML5</a:t>
            </a:r>
            <a:r>
              <a:rPr lang="ko-KR" altLang="en-US" sz="2000" dirty="0"/>
              <a:t>로 지정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실제적인 </a:t>
            </a:r>
            <a:r>
              <a:rPr lang="en-US" altLang="ko-KR" sz="2000" dirty="0"/>
              <a:t>HTML </a:t>
            </a:r>
            <a:r>
              <a:rPr lang="ko-KR" altLang="en-US" sz="2000" dirty="0"/>
              <a:t>문서는 </a:t>
            </a:r>
            <a:r>
              <a:rPr lang="en-US" altLang="ko-KR" sz="2000" dirty="0"/>
              <a:t>2</a:t>
            </a:r>
            <a:r>
              <a:rPr lang="ko-KR" altLang="en-US" sz="2000" dirty="0"/>
              <a:t>번째 행부터 시작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6EC173"/>
                </a:solidFill>
              </a:rPr>
              <a:t>&lt;</a:t>
            </a:r>
            <a:r>
              <a:rPr lang="en-US" altLang="ko-KR" sz="2000" dirty="0">
                <a:solidFill>
                  <a:srgbClr val="00B050"/>
                </a:solidFill>
              </a:rPr>
              <a:t>html&gt;</a:t>
            </a:r>
            <a:r>
              <a:rPr lang="ko-KR" altLang="en-US" sz="2000" dirty="0">
                <a:solidFill>
                  <a:srgbClr val="00B050"/>
                </a:solidFill>
              </a:rPr>
              <a:t>과 </a:t>
            </a:r>
            <a:r>
              <a:rPr lang="en-US" altLang="ko-KR" sz="2000" dirty="0">
                <a:solidFill>
                  <a:srgbClr val="00B050"/>
                </a:solidFill>
              </a:rPr>
              <a:t>&lt;/html&gt; </a:t>
            </a:r>
            <a:r>
              <a:rPr lang="ko-KR" altLang="en-US" sz="2000" dirty="0"/>
              <a:t>사이에 작성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>
                <a:solidFill>
                  <a:srgbClr val="00B050"/>
                </a:solidFill>
              </a:rPr>
              <a:t>&lt;head&gt;</a:t>
            </a:r>
            <a:r>
              <a:rPr lang="ko-KR" altLang="en-US" sz="2000" dirty="0">
                <a:solidFill>
                  <a:srgbClr val="00B050"/>
                </a:solidFill>
              </a:rPr>
              <a:t>와 </a:t>
            </a:r>
            <a:r>
              <a:rPr lang="en-US" altLang="ko-KR" sz="2000" dirty="0">
                <a:solidFill>
                  <a:srgbClr val="00B050"/>
                </a:solidFill>
              </a:rPr>
              <a:t>&lt;/head&gt; </a:t>
            </a:r>
            <a:r>
              <a:rPr lang="ko-KR" altLang="en-US" sz="2000" dirty="0"/>
              <a:t>사이에는 </a:t>
            </a:r>
            <a:r>
              <a:rPr lang="en-US" altLang="ko-KR" sz="2000" dirty="0">
                <a:solidFill>
                  <a:srgbClr val="00B050"/>
                </a:solidFill>
              </a:rPr>
              <a:t>HTML </a:t>
            </a:r>
            <a:r>
              <a:rPr lang="ko-KR" altLang="en-US" sz="2000" dirty="0">
                <a:solidFill>
                  <a:srgbClr val="00B050"/>
                </a:solidFill>
              </a:rPr>
              <a:t>문서 정보</a:t>
            </a:r>
            <a:r>
              <a:rPr lang="ko-KR" altLang="en-US" sz="2000" dirty="0"/>
              <a:t>를 정의하는 코드가 포함됨</a:t>
            </a:r>
            <a:r>
              <a:rPr lang="en-US" altLang="ko-KR" sz="2000" dirty="0"/>
              <a:t>(</a:t>
            </a:r>
            <a:r>
              <a:rPr lang="ko-KR" altLang="en-US" sz="2000" dirty="0"/>
              <a:t>제목</a:t>
            </a:r>
            <a:r>
              <a:rPr lang="en-US" altLang="ko-KR" sz="2000" dirty="0"/>
              <a:t>, </a:t>
            </a:r>
            <a:r>
              <a:rPr lang="ko-KR" altLang="en-US" sz="2000" dirty="0"/>
              <a:t>저장 방식</a:t>
            </a:r>
            <a:r>
              <a:rPr lang="en-US" altLang="ko-KR" sz="2000" dirty="0"/>
              <a:t>, </a:t>
            </a:r>
            <a:r>
              <a:rPr lang="ko-KR" altLang="en-US" sz="2000" dirty="0"/>
              <a:t>브라우저의 크기 등등</a:t>
            </a:r>
            <a:r>
              <a:rPr lang="en-US" altLang="ko-KR" sz="2000" dirty="0"/>
              <a:t>)</a:t>
            </a:r>
            <a:endParaRPr lang="en-US" altLang="ko-KR" sz="2000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/>
              <a:t>웹 브라우저에 출력되는 모든 요소는 </a:t>
            </a:r>
            <a:r>
              <a:rPr lang="en-US" altLang="ko-KR" sz="2000" dirty="0">
                <a:solidFill>
                  <a:srgbClr val="00B050"/>
                </a:solidFill>
              </a:rPr>
              <a:t>&lt;body&gt;</a:t>
            </a:r>
            <a:r>
              <a:rPr lang="ko-KR" altLang="en-US" sz="2000" dirty="0">
                <a:solidFill>
                  <a:srgbClr val="00B050"/>
                </a:solidFill>
              </a:rPr>
              <a:t>와 </a:t>
            </a:r>
            <a:r>
              <a:rPr lang="en-US" altLang="ko-KR" sz="2000" dirty="0">
                <a:solidFill>
                  <a:srgbClr val="00B050"/>
                </a:solidFill>
              </a:rPr>
              <a:t>&lt;/body&gt; </a:t>
            </a:r>
            <a:r>
              <a:rPr lang="ko-KR" altLang="en-US" sz="2000" dirty="0"/>
              <a:t>사이에 위치한다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95D9-1944-4F99-AAE6-350D623C222B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의 구조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5EB7512-E5A1-ACEF-C930-9E8D8B4EE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1997910"/>
            <a:ext cx="4543228" cy="331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3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HTML </a:t>
            </a:r>
            <a:r>
              <a:rPr lang="ko-KR" altLang="en-US" sz="2400" dirty="0"/>
              <a:t>문서의 </a:t>
            </a:r>
            <a:r>
              <a:rPr lang="ko-KR" altLang="en-US" sz="2400" dirty="0">
                <a:solidFill>
                  <a:srgbClr val="00B050"/>
                </a:solidFill>
              </a:rPr>
              <a:t>메타 데이터</a:t>
            </a:r>
            <a:r>
              <a:rPr lang="ko-KR" altLang="en-US" sz="2400" dirty="0"/>
              <a:t>와 문서 정보를 정의하는 데 사용되는 태그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🔎 메타 데이터</a:t>
            </a:r>
            <a:r>
              <a:rPr lang="en-US" altLang="ko-KR" sz="2000" dirty="0"/>
              <a:t>: </a:t>
            </a:r>
            <a:r>
              <a:rPr lang="ko-KR" altLang="en-US" sz="2000" dirty="0"/>
              <a:t>데이터에 대한 정보를 제공하는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</a:t>
            </a:r>
            <a:r>
              <a:rPr lang="en-US" altLang="ko-KR" sz="2400" dirty="0"/>
              <a:t>HTML </a:t>
            </a:r>
            <a:r>
              <a:rPr lang="ko-KR" altLang="en-US" sz="2400" dirty="0"/>
              <a:t>문서의 </a:t>
            </a:r>
            <a:r>
              <a:rPr lang="en-US" altLang="ko-KR" sz="2400" dirty="0">
                <a:solidFill>
                  <a:srgbClr val="0070C0"/>
                </a:solidFill>
              </a:rPr>
              <a:t>title, style, link, script, meta </a:t>
            </a:r>
            <a:r>
              <a:rPr lang="ko-KR" altLang="en-US" sz="2400" dirty="0"/>
              <a:t>에 대한 데이터로 화면에 표시되지 않음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chemeClr val="accent1"/>
                </a:solidFill>
              </a:rPr>
              <a:t>title</a:t>
            </a:r>
            <a:r>
              <a:rPr lang="en-US" altLang="ko-KR" sz="2000" dirty="0"/>
              <a:t> : HTML </a:t>
            </a:r>
            <a:r>
              <a:rPr lang="ko-KR" altLang="en-US" sz="2000" dirty="0"/>
              <a:t>문서의 제목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chemeClr val="accent1"/>
                </a:solidFill>
              </a:rPr>
              <a:t>style</a:t>
            </a:r>
            <a:r>
              <a:rPr lang="en-US" altLang="ko-KR" sz="2000" dirty="0"/>
              <a:t> : HTML </a:t>
            </a:r>
            <a:r>
              <a:rPr lang="ko-KR" altLang="en-US" sz="2000" dirty="0"/>
              <a:t>문서의 </a:t>
            </a:r>
            <a:r>
              <a:rPr lang="en-US" altLang="ko-KR" sz="2000" dirty="0"/>
              <a:t>Style </a:t>
            </a:r>
            <a:r>
              <a:rPr lang="ko-KR" altLang="en-US" sz="2000" dirty="0"/>
              <a:t>정보 정의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chemeClr val="accent1"/>
                </a:solidFill>
              </a:rPr>
              <a:t>link</a:t>
            </a:r>
            <a:r>
              <a:rPr lang="en-US" altLang="ko-KR" sz="2000" dirty="0"/>
              <a:t> : </a:t>
            </a:r>
            <a:r>
              <a:rPr lang="ko-KR" altLang="en-US" sz="2000" dirty="0"/>
              <a:t>외부 리소스와의 연결 정보를 정의</a:t>
            </a:r>
            <a:r>
              <a:rPr lang="en-US" altLang="ko-KR" sz="2000" dirty="0"/>
              <a:t>(CSS </a:t>
            </a:r>
            <a:r>
              <a:rPr lang="ko-KR" altLang="en-US" sz="2000" dirty="0"/>
              <a:t>파일 연계에 사용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chemeClr val="accent1"/>
                </a:solidFill>
              </a:rPr>
              <a:t>script</a:t>
            </a:r>
            <a:r>
              <a:rPr lang="en-US" altLang="ko-KR" sz="2000" dirty="0"/>
              <a:t> : JavaScript </a:t>
            </a:r>
            <a:r>
              <a:rPr lang="ko-KR" altLang="en-US" sz="2000" dirty="0"/>
              <a:t>를 정의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chemeClr val="accent1"/>
                </a:solidFill>
              </a:rPr>
              <a:t>meta</a:t>
            </a:r>
            <a:r>
              <a:rPr lang="en-US" altLang="ko-KR" sz="2000" dirty="0"/>
              <a:t> : </a:t>
            </a:r>
            <a:r>
              <a:rPr lang="ko-KR" altLang="en-US" sz="2000" dirty="0"/>
              <a:t>페이지 설명</a:t>
            </a:r>
            <a:r>
              <a:rPr lang="en-US" altLang="ko-KR" sz="2000" dirty="0"/>
              <a:t>, </a:t>
            </a:r>
            <a:r>
              <a:rPr lang="ko-KR" altLang="en-US" sz="2000" dirty="0"/>
              <a:t>키워드</a:t>
            </a:r>
            <a:r>
              <a:rPr lang="en-US" altLang="ko-KR" sz="2000" dirty="0"/>
              <a:t>, </a:t>
            </a:r>
            <a:r>
              <a:rPr lang="ko-KR" altLang="en-US" sz="2000" dirty="0"/>
              <a:t>저자</a:t>
            </a:r>
            <a:r>
              <a:rPr lang="en-US" altLang="ko-KR" sz="2000" dirty="0"/>
              <a:t>, </a:t>
            </a:r>
            <a:r>
              <a:rPr lang="ko-KR" altLang="en-US" sz="2000" dirty="0"/>
              <a:t>화면 크기 등의 정보</a:t>
            </a:r>
            <a:r>
              <a:rPr lang="en-US" altLang="ko-KR" sz="2000" dirty="0"/>
              <a:t>. </a:t>
            </a:r>
            <a:r>
              <a:rPr lang="ko-KR" altLang="en-US" sz="2000" dirty="0"/>
              <a:t>주로 브라우저 또는 검색 엔진에서 사용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450A5-EEAC-4EB9-A4BB-3194074132F5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&lt;head&gt;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38532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HTML</a:t>
            </a:r>
            <a:r>
              <a:rPr lang="en-US" altLang="ko-KR" sz="2400" dirty="0">
                <a:solidFill>
                  <a:srgbClr val="00B050"/>
                </a:solidFill>
              </a:rPr>
              <a:t> </a:t>
            </a:r>
            <a:r>
              <a:rPr lang="ko-KR" altLang="en-US" sz="2400" dirty="0"/>
              <a:t>문서의 </a:t>
            </a:r>
            <a:r>
              <a:rPr lang="ko-KR" altLang="en-US" sz="2400" dirty="0">
                <a:solidFill>
                  <a:srgbClr val="00B050"/>
                </a:solidFill>
              </a:rPr>
              <a:t>실제 콘텐츠</a:t>
            </a:r>
            <a:r>
              <a:rPr lang="ko-KR" altLang="en-US" sz="2400" dirty="0"/>
              <a:t>를 정의하는 데 사용되는 태그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다양한 태그를 사용하여 웹 페이지의 구조를 설계할 수 있음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0A541-7613-44B4-B513-FCD596176F9F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&lt;body&gt;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487490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4">
            <a:extLst>
              <a:ext uri="{FF2B5EF4-FFF2-40B4-BE49-F238E27FC236}">
                <a16:creationId xmlns:a16="http://schemas.microsoft.com/office/drawing/2014/main" id="{8728ACB7-8FD9-8BA8-7376-9DCC1F90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7775" y="1582676"/>
            <a:ext cx="6915291" cy="421064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&lt;html&gt;&lt;/html&gt;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은 웹페이지를 구성하는 모든 요소들을 포함한다</a:t>
            </a:r>
            <a:endParaRPr lang="en-US" altLang="ko-KR" sz="2400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예제를 보면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&lt;html&gt;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은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&lt;head&gt;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와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&lt;body&gt;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를 포함하며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&lt;head&gt;</a:t>
            </a:r>
            <a:r>
              <a:rPr lang="en-US" altLang="ko-KR" sz="2400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는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&lt;meta&gt;</a:t>
            </a:r>
            <a:r>
              <a:rPr lang="en-US" altLang="ko-KR" sz="2400" b="0" i="0" dirty="0">
                <a:solidFill>
                  <a:srgbClr val="00B050"/>
                </a:solidFill>
                <a:effectLst/>
              </a:rPr>
              <a:t> </a:t>
            </a:r>
            <a:r>
              <a:rPr lang="ko-KR" altLang="en-US" sz="2400" b="0" i="0" dirty="0">
                <a:effectLst/>
              </a:rPr>
              <a:t>와</a:t>
            </a:r>
            <a:r>
              <a:rPr lang="en-US" altLang="ko-KR" sz="2400" b="0" i="0" dirty="0">
                <a:solidFill>
                  <a:srgbClr val="00B050"/>
                </a:solidFill>
                <a:effectLst/>
              </a:rPr>
              <a:t>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&lt;title&gt;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요소를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&lt;body&gt;</a:t>
            </a:r>
            <a:r>
              <a:rPr lang="en-US" altLang="ko-KR" sz="2400" b="0" i="0" dirty="0">
                <a:solidFill>
                  <a:srgbClr val="00B050"/>
                </a:solidFill>
                <a:effectLst/>
              </a:rPr>
              <a:t>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요소는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&lt;h1&gt;, &lt;p&gt;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를 포함</a:t>
            </a:r>
            <a:endParaRPr lang="en-US" altLang="ko-KR" sz="2400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sz="2400" b="0" i="0" dirty="0">
                <a:effectLst/>
              </a:rPr>
              <a:t>중첩 관계</a:t>
            </a:r>
            <a:r>
              <a:rPr lang="en-US" altLang="ko-KR" sz="2400" b="0" i="0" dirty="0">
                <a:effectLst/>
              </a:rPr>
              <a:t>(</a:t>
            </a:r>
            <a:r>
              <a:rPr lang="ko-KR" altLang="en-US" sz="2400" b="0" i="0" dirty="0">
                <a:effectLst/>
              </a:rPr>
              <a:t>부모자식 관계</a:t>
            </a:r>
            <a:r>
              <a:rPr lang="en-US" altLang="ko-KR" sz="2400" b="0" i="0" dirty="0">
                <a:effectLst/>
              </a:rPr>
              <a:t>)</a:t>
            </a:r>
            <a:r>
              <a:rPr lang="ko-KR" altLang="en-US" sz="2400" b="0" i="0" dirty="0">
                <a:effectLst/>
              </a:rPr>
              <a:t>로 웹페이지의 구조</a:t>
            </a:r>
            <a:r>
              <a:rPr lang="en-US" altLang="ko-KR" sz="2400" b="0" i="0" dirty="0">
                <a:effectLst/>
              </a:rPr>
              <a:t>(structure)</a:t>
            </a:r>
            <a:r>
              <a:rPr lang="ko-KR" altLang="en-US" sz="2400" b="0" i="0" dirty="0">
                <a:effectLst/>
              </a:rPr>
              <a:t>를 표현한다</a:t>
            </a:r>
            <a:endParaRPr lang="ko-KR" altLang="en-US" sz="240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E54F0-E21D-4792-A98D-B7ACEB0EFA6C}" type="datetime1">
              <a:rPr lang="ko-KR" altLang="en-US" smtClean="0"/>
              <a:t>2026-01-06</a:t>
            </a:fld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 - </a:t>
            </a:r>
            <a:r>
              <a:rPr lang="ko-KR" altLang="en-US" dirty="0"/>
              <a:t>중첩</a:t>
            </a:r>
            <a:r>
              <a:rPr lang="en-US" altLang="ko-KR" dirty="0"/>
              <a:t>(Nested)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99B1002-B4C4-0069-28BA-3DC7BC0D9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284" y="2136046"/>
            <a:ext cx="4253505" cy="310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517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1F228-30DC-7E5C-B825-3983EE129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0287" y="3608350"/>
            <a:ext cx="7591425" cy="1552015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0" i="0" dirty="0">
                <a:solidFill>
                  <a:schemeClr val="accent1"/>
                </a:solidFill>
                <a:effectLst/>
              </a:rPr>
              <a:t>✔️ 주석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(comment)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는 개발자에게 코드를 설명하기 위해 사용</a:t>
            </a:r>
            <a:endParaRPr lang="en-US" altLang="ko-KR" sz="2400" b="0" i="0" dirty="0">
              <a:solidFill>
                <a:srgbClr val="333333"/>
              </a:solidFill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✔️ 브라우저는 주석을 </a:t>
            </a:r>
            <a:r>
              <a:rPr lang="ko-KR" altLang="en-US" sz="2400" b="0" i="0" dirty="0">
                <a:solidFill>
                  <a:schemeClr val="accent1"/>
                </a:solidFill>
                <a:effectLst/>
              </a:rPr>
              <a:t>화면에 표시하지 않는다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.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3C937-8F0D-4DAD-A6A4-A8429524E696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 - </a:t>
            </a:r>
            <a:r>
              <a:rPr lang="ko-KR" altLang="en-US" dirty="0"/>
              <a:t>주석</a:t>
            </a:r>
            <a:r>
              <a:rPr lang="en-US" altLang="ko-KR" dirty="0"/>
              <a:t>(Comments)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DBF26C-F16D-CF0D-F799-FC4CD8E3A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429" y="2225182"/>
            <a:ext cx="7363141" cy="125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205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5DE55960-81DC-6A9E-3F18-F60051465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5382" y="2401888"/>
            <a:ext cx="9881235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3083C678-4045-21BE-B2E7-8DE6E5EFD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357" y="1606831"/>
            <a:ext cx="7591425" cy="60297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HTML </a:t>
            </a:r>
            <a:r>
              <a:rPr lang="ko-KR" altLang="en-US" sz="2400" dirty="0"/>
              <a:t>태그는 태그</a:t>
            </a:r>
            <a:r>
              <a:rPr lang="en-US" altLang="ko-KR" sz="2400" dirty="0"/>
              <a:t>, </a:t>
            </a:r>
            <a:r>
              <a:rPr lang="ko-KR" altLang="en-US" sz="2400" dirty="0"/>
              <a:t>요소</a:t>
            </a:r>
            <a:r>
              <a:rPr lang="en-US" altLang="ko-KR" sz="2400" dirty="0"/>
              <a:t>, </a:t>
            </a:r>
            <a:r>
              <a:rPr lang="ko-KR" altLang="en-US" sz="2400" dirty="0"/>
              <a:t>속성으로 구성 됨</a:t>
            </a: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F0532E90-294C-F16D-4CF2-35760C17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태그의 구성</a:t>
            </a:r>
          </a:p>
        </p:txBody>
      </p:sp>
    </p:spTree>
    <p:extLst>
      <p:ext uri="{BB962C8B-B14F-4D97-AF65-F5344CB8AC3E}">
        <p14:creationId xmlns:p14="http://schemas.microsoft.com/office/powerpoint/2010/main" val="38858203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6967" y="1665978"/>
            <a:ext cx="2698065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ko-KR" sz="3600" dirty="0">
                <a:highlight>
                  <a:srgbClr val="FFFF00"/>
                </a:highlight>
              </a:rPr>
              <a:t>&lt;html&gt;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&lt;head&gt;</a:t>
            </a:r>
            <a:r>
              <a:rPr lang="en-US" altLang="ko-KR" sz="3600" dirty="0"/>
              <a:t>  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&lt;/head&gt;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&lt;body&gt;</a:t>
            </a:r>
            <a:endParaRPr lang="en-US" altLang="ko-KR" sz="3600" dirty="0"/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&lt;/body&gt;</a:t>
            </a:r>
          </a:p>
          <a:p>
            <a:pPr marL="0" indent="0">
              <a:buNone/>
            </a:pPr>
            <a:r>
              <a:rPr lang="en-US" altLang="ko-KR" sz="3600" dirty="0">
                <a:highlight>
                  <a:srgbClr val="00FFFF"/>
                </a:highlight>
              </a:rPr>
              <a:t>&lt;/html&gt;</a:t>
            </a:r>
            <a:endParaRPr lang="ko-KR" altLang="en-US" sz="3600" dirty="0">
              <a:highlight>
                <a:srgbClr val="00FFFF"/>
              </a:highlight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AFF7058-0941-11D6-7BFD-D2D19BEAA751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1) </a:t>
            </a:r>
            <a:r>
              <a:rPr lang="ko-KR" altLang="en-US" dirty="0"/>
              <a:t>태그</a:t>
            </a:r>
          </a:p>
        </p:txBody>
      </p:sp>
      <p:pic>
        <p:nvPicPr>
          <p:cNvPr id="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B4C51E7A-AE52-7D50-4F4A-EC1CE1704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198" y="1299286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122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299286"/>
            <a:ext cx="10515600" cy="5562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✅ 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8A8E-4312-471C-9717-F71E32010857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251788" y="1855532"/>
            <a:ext cx="4672637" cy="19156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>
                <a:latin typeface="+mn-ea"/>
              </a:rPr>
              <a:t>1️⃣</a:t>
            </a:r>
            <a:r>
              <a:rPr lang="ko-KR" altLang="en-US" sz="2400" b="1" dirty="0">
                <a:latin typeface="+mn-ea"/>
              </a:rPr>
              <a:t> 빈 요소 </a:t>
            </a:r>
            <a:r>
              <a:rPr lang="en-US" altLang="ko-KR" sz="2400" b="1" dirty="0">
                <a:latin typeface="+mn-ea"/>
              </a:rPr>
              <a:t>(Empty Element)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✔️ 내용 없이 구조적인 기능만 하는 요소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      (ex) &lt;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&gt;, &lt;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&gt;</a:t>
            </a: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4662BD42-EEE8-A053-E6E2-C3F5797A5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198" y="1299286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3663E1C5-A216-BDE9-40FB-08FCF8749E99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</p:spTree>
    <p:extLst>
      <p:ext uri="{BB962C8B-B14F-4D97-AF65-F5344CB8AC3E}">
        <p14:creationId xmlns:p14="http://schemas.microsoft.com/office/powerpoint/2010/main" val="4132136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BC24C-673B-40D3-9753-EEA1C8CCD9D4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251788" y="185553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>
                <a:latin typeface="+mn-ea"/>
              </a:rPr>
              <a:t>2️⃣ </a:t>
            </a:r>
            <a:r>
              <a:rPr lang="ko-KR" altLang="en-US" sz="2400" b="1" dirty="0">
                <a:latin typeface="+mn-ea"/>
              </a:rPr>
              <a:t>블록 요소 </a:t>
            </a:r>
            <a:r>
              <a:rPr lang="en-US" altLang="ko-KR" sz="2400" b="1" dirty="0">
                <a:latin typeface="+mn-ea"/>
              </a:rPr>
              <a:t>(Block Element)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기본적으로 부모 요소의 전체 너비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(100%)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차지한다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태그가 시작되면 무조건 </a:t>
            </a:r>
            <a:r>
              <a:rPr lang="ko-KR" altLang="en-US" sz="2000" dirty="0" err="1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개행</a:t>
            </a:r>
            <a:r>
              <a:rPr lang="en-US" altLang="ko-KR" sz="20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줄바꿈</a:t>
            </a:r>
            <a:r>
              <a:rPr lang="en-US" altLang="ko-KR" sz="20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일어난다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모든 </a:t>
            </a:r>
            <a:r>
              <a:rPr lang="ko-KR" altLang="en-US" sz="20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인라인 요소를 포함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하거나 </a:t>
            </a:r>
            <a:r>
              <a:rPr lang="ko-KR" altLang="en-US" sz="20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다른 블록 요소를 포함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   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(ex)  &lt;h1&gt;&lt;/h1&gt;, &lt;div&gt;&lt;/div&gt;, &lt;p&gt;&lt;/p&gt;</a:t>
            </a: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E86BB046-8140-9EC2-1E51-08921E4E5089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BB7431B-9FF4-5204-21A7-C4F668BBA284}"/>
              </a:ext>
            </a:extLst>
          </p:cNvPr>
          <p:cNvSpPr txBox="1">
            <a:spLocks/>
          </p:cNvSpPr>
          <p:nvPr/>
        </p:nvSpPr>
        <p:spPr>
          <a:xfrm>
            <a:off x="238991" y="1299286"/>
            <a:ext cx="10515600" cy="556246"/>
          </a:xfrm>
          <a:prstGeom prst="rect">
            <a:avLst/>
          </a:prstGeom>
        </p:spPr>
        <p:txBody>
          <a:bodyPr vert="horz" lIns="90000" tIns="45720" rIns="9000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/>
              <a:t>✅ 시작태그와 종료태그</a:t>
            </a:r>
            <a:r>
              <a:rPr lang="en-US" altLang="ko-KR"/>
              <a:t>, </a:t>
            </a:r>
            <a:r>
              <a:rPr lang="ko-KR" altLang="en-US"/>
              <a:t>그 사이의 내용</a:t>
            </a:r>
            <a:endParaRPr lang="ko-KR" altLang="en-US" dirty="0"/>
          </a:p>
        </p:txBody>
      </p:sp>
      <p:pic>
        <p:nvPicPr>
          <p:cNvPr id="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524C7E05-25D2-CB46-0E9C-821D99E7F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198" y="1299286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04464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37B7F-F527-42BC-BFBF-2A1C33BFA621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251788" y="185553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>
                <a:latin typeface="+mn-ea"/>
              </a:rPr>
              <a:t>3️⃣ </a:t>
            </a:r>
            <a:r>
              <a:rPr lang="ko-KR" altLang="en-US" sz="2400" b="1" dirty="0">
                <a:latin typeface="+mn-ea"/>
              </a:rPr>
              <a:t>인라인 요소 </a:t>
            </a:r>
            <a:r>
              <a:rPr lang="en-US" altLang="ko-KR" sz="2400" b="1" dirty="0">
                <a:latin typeface="+mn-ea"/>
              </a:rPr>
              <a:t>(Inline Element)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텍스트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혹은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크기에 맞는 </a:t>
            </a:r>
            <a:r>
              <a:rPr lang="ko-KR" altLang="en-US" sz="20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필요한 공간만을 차지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하는 요소이다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너비와 높이를 지정할 수 없다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블록 요소 안에 포함되어 있는 것으로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인라인 요소만 가질 수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있다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(ex) &lt;a&gt;&lt;/a&gt;, &lt;span&gt;&lt;/span&gt;, &lt;strong&gt;&lt;/strong&gt;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3804104D-27C5-2C82-13BE-5327241E179C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595540DB-A605-478D-9BC2-BFF4AD5B78F7}"/>
              </a:ext>
            </a:extLst>
          </p:cNvPr>
          <p:cNvSpPr txBox="1">
            <a:spLocks/>
          </p:cNvSpPr>
          <p:nvPr/>
        </p:nvSpPr>
        <p:spPr>
          <a:xfrm>
            <a:off x="238991" y="1299286"/>
            <a:ext cx="10515600" cy="556246"/>
          </a:xfrm>
          <a:prstGeom prst="rect">
            <a:avLst/>
          </a:prstGeom>
        </p:spPr>
        <p:txBody>
          <a:bodyPr vert="horz" lIns="90000" tIns="45720" rIns="9000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/>
              <a:t>✅ 시작태그와 종료태그</a:t>
            </a:r>
            <a:r>
              <a:rPr lang="en-US" altLang="ko-KR"/>
              <a:t>, </a:t>
            </a:r>
            <a:r>
              <a:rPr lang="ko-KR" altLang="en-US"/>
              <a:t>그 사이의 내용</a:t>
            </a:r>
            <a:endParaRPr lang="ko-KR" altLang="en-US" dirty="0"/>
          </a:p>
        </p:txBody>
      </p:sp>
      <p:pic>
        <p:nvPicPr>
          <p:cNvPr id="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2EA6130A-2F84-6D72-EF41-594A47637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198" y="1299286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324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73982"/>
            <a:ext cx="10515600" cy="345847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태그를 보조하는 명령어로 태그 안쪽에서 작동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/>
              <a:t>id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b="1" dirty="0"/>
              <a:t>class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style, width, height </a:t>
            </a:r>
            <a:r>
              <a:rPr lang="ko-KR" altLang="en-US" dirty="0"/>
              <a:t>등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태그마다 사용 가능한 속성이 정해져 있음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Id, class, style</a:t>
            </a:r>
            <a:r>
              <a:rPr lang="ko-KR" altLang="en-US" dirty="0"/>
              <a:t>은 모든 요소가 사용할 수 있는 속성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ex) </a:t>
            </a:r>
            <a:r>
              <a:rPr lang="en-US" altLang="ko-KR" dirty="0">
                <a:cs typeface="Arial" panose="020B0604020202020204" pitchFamily="34" charset="0"/>
              </a:rPr>
              <a:t>&lt;a </a:t>
            </a:r>
            <a:r>
              <a:rPr lang="en-US" altLang="ko-KR" dirty="0" err="1">
                <a:cs typeface="Arial" panose="020B0604020202020204" pitchFamily="34" charset="0"/>
              </a:rPr>
              <a:t>href</a:t>
            </a:r>
            <a:r>
              <a:rPr lang="en-US" altLang="ko-KR" dirty="0">
                <a:cs typeface="Arial" panose="020B0604020202020204" pitchFamily="34" charset="0"/>
              </a:rPr>
              <a:t>=“” style=“”&gt; &lt;/a&gt;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9FA044-78D0-41E6-8971-9762389E4B2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20A535-2DA7-CE0F-418B-3AD7FF367E6D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3) </a:t>
            </a:r>
            <a:r>
              <a:rPr lang="ko-KR" altLang="en-US" dirty="0"/>
              <a:t>속성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028C1832-E991-CB6A-A249-E5E79A4D1A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198" y="1299286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90663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>
                <a:solidFill>
                  <a:srgbClr val="ED7D31"/>
                </a:solidFill>
              </a:rPr>
              <a:t>tag </a:t>
            </a:r>
            <a:r>
              <a:rPr lang="ko-KR" altLang="en-US" sz="8000" dirty="0">
                <a:solidFill>
                  <a:srgbClr val="ED7D31"/>
                </a:solidFill>
              </a:rPr>
              <a:t>종류</a:t>
            </a:r>
          </a:p>
        </p:txBody>
      </p:sp>
    </p:spTree>
    <p:extLst>
      <p:ext uri="{BB962C8B-B14F-4D97-AF65-F5344CB8AC3E}">
        <p14:creationId xmlns:p14="http://schemas.microsoft.com/office/powerpoint/2010/main" val="261684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DCF5AE6-3C46-F957-2FEF-A16489A110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845" t="14549" r="16724" b="18263"/>
          <a:stretch>
            <a:fillRect/>
          </a:stretch>
        </p:blipFill>
        <p:spPr>
          <a:xfrm>
            <a:off x="400916" y="1628774"/>
            <a:ext cx="3662987" cy="3600451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D48C-8DCB-41F1-ABBC-B8FF679AC18D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770517E2-1937-C60C-6FE3-8559F1378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웹에서 </a:t>
            </a:r>
            <a:r>
              <a:rPr lang="en-US" altLang="ko-KR" dirty="0"/>
              <a:t>HTML </a:t>
            </a:r>
            <a:r>
              <a:rPr lang="ko-KR" altLang="en-US" dirty="0"/>
              <a:t>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53FEAF-502D-F353-3656-5B10292BF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910321"/>
            <a:ext cx="7447684" cy="12054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0F262DC-DAA7-74C5-744A-E8453739A0D0}"/>
              </a:ext>
            </a:extLst>
          </p:cNvPr>
          <p:cNvSpPr>
            <a:spLocks/>
          </p:cNvSpPr>
          <p:nvPr/>
        </p:nvSpPr>
        <p:spPr>
          <a:xfrm flipH="1" flipV="1">
            <a:off x="4758928" y="3124196"/>
            <a:ext cx="1401366" cy="210736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4775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8BDBB-F47E-FE41-9E0F-D8DF48E3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AD9697B-DA1F-A2D8-2366-8222CDA49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태그</a:t>
            </a:r>
            <a:r>
              <a:rPr lang="en-US" altLang="ko-KR" dirty="0"/>
              <a:t>(Tag)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9F2227E-103C-0520-E1E9-D4D3175FD03A}"/>
              </a:ext>
            </a:extLst>
          </p:cNvPr>
          <p:cNvSpPr txBox="1">
            <a:spLocks/>
          </p:cNvSpPr>
          <p:nvPr/>
        </p:nvSpPr>
        <p:spPr>
          <a:xfrm>
            <a:off x="602636" y="1281985"/>
            <a:ext cx="10986728" cy="449228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 태그의 대표적인 종류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제목 태그 </a:t>
            </a:r>
            <a:r>
              <a:rPr lang="en-US" altLang="ko-KR" sz="2000" dirty="0"/>
              <a:t>: h1 ~ h6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본문 태그 </a:t>
            </a:r>
            <a:r>
              <a:rPr lang="en-US" altLang="ko-KR" sz="2000" dirty="0"/>
              <a:t>: p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문단 태그 </a:t>
            </a:r>
            <a:r>
              <a:rPr lang="en-US" altLang="ko-KR" sz="2000" dirty="0"/>
              <a:t>: div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링크 태그 </a:t>
            </a:r>
            <a:r>
              <a:rPr lang="en-US" altLang="ko-KR" sz="2000" dirty="0"/>
              <a:t>: a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목록 태그 </a:t>
            </a:r>
            <a:r>
              <a:rPr lang="en-US" altLang="ko-KR" sz="2000" dirty="0"/>
              <a:t>: ul, </a:t>
            </a:r>
            <a:r>
              <a:rPr lang="en-US" altLang="ko-KR" sz="2000" dirty="0" err="1"/>
              <a:t>ol</a:t>
            </a:r>
            <a:r>
              <a:rPr lang="en-US" altLang="ko-KR" sz="2000" dirty="0"/>
              <a:t>, li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이미지 태그 </a:t>
            </a:r>
            <a:r>
              <a:rPr lang="en-US" altLang="ko-KR" sz="2000" dirty="0"/>
              <a:t>: </a:t>
            </a:r>
            <a:r>
              <a:rPr lang="en-US" altLang="ko-KR" sz="2000" dirty="0" err="1"/>
              <a:t>img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입력 태그 </a:t>
            </a:r>
            <a:r>
              <a:rPr lang="en-US" altLang="ko-KR" sz="2000" dirty="0"/>
              <a:t>: input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</p:txBody>
      </p:sp>
      <p:pic>
        <p:nvPicPr>
          <p:cNvPr id="6146" name="Picture 2" descr="HTML - 위키백과, 우리 모두의 백과사전">
            <a:extLst>
              <a:ext uri="{FF2B5EF4-FFF2-40B4-BE49-F238E27FC236}">
                <a16:creationId xmlns:a16="http://schemas.microsoft.com/office/drawing/2014/main" id="{B2D87975-2DBC-C7F9-2F77-5C61F2BD6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266" y="1469367"/>
            <a:ext cx="5470185" cy="4106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8294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3327534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제목을 뜻하는 </a:t>
            </a:r>
            <a:r>
              <a:rPr lang="en-US" altLang="ko-KR" dirty="0">
                <a:solidFill>
                  <a:schemeClr val="accent1"/>
                </a:solidFill>
              </a:rPr>
              <a:t>Heading</a:t>
            </a:r>
            <a:r>
              <a:rPr lang="ko-KR" altLang="en-US" dirty="0"/>
              <a:t>의 약자</a:t>
            </a:r>
            <a:r>
              <a:rPr lang="en-US" altLang="ko-KR" dirty="0"/>
              <a:t>, h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chemeClr val="accent1"/>
                </a:solidFill>
              </a:rPr>
              <a:t>자동 줄 바꿈</a:t>
            </a:r>
            <a:r>
              <a:rPr lang="en-US" altLang="ko-KR" dirty="0">
                <a:solidFill>
                  <a:schemeClr val="accent1"/>
                </a:solidFill>
              </a:rPr>
              <a:t>! </a:t>
            </a:r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/>
              <a:t>제목이니까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하나의 </a:t>
            </a:r>
            <a:r>
              <a:rPr lang="en-US" altLang="ko-KR" dirty="0"/>
              <a:t>HTML </a:t>
            </a:r>
            <a:r>
              <a:rPr lang="ko-KR" altLang="en-US" dirty="0"/>
              <a:t>문서에는 </a:t>
            </a:r>
            <a:r>
              <a:rPr lang="ko-KR" altLang="en-US" dirty="0">
                <a:solidFill>
                  <a:schemeClr val="accent1"/>
                </a:solidFill>
              </a:rPr>
              <a:t>하나의 </a:t>
            </a:r>
            <a:r>
              <a:rPr lang="en-US" altLang="ko-KR" dirty="0">
                <a:solidFill>
                  <a:schemeClr val="accent1"/>
                </a:solidFill>
              </a:rPr>
              <a:t>h1 </a:t>
            </a:r>
            <a:r>
              <a:rPr lang="ko-KR" altLang="en-US" dirty="0">
                <a:solidFill>
                  <a:schemeClr val="accent1"/>
                </a:solidFill>
              </a:rPr>
              <a:t>태그를 권장</a:t>
            </a:r>
            <a:endParaRPr lang="en-US" altLang="ko-KR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웹 검색 엔진이 제일 먼저 검색하는 태그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2A0B0-3066-4F8E-9BAC-0ECCBF49FC15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 태그</a:t>
            </a:r>
            <a:r>
              <a:rPr lang="en-US" altLang="ko-KR" dirty="0"/>
              <a:t> - </a:t>
            </a:r>
            <a:r>
              <a:rPr lang="en-US" altLang="ko-KR" dirty="0">
                <a:solidFill>
                  <a:schemeClr val="accent1"/>
                </a:solidFill>
              </a:rPr>
              <a:t>&lt;h1~6&gt;&lt;/h1~6&gt;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02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152730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본문을 뜻하는 </a:t>
            </a:r>
            <a:r>
              <a:rPr lang="en-US" altLang="ko-KR" dirty="0">
                <a:solidFill>
                  <a:schemeClr val="accent1"/>
                </a:solidFill>
              </a:rPr>
              <a:t>paragraph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&lt;p&gt;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본문을 적기 위한 태그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429AF-CDF6-414F-9A6D-850B604A3A93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</a:rPr>
              <a:t>본문 태그</a:t>
            </a:r>
            <a:r>
              <a:rPr lang="en-US" altLang="ko-KR" dirty="0">
                <a:latin typeface="+mj-ea"/>
              </a:rPr>
              <a:t> - </a:t>
            </a:r>
            <a:r>
              <a:rPr lang="en-US" altLang="ko-KR" dirty="0">
                <a:solidFill>
                  <a:schemeClr val="accent1"/>
                </a:solidFill>
                <a:latin typeface="+mj-ea"/>
              </a:rPr>
              <a:t>&lt;p&gt;&lt;/p&gt;</a:t>
            </a:r>
            <a:endParaRPr lang="ko-KR" altLang="en-US" dirty="0">
              <a:solidFill>
                <a:schemeClr val="accent1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262197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💡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br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:</a:t>
            </a:r>
            <a:r>
              <a:rPr lang="en-US" altLang="ko-KR" dirty="0">
                <a:solidFill>
                  <a:schemeClr val="accent1"/>
                </a:solidFill>
              </a:rPr>
              <a:t> Br</a:t>
            </a:r>
            <a:r>
              <a:rPr lang="en-US" altLang="ko-KR" dirty="0"/>
              <a:t>eak line</a:t>
            </a:r>
            <a:r>
              <a:rPr lang="ko-KR" altLang="en-US" dirty="0"/>
              <a:t>의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 err="1">
                <a:solidFill>
                  <a:schemeClr val="accent1"/>
                </a:solidFill>
              </a:rPr>
              <a:t>br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줄을 바꿔 줌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hr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: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수평으로 된 줄을 그어 줌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BD38DC-8B64-47A0-A830-1FF09837E62A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 바꿈 태그</a:t>
            </a:r>
            <a:r>
              <a:rPr lang="en-US" altLang="ko-KR" dirty="0"/>
              <a:t> -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br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r>
              <a:rPr lang="en-US" altLang="ko-KR" dirty="0"/>
              <a:t>,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수평 줄</a:t>
            </a:r>
            <a:r>
              <a:rPr lang="en-US" altLang="ko-KR" dirty="0"/>
              <a:t> -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hr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912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616" y="2825690"/>
            <a:ext cx="6002609" cy="1784350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💡 </a:t>
            </a:r>
            <a:r>
              <a:rPr lang="en-US" altLang="ko-KR" dirty="0">
                <a:solidFill>
                  <a:schemeClr val="accent1"/>
                </a:solidFill>
              </a:rPr>
              <a:t>&lt;ul&gt;</a:t>
            </a:r>
            <a:r>
              <a:rPr lang="en-US" altLang="ko-KR" dirty="0"/>
              <a:t>: </a:t>
            </a:r>
            <a:r>
              <a:rPr lang="ko-KR" altLang="en-US" dirty="0"/>
              <a:t>순서 없는 목록 </a:t>
            </a:r>
            <a:r>
              <a:rPr lang="en-US" altLang="ko-KR" dirty="0"/>
              <a:t>(unordered list)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💡 </a:t>
            </a:r>
            <a:r>
              <a:rPr lang="en-US" altLang="ko-KR" dirty="0">
                <a:solidFill>
                  <a:schemeClr val="accent1"/>
                </a:solidFill>
              </a:rPr>
              <a:t>&lt;ol&gt;</a:t>
            </a:r>
            <a:r>
              <a:rPr lang="en-US" altLang="ko-KR" dirty="0"/>
              <a:t>:</a:t>
            </a:r>
            <a:r>
              <a:rPr lang="ko-KR" altLang="en-US" dirty="0"/>
              <a:t> 순서 있는 목록 </a:t>
            </a:r>
            <a:r>
              <a:rPr lang="en-US" altLang="ko-KR" dirty="0"/>
              <a:t>(ordered list)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59FD3-5012-417D-9896-27B045C7CD66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29</a:t>
            </a:fld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709" y="2027878"/>
            <a:ext cx="5322200" cy="3379975"/>
          </a:xfrm>
          <a:prstGeom prst="rect">
            <a:avLst/>
          </a:prstGeom>
        </p:spPr>
      </p:pic>
      <p:sp>
        <p:nvSpPr>
          <p:cNvPr id="10" name="제목 9">
            <a:extLst>
              <a:ext uri="{FF2B5EF4-FFF2-40B4-BE49-F238E27FC236}">
                <a16:creationId xmlns:a16="http://schemas.microsoft.com/office/drawing/2014/main" id="{37D365E0-F41B-1235-988F-79E550626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목록</a:t>
            </a:r>
            <a:r>
              <a:rPr lang="en-US" altLang="ko-KR" dirty="0"/>
              <a:t> - </a:t>
            </a:r>
            <a:r>
              <a:rPr lang="en-US" altLang="ko-KR" dirty="0">
                <a:solidFill>
                  <a:schemeClr val="accent1"/>
                </a:solidFill>
              </a:rPr>
              <a:t>&lt;ul&gt;&lt;/ul&gt; </a:t>
            </a:r>
            <a:r>
              <a:rPr lang="en-US" altLang="ko-KR" dirty="0"/>
              <a:t>or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ol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ol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37289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501431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✔️ </a:t>
            </a:r>
            <a:r>
              <a:rPr lang="en-US" altLang="ko-KR" dirty="0">
                <a:solidFill>
                  <a:schemeClr val="accent1"/>
                </a:solidFill>
              </a:rPr>
              <a:t>&lt;b&gt;&lt;/b&gt;</a:t>
            </a:r>
            <a:r>
              <a:rPr lang="en-US" altLang="ko-KR" dirty="0"/>
              <a:t>: </a:t>
            </a:r>
            <a:r>
              <a:rPr lang="ko-KR" altLang="en-US" dirty="0"/>
              <a:t>두껍게</a:t>
            </a:r>
            <a:r>
              <a:rPr lang="en-US" altLang="ko-KR" dirty="0"/>
              <a:t>!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✔️ </a:t>
            </a:r>
            <a:r>
              <a:rPr lang="en-US" altLang="ko-KR" dirty="0">
                <a:solidFill>
                  <a:schemeClr val="accent1"/>
                </a:solidFill>
              </a:rPr>
              <a:t>&lt;strong&gt;&lt;/strong&gt;</a:t>
            </a:r>
            <a:r>
              <a:rPr lang="en-US" altLang="ko-KR" dirty="0"/>
              <a:t>: </a:t>
            </a:r>
            <a:r>
              <a:rPr lang="ko-KR" altLang="en-US" dirty="0"/>
              <a:t>두껍게</a:t>
            </a:r>
            <a:r>
              <a:rPr lang="en-US" altLang="ko-KR" dirty="0"/>
              <a:t>! +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accent1"/>
                </a:solidFill>
              </a:rPr>
              <a:t>Semantic </a:t>
            </a:r>
            <a:r>
              <a:rPr lang="ko-KR" altLang="en-US" dirty="0">
                <a:solidFill>
                  <a:schemeClr val="accent1"/>
                </a:solidFill>
              </a:rPr>
              <a:t>한</a:t>
            </a:r>
            <a:r>
              <a:rPr lang="ko-KR" altLang="en-US" dirty="0"/>
              <a:t> 의미를 지님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✔️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i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i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r>
              <a:rPr lang="en-US" altLang="ko-KR" dirty="0"/>
              <a:t>: </a:t>
            </a:r>
            <a:r>
              <a:rPr lang="ko-KR" altLang="en-US" dirty="0"/>
              <a:t>이탤릭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✔️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em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em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r>
              <a:rPr lang="en-US" altLang="ko-KR" dirty="0"/>
              <a:t>: Emphasized, </a:t>
            </a:r>
            <a:r>
              <a:rPr lang="ko-KR" altLang="en-US" dirty="0"/>
              <a:t>강조</a:t>
            </a:r>
            <a:r>
              <a:rPr lang="en-US" altLang="ko-KR" dirty="0"/>
              <a:t>! </a:t>
            </a:r>
            <a:r>
              <a:rPr lang="ko-KR" altLang="en-US" dirty="0"/>
              <a:t>기울여서 표시됨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✔️ </a:t>
            </a:r>
            <a:r>
              <a:rPr lang="en-US" altLang="ko-KR" dirty="0">
                <a:solidFill>
                  <a:schemeClr val="accent1"/>
                </a:solidFill>
              </a:rPr>
              <a:t>&lt;del&gt;&lt;/del&gt;</a:t>
            </a:r>
            <a:r>
              <a:rPr lang="en-US" altLang="ko-KR" dirty="0"/>
              <a:t>: </a:t>
            </a:r>
            <a:r>
              <a:rPr lang="ko-KR" altLang="en-US" dirty="0"/>
              <a:t>중간 줄</a:t>
            </a:r>
            <a:r>
              <a:rPr lang="en-US" altLang="ko-KR" dirty="0"/>
              <a:t>!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✔️ </a:t>
            </a:r>
            <a:r>
              <a:rPr lang="en-US" altLang="ko-KR" dirty="0">
                <a:solidFill>
                  <a:schemeClr val="accent1"/>
                </a:solidFill>
              </a:rPr>
              <a:t>&lt;u&gt;&lt;/u&gt;</a:t>
            </a:r>
            <a:r>
              <a:rPr lang="en-US" altLang="ko-KR" dirty="0"/>
              <a:t>: </a:t>
            </a:r>
            <a:r>
              <a:rPr lang="ko-KR" altLang="en-US" dirty="0"/>
              <a:t>밑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08BAE-7F50-4B88-B7A1-F6A865A29A4B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 꾸미기 태그들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33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HTML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기본 태그 실습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b="0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[HTML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b="1" dirty="0">
                <a:solidFill>
                  <a:schemeClr val="accent1"/>
                </a:solidFill>
                <a:latin typeface="+mn-ea"/>
              </a:rPr>
              <a:t>기본 태그 사용하기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카페 음료 문서 작성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3204054" y="1880401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55921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312750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💡 이미지</a:t>
            </a:r>
            <a:r>
              <a:rPr lang="ko-KR" altLang="en-US" dirty="0"/>
              <a:t>를 넣을 때 사용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chemeClr val="accent1"/>
                </a:solidFill>
              </a:rPr>
              <a:t>속성 </a:t>
            </a:r>
            <a:r>
              <a:rPr lang="ko-KR" altLang="en-US" dirty="0"/>
              <a:t>값 중 하나인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dirty="0" err="1">
                <a:solidFill>
                  <a:schemeClr val="accent1"/>
                </a:solidFill>
              </a:rPr>
              <a:t>src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이미지 로드가 안될 경우 </a:t>
            </a:r>
            <a:r>
              <a:rPr lang="en-US" altLang="ko-KR" dirty="0">
                <a:solidFill>
                  <a:schemeClr val="accent1"/>
                </a:solidFill>
              </a:rPr>
              <a:t>alt </a:t>
            </a:r>
            <a:r>
              <a:rPr lang="ko-KR" altLang="en-US" dirty="0">
                <a:solidFill>
                  <a:schemeClr val="accent1"/>
                </a:solidFill>
              </a:rPr>
              <a:t>속성</a:t>
            </a:r>
            <a:r>
              <a:rPr lang="ko-KR" altLang="en-US" dirty="0"/>
              <a:t>이 중요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파일을 직접 가져오거나</a:t>
            </a:r>
            <a:r>
              <a:rPr lang="en-US" altLang="ko-KR" dirty="0"/>
              <a:t>, </a:t>
            </a:r>
            <a:r>
              <a:rPr lang="ko-KR" altLang="en-US" dirty="0"/>
              <a:t>인터넷 주소에서 불러올 수 있음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18CED-2597-4667-A518-B6308FA44F17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이미지를 넣어주는</a:t>
            </a:r>
            <a:r>
              <a:rPr lang="en-US" altLang="ko-KR" dirty="0">
                <a:solidFill>
                  <a:schemeClr val="accent1"/>
                </a:solidFill>
              </a:rPr>
              <a:t> &lt;</a:t>
            </a:r>
            <a:r>
              <a:rPr lang="en-US" altLang="ko-KR" dirty="0" err="1">
                <a:solidFill>
                  <a:schemeClr val="accent1"/>
                </a:solidFill>
              </a:rPr>
              <a:t>img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611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386093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Anchor </a:t>
            </a:r>
            <a:r>
              <a:rPr lang="ko-KR" altLang="en-US" dirty="0"/>
              <a:t>의 약자인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&lt;a&gt; </a:t>
            </a:r>
            <a:r>
              <a:rPr lang="ko-KR" altLang="en-US" dirty="0"/>
              <a:t>태그 사용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속성 값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</a:rPr>
              <a:t>href</a:t>
            </a:r>
            <a:r>
              <a:rPr lang="en-US" altLang="ko-KR" dirty="0"/>
              <a:t> : Hypertext Reference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ko-KR" altLang="en-US" dirty="0"/>
              <a:t>이동할 페이지의 링크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target</a:t>
            </a:r>
            <a:r>
              <a:rPr lang="en-US" altLang="ko-KR" dirty="0"/>
              <a:t> : </a:t>
            </a:r>
            <a:r>
              <a:rPr lang="ko-KR" altLang="en-US" dirty="0"/>
              <a:t>링크 된 문서를 열었을 때 문서가 열릴 위치 표시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_blank : </a:t>
            </a:r>
            <a:r>
              <a:rPr lang="ko-KR" altLang="en-US" dirty="0"/>
              <a:t>새로운 탭에서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_self : </a:t>
            </a:r>
            <a:r>
              <a:rPr lang="ko-KR" altLang="en-US" dirty="0"/>
              <a:t>현재 탭에서 </a:t>
            </a:r>
            <a:r>
              <a:rPr lang="en-US" altLang="ko-KR" dirty="0"/>
              <a:t>(</a:t>
            </a:r>
            <a:r>
              <a:rPr lang="ko-KR" altLang="en-US" dirty="0"/>
              <a:t>기본 값</a:t>
            </a:r>
            <a:r>
              <a:rPr lang="en-US" altLang="ko-KR" dirty="0"/>
              <a:t>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85C8E-84F8-4DED-A0D7-2C67F0F12C0A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의 </a:t>
            </a:r>
            <a:r>
              <a:rPr lang="ko-KR" altLang="en-US" dirty="0">
                <a:solidFill>
                  <a:schemeClr val="accent1"/>
                </a:solidFill>
              </a:rPr>
              <a:t>하이퍼링크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-</a:t>
            </a:r>
            <a:r>
              <a:rPr lang="en-US" altLang="ko-KR" dirty="0">
                <a:solidFill>
                  <a:schemeClr val="accent1"/>
                </a:solidFill>
              </a:rPr>
              <a:t> &lt;a&gt;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1909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48514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앞에서 진행한 </a:t>
            </a:r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1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에 이미지를 </a:t>
            </a:r>
            <a:r>
              <a:rPr lang="ko-KR" altLang="en-US" dirty="0" err="1"/>
              <a:t>추가하시오</a:t>
            </a:r>
            <a:r>
              <a:rPr lang="en-US" altLang="ko-KR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이미지를 클릭했을 때 원하는 링크로 이동하게 </a:t>
            </a:r>
            <a:r>
              <a:rPr lang="ko-KR" altLang="en-US" dirty="0" err="1"/>
              <a:t>하시오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E0ABFE4-66A0-DA73-98C0-A554BF26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선택 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en-US" altLang="ko-KR" dirty="0" err="1">
                <a:solidFill>
                  <a:srgbClr val="ED7D31"/>
                </a:solidFill>
              </a:rPr>
              <a:t>img</a:t>
            </a:r>
            <a:r>
              <a:rPr lang="en-US" altLang="ko-KR" dirty="0">
                <a:solidFill>
                  <a:srgbClr val="ED7D31"/>
                </a:solidFill>
              </a:rPr>
              <a:t>,</a:t>
            </a:r>
            <a:r>
              <a:rPr lang="ko-KR" altLang="en-US" dirty="0">
                <a:solidFill>
                  <a:srgbClr val="ED7D31"/>
                </a:solidFill>
              </a:rPr>
              <a:t> </a:t>
            </a:r>
            <a:r>
              <a:rPr lang="en-US" altLang="ko-KR" dirty="0">
                <a:solidFill>
                  <a:srgbClr val="ED7D31"/>
                </a:solidFill>
              </a:rPr>
              <a:t>a</a:t>
            </a:r>
            <a:r>
              <a:rPr lang="ko-KR" altLang="en-US" dirty="0">
                <a:solidFill>
                  <a:srgbClr val="ED7D31"/>
                </a:solidFill>
              </a:rPr>
              <a:t> 태그 실습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06191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사용자 입력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>
                <a:solidFill>
                  <a:srgbClr val="ED7D31"/>
                </a:solidFill>
              </a:rPr>
              <a:t>Form </a:t>
            </a:r>
            <a:r>
              <a:rPr lang="ko-KR" altLang="en-US" sz="6000" dirty="0">
                <a:solidFill>
                  <a:srgbClr val="ED7D31"/>
                </a:solidFill>
              </a:rPr>
              <a:t>태그 </a:t>
            </a:r>
            <a:r>
              <a:rPr lang="en-US" altLang="ko-KR" sz="6000" dirty="0">
                <a:solidFill>
                  <a:srgbClr val="ED7D31"/>
                </a:solidFill>
              </a:rPr>
              <a:t>&amp; Input </a:t>
            </a:r>
            <a:r>
              <a:rPr lang="ko-KR" altLang="en-US" sz="6000" dirty="0">
                <a:solidFill>
                  <a:srgbClr val="ED7D31"/>
                </a:solidFill>
              </a:rPr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815915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사용자에게 입력을 받는 태그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type : button, text, password, checkbox, radio, date, color, range, file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933F-0537-40E7-B48D-B5C53C90AF6F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입력 값 받기</a:t>
            </a:r>
            <a:r>
              <a:rPr lang="en-US" altLang="ko-KR" dirty="0"/>
              <a:t> - </a:t>
            </a:r>
            <a:r>
              <a:rPr lang="en-US" altLang="ko-KR" dirty="0">
                <a:solidFill>
                  <a:schemeClr val="accent1"/>
                </a:solidFill>
              </a:rPr>
              <a:t>&lt;input&gt;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9829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5434638" cy="140348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💡버튼을 생성</a:t>
            </a:r>
            <a:endParaRPr lang="en-US" altLang="ko-KR" dirty="0"/>
          </a:p>
          <a:p>
            <a:pPr lvl="1"/>
            <a:r>
              <a:rPr lang="ko-KR" altLang="en-US" dirty="0"/>
              <a:t>주로 특정 기능을 수행 시킬 때 사용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24CD-2281-47EB-83C5-6799704FD369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버튼</a:t>
            </a:r>
            <a:r>
              <a:rPr lang="en-US" altLang="ko-KR" dirty="0"/>
              <a:t>, type=“button”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874" y="3434733"/>
            <a:ext cx="6995851" cy="51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4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텍스트 입력 값을 받는 폼을 생성</a:t>
            </a:r>
            <a:endParaRPr lang="en-US" altLang="ko-KR" dirty="0"/>
          </a:p>
          <a:p>
            <a:r>
              <a:rPr lang="ko-KR" altLang="en-US" dirty="0"/>
              <a:t>우리가 입력하는 </a:t>
            </a:r>
            <a:r>
              <a:rPr lang="en-US" altLang="ko-KR" dirty="0"/>
              <a:t>ID </a:t>
            </a:r>
            <a:r>
              <a:rPr lang="ko-KR" altLang="en-US" dirty="0"/>
              <a:t>입력 부분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텍스트 값을 입력 받아 전달하는 기능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4BD02-BEFC-43DA-BA86-BED505C5AF55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텍스트</a:t>
            </a:r>
            <a:r>
              <a:rPr lang="en-US" altLang="ko-KR" dirty="0"/>
              <a:t>, type=“text”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5143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비밀번호 값을 받는 폼을 생성</a:t>
            </a:r>
            <a:endParaRPr lang="en-US" altLang="ko-KR" dirty="0"/>
          </a:p>
          <a:p>
            <a:r>
              <a:rPr lang="ko-KR" altLang="en-US" dirty="0"/>
              <a:t>입력 값을 자동으로 안보이게 처리</a:t>
            </a:r>
            <a:endParaRPr lang="en-US" altLang="ko-KR" dirty="0"/>
          </a:p>
          <a:p>
            <a:r>
              <a:rPr lang="ko-KR" altLang="en-US" dirty="0"/>
              <a:t>중요 </a:t>
            </a:r>
            <a:r>
              <a:rPr lang="en-US" altLang="ko-KR" dirty="0"/>
              <a:t>or</a:t>
            </a:r>
            <a:r>
              <a:rPr lang="ko-KR" altLang="en-US" dirty="0"/>
              <a:t> 비밀 텍스트 값을 전달하는 기능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FD069-7B29-400B-B981-595818B69B15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패스워드</a:t>
            </a:r>
            <a:r>
              <a:rPr lang="en-US" altLang="ko-KR" dirty="0"/>
              <a:t>, type=“password”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8349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53331"/>
            <a:ext cx="10737028" cy="4351338"/>
          </a:xfrm>
        </p:spPr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여러 개를 선택 가능</a:t>
            </a:r>
            <a:r>
              <a:rPr lang="ko-KR" altLang="en-US" dirty="0"/>
              <a:t>한 체크 박스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체크 박스의 이름</a:t>
            </a:r>
            <a:r>
              <a:rPr lang="en-US" altLang="ko-KR" dirty="0"/>
              <a:t>, </a:t>
            </a:r>
            <a:r>
              <a:rPr lang="ko-KR" altLang="en-US" dirty="0"/>
              <a:t>같은 분류의 체크 박스는 같은 이름으로 설정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체크 박스가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/>
              <a:t> 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E8D43-5FBB-4E05-B937-AB6CE5001749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체크 박스</a:t>
            </a:r>
            <a:r>
              <a:rPr lang="en-US" altLang="ko-KR" dirty="0"/>
              <a:t>, type=“checkbox”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36319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53331"/>
            <a:ext cx="10844605" cy="4351338"/>
          </a:xfrm>
        </p:spPr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하나만 선택 가능</a:t>
            </a:r>
            <a:r>
              <a:rPr lang="ko-KR" altLang="en-US" dirty="0"/>
              <a:t>한 라디오 버튼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라디오 버튼의 이름</a:t>
            </a:r>
            <a:r>
              <a:rPr lang="en-US" altLang="ko-KR" dirty="0"/>
              <a:t>, </a:t>
            </a:r>
            <a:r>
              <a:rPr lang="ko-KR" altLang="en-US" dirty="0"/>
              <a:t>같은 </a:t>
            </a:r>
            <a:r>
              <a:rPr lang="en-US" altLang="ko-KR" dirty="0"/>
              <a:t>name </a:t>
            </a:r>
            <a:r>
              <a:rPr lang="ko-KR" altLang="en-US" dirty="0"/>
              <a:t>을 가지는 라디오 버튼은 하나만 선택이 가능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하나를 선택하면 다른 선택 값이 취소 됨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라디오 버튼이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3AB3D-ED5C-49D6-9C89-3645790B91E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라디오 버튼</a:t>
            </a:r>
            <a:r>
              <a:rPr lang="en-US" altLang="ko-KR" dirty="0"/>
              <a:t>, type=“radio”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1832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7055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특정 날짜</a:t>
            </a:r>
            <a:r>
              <a:rPr lang="en-US" altLang="ko-KR" dirty="0"/>
              <a:t>(</a:t>
            </a:r>
            <a:r>
              <a:rPr lang="ko-KR" altLang="en-US" dirty="0"/>
              <a:t>년</a:t>
            </a:r>
            <a:r>
              <a:rPr lang="en-US" altLang="ko-KR" dirty="0"/>
              <a:t>/</a:t>
            </a:r>
            <a:r>
              <a:rPr lang="ko-KR" altLang="en-US" dirty="0"/>
              <a:t>월</a:t>
            </a:r>
            <a:r>
              <a:rPr lang="en-US" altLang="ko-KR" dirty="0"/>
              <a:t>/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  <a:r>
              <a:rPr lang="ko-KR" altLang="en-US" dirty="0"/>
              <a:t>를 선택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속성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name : </a:t>
            </a:r>
            <a:r>
              <a:rPr lang="ko-KR" altLang="en-US" dirty="0"/>
              <a:t>날짜 선택 폼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type=“datetime-local”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시간 까지 선택 </a:t>
            </a:r>
            <a:r>
              <a:rPr lang="ko-KR" altLang="en-US" dirty="0"/>
              <a:t>가능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기존은 </a:t>
            </a:r>
            <a:r>
              <a:rPr lang="en-US" altLang="ko-KR" dirty="0">
                <a:solidFill>
                  <a:schemeClr val="accent6"/>
                </a:solidFill>
              </a:rPr>
              <a:t>“datetime” </a:t>
            </a:r>
            <a:r>
              <a:rPr lang="ko-KR" altLang="en-US" dirty="0"/>
              <a:t>을 사용하였으나 시간은 시간대의 영향을 받기 때문에 정확한 데이터 값 전달이 불가능 하여 지금은 사용 </a:t>
            </a:r>
            <a:r>
              <a:rPr lang="en-US" altLang="ko-KR" dirty="0"/>
              <a:t>X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852E9-5473-496C-B8E6-F7D738D9B5F2}" type="datetime1">
              <a:rPr lang="ko-KR" altLang="en-US" smtClean="0"/>
              <a:t>2026-01-06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날짜 선택</a:t>
            </a:r>
            <a:r>
              <a:rPr lang="en-US" altLang="ko-KR" dirty="0"/>
              <a:t>, type=“date”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486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260802" cy="509346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/>
              <a:t>💡 선택 메뉴</a:t>
            </a:r>
            <a:r>
              <a:rPr lang="en-US" altLang="ko-KR" dirty="0"/>
              <a:t>(</a:t>
            </a:r>
            <a:r>
              <a:rPr lang="ko-KR" altLang="en-US" dirty="0"/>
              <a:t>드롭 다운</a:t>
            </a:r>
            <a:r>
              <a:rPr lang="en-US" altLang="ko-KR" dirty="0"/>
              <a:t>)</a:t>
            </a:r>
            <a:r>
              <a:rPr lang="ko-KR" altLang="en-US" dirty="0"/>
              <a:t>를 만드는 태그</a:t>
            </a:r>
            <a:r>
              <a:rPr lang="en-US" altLang="ko-KR" dirty="0"/>
              <a:t>!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accent1"/>
                </a:solidFill>
              </a:rPr>
              <a:t>&lt;select&gt; </a:t>
            </a:r>
            <a:r>
              <a:rPr lang="en-US" altLang="ko-KR" dirty="0"/>
              <a:t>: select </a:t>
            </a:r>
            <a:r>
              <a:rPr lang="ko-KR" altLang="en-US" dirty="0"/>
              <a:t>폼 생성</a:t>
            </a:r>
            <a:endParaRPr lang="en-US" altLang="ko-KR" dirty="0"/>
          </a:p>
          <a:p>
            <a:pPr lvl="2">
              <a:lnSpc>
                <a:spcPct val="170000"/>
              </a:lnSpc>
            </a:pPr>
            <a:r>
              <a:rPr lang="en-US" altLang="ko-KR" dirty="0"/>
              <a:t>name : select </a:t>
            </a:r>
            <a:r>
              <a:rPr lang="ko-KR" altLang="en-US" dirty="0"/>
              <a:t>박스의 이름</a:t>
            </a:r>
            <a:endParaRPr lang="en-US" altLang="ko-KR" dirty="0"/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accent1"/>
                </a:solidFill>
              </a:rPr>
              <a:t>&lt;option&gt; </a:t>
            </a:r>
            <a:r>
              <a:rPr lang="en-US" altLang="ko-KR" dirty="0"/>
              <a:t>: select </a:t>
            </a:r>
            <a:r>
              <a:rPr lang="ko-KR" altLang="en-US" dirty="0"/>
              <a:t>폼의 옵션 값 생성</a:t>
            </a:r>
            <a:endParaRPr lang="en-US" altLang="ko-KR" dirty="0"/>
          </a:p>
          <a:p>
            <a:pPr lvl="2">
              <a:lnSpc>
                <a:spcPct val="170000"/>
              </a:lnSpc>
            </a:pPr>
            <a:r>
              <a:rPr lang="en-US" altLang="ko-KR" dirty="0"/>
              <a:t>value : </a:t>
            </a:r>
            <a:r>
              <a:rPr lang="ko-KR" altLang="en-US" dirty="0"/>
              <a:t>실제적으로 전달 되는 값</a:t>
            </a:r>
            <a:endParaRPr lang="en-US" altLang="ko-KR" dirty="0"/>
          </a:p>
          <a:p>
            <a:pPr lvl="2">
              <a:lnSpc>
                <a:spcPct val="170000"/>
              </a:lnSpc>
            </a:pPr>
            <a:r>
              <a:rPr lang="en-US" altLang="ko-KR" dirty="0"/>
              <a:t>selected : </a:t>
            </a:r>
            <a:r>
              <a:rPr lang="ko-KR" altLang="en-US" dirty="0"/>
              <a:t>최초에 선택 된 값으로 설정</a:t>
            </a:r>
            <a:endParaRPr lang="en-US" altLang="ko-KR" dirty="0"/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optgroup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: option </a:t>
            </a:r>
            <a:r>
              <a:rPr lang="ko-KR" altLang="en-US" dirty="0"/>
              <a:t>을 그룹화</a:t>
            </a:r>
            <a:endParaRPr lang="en-US" altLang="ko-KR" dirty="0"/>
          </a:p>
          <a:p>
            <a:pPr lvl="2">
              <a:lnSpc>
                <a:spcPct val="170000"/>
              </a:lnSpc>
            </a:pPr>
            <a:r>
              <a:rPr lang="en-US" altLang="ko-KR" dirty="0"/>
              <a:t>label : </a:t>
            </a:r>
            <a:r>
              <a:rPr lang="en-US" altLang="ko-KR" dirty="0" err="1"/>
              <a:t>optgroup</a:t>
            </a:r>
            <a:r>
              <a:rPr lang="en-US" altLang="ko-KR" dirty="0"/>
              <a:t> </a:t>
            </a:r>
            <a:r>
              <a:rPr lang="ko-KR" altLang="en-US" dirty="0"/>
              <a:t>이름 설정</a:t>
            </a:r>
            <a:endParaRPr lang="en-US" altLang="ko-KR" dirty="0"/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disabled : </a:t>
            </a:r>
            <a:r>
              <a:rPr lang="ko-KR" altLang="en-US" dirty="0"/>
              <a:t>옵션은 보이지만 선택을 못하도록 설정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74413-D8B3-44FE-9460-DC12566AE16A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메뉴를 </a:t>
            </a:r>
            <a:r>
              <a:rPr lang="ko-KR" altLang="en-US" dirty="0"/>
              <a:t>만드는</a:t>
            </a:r>
            <a:r>
              <a:rPr lang="en-US" altLang="ko-KR" dirty="0"/>
              <a:t> - </a:t>
            </a:r>
            <a:r>
              <a:rPr lang="en-US" altLang="ko-KR" dirty="0">
                <a:solidFill>
                  <a:schemeClr val="accent1"/>
                </a:solidFill>
              </a:rPr>
              <a:t>&lt;select&gt;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7513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form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[form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만들기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[form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만들기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설문조사 폼 만들기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422226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ED7D31"/>
                </a:solidFill>
              </a:rPr>
              <a:t>&lt;Table&gt;</a:t>
            </a:r>
            <a:endParaRPr lang="ko-KR" altLang="en-US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8165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CB48E0-8170-9F85-5EB8-19F8545A0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260802" cy="46378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0" i="0" dirty="0">
                <a:solidFill>
                  <a:schemeClr val="accent1"/>
                </a:solidFill>
                <a:effectLst/>
                <a:latin typeface="Lora" pitchFamily="2" charset="0"/>
              </a:rPr>
              <a:t>💡 표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를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Lora" pitchFamily="2" charset="0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만들 때 사용하는 태그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먼저 행을 쓰고 행의 자식 요소로 칸을 넣어주는 것이 기본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&lt;table&gt;</a:t>
            </a:r>
            <a:r>
              <a:rPr lang="en-US" altLang="ko-KR" dirty="0"/>
              <a:t> : </a:t>
            </a:r>
            <a:r>
              <a:rPr lang="ko-KR" altLang="en-US" dirty="0"/>
              <a:t>표를 감싸는 태그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&lt;tr&gt;</a:t>
            </a:r>
            <a:r>
              <a:rPr lang="en-US" altLang="ko-KR" dirty="0"/>
              <a:t> :</a:t>
            </a:r>
            <a:r>
              <a:rPr lang="ko-KR" altLang="en-US" dirty="0"/>
              <a:t> 표 내부의 행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th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</a:t>
            </a:r>
            <a:r>
              <a:rPr lang="ko-KR" altLang="en-US" dirty="0"/>
              <a:t>행 내부의 제목 칸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&lt;td&gt;</a:t>
            </a:r>
            <a:r>
              <a:rPr lang="en-US" altLang="ko-KR" dirty="0"/>
              <a:t> : </a:t>
            </a:r>
            <a:r>
              <a:rPr lang="ko-KR" altLang="en-US" dirty="0"/>
              <a:t>행 내부의 일반 칸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3437-8AFD-4903-BC6B-CF849953625C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테이블을 만들자</a:t>
            </a:r>
            <a:r>
              <a:rPr lang="en-US" altLang="ko-KR" dirty="0"/>
              <a:t>!</a:t>
            </a:r>
            <a:r>
              <a:rPr lang="en-US" altLang="ko-KR" dirty="0">
                <a:solidFill>
                  <a:schemeClr val="accent1"/>
                </a:solidFill>
              </a:rPr>
              <a:t> &lt;table&gt;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2996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15FE50-0BED-0B3E-67A0-30B39469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F7A066-C327-DA34-FEF7-8B1C17AB1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67E905-86E9-EED9-A791-A0DB96C97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- Table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5285405-5029-0C6A-4461-D565D40F8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268" y="1462088"/>
            <a:ext cx="9329463" cy="47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924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3367" y="1418328"/>
            <a:ext cx="4092442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sz="3600" dirty="0"/>
              <a:t>&lt;table&gt;</a:t>
            </a:r>
          </a:p>
          <a:p>
            <a:pPr marL="0" indent="0">
              <a:buNone/>
            </a:pPr>
            <a:r>
              <a:rPr lang="en-US" altLang="ko-KR" sz="3600" dirty="0"/>
              <a:t>	&lt;tr&gt;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&lt;/tr&gt;</a:t>
            </a:r>
          </a:p>
          <a:p>
            <a:pPr marL="0" indent="0">
              <a:buNone/>
            </a:pPr>
            <a:r>
              <a:rPr lang="en-US" altLang="ko-KR" sz="3600" dirty="0"/>
              <a:t>&lt;/table&gt;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– Table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12199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27123F-B1F4-FA93-5FAF-675654DC3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&lt;table&gt;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border</a:t>
            </a:r>
            <a:r>
              <a:rPr lang="en-US" altLang="ko-KR" dirty="0"/>
              <a:t> : </a:t>
            </a:r>
            <a:r>
              <a:rPr lang="ko-KR" altLang="en-US" dirty="0"/>
              <a:t>테두리 두께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cellspacing</a:t>
            </a:r>
            <a:r>
              <a:rPr lang="en-US" altLang="ko-KR" dirty="0"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테두리 간격 사이의 너비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cellpadding</a:t>
            </a:r>
            <a:r>
              <a:rPr lang="en-US" altLang="ko-KR" dirty="0"/>
              <a:t> : </a:t>
            </a:r>
            <a:r>
              <a:rPr lang="ko-KR" altLang="en-US" dirty="0"/>
              <a:t>셀 내부의 간격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align</a:t>
            </a:r>
            <a:r>
              <a:rPr lang="en-US" altLang="ko-KR" dirty="0"/>
              <a:t> : </a:t>
            </a:r>
            <a:r>
              <a:rPr lang="ko-KR" altLang="en-US" dirty="0"/>
              <a:t>테이블 정렬 속성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width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height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테이블의 너비와 높이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bgcolor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bordercolor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 배경색과</a:t>
            </a:r>
            <a:r>
              <a:rPr lang="en-US" altLang="ko-KR" dirty="0"/>
              <a:t>, </a:t>
            </a:r>
            <a:r>
              <a:rPr lang="ko-KR" altLang="en-US" dirty="0"/>
              <a:t>테두리 색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69756-708A-42B2-ADAC-5037042AC683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B445C81-A955-36CC-4F01-ADAC0D177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090796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&lt;td&gt;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colspan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열의 수 지정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rowspan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행의 수 지정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7A4FF-ED46-4427-A5F3-196455109A92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50</a:t>
            </a:fld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&lt;td&gt;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12106696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8E48C50-0803-27BF-A1EE-C80FC3F65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666" y="1366549"/>
            <a:ext cx="4715533" cy="412490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A6B2D51-0548-9DBF-42CF-13AF145FB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433926"/>
            <a:ext cx="4838700" cy="40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703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table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[HTML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– table]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[table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latin typeface="+mn-ea"/>
              </a:rPr>
              <a:t>실습</a:t>
            </a:r>
            <a:r>
              <a:rPr lang="ko-KR" altLang="en-US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en-US" altLang="ko-KR" dirty="0" err="1">
                <a:solidFill>
                  <a:srgbClr val="ED7D31"/>
                </a:solidFill>
              </a:rPr>
              <a:t>colspan</a:t>
            </a:r>
            <a:r>
              <a:rPr lang="ko-KR" altLang="en-US" dirty="0">
                <a:solidFill>
                  <a:srgbClr val="ED7D31"/>
                </a:solidFill>
              </a:rPr>
              <a:t>과 </a:t>
            </a:r>
            <a:r>
              <a:rPr lang="en-US" altLang="ko-KR" dirty="0" err="1">
                <a:solidFill>
                  <a:srgbClr val="ED7D31"/>
                </a:solidFill>
              </a:rPr>
              <a:t>rowspan</a:t>
            </a:r>
            <a:r>
              <a:rPr lang="en-US" altLang="ko-KR" dirty="0">
                <a:solidFill>
                  <a:srgbClr val="ED7D31"/>
                </a:solidFill>
              </a:rPr>
              <a:t> </a:t>
            </a:r>
            <a:r>
              <a:rPr lang="ko-KR" altLang="en-US" dirty="0">
                <a:solidFill>
                  <a:srgbClr val="ED7D31"/>
                </a:solidFill>
              </a:rPr>
              <a:t>이용하기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087081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table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[HTML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– table]</a:t>
            </a:r>
            <a:r>
              <a:rPr lang="en-US" altLang="ko-KR" sz="2800" b="1" dirty="0">
                <a:latin typeface="+mn-ea"/>
              </a:rPr>
              <a:t>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[table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카페 음료 주문 테이블 작성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42351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ED7D31"/>
                </a:solidFill>
              </a:rPr>
              <a:t>Semantic</a:t>
            </a:r>
            <a:endParaRPr lang="ko-KR" altLang="en-US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8454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896773" y="1827163"/>
            <a:ext cx="839845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>
                <a:latin typeface="+mj-ea"/>
                <a:ea typeface="+mj-ea"/>
              </a:rPr>
              <a:t>💡</a:t>
            </a:r>
            <a:endParaRPr lang="en-US" altLang="ko-KR" sz="4800" dirty="0">
              <a:latin typeface="+mj-ea"/>
              <a:ea typeface="+mj-ea"/>
            </a:endParaRPr>
          </a:p>
          <a:p>
            <a:pPr algn="ctr"/>
            <a:r>
              <a:rPr lang="en-US" altLang="ko-KR" sz="4800" dirty="0">
                <a:latin typeface="+mj-ea"/>
                <a:ea typeface="+mj-ea"/>
              </a:rPr>
              <a:t>HTML </a:t>
            </a:r>
            <a:r>
              <a:rPr lang="ko-KR" altLang="en-US" sz="4800" dirty="0">
                <a:latin typeface="+mj-ea"/>
                <a:ea typeface="+mj-ea"/>
              </a:rPr>
              <a:t>요소는</a:t>
            </a:r>
            <a:endParaRPr lang="en-US" altLang="ko-KR" sz="4800" dirty="0">
              <a:latin typeface="+mj-ea"/>
              <a:ea typeface="+mj-ea"/>
            </a:endParaRPr>
          </a:p>
          <a:p>
            <a:pPr algn="ctr"/>
            <a:r>
              <a:rPr lang="en-US" altLang="ko-KR" sz="4800" b="1" i="1" dirty="0">
                <a:solidFill>
                  <a:schemeClr val="accent1"/>
                </a:solidFill>
                <a:latin typeface="+mj-ea"/>
                <a:ea typeface="+mj-ea"/>
              </a:rPr>
              <a:t>Semantic</a:t>
            </a:r>
            <a:r>
              <a:rPr lang="en-US" altLang="ko-KR" sz="4800" b="1" i="1" dirty="0">
                <a:solidFill>
                  <a:srgbClr val="0070C0"/>
                </a:solidFill>
                <a:latin typeface="+mj-ea"/>
                <a:ea typeface="+mj-ea"/>
              </a:rPr>
              <a:t> </a:t>
            </a:r>
            <a:r>
              <a:rPr lang="ko-KR" altLang="en-US" sz="4800" dirty="0">
                <a:latin typeface="+mj-ea"/>
                <a:ea typeface="+mj-ea"/>
              </a:rPr>
              <a:t>하게</a:t>
            </a:r>
            <a:r>
              <a:rPr lang="en-US" altLang="ko-KR" sz="4800" dirty="0">
                <a:latin typeface="+mj-ea"/>
                <a:ea typeface="+mj-ea"/>
              </a:rPr>
              <a:t> </a:t>
            </a:r>
            <a:r>
              <a:rPr lang="ko-KR" altLang="en-US" sz="4800" dirty="0">
                <a:latin typeface="+mj-ea"/>
                <a:ea typeface="+mj-ea"/>
              </a:rPr>
              <a:t>작성되어야 한다</a:t>
            </a:r>
            <a:r>
              <a:rPr lang="en-US" altLang="ko-KR" sz="4800" dirty="0">
                <a:latin typeface="+mj-ea"/>
                <a:ea typeface="+mj-ea"/>
              </a:rPr>
              <a:t>.</a:t>
            </a:r>
            <a:endParaRPr lang="ko-KR" altLang="en-US" sz="4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918292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F8C2BBF-AC87-9CE1-F71A-280D424203CA}"/>
              </a:ext>
            </a:extLst>
          </p:cNvPr>
          <p:cNvSpPr txBox="1">
            <a:spLocks/>
          </p:cNvSpPr>
          <p:nvPr/>
        </p:nvSpPr>
        <p:spPr>
          <a:xfrm>
            <a:off x="1046152" y="4397126"/>
            <a:ext cx="10099696" cy="6037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3600" i="1" dirty="0"/>
              <a:t>“</a:t>
            </a:r>
            <a:r>
              <a:rPr lang="ko-KR" altLang="en-US" sz="3600" i="1" dirty="0"/>
              <a:t>웹 페이지를 이루는 요소에 </a:t>
            </a:r>
            <a:r>
              <a:rPr lang="ko-KR" altLang="en-US" sz="3600" i="1" dirty="0">
                <a:highlight>
                  <a:srgbClr val="FFFF00"/>
                </a:highlight>
              </a:rPr>
              <a:t>의미에 맞는 태그</a:t>
            </a:r>
            <a:r>
              <a:rPr lang="ko-KR" altLang="en-US" sz="3600" i="1" dirty="0"/>
              <a:t>를 사용하자</a:t>
            </a:r>
            <a:r>
              <a:rPr lang="en-US" altLang="ko-KR" sz="3600" i="1" dirty="0"/>
              <a:t>!”</a:t>
            </a:r>
            <a:endParaRPr lang="ko-KR" altLang="en-US" sz="36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7ED088-C7C5-E927-A7DC-DD9CCF27F59B}"/>
              </a:ext>
            </a:extLst>
          </p:cNvPr>
          <p:cNvSpPr txBox="1"/>
          <p:nvPr/>
        </p:nvSpPr>
        <p:spPr>
          <a:xfrm>
            <a:off x="1896773" y="1827163"/>
            <a:ext cx="839845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>
                <a:latin typeface="+mj-ea"/>
                <a:ea typeface="+mj-ea"/>
              </a:rPr>
              <a:t>💡</a:t>
            </a:r>
            <a:endParaRPr lang="en-US" altLang="ko-KR" sz="4800" dirty="0">
              <a:latin typeface="+mj-ea"/>
              <a:ea typeface="+mj-ea"/>
            </a:endParaRPr>
          </a:p>
          <a:p>
            <a:pPr algn="ctr"/>
            <a:r>
              <a:rPr lang="en-US" altLang="ko-KR" sz="4800" dirty="0">
                <a:latin typeface="+mj-ea"/>
                <a:ea typeface="+mj-ea"/>
              </a:rPr>
              <a:t>HTML </a:t>
            </a:r>
            <a:r>
              <a:rPr lang="ko-KR" altLang="en-US" sz="4800" dirty="0">
                <a:latin typeface="+mj-ea"/>
                <a:ea typeface="+mj-ea"/>
              </a:rPr>
              <a:t>요소는</a:t>
            </a:r>
            <a:endParaRPr lang="en-US" altLang="ko-KR" sz="4800" dirty="0">
              <a:latin typeface="+mj-ea"/>
              <a:ea typeface="+mj-ea"/>
            </a:endParaRPr>
          </a:p>
          <a:p>
            <a:pPr algn="ctr"/>
            <a:r>
              <a:rPr lang="en-US" altLang="ko-KR" sz="4800" b="1" i="1" dirty="0">
                <a:solidFill>
                  <a:schemeClr val="accent1"/>
                </a:solidFill>
                <a:latin typeface="+mj-ea"/>
                <a:ea typeface="+mj-ea"/>
              </a:rPr>
              <a:t>Semantic</a:t>
            </a:r>
            <a:r>
              <a:rPr lang="en-US" altLang="ko-KR" sz="4800" b="1" i="1" dirty="0">
                <a:solidFill>
                  <a:srgbClr val="0070C0"/>
                </a:solidFill>
                <a:latin typeface="+mj-ea"/>
                <a:ea typeface="+mj-ea"/>
              </a:rPr>
              <a:t> </a:t>
            </a:r>
            <a:r>
              <a:rPr lang="ko-KR" altLang="en-US" sz="4800" dirty="0">
                <a:latin typeface="+mj-ea"/>
                <a:ea typeface="+mj-ea"/>
              </a:rPr>
              <a:t>하게</a:t>
            </a:r>
            <a:r>
              <a:rPr lang="en-US" altLang="ko-KR" sz="4800" dirty="0">
                <a:latin typeface="+mj-ea"/>
                <a:ea typeface="+mj-ea"/>
              </a:rPr>
              <a:t> </a:t>
            </a:r>
            <a:r>
              <a:rPr lang="ko-KR" altLang="en-US" sz="4800" dirty="0">
                <a:latin typeface="+mj-ea"/>
                <a:ea typeface="+mj-ea"/>
              </a:rPr>
              <a:t>작성되어야 한다</a:t>
            </a:r>
            <a:r>
              <a:rPr lang="en-US" altLang="ko-KR" sz="4800" dirty="0">
                <a:latin typeface="+mj-ea"/>
                <a:ea typeface="+mj-ea"/>
              </a:rPr>
              <a:t>.</a:t>
            </a:r>
            <a:endParaRPr lang="ko-KR" altLang="en-US" sz="4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33856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D3BD11A-9317-8FD4-F7F6-10A604FEC16E}"/>
              </a:ext>
            </a:extLst>
          </p:cNvPr>
          <p:cNvGrpSpPr/>
          <p:nvPr/>
        </p:nvGrpSpPr>
        <p:grpSpPr>
          <a:xfrm>
            <a:off x="2514600" y="1593849"/>
            <a:ext cx="7162800" cy="4177838"/>
            <a:chOff x="1524000" y="1460499"/>
            <a:chExt cx="7162800" cy="4177838"/>
          </a:xfrm>
        </p:grpSpPr>
        <p:sp>
          <p:nvSpPr>
            <p:cNvPr id="6" name="내용 개체 틀 2">
              <a:extLst>
                <a:ext uri="{FF2B5EF4-FFF2-40B4-BE49-F238E27FC236}">
                  <a16:creationId xmlns:a16="http://schemas.microsoft.com/office/drawing/2014/main" id="{38D0E76D-3ED7-B220-3447-A926AB650D27}"/>
                </a:ext>
              </a:extLst>
            </p:cNvPr>
            <p:cNvSpPr txBox="1">
              <a:spLocks/>
            </p:cNvSpPr>
            <p:nvPr/>
          </p:nvSpPr>
          <p:spPr>
            <a:xfrm>
              <a:off x="1524000" y="1596116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&lt;header&gt;</a:t>
              </a:r>
              <a:endParaRPr lang="ko-KR" altLang="en-US" sz="4400" dirty="0"/>
            </a:p>
          </p:txBody>
        </p:sp>
        <p:sp>
          <p:nvSpPr>
            <p:cNvPr id="7" name="내용 개체 틀 2">
              <a:extLst>
                <a:ext uri="{FF2B5EF4-FFF2-40B4-BE49-F238E27FC236}">
                  <a16:creationId xmlns:a16="http://schemas.microsoft.com/office/drawing/2014/main" id="{054CA42C-EC35-F790-47E8-825E1AE9AC8C}"/>
                </a:ext>
              </a:extLst>
            </p:cNvPr>
            <p:cNvSpPr txBox="1">
              <a:spLocks/>
            </p:cNvSpPr>
            <p:nvPr/>
          </p:nvSpPr>
          <p:spPr>
            <a:xfrm>
              <a:off x="1524000" y="2640833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&lt;footer&gt;</a:t>
              </a:r>
              <a:endParaRPr lang="ko-KR" altLang="en-US" sz="4400" dirty="0"/>
            </a:p>
          </p:txBody>
        </p:sp>
        <p:sp>
          <p:nvSpPr>
            <p:cNvPr id="8" name="내용 개체 틀 2">
              <a:extLst>
                <a:ext uri="{FF2B5EF4-FFF2-40B4-BE49-F238E27FC236}">
                  <a16:creationId xmlns:a16="http://schemas.microsoft.com/office/drawing/2014/main" id="{EEB23F11-260A-7EAC-F46C-8C1369D34425}"/>
                </a:ext>
              </a:extLst>
            </p:cNvPr>
            <p:cNvSpPr txBox="1">
              <a:spLocks/>
            </p:cNvSpPr>
            <p:nvPr/>
          </p:nvSpPr>
          <p:spPr>
            <a:xfrm>
              <a:off x="1524000" y="3718898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&lt;main&gt;</a:t>
              </a:r>
              <a:endParaRPr lang="ko-KR" altLang="en-US" sz="4400" dirty="0"/>
            </a:p>
          </p:txBody>
        </p:sp>
        <p:sp>
          <p:nvSpPr>
            <p:cNvPr id="9" name="내용 개체 틀 2">
              <a:extLst>
                <a:ext uri="{FF2B5EF4-FFF2-40B4-BE49-F238E27FC236}">
                  <a16:creationId xmlns:a16="http://schemas.microsoft.com/office/drawing/2014/main" id="{D55586A2-214E-BCA3-ACE1-D050F715CE6A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1460499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&lt;nav&gt;</a:t>
              </a:r>
              <a:endParaRPr lang="ko-KR" altLang="en-US" sz="4400" dirty="0"/>
            </a:p>
          </p:txBody>
        </p:sp>
        <p:sp>
          <p:nvSpPr>
            <p:cNvPr id="10" name="내용 개체 틀 2">
              <a:extLst>
                <a:ext uri="{FF2B5EF4-FFF2-40B4-BE49-F238E27FC236}">
                  <a16:creationId xmlns:a16="http://schemas.microsoft.com/office/drawing/2014/main" id="{85249FA7-6595-4202-64D9-05623A30C770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2573105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&lt;aside&gt;</a:t>
              </a:r>
              <a:endParaRPr lang="ko-KR" altLang="en-US" sz="4400" dirty="0"/>
            </a:p>
          </p:txBody>
        </p:sp>
        <p:sp>
          <p:nvSpPr>
            <p:cNvPr id="11" name="내용 개체 틀 2">
              <a:extLst>
                <a:ext uri="{FF2B5EF4-FFF2-40B4-BE49-F238E27FC236}">
                  <a16:creationId xmlns:a16="http://schemas.microsoft.com/office/drawing/2014/main" id="{61311B8F-09F0-CE58-BBC3-C04239A453BF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3685163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&lt;article&gt;</a:t>
              </a:r>
              <a:endParaRPr lang="ko-KR" altLang="en-US" sz="4400" dirty="0"/>
            </a:p>
          </p:txBody>
        </p:sp>
        <p:sp>
          <p:nvSpPr>
            <p:cNvPr id="12" name="내용 개체 틀 2">
              <a:extLst>
                <a:ext uri="{FF2B5EF4-FFF2-40B4-BE49-F238E27FC236}">
                  <a16:creationId xmlns:a16="http://schemas.microsoft.com/office/drawing/2014/main" id="{4006BE6B-B0D8-2008-D261-B3B575CFA657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4796962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&lt;section&gt;</a:t>
              </a:r>
              <a:endParaRPr lang="ko-KR" altLang="en-US" sz="4400" dirty="0"/>
            </a:p>
          </p:txBody>
        </p:sp>
        <p:sp>
          <p:nvSpPr>
            <p:cNvPr id="16" name="내용 개체 틀 2">
              <a:extLst>
                <a:ext uri="{FF2B5EF4-FFF2-40B4-BE49-F238E27FC236}">
                  <a16:creationId xmlns:a16="http://schemas.microsoft.com/office/drawing/2014/main" id="{A2C3F0C7-8493-0C2C-4E1C-24191AE5610B}"/>
                </a:ext>
              </a:extLst>
            </p:cNvPr>
            <p:cNvSpPr txBox="1">
              <a:spLocks/>
            </p:cNvSpPr>
            <p:nvPr/>
          </p:nvSpPr>
          <p:spPr>
            <a:xfrm>
              <a:off x="1524000" y="4796962"/>
              <a:ext cx="2590800" cy="84137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ko-KR" sz="4800" dirty="0"/>
                <a:t>&lt;h1&gt; ~ &lt;h6&gt;</a:t>
              </a:r>
              <a:endParaRPr lang="ko-KR" altLang="en-US" sz="4400" dirty="0"/>
            </a:p>
          </p:txBody>
        </p:sp>
      </p:grpSp>
      <p:sp>
        <p:nvSpPr>
          <p:cNvPr id="24" name="제목 23">
            <a:extLst>
              <a:ext uri="{FF2B5EF4-FFF2-40B4-BE49-F238E27FC236}">
                <a16:creationId xmlns:a16="http://schemas.microsoft.com/office/drawing/2014/main" id="{08E7A2E2-1368-E389-90AA-CFC1E8C7E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13099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1852BAFB-B43C-87A6-3082-2ED859939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2786" y="1601346"/>
            <a:ext cx="1387293" cy="5053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 dirty="0"/>
              <a:t>before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93A4949-2F36-1260-DE1F-5F63E5C24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740" y="2106673"/>
            <a:ext cx="5359134" cy="373720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253" y="2106673"/>
            <a:ext cx="5359134" cy="3737202"/>
          </a:xfrm>
          <a:prstGeom prst="rect">
            <a:avLst/>
          </a:prstGeom>
        </p:spPr>
      </p:pic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800D586-799C-4998-4092-2F9BF56454D7}"/>
              </a:ext>
            </a:extLst>
          </p:cNvPr>
          <p:cNvSpPr txBox="1">
            <a:spLocks/>
          </p:cNvSpPr>
          <p:nvPr/>
        </p:nvSpPr>
        <p:spPr>
          <a:xfrm>
            <a:off x="8198299" y="1585497"/>
            <a:ext cx="1387293" cy="5053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after</a:t>
            </a:r>
            <a:endParaRPr lang="ko-KR" altLang="en-US" dirty="0"/>
          </a:p>
        </p:txBody>
      </p:sp>
      <p:sp>
        <p:nvSpPr>
          <p:cNvPr id="8" name="제목 23">
            <a:extLst>
              <a:ext uri="{FF2B5EF4-FFF2-40B4-BE49-F238E27FC236}">
                <a16:creationId xmlns:a16="http://schemas.microsoft.com/office/drawing/2014/main" id="{1B25A830-2EC5-81CE-6F80-B2A9E844D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4114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66" y="1939491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248401" y="4865846"/>
            <a:ext cx="4716378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&lt;footer&gt;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 err="1"/>
              <a:t>푸터</a:t>
            </a:r>
            <a:r>
              <a:rPr lang="ko-KR" altLang="en-US" sz="2400" dirty="0"/>
              <a:t> </a:t>
            </a:r>
            <a:r>
              <a:rPr lang="en-US" altLang="ko-KR" sz="2400" dirty="0"/>
              <a:t>(</a:t>
            </a:r>
            <a:r>
              <a:rPr lang="ko-KR" altLang="en-US" sz="2400" dirty="0"/>
              <a:t>하단 영역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240378" y="2031679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&lt;header&gt;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헤더 </a:t>
            </a:r>
            <a:r>
              <a:rPr lang="en-US" altLang="ko-KR" sz="2400" dirty="0"/>
              <a:t>(</a:t>
            </a:r>
            <a:r>
              <a:rPr lang="ko-KR" altLang="en-US" sz="2400" dirty="0"/>
              <a:t>로고</a:t>
            </a:r>
            <a:r>
              <a:rPr lang="en-US" altLang="ko-KR" sz="2400" dirty="0"/>
              <a:t>, </a:t>
            </a:r>
            <a:r>
              <a:rPr lang="ko-KR" altLang="en-US" sz="2400" dirty="0"/>
              <a:t>메뉴 아이템</a:t>
            </a:r>
            <a:r>
              <a:rPr lang="en-US" altLang="ko-KR" sz="2400" dirty="0"/>
              <a:t>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7" name="제목 23">
            <a:extLst>
              <a:ext uri="{FF2B5EF4-FFF2-40B4-BE49-F238E27FC236}">
                <a16:creationId xmlns:a16="http://schemas.microsoft.com/office/drawing/2014/main" id="{6704D1F0-2139-C812-3630-A1FC45C84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46616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181724" y="1939491"/>
            <a:ext cx="5686426" cy="1458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&lt;nav&gt;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000" dirty="0"/>
              <a:t>: </a:t>
            </a:r>
            <a:r>
              <a:rPr lang="ko-KR" altLang="en-US" sz="2000" dirty="0"/>
              <a:t>네비게이션 </a:t>
            </a:r>
            <a:r>
              <a:rPr lang="en-US" altLang="ko-KR" sz="2000" dirty="0"/>
              <a:t>(</a:t>
            </a:r>
            <a:r>
              <a:rPr lang="ko-KR" altLang="en-US" sz="2000" dirty="0"/>
              <a:t>다른 곳으로 이동 가능한 링크들</a:t>
            </a:r>
            <a:r>
              <a:rPr lang="en-US" altLang="ko-KR" sz="2000" dirty="0"/>
              <a:t>)</a:t>
            </a:r>
            <a:endParaRPr lang="ko-KR" altLang="en-US" sz="2400" dirty="0"/>
          </a:p>
        </p:txBody>
      </p:sp>
      <p:sp>
        <p:nvSpPr>
          <p:cNvPr id="8" name="제목 23">
            <a:extLst>
              <a:ext uri="{FF2B5EF4-FFF2-40B4-BE49-F238E27FC236}">
                <a16:creationId xmlns:a16="http://schemas.microsoft.com/office/drawing/2014/main" id="{035AB009-108A-9EED-31AD-C0050DBA6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1222431-E35A-4931-583A-778854DA3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66" y="1939491"/>
            <a:ext cx="5359134" cy="373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214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257924" y="2881707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&lt;main&gt;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000" dirty="0"/>
              <a:t>: </a:t>
            </a:r>
            <a:r>
              <a:rPr lang="ko-KR" altLang="en-US" sz="2000" dirty="0"/>
              <a:t>콘텐츠 영역임을 표시</a:t>
            </a:r>
            <a:r>
              <a:rPr lang="en-US" altLang="ko-KR" sz="2000" dirty="0"/>
              <a:t>. </a:t>
            </a:r>
            <a:r>
              <a:rPr lang="ko-KR" altLang="en-US" sz="2000" dirty="0"/>
              <a:t>한 </a:t>
            </a:r>
            <a:r>
              <a:rPr lang="en-US" altLang="ko-KR" sz="2000" dirty="0"/>
              <a:t>html</a:t>
            </a:r>
            <a:r>
              <a:rPr lang="ko-KR" altLang="en-US" sz="2000" dirty="0"/>
              <a:t> 페이지당 한 번 사용하는 것이 바람직함 </a:t>
            </a:r>
            <a:r>
              <a:rPr lang="en-US" altLang="ko-KR" sz="2000" dirty="0"/>
              <a:t>(</a:t>
            </a:r>
            <a:r>
              <a:rPr lang="ko-KR" altLang="en-US" sz="2000" dirty="0"/>
              <a:t>중첩 </a:t>
            </a:r>
            <a:r>
              <a:rPr lang="en-US" altLang="ko-KR" sz="2000" dirty="0"/>
              <a:t>x)</a:t>
            </a:r>
            <a:endParaRPr lang="ko-KR" altLang="en-US" sz="2400" dirty="0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A9D2571B-3325-6226-CA45-E78602A1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CA3FDD-56FC-6CF7-B279-0A6BCCDE2E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66" y="1939491"/>
            <a:ext cx="5359134" cy="373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8876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449495" y="2886564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&lt;aside&gt;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000" dirty="0"/>
              <a:t>: </a:t>
            </a:r>
            <a:r>
              <a:rPr lang="ko-KR" altLang="en-US" sz="2000" dirty="0"/>
              <a:t>콘텐츠와 직접적인 연관이 없는 옆에 있는 부분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000" dirty="0"/>
              <a:t>(ex. </a:t>
            </a:r>
            <a:r>
              <a:rPr lang="ko-KR" altLang="en-US" sz="2000" dirty="0"/>
              <a:t>광고 등</a:t>
            </a:r>
            <a:r>
              <a:rPr lang="en-US" altLang="ko-KR" sz="2000" dirty="0"/>
              <a:t>)</a:t>
            </a:r>
            <a:endParaRPr lang="ko-KR" altLang="en-US" sz="24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1C472D-0DD1-9B0B-08BD-AB477D898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66" y="1939491"/>
            <a:ext cx="5359134" cy="3737202"/>
          </a:xfrm>
          <a:prstGeom prst="rect">
            <a:avLst/>
          </a:prstGeom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94D2BDAB-FD2B-D01F-0A34-E093CE6DB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74493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449494" y="2672239"/>
            <a:ext cx="5183751" cy="1391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600" b="1" dirty="0"/>
              <a:t>&lt;article&gt;</a:t>
            </a:r>
            <a:r>
              <a:rPr lang="ko-KR" altLang="en-US" sz="2600" b="1" dirty="0"/>
              <a:t> </a:t>
            </a:r>
            <a:r>
              <a:rPr lang="en-US" altLang="ko-KR" sz="2600" dirty="0"/>
              <a:t>: </a:t>
            </a:r>
            <a:r>
              <a:rPr lang="ko-KR" altLang="en-US" sz="2600" dirty="0"/>
              <a:t>하나의 </a:t>
            </a:r>
            <a:r>
              <a:rPr lang="ko-KR" altLang="en-US" sz="2600" dirty="0" err="1"/>
              <a:t>의미있는</a:t>
            </a:r>
            <a:r>
              <a:rPr lang="ko-KR" altLang="en-US" sz="2600" dirty="0"/>
              <a:t> 요소        </a:t>
            </a:r>
            <a:r>
              <a:rPr lang="en-US" altLang="ko-KR" sz="2400" dirty="0"/>
              <a:t>(ex. </a:t>
            </a:r>
            <a:r>
              <a:rPr lang="ko-KR" altLang="en-US" sz="2400" dirty="0"/>
              <a:t>기사 리스트 중에서 기사 하나</a:t>
            </a:r>
            <a:r>
              <a:rPr lang="en-US" altLang="ko-KR" sz="2400" dirty="0"/>
              <a:t>) 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449495" y="4123384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&lt;section&gt;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</a:t>
            </a:r>
            <a:r>
              <a:rPr lang="ko-KR" altLang="en-US" sz="2400" dirty="0"/>
              <a:t> </a:t>
            </a:r>
            <a:r>
              <a:rPr lang="en-US" altLang="ko-KR" sz="2400" dirty="0"/>
              <a:t>article</a:t>
            </a:r>
            <a:r>
              <a:rPr lang="ko-KR" altLang="en-US" sz="2400" dirty="0"/>
              <a:t>을 포함 </a:t>
            </a:r>
            <a:r>
              <a:rPr lang="en-US" altLang="ko-KR" sz="2400" dirty="0"/>
              <a:t>(</a:t>
            </a:r>
            <a:r>
              <a:rPr lang="ko-KR" altLang="en-US" sz="2400" dirty="0"/>
              <a:t>그룹화 목적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0FC99BA-D225-7521-F362-06208C1A3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66" y="1939491"/>
            <a:ext cx="5359134" cy="3737202"/>
          </a:xfrm>
          <a:prstGeom prst="rect">
            <a:avLst/>
          </a:prstGeom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3DCC63E3-8F4C-9E0C-78A2-AA0FBF5EA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74863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4231F7-65F9-77A2-ED8B-8326B352B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solidFill>
                  <a:srgbClr val="6EC173"/>
                </a:solidFill>
              </a:rPr>
              <a:t>✅ </a:t>
            </a:r>
            <a:r>
              <a:rPr lang="en-US" altLang="ko-KR" sz="2400" b="1" dirty="0">
                <a:solidFill>
                  <a:srgbClr val="00B050"/>
                </a:solidFill>
              </a:rPr>
              <a:t>SEO</a:t>
            </a:r>
            <a:r>
              <a:rPr lang="en-US" altLang="ko-KR" sz="2400" dirty="0"/>
              <a:t> (Search Engine Optimization, </a:t>
            </a:r>
            <a:r>
              <a:rPr lang="ko-KR" altLang="en-US" sz="2400" dirty="0"/>
              <a:t>검색최적화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검색엔진은 </a:t>
            </a:r>
            <a:r>
              <a:rPr lang="en-US" altLang="ko-KR" sz="2000" dirty="0"/>
              <a:t>HTML </a:t>
            </a:r>
            <a:r>
              <a:rPr lang="ko-KR" altLang="en-US" sz="2000" dirty="0"/>
              <a:t>코드를 분석해 사이트를 노출시킨다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크롤러가</a:t>
            </a:r>
            <a:r>
              <a:rPr lang="ko-KR" altLang="en-US" sz="2000" dirty="0"/>
              <a:t> 페이지의 구성 요소들이 무엇을 의미하는지 이해하여 사이트 노출에 영향을 준다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solidFill>
                  <a:srgbClr val="6EC173"/>
                </a:solidFill>
              </a:rPr>
              <a:t>✅ </a:t>
            </a:r>
            <a:r>
              <a:rPr lang="ko-KR" altLang="en-US" sz="2400" b="1" dirty="0">
                <a:solidFill>
                  <a:srgbClr val="00B050"/>
                </a:solidFill>
              </a:rPr>
              <a:t>유지보수성</a:t>
            </a:r>
            <a:endParaRPr lang="en-US" altLang="ko-KR" sz="2000" b="1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페이지를 유지보수 할 때</a:t>
            </a:r>
            <a:r>
              <a:rPr lang="en-US" altLang="ko-KR" sz="2000" dirty="0"/>
              <a:t>, &lt;div&gt; </a:t>
            </a:r>
            <a:r>
              <a:rPr lang="ko-KR" altLang="en-US" sz="2000" dirty="0"/>
              <a:t>태그만 가득하다면 요소를 찾기 정말 힘들다</a:t>
            </a:r>
            <a:r>
              <a:rPr lang="en-US" altLang="ko-KR" sz="2000" dirty="0"/>
              <a:t>..!!! 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시멘틱</a:t>
            </a:r>
            <a:r>
              <a:rPr lang="ko-KR" altLang="en-US" sz="2000" dirty="0"/>
              <a:t> 태그를 활용해 컨텐츠를 적절히 </a:t>
            </a:r>
            <a:r>
              <a:rPr lang="ko-KR" altLang="en-US" sz="2000" dirty="0" err="1"/>
              <a:t>구분시키자</a:t>
            </a:r>
            <a:r>
              <a:rPr lang="en-US" altLang="ko-KR" sz="2000" dirty="0"/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C8D767D6-A75E-3071-DF7E-6A75236A9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 err="1"/>
              <a:t>Semactic</a:t>
            </a:r>
            <a:r>
              <a:rPr lang="en-US" altLang="ko-KR" dirty="0"/>
              <a:t> </a:t>
            </a:r>
            <a:r>
              <a:rPr lang="ko-KR" altLang="en-US" dirty="0" err="1"/>
              <a:t>해야할까</a:t>
            </a:r>
            <a:r>
              <a:rPr lang="en-US" altLang="ko-KR" dirty="0"/>
              <a:t>?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01211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9112</TotalTime>
  <Words>2206</Words>
  <Application>Microsoft Office PowerPoint</Application>
  <PresentationFormat>와이드스크린</PresentationFormat>
  <Paragraphs>467</Paragraphs>
  <Slides>65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65</vt:i4>
      </vt:variant>
    </vt:vector>
  </HeadingPairs>
  <TitlesOfParts>
    <vt:vector size="76" baseType="lpstr">
      <vt:lpstr>Kim jung chul Gothic Regular</vt:lpstr>
      <vt:lpstr>Arial</vt:lpstr>
      <vt:lpstr>Arial Rounded MT Bold</vt:lpstr>
      <vt:lpstr>G마켓 산스 TTF Bold</vt:lpstr>
      <vt:lpstr>Lora</vt:lpstr>
      <vt:lpstr>Pretendard Black</vt:lpstr>
      <vt:lpstr>Pretendard Light</vt:lpstr>
      <vt:lpstr>Pretendard Medium</vt:lpstr>
      <vt:lpstr>Wingdings</vt:lpstr>
      <vt:lpstr>메이플스토리</vt:lpstr>
      <vt:lpstr>1_Office 테마</vt:lpstr>
      <vt:lpstr>PowerPoint 프레젠테이션</vt:lpstr>
      <vt:lpstr>PowerPoint 프레젠테이션</vt:lpstr>
      <vt:lpstr>학습목표🎓</vt:lpstr>
      <vt:lpstr>커리큘럼</vt:lpstr>
      <vt:lpstr>HTML</vt:lpstr>
      <vt:lpstr>PowerPoint 프레젠테이션</vt:lpstr>
      <vt:lpstr>PowerPoint 프레젠테이션</vt:lpstr>
      <vt:lpstr>HTML 이란?</vt:lpstr>
      <vt:lpstr>PowerPoint 프레젠테이션</vt:lpstr>
      <vt:lpstr>PowerPoint 프레젠테이션</vt:lpstr>
      <vt:lpstr>PowerPoint 프레젠테이션</vt:lpstr>
      <vt:lpstr>HTML의 구조</vt:lpstr>
      <vt:lpstr>&lt;head&gt; 태그</vt:lpstr>
      <vt:lpstr>&lt;body&gt; 태그</vt:lpstr>
      <vt:lpstr>HTML 기본 문법 - 중첩(Nested)</vt:lpstr>
      <vt:lpstr>HTML 기본 문법 - 주석(Comments)</vt:lpstr>
      <vt:lpstr>HTML 태그의 구성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tag 종류</vt:lpstr>
      <vt:lpstr>웹에서 HTML 확인하기</vt:lpstr>
      <vt:lpstr>HTML 태그(Tag)</vt:lpstr>
      <vt:lpstr>제목 태그 - &lt;h1~6&gt;&lt;/h1~6&gt;</vt:lpstr>
      <vt:lpstr>본문 태그 - &lt;p&gt;&lt;/p&gt;</vt:lpstr>
      <vt:lpstr>줄 바꿈 태그 - &lt;br&gt;, 수평 줄 - &lt;hr&gt;</vt:lpstr>
      <vt:lpstr>목록 - &lt;ul&gt;&lt;/ul&gt; or &lt;ol&gt;&lt;/ol&gt;</vt:lpstr>
      <vt:lpstr>문자 꾸미기 태그들</vt:lpstr>
      <vt:lpstr>실습. 카페 음료 문서 작성</vt:lpstr>
      <vt:lpstr>이미지를 넣어주는 &lt;img&gt;</vt:lpstr>
      <vt:lpstr>HTML의 하이퍼링크 - &lt;a&gt;</vt:lpstr>
      <vt:lpstr>선택 실습. img, a 태그 실습</vt:lpstr>
      <vt:lpstr>사용자 입력 Form 태그 &amp; Input 태그</vt:lpstr>
      <vt:lpstr> 입력 값 받기 - &lt;input&gt;</vt:lpstr>
      <vt:lpstr>버튼, type=“button”</vt:lpstr>
      <vt:lpstr>텍스트, type=“text”</vt:lpstr>
      <vt:lpstr>패스워드, type=“password”</vt:lpstr>
      <vt:lpstr>체크 박스, type=“checkbox”</vt:lpstr>
      <vt:lpstr>라디오 버튼, type=“radio”</vt:lpstr>
      <vt:lpstr>날짜 선택, type=“date”</vt:lpstr>
      <vt:lpstr>선택 메뉴를 만드는 - &lt;select&gt;</vt:lpstr>
      <vt:lpstr>실습. 설문조사 폼 만들기</vt:lpstr>
      <vt:lpstr>&lt;Table&gt;</vt:lpstr>
      <vt:lpstr>테이블을 만들자! &lt;table&gt;</vt:lpstr>
      <vt:lpstr>HTML - Table</vt:lpstr>
      <vt:lpstr>HTML – Table</vt:lpstr>
      <vt:lpstr>&lt;table&gt; 속성</vt:lpstr>
      <vt:lpstr>&lt;td&gt; 속성</vt:lpstr>
      <vt:lpstr>PowerPoint 프레젠테이션</vt:lpstr>
      <vt:lpstr>실습. colspan과 rowspan 이용하기</vt:lpstr>
      <vt:lpstr>실습. 카페 음료 주문 테이블 작성</vt:lpstr>
      <vt:lpstr>Semantic</vt:lpstr>
      <vt:lpstr>PowerPoint 프레젠테이션</vt:lpstr>
      <vt:lpstr>PowerPoint 프레젠테이션</vt:lpstr>
      <vt:lpstr>Semactic tag</vt:lpstr>
      <vt:lpstr>Semactic tag</vt:lpstr>
      <vt:lpstr>Semactic tag</vt:lpstr>
      <vt:lpstr>Semactic tag</vt:lpstr>
      <vt:lpstr>Semactic tag</vt:lpstr>
      <vt:lpstr>Semactic tag</vt:lpstr>
      <vt:lpstr>Semactic tag</vt:lpstr>
      <vt:lpstr>왜 Semactic 해야할까? 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606</cp:revision>
  <dcterms:created xsi:type="dcterms:W3CDTF">2023-01-31T04:26:23Z</dcterms:created>
  <dcterms:modified xsi:type="dcterms:W3CDTF">2026-01-06T08:06:11Z</dcterms:modified>
</cp:coreProperties>
</file>