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1388" r:id="rId2"/>
    <p:sldId id="682" r:id="rId3"/>
    <p:sldId id="485" r:id="rId4"/>
    <p:sldId id="1049" r:id="rId5"/>
    <p:sldId id="474" r:id="rId6"/>
    <p:sldId id="1050" r:id="rId7"/>
    <p:sldId id="1051" r:id="rId8"/>
    <p:sldId id="476" r:id="rId9"/>
    <p:sldId id="1052" r:id="rId10"/>
    <p:sldId id="477" r:id="rId11"/>
    <p:sldId id="486" r:id="rId12"/>
    <p:sldId id="1054" r:id="rId13"/>
    <p:sldId id="1053" r:id="rId14"/>
    <p:sldId id="270" r:id="rId15"/>
    <p:sldId id="483" r:id="rId16"/>
    <p:sldId id="484" r:id="rId17"/>
    <p:sldId id="1055" r:id="rId18"/>
    <p:sldId id="1058" r:id="rId19"/>
    <p:sldId id="257" r:id="rId20"/>
    <p:sldId id="1061" r:id="rId21"/>
    <p:sldId id="258" r:id="rId22"/>
    <p:sldId id="290" r:id="rId23"/>
    <p:sldId id="281" r:id="rId24"/>
    <p:sldId id="1059" r:id="rId25"/>
    <p:sldId id="495" r:id="rId26"/>
    <p:sldId id="259" r:id="rId27"/>
    <p:sldId id="280" r:id="rId28"/>
    <p:sldId id="263" r:id="rId29"/>
    <p:sldId id="261" r:id="rId30"/>
    <p:sldId id="262" r:id="rId31"/>
    <p:sldId id="264" r:id="rId32"/>
    <p:sldId id="265" r:id="rId33"/>
    <p:sldId id="496" r:id="rId34"/>
    <p:sldId id="266" r:id="rId35"/>
    <p:sldId id="267" r:id="rId36"/>
    <p:sldId id="498" r:id="rId37"/>
    <p:sldId id="268" r:id="rId38"/>
    <p:sldId id="269" r:id="rId39"/>
    <p:sldId id="1056" r:id="rId40"/>
    <p:sldId id="1057" r:id="rId41"/>
    <p:sldId id="276" r:id="rId42"/>
    <p:sldId id="275" r:id="rId43"/>
    <p:sldId id="278" r:id="rId44"/>
    <p:sldId id="279" r:id="rId45"/>
    <p:sldId id="497" r:id="rId46"/>
    <p:sldId id="301" r:id="rId47"/>
    <p:sldId id="491" r:id="rId48"/>
    <p:sldId id="283" r:id="rId49"/>
    <p:sldId id="272" r:id="rId50"/>
    <p:sldId id="492" r:id="rId51"/>
    <p:sldId id="493" r:id="rId52"/>
    <p:sldId id="494" r:id="rId53"/>
    <p:sldId id="813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9FE"/>
    <a:srgbClr val="84C472"/>
    <a:srgbClr val="D09343"/>
    <a:srgbClr val="00B050"/>
    <a:srgbClr val="272B34"/>
    <a:srgbClr val="ED7D31"/>
    <a:srgbClr val="2B2B2B"/>
    <a:srgbClr val="00FF99"/>
    <a:srgbClr val="FF5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3788" autoAdjust="0"/>
  </p:normalViewPr>
  <p:slideViewPr>
    <p:cSldViewPr snapToGrid="0">
      <p:cViewPr varScale="1">
        <p:scale>
          <a:sx n="69" d="100"/>
          <a:sy n="69" d="100"/>
        </p:scale>
        <p:origin x="107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비구조화 할당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C434-4F2C-4009-A759-466C4FEA311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854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변수에 </a:t>
            </a:r>
            <a:r>
              <a:rPr lang="ko-KR" altLang="en-US" dirty="0" err="1"/>
              <a:t>직접할당</a:t>
            </a:r>
            <a:r>
              <a:rPr lang="en-US" altLang="ko-KR" dirty="0"/>
              <a:t>, </a:t>
            </a:r>
            <a:r>
              <a:rPr lang="ko-KR" altLang="en-US" dirty="0"/>
              <a:t>직관적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C434-4F2C-4009-A759-466C4FEA311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152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title,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num</a:t>
            </a:r>
            <a:r>
              <a:rPr lang="en-US" altLang="ko-KR" baseline="0" dirty="0"/>
              <a:t>, content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196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... </a:t>
            </a:r>
            <a:r>
              <a:rPr lang="ko-KR" altLang="en-US" dirty="0"/>
              <a:t>이 연산자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688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배열 자체를 </a:t>
            </a:r>
            <a:r>
              <a:rPr lang="en-US" altLang="ko-KR" dirty="0"/>
              <a:t>arr3 =[arr1, arr2] </a:t>
            </a:r>
            <a:r>
              <a:rPr lang="ko-KR" altLang="en-US" dirty="0"/>
              <a:t>초기화 시키면 이차원 배열이 </a:t>
            </a:r>
            <a:r>
              <a:rPr lang="ko-KR" altLang="en-US" dirty="0" err="1"/>
              <a:t>되는거고</a:t>
            </a:r>
            <a:endParaRPr lang="en-US" altLang="ko-KR" dirty="0"/>
          </a:p>
          <a:p>
            <a:r>
              <a:rPr lang="ko-KR" altLang="en-US" dirty="0"/>
              <a:t>배열의 요소를 합치기 위해서는 전개구문 사용할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물론 전개구문이 아니고 배열의 </a:t>
            </a:r>
            <a:r>
              <a:rPr lang="ko-KR" altLang="en-US" dirty="0" err="1"/>
              <a:t>메소드라든지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632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602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비동기는 배웠었죠</a:t>
            </a:r>
            <a:r>
              <a:rPr lang="en-US" altLang="ko-KR" b="1" dirty="0"/>
              <a:t>? </a:t>
            </a:r>
            <a:r>
              <a:rPr lang="ko-KR" altLang="en-US" b="1" dirty="0"/>
              <a:t>기다리지 않고 처리하는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964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BA6E-B7DA-B318-A02B-7DC91408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201465-1AA9-AC8A-86ED-3A48DB562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B80B8B-BB08-680B-4418-9AEAAF999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비동기는 배웠었죠</a:t>
            </a:r>
            <a:r>
              <a:rPr lang="en-US" altLang="ko-KR" b="1" dirty="0"/>
              <a:t>? </a:t>
            </a:r>
            <a:r>
              <a:rPr lang="ko-KR" altLang="en-US" b="1" dirty="0"/>
              <a:t>기다리지 않고 처리하는 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56466-5EC6-E013-67E7-D95DDB13E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386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/>
              <a:t>10_asynchronous/index.js -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#2 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비동기 처리</a:t>
            </a:r>
            <a:endParaRPr lang="ko-KR" altLang="en-US" b="1" i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1" i="0" dirty="0"/>
          </a:p>
          <a:p>
            <a:endParaRPr lang="ko-KR" altLang="en-US" b="1" i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30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처리한다</a:t>
            </a:r>
            <a:r>
              <a:rPr lang="en-US" altLang="ko-KR" dirty="0"/>
              <a:t>.?</a:t>
            </a:r>
          </a:p>
          <a:p>
            <a:r>
              <a:rPr lang="ko-KR" altLang="en-US" dirty="0"/>
              <a:t>의도대로 순서대로 만드는 방법</a:t>
            </a:r>
            <a:r>
              <a:rPr lang="en-US" altLang="ko-KR" dirty="0"/>
              <a:t>,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169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08</a:t>
            </a:r>
            <a:r>
              <a:rPr lang="ko-KR" altLang="en-US" b="1"/>
              <a:t>비동기</a:t>
            </a:r>
            <a:r>
              <a:rPr lang="en-US" altLang="ko-KR" b="1"/>
              <a:t>/#1 setTimeout</a:t>
            </a: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r>
              <a:rPr lang="ko-KR" altLang="en-US" b="1" dirty="0"/>
              <a:t>왜 </a:t>
            </a:r>
            <a:r>
              <a:rPr lang="en-US" altLang="ko-KR" b="1" dirty="0"/>
              <a:t>2</a:t>
            </a:r>
            <a:r>
              <a:rPr lang="ko-KR" altLang="en-US" b="1" dirty="0"/>
              <a:t>가 출력될 때까지 안기다려주고 다음으로 넘어갈까</a:t>
            </a:r>
            <a:r>
              <a:rPr lang="en-US" altLang="ko-KR" b="1" dirty="0"/>
              <a:t>?</a:t>
            </a:r>
          </a:p>
          <a:p>
            <a:r>
              <a:rPr lang="en-US" altLang="ko-KR" b="1" dirty="0" err="1"/>
              <a:t>javascript</a:t>
            </a:r>
            <a:r>
              <a:rPr lang="ko-KR" altLang="en-US" b="1" dirty="0"/>
              <a:t>의 특성</a:t>
            </a:r>
            <a:r>
              <a:rPr lang="ko-KR" altLang="en-US" b="1" baseline="0" dirty="0"/>
              <a:t> 때문에</a:t>
            </a:r>
            <a:r>
              <a:rPr lang="en-US" altLang="ko-KR" b="1" dirty="0"/>
              <a:t>!! (= </a:t>
            </a:r>
            <a:r>
              <a:rPr lang="ko-KR" altLang="en-US" b="1" dirty="0"/>
              <a:t>비동기</a:t>
            </a:r>
            <a:r>
              <a:rPr lang="en-US" altLang="ko-KR" b="1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505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D9404-4A91-237B-C221-B6414B73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CF43B7-9AE1-E4C9-1D51-685D7D5C2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3EF365-CB4E-4ABE-4098-CDEB640BB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08</a:t>
            </a:r>
            <a:r>
              <a:rPr lang="ko-KR" altLang="en-US" b="1"/>
              <a:t>비동기</a:t>
            </a:r>
            <a:r>
              <a:rPr lang="en-US" altLang="ko-KR" b="1"/>
              <a:t>/#1 setTimeout</a:t>
            </a: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r>
              <a:rPr lang="ko-KR" altLang="en-US" b="1" dirty="0"/>
              <a:t>왜 </a:t>
            </a:r>
            <a:r>
              <a:rPr lang="en-US" altLang="ko-KR" b="1" dirty="0"/>
              <a:t>2</a:t>
            </a:r>
            <a:r>
              <a:rPr lang="ko-KR" altLang="en-US" b="1" dirty="0"/>
              <a:t>가 출력될 때까지 안기다려주고 다음으로 넘어갈까</a:t>
            </a:r>
            <a:r>
              <a:rPr lang="en-US" altLang="ko-KR" b="1" dirty="0"/>
              <a:t>?</a:t>
            </a:r>
          </a:p>
          <a:p>
            <a:r>
              <a:rPr lang="en-US" altLang="ko-KR" b="1" dirty="0" err="1"/>
              <a:t>javascript</a:t>
            </a:r>
            <a:r>
              <a:rPr lang="ko-KR" altLang="en-US" b="1" dirty="0"/>
              <a:t>의 특성</a:t>
            </a:r>
            <a:r>
              <a:rPr lang="ko-KR" altLang="en-US" b="1" baseline="0" dirty="0"/>
              <a:t> 때문에</a:t>
            </a:r>
            <a:r>
              <a:rPr lang="en-US" altLang="ko-KR" b="1" dirty="0"/>
              <a:t>!! (= </a:t>
            </a:r>
            <a:r>
              <a:rPr lang="ko-KR" altLang="en-US" b="1" dirty="0"/>
              <a:t>비동기</a:t>
            </a:r>
            <a:r>
              <a:rPr lang="en-US" altLang="ko-KR" b="1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3850FA-3906-9BCB-D46D-66204886C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322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빨간 글씨</a:t>
            </a:r>
            <a:r>
              <a:rPr lang="en-US" altLang="ko-KR" dirty="0"/>
              <a:t>! </a:t>
            </a:r>
            <a:r>
              <a:rPr lang="ko-KR" altLang="en-US" dirty="0"/>
              <a:t>오늘의 핵심 키워드</a:t>
            </a:r>
            <a:endParaRPr lang="en-US" altLang="ko-KR" dirty="0"/>
          </a:p>
          <a:p>
            <a:r>
              <a:rPr lang="ko-KR" altLang="en-US" dirty="0"/>
              <a:t>설명은 적어놓고 뒤에 가서 코드로 </a:t>
            </a:r>
            <a:r>
              <a:rPr lang="ko-KR" altLang="en-US" dirty="0" err="1"/>
              <a:t>이해해보기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67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여러분이 이미 사용한 적이 있는 </a:t>
            </a:r>
            <a:r>
              <a:rPr lang="ko-KR" altLang="en-US" dirty="0" err="1"/>
              <a:t>콜백</a:t>
            </a:r>
            <a:r>
              <a:rPr lang="ko-KR" altLang="en-US" dirty="0"/>
              <a:t> 함수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510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2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비동기</a:t>
            </a:r>
            <a:r>
              <a:rPr lang="en-US" altLang="ko-KR" b="1" dirty="0"/>
              <a:t>/callback.js –</a:t>
            </a:r>
            <a:r>
              <a:rPr lang="en-US" altLang="ko-KR" b="1" baseline="0" dirty="0"/>
              <a:t> 16</a:t>
            </a:r>
            <a:r>
              <a:rPr lang="ko-KR" altLang="en-US" b="1" baseline="0" dirty="0"/>
              <a:t>째 줄</a:t>
            </a: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(</a:t>
            </a:r>
            <a:r>
              <a:rPr lang="ko-KR" altLang="en-US" b="1" dirty="0"/>
              <a:t>앞선 예시 코드에서 </a:t>
            </a:r>
            <a:r>
              <a:rPr lang="en-US" altLang="ko-KR" b="1" dirty="0"/>
              <a:t>undefined</a:t>
            </a:r>
            <a:r>
              <a:rPr lang="ko-KR" altLang="en-US" b="1" dirty="0"/>
              <a:t>가 뜨지 않도록 해보자</a:t>
            </a:r>
            <a:r>
              <a:rPr lang="en-US" altLang="ko-KR" b="1" dirty="0"/>
              <a:t>!!)</a:t>
            </a:r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88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이전 페이지와 동일한 코드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836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4967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비동기</a:t>
            </a:r>
            <a:r>
              <a:rPr lang="en-US" altLang="ko-KR" b="1" dirty="0"/>
              <a:t>/callback.js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만나고 싶진 않지만</a:t>
            </a:r>
            <a:r>
              <a:rPr lang="en-US" altLang="ko-KR" b="1" dirty="0"/>
              <a:t>,, </a:t>
            </a:r>
            <a:r>
              <a:rPr lang="ko-KR" altLang="en-US" b="1" dirty="0"/>
              <a:t>그래도 한 번 짜보자</a:t>
            </a:r>
            <a:r>
              <a:rPr lang="en-US" altLang="ko-KR" b="1" dirty="0"/>
              <a:t>!</a:t>
            </a:r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1266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꼭 기억하자</a:t>
            </a:r>
            <a:r>
              <a:rPr lang="en-US" altLang="ko-KR" dirty="0"/>
              <a:t>!!! </a:t>
            </a:r>
            <a:r>
              <a:rPr lang="ko-KR" altLang="en-US" dirty="0"/>
              <a:t>제발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62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pending, fulfilled, rejected</a:t>
            </a:r>
            <a:r>
              <a:rPr lang="ko-KR" altLang="en-US" dirty="0"/>
              <a:t>만 알아도 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9008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486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코드는 </a:t>
            </a:r>
            <a:r>
              <a:rPr lang="en-US" altLang="ko-KR" dirty="0"/>
              <a:t>promise1</a:t>
            </a:r>
            <a:r>
              <a:rPr lang="ko-KR" altLang="en-US" dirty="0"/>
              <a:t> 함수의 </a:t>
            </a:r>
            <a:r>
              <a:rPr lang="en-US" altLang="ko-KR" dirty="0"/>
              <a:t>return </a:t>
            </a:r>
            <a:r>
              <a:rPr lang="ko-KR" altLang="en-US" dirty="0"/>
              <a:t>값이 </a:t>
            </a:r>
            <a:r>
              <a:rPr lang="en-US" altLang="ko-KR" dirty="0"/>
              <a:t>Promise </a:t>
            </a:r>
            <a:r>
              <a:rPr lang="ko-KR" altLang="en-US" dirty="0"/>
              <a:t>객체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10_asynchronous/index2.js - #1 Promise (</a:t>
            </a:r>
            <a:r>
              <a:rPr lang="ko-KR" altLang="en-US" b="1" dirty="0"/>
              <a:t>프로미스</a:t>
            </a:r>
            <a:r>
              <a:rPr lang="en-US" altLang="ko-KR" b="1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702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index.js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b="0" i="1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콜백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함수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이용해 동기 처리한 것을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"promise"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이용해 동기 처리해보자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08_</a:t>
            </a:r>
            <a:r>
              <a:rPr lang="ko-KR" altLang="en-US" b="1" dirty="0"/>
              <a:t>비동기</a:t>
            </a:r>
            <a:r>
              <a:rPr lang="en-US" altLang="ko-KR" b="1" baseline="0" dirty="0"/>
              <a:t>/promise.js 32</a:t>
            </a:r>
            <a:r>
              <a:rPr lang="ko-KR" altLang="en-US" b="1" baseline="0" dirty="0" err="1"/>
              <a:t>째줄</a:t>
            </a:r>
            <a:endParaRPr lang="en-US" altLang="ko-KR" b="1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7857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메서드 </a:t>
            </a:r>
            <a:r>
              <a:rPr lang="ko-KR" altLang="en-US" dirty="0" err="1"/>
              <a:t>체이닝</a:t>
            </a:r>
            <a:r>
              <a:rPr lang="ko-KR" altLang="en-US" dirty="0"/>
              <a:t> 배운 것처럼 </a:t>
            </a:r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</a:t>
            </a:r>
            <a:r>
              <a:rPr lang="ko-KR" altLang="en-US" dirty="0" err="1"/>
              <a:t>사용안하고</a:t>
            </a:r>
            <a:r>
              <a:rPr lang="ko-KR" altLang="en-US" dirty="0"/>
              <a:t> </a:t>
            </a:r>
            <a:r>
              <a:rPr lang="ko-KR" altLang="en-US" dirty="0" err="1"/>
              <a:t>콜백함수로</a:t>
            </a:r>
            <a:r>
              <a:rPr lang="ko-KR" altLang="en-US" dirty="0"/>
              <a:t> 작성시</a:t>
            </a:r>
            <a:r>
              <a:rPr lang="en-US" altLang="ko-KR" dirty="0"/>
              <a:t>!!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08_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비동기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/promise.js</a:t>
            </a:r>
            <a:r>
              <a:rPr lang="en-US" altLang="ko-KR" b="1" i="0" baseline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Promise </a:t>
            </a:r>
            <a:r>
              <a:rPr lang="ko-KR" altLang="en-US" b="1" i="0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체이닝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(chaining) 61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번째 줄</a:t>
            </a:r>
            <a:endParaRPr lang="en-US" altLang="ko-KR" b="1" i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/>
              <a:t># step1.</a:t>
            </a:r>
            <a:r>
              <a:rPr lang="ko-KR" altLang="en-US" dirty="0"/>
              <a:t> 콜백함수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1586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08_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비동기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/promise.js</a:t>
            </a:r>
            <a:r>
              <a:rPr lang="en-US" altLang="ko-KR" b="1" i="0" baseline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Promise </a:t>
            </a:r>
            <a:r>
              <a:rPr lang="ko-KR" altLang="en-US" b="1" i="0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체이닝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(chaining) 97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번째 줄</a:t>
            </a:r>
            <a:endParaRPr lang="en-US" altLang="ko-KR" b="1" i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/>
              <a:t># step2.</a:t>
            </a:r>
            <a:r>
              <a:rPr lang="ko-KR" altLang="en-US" dirty="0"/>
              <a:t> </a:t>
            </a:r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이용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1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96562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698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typeof</a:t>
            </a:r>
            <a:r>
              <a:rPr lang="en-US" altLang="ko-KR" baseline="0" dirty="0"/>
              <a:t> </a:t>
            </a:r>
            <a:r>
              <a:rPr lang="ko-KR" altLang="en-US" baseline="0" dirty="0"/>
              <a:t>찍어보면 </a:t>
            </a:r>
            <a:r>
              <a:rPr lang="en-US" altLang="ko-KR" baseline="0" dirty="0"/>
              <a:t>1</a:t>
            </a:r>
            <a:r>
              <a:rPr lang="ko-KR" altLang="en-US" baseline="0" dirty="0" err="1"/>
              <a:t>리턴해도</a:t>
            </a:r>
            <a:r>
              <a:rPr lang="ko-KR" altLang="en-US" baseline="0" dirty="0"/>
              <a:t> </a:t>
            </a:r>
            <a:r>
              <a:rPr lang="en-US" altLang="ko-KR" baseline="0" dirty="0"/>
              <a:t>object</a:t>
            </a:r>
            <a:r>
              <a:rPr lang="ko-KR" altLang="en-US" baseline="0" dirty="0"/>
              <a:t>반환하는 것을 볼 수 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기다리는 중에 </a:t>
            </a:r>
            <a:r>
              <a:rPr lang="en-US" altLang="ko-KR" baseline="0" dirty="0"/>
              <a:t>CPU</a:t>
            </a:r>
            <a:r>
              <a:rPr lang="ko-KR" altLang="en-US" baseline="0" dirty="0"/>
              <a:t>는 다른 일을 처리할 수 있기 때문에 리소스 낭비는 없음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4570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좌측 함수들은 </a:t>
            </a:r>
            <a:r>
              <a:rPr lang="en-US" altLang="ko-KR" dirty="0"/>
              <a:t>index2.js </a:t>
            </a:r>
            <a:r>
              <a:rPr lang="ko-KR" altLang="en-US" dirty="0"/>
              <a:t>파일 그대로</a:t>
            </a:r>
            <a:endParaRPr lang="en-US" altLang="ko-KR" dirty="0"/>
          </a:p>
          <a:p>
            <a:r>
              <a:rPr lang="ko-KR" altLang="en-US" dirty="0"/>
              <a:t>우측만 새로 하면 됨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*Promise</a:t>
            </a:r>
            <a:r>
              <a:rPr lang="ko-KR" altLang="en-US" dirty="0"/>
              <a:t>에 익숙해지는 것이 우선이므로</a:t>
            </a:r>
            <a:r>
              <a:rPr lang="en-US" altLang="ko-KR" dirty="0"/>
              <a:t>!! </a:t>
            </a:r>
            <a:r>
              <a:rPr lang="ko-KR" altLang="en-US" dirty="0"/>
              <a:t>짧게만 </a:t>
            </a:r>
            <a:r>
              <a:rPr lang="ko-KR" altLang="en-US" dirty="0" err="1"/>
              <a:t>볼게요</a:t>
            </a:r>
            <a:r>
              <a:rPr lang="en-US" altLang="ko-KR" dirty="0"/>
              <a:t>~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738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0069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7849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9581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>
                <a:solidFill>
                  <a:srgbClr val="ED7D31"/>
                </a:solidFill>
              </a:rPr>
              <a:t>JavaScript(2)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68FECC-6498-35A4-9046-20471832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9E5341-988E-3DF5-738B-FB7BDCF5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816F34E-1499-29A0-A49C-509616CDC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0"/>
            <a:ext cx="10515600" cy="1852755"/>
          </a:xfrm>
        </p:spPr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구조 분해 할당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 err="1">
                <a:solidFill>
                  <a:srgbClr val="ED7D31"/>
                </a:solidFill>
              </a:rPr>
              <a:t>Destructuring</a:t>
            </a:r>
            <a:r>
              <a:rPr lang="en-US" altLang="ko-KR" sz="6000" dirty="0">
                <a:solidFill>
                  <a:srgbClr val="ED7D31"/>
                </a:solidFill>
              </a:rPr>
              <a:t> assignment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59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8F99A1-B785-5CCB-8DC4-3BF04825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820400" cy="38752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배열이나 객체의 속성을 해체해 그 값을 개별변수에 담는 것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객체나 배열에 저장된 데이터의 일부를 가져오고 싶을 때 주로 사용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</a:rPr>
              <a:t>배열 구조 분해</a:t>
            </a:r>
            <a:endParaRPr lang="en-US" altLang="ko-KR" sz="2000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</a:rPr>
              <a:t>객체 구조 분해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4825A4-1931-9636-251A-902B8EE9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BE95AC-BD89-808C-55F7-51A15BF9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8E1038F-D846-EC17-CA82-EE017EDA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구조분해 할당</a:t>
            </a:r>
          </a:p>
        </p:txBody>
      </p:sp>
    </p:spTree>
    <p:extLst>
      <p:ext uri="{BB962C8B-B14F-4D97-AF65-F5344CB8AC3E}">
        <p14:creationId xmlns:p14="http://schemas.microsoft.com/office/powerpoint/2010/main" val="373215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00B45-4E8B-E4A5-4C59-FD70CD323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53695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</a:t>
            </a:r>
            <a:r>
              <a:rPr lang="en-US" altLang="ko-KR" dirty="0"/>
              <a:t>const [</a:t>
            </a:r>
            <a:r>
              <a:rPr lang="ko-KR" altLang="en-US" dirty="0"/>
              <a:t>변수</a:t>
            </a:r>
            <a:r>
              <a:rPr lang="en-US" altLang="ko-KR" dirty="0"/>
              <a:t>1, </a:t>
            </a:r>
            <a:r>
              <a:rPr lang="ko-KR" altLang="en-US" dirty="0"/>
              <a:t>변수</a:t>
            </a:r>
            <a:r>
              <a:rPr lang="en-US" altLang="ko-KR" dirty="0"/>
              <a:t>2, </a:t>
            </a:r>
            <a:r>
              <a:rPr lang="ko-KR" altLang="en-US" dirty="0"/>
              <a:t>변수</a:t>
            </a:r>
            <a:r>
              <a:rPr lang="en-US" altLang="ko-KR" dirty="0"/>
              <a:t>3] = </a:t>
            </a:r>
            <a:r>
              <a:rPr lang="ko-KR" altLang="en-US" dirty="0"/>
              <a:t>배열</a:t>
            </a:r>
            <a:r>
              <a:rPr lang="en-US" altLang="ko-KR" dirty="0"/>
              <a:t>;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변수에 배열의 인덱스 순으로 값 대응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구조분해 시 변수의 값이 </a:t>
            </a:r>
            <a:r>
              <a:rPr lang="en-US" altLang="ko-KR" dirty="0"/>
              <a:t>undefined </a:t>
            </a:r>
            <a:r>
              <a:rPr lang="ko-KR" altLang="en-US" dirty="0"/>
              <a:t>일 때 기본값 할당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구조분해 없이 두 변수의 값 교환도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78AED-1F62-937F-C141-A1428C32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EDC173-EE37-074D-5C8F-54F6342E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A0F18E-0D4D-B838-DE2C-EAC0066B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구조 분해 할당</a:t>
            </a:r>
          </a:p>
        </p:txBody>
      </p:sp>
    </p:spTree>
    <p:extLst>
      <p:ext uri="{BB962C8B-B14F-4D97-AF65-F5344CB8AC3E}">
        <p14:creationId xmlns:p14="http://schemas.microsoft.com/office/powerpoint/2010/main" val="223471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37750" y="1448640"/>
            <a:ext cx="6543675" cy="51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각각의 </a:t>
            </a:r>
            <a:r>
              <a:rPr lang="ko-KR" altLang="en-US" dirty="0">
                <a:solidFill>
                  <a:schemeClr val="accent1"/>
                </a:solidFill>
              </a:rPr>
              <a:t>배열 요소를 변수에 할당하여</a:t>
            </a:r>
            <a:r>
              <a:rPr lang="ko-KR" altLang="en-US" dirty="0"/>
              <a:t> 사용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구조 분해 할당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93653" y="2095858"/>
            <a:ext cx="3834938" cy="1200329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tomato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kiwi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banana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  <a:endParaRPr lang="en-US" altLang="ko-KR" sz="2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A1EC377-C2BE-B5C8-3304-19E445D9022D}"/>
              </a:ext>
            </a:extLst>
          </p:cNvPr>
          <p:cNvGrpSpPr/>
          <p:nvPr/>
        </p:nvGrpSpPr>
        <p:grpSpPr>
          <a:xfrm>
            <a:off x="2393653" y="4282846"/>
            <a:ext cx="7404693" cy="1200329"/>
            <a:chOff x="1396407" y="4277998"/>
            <a:chExt cx="7404693" cy="1200329"/>
          </a:xfrm>
        </p:grpSpPr>
        <p:sp>
          <p:nvSpPr>
            <p:cNvPr id="4" name="직사각형 3"/>
            <p:cNvSpPr/>
            <p:nvPr/>
          </p:nvSpPr>
          <p:spPr>
            <a:xfrm>
              <a:off x="1396407" y="4277998"/>
              <a:ext cx="7404693" cy="1200329"/>
            </a:xfrm>
            <a:prstGeom prst="rect">
              <a:avLst/>
            </a:prstGeom>
            <a:solidFill>
              <a:srgbClr val="272B34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2400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arr5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[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sz="2400" dirty="0">
                  <a:solidFill>
                    <a:srgbClr val="C3E88D"/>
                  </a:solidFill>
                  <a:latin typeface="Consolas" panose="020B0609020204030204" pitchFamily="49" charset="0"/>
                </a:rPr>
                <a:t>tomato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',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sz="2400" dirty="0">
                  <a:solidFill>
                    <a:srgbClr val="C3E88D"/>
                  </a:solidFill>
                  <a:latin typeface="Consolas" panose="020B0609020204030204" pitchFamily="49" charset="0"/>
                </a:rPr>
                <a:t>kiwi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',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sz="2400" dirty="0">
                  <a:solidFill>
                    <a:srgbClr val="C3E88D"/>
                  </a:solidFill>
                  <a:latin typeface="Consolas" panose="020B0609020204030204" pitchFamily="49" charset="0"/>
                </a:rPr>
                <a:t>banana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]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endPara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sz="2400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[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tomato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,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kiwi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,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banana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]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arr5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endPara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console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.</a:t>
              </a:r>
              <a:r>
                <a:rPr lang="en-US" altLang="ko-KR" sz="2400" dirty="0">
                  <a:solidFill>
                    <a:srgbClr val="82AAFF"/>
                  </a:solidFill>
                  <a:latin typeface="Consolas" panose="020B0609020204030204" pitchFamily="49" charset="0"/>
                </a:rPr>
                <a:t>log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tomato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)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i="1" dirty="0">
                  <a:solidFill>
                    <a:srgbClr val="546E7A"/>
                  </a:solidFill>
                  <a:latin typeface="Consolas" panose="020B0609020204030204" pitchFamily="49" charset="0"/>
                </a:rPr>
                <a:t>//'tomato'</a:t>
              </a:r>
              <a:endParaRPr lang="en-US" altLang="ko-KR" sz="2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455450" y="4667093"/>
              <a:ext cx="3773977" cy="422138"/>
            </a:xfrm>
            <a:prstGeom prst="rect">
              <a:avLst/>
            </a:prstGeom>
            <a:noFill/>
            <a:ln w="5715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195" y="2964046"/>
            <a:ext cx="1973609" cy="1318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A41945-047D-37C7-065A-4EACA8B9C62C}"/>
              </a:ext>
            </a:extLst>
          </p:cNvPr>
          <p:cNvSpPr txBox="1"/>
          <p:nvPr/>
        </p:nvSpPr>
        <p:spPr>
          <a:xfrm>
            <a:off x="2282159" y="5591019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변수를</a:t>
            </a:r>
            <a:r>
              <a:rPr lang="ko-KR" altLang="en-US" dirty="0">
                <a:solidFill>
                  <a:schemeClr val="accent3"/>
                </a:solidFill>
              </a:rPr>
              <a:t> </a:t>
            </a:r>
            <a:r>
              <a:rPr lang="ko-KR" altLang="en-US" dirty="0">
                <a:solidFill>
                  <a:srgbClr val="00B050"/>
                </a:solidFill>
              </a:rPr>
              <a:t>선언한 순서대로 </a:t>
            </a:r>
            <a:r>
              <a:rPr lang="ko-KR" altLang="en-US" dirty="0"/>
              <a:t>배열의 요소가 값으로 할당됨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1869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78AED-1F62-937F-C141-A1428C32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EDC173-EE37-074D-5C8F-54F6342E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A0F18E-0D4D-B838-DE2C-EAC0066B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구조 분해 할당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5D647B-26B2-A5DB-F898-3DC567BBC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20" y="1519874"/>
            <a:ext cx="5948201" cy="22132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D8C0A92-2A79-FB68-14F3-12DB44019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3377891"/>
            <a:ext cx="5717306" cy="235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56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D7EC5-CE6D-3A3F-9900-4B5C0C314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10261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const { </a:t>
            </a:r>
            <a:r>
              <a:rPr lang="ko-KR" altLang="en-US" b="1" dirty="0"/>
              <a:t>변수</a:t>
            </a:r>
            <a:r>
              <a:rPr lang="en-US" altLang="ko-KR" b="1" dirty="0"/>
              <a:t>1, </a:t>
            </a:r>
            <a:r>
              <a:rPr lang="ko-KR" altLang="en-US" b="1" dirty="0"/>
              <a:t>변수</a:t>
            </a:r>
            <a:r>
              <a:rPr lang="en-US" altLang="ko-KR" b="1" dirty="0"/>
              <a:t>2, </a:t>
            </a:r>
            <a:r>
              <a:rPr lang="ko-KR" altLang="en-US" b="1" dirty="0"/>
              <a:t>변수</a:t>
            </a:r>
            <a:r>
              <a:rPr lang="en-US" altLang="ko-KR" b="1" dirty="0"/>
              <a:t>3</a:t>
            </a:r>
            <a:r>
              <a:rPr lang="ko-KR" altLang="en-US" b="1" dirty="0"/>
              <a:t> </a:t>
            </a:r>
            <a:r>
              <a:rPr lang="en-US" altLang="ko-KR" b="1" dirty="0"/>
              <a:t>} = </a:t>
            </a:r>
            <a:r>
              <a:rPr lang="ko-KR" altLang="en-US" b="1" dirty="0"/>
              <a:t>객체</a:t>
            </a:r>
            <a:r>
              <a:rPr lang="en-US" altLang="ko-KR" b="1" dirty="0"/>
              <a:t>;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객체 안의 속성을 변수명으로 사용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콜론</a:t>
            </a:r>
            <a:r>
              <a:rPr lang="en-US" altLang="ko-KR" dirty="0"/>
              <a:t>(:)</a:t>
            </a:r>
            <a:r>
              <a:rPr lang="ko-KR" altLang="en-US" dirty="0"/>
              <a:t>을 이용해 새 변수명을 선언하고</a:t>
            </a:r>
            <a:r>
              <a:rPr lang="en-US" altLang="ko-KR" dirty="0"/>
              <a:t>, </a:t>
            </a:r>
            <a:r>
              <a:rPr lang="ko-KR" altLang="en-US" dirty="0"/>
              <a:t>원래의 값을 새 변수명에 할당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28B3E-7E46-8416-284F-F4F43A7E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F702D-FAA1-6C98-EA03-DB218465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1FE8CF-671B-89FF-B68D-5BBADDEC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객체의 구조 분해 할당</a:t>
            </a:r>
          </a:p>
        </p:txBody>
      </p:sp>
    </p:spTree>
    <p:extLst>
      <p:ext uri="{BB962C8B-B14F-4D97-AF65-F5344CB8AC3E}">
        <p14:creationId xmlns:p14="http://schemas.microsoft.com/office/powerpoint/2010/main" val="323661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5821" y="1912482"/>
            <a:ext cx="10663862" cy="540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객체의 속성값을 오브젝트의 </a:t>
            </a:r>
            <a:r>
              <a:rPr lang="en-US" altLang="ko-KR" sz="2400" dirty="0"/>
              <a:t>key</a:t>
            </a:r>
            <a:r>
              <a:rPr lang="ko-KR" altLang="en-US" sz="2400" dirty="0"/>
              <a:t>로 접근하는 것이 아닌 </a:t>
            </a:r>
            <a:r>
              <a:rPr lang="ko-KR" altLang="en-US" sz="2400" dirty="0">
                <a:solidFill>
                  <a:schemeClr val="accent1"/>
                </a:solidFill>
              </a:rPr>
              <a:t>변수로 접근하기 위해서 </a:t>
            </a:r>
            <a:r>
              <a:rPr lang="ko-KR" altLang="en-US" sz="2400" dirty="0"/>
              <a:t>사용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객체의 구조 분해 할당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8570" y="2604524"/>
            <a:ext cx="6237634" cy="2246769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  title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2000" dirty="0">
                <a:solidFill>
                  <a:srgbClr val="C3E88D"/>
                </a:solidFill>
                <a:latin typeface="Consolas" panose="020B0609020204030204" pitchFamily="49" charset="0"/>
              </a:rPr>
              <a:t>제목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sz="20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2000" dirty="0">
                <a:solidFill>
                  <a:srgbClr val="C3E88D"/>
                </a:solidFill>
                <a:latin typeface="Consolas" panose="020B0609020204030204" pitchFamily="49" charset="0"/>
              </a:rPr>
              <a:t>내용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sz="20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000" dirty="0" err="1">
                <a:solidFill>
                  <a:srgbClr val="BBBBBB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pt-BR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</a:p>
          <a:p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>
                <a:solidFill>
                  <a:srgbClr val="82AAFF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//'</a:t>
            </a:r>
            <a:r>
              <a:rPr lang="ko-KR" altLang="en-US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내용</a:t>
            </a:r>
            <a:r>
              <a:rPr lang="en-US" altLang="ko-KR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'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91028" y="3220076"/>
            <a:ext cx="4128655" cy="1015663"/>
          </a:xfrm>
          <a:prstGeom prst="rect">
            <a:avLst/>
          </a:prstGeom>
          <a:solidFill>
            <a:srgbClr val="272B34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B3FD7-C24F-4817-0016-0E0986EB9531}"/>
              </a:ext>
            </a:extLst>
          </p:cNvPr>
          <p:cNvSpPr txBox="1"/>
          <p:nvPr/>
        </p:nvSpPr>
        <p:spPr>
          <a:xfrm>
            <a:off x="695325" y="4964074"/>
            <a:ext cx="1125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배열의 구조분해 할당과 달리 변수 선언 순서에 따라서 값이 할당되는 것이 아닌 </a:t>
            </a:r>
            <a:r>
              <a:rPr lang="en-US" altLang="ko-KR" dirty="0">
                <a:solidFill>
                  <a:schemeClr val="accent1"/>
                </a:solidFill>
              </a:rPr>
              <a:t>key</a:t>
            </a:r>
            <a:r>
              <a:rPr lang="ko-KR" altLang="en-US" dirty="0">
                <a:solidFill>
                  <a:schemeClr val="accent1"/>
                </a:solidFill>
              </a:rPr>
              <a:t>의 이름에 따라서 변수에 값이 할당</a:t>
            </a:r>
            <a:r>
              <a:rPr lang="ko-KR" altLang="en-US" dirty="0"/>
              <a:t>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6574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 구조 분해 할당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3352F7-BD9B-300E-61CB-A8FD79CC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69" y="1334627"/>
            <a:ext cx="6769643" cy="28065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9A394C3-B844-7B6C-0545-4BD278006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324" y="3538330"/>
            <a:ext cx="7290707" cy="265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44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A06D18-F278-C2E4-31DA-BFF1C23A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5720A6-5EA2-CC0D-F55F-9734D8A7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E934DE0-1472-2343-E9C1-5277F887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… </a:t>
            </a:r>
            <a:r>
              <a:rPr lang="ko-KR" altLang="en-US" sz="6000" dirty="0">
                <a:solidFill>
                  <a:srgbClr val="ED7D31"/>
                </a:solidFill>
              </a:rPr>
              <a:t>연산자</a:t>
            </a:r>
          </a:p>
        </p:txBody>
      </p:sp>
    </p:spTree>
    <p:extLst>
      <p:ext uri="{BB962C8B-B14F-4D97-AF65-F5344CB8AC3E}">
        <p14:creationId xmlns:p14="http://schemas.microsoft.com/office/powerpoint/2010/main" val="428905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C9CD2-0B76-31C8-05F1-7689329CF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1835"/>
            <a:ext cx="11701221" cy="1202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sym typeface="Wingdings" panose="05000000000000000000" pitchFamily="2" charset="2"/>
              </a:rPr>
              <a:t>💡 객체의 요소에 접근해서 요소들을 하나씩 분리해서 전개요소에 접근해서 반환</a:t>
            </a:r>
            <a:endParaRPr lang="en-US" altLang="ko-KR" dirty="0"/>
          </a:p>
          <a:p>
            <a:pPr lvl="1"/>
            <a:r>
              <a:rPr lang="ko-KR" altLang="en-US" dirty="0"/>
              <a:t>반복 가능한</a:t>
            </a:r>
            <a:r>
              <a:rPr lang="en-US" altLang="ko-KR" dirty="0"/>
              <a:t> </a:t>
            </a:r>
            <a:r>
              <a:rPr lang="ko-KR" altLang="en-US" dirty="0"/>
              <a:t>객체에 사용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배열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유사 배열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문자열 등에 사용 가능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C6BA9C-7A8E-B8F2-EA76-C9284145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A98BC-78BC-6D57-3E6F-1B3FCE7A9B92}"/>
              </a:ext>
            </a:extLst>
          </p:cNvPr>
          <p:cNvSpPr txBox="1"/>
          <p:nvPr/>
        </p:nvSpPr>
        <p:spPr>
          <a:xfrm>
            <a:off x="840532" y="3276472"/>
            <a:ext cx="3969872" cy="523220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28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8A92-58F2-3B91-386E-76745716AB74}"/>
              </a:ext>
            </a:extLst>
          </p:cNvPr>
          <p:cNvSpPr txBox="1"/>
          <p:nvPr/>
        </p:nvSpPr>
        <p:spPr>
          <a:xfrm>
            <a:off x="251788" y="2710176"/>
            <a:ext cx="4900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sym typeface="Wingdings" panose="05000000000000000000" pitchFamily="2" charset="2"/>
              </a:rPr>
              <a:t>✅ </a:t>
            </a:r>
            <a:r>
              <a:rPr lang="en-US" altLang="ko-KR" sz="2400" dirty="0">
                <a:sym typeface="Wingdings" panose="05000000000000000000" pitchFamily="2" charset="2"/>
              </a:rPr>
              <a:t>spread </a:t>
            </a:r>
            <a:r>
              <a:rPr lang="ko-KR" altLang="en-US" sz="2400" dirty="0">
                <a:sym typeface="Wingdings" panose="05000000000000000000" pitchFamily="2" charset="2"/>
              </a:rPr>
              <a:t>연산자 사용 </a:t>
            </a: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배열의 전개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563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80F6EF4-092E-2739-3A7D-72364D786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565" y="1708088"/>
            <a:ext cx="7120870" cy="39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54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6BA9C-7A8E-B8F2-EA76-C9284145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6D341-6F04-4DC9-5F53-12679C60249B}"/>
              </a:ext>
            </a:extLst>
          </p:cNvPr>
          <p:cNvSpPr txBox="1"/>
          <p:nvPr/>
        </p:nvSpPr>
        <p:spPr>
          <a:xfrm>
            <a:off x="2810005" y="2416041"/>
            <a:ext cx="6571990" cy="830997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4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4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79054-04ED-CD20-AF8B-0459DCC358BD}"/>
              </a:ext>
            </a:extLst>
          </p:cNvPr>
          <p:cNvSpPr txBox="1"/>
          <p:nvPr/>
        </p:nvSpPr>
        <p:spPr>
          <a:xfrm>
            <a:off x="2810005" y="4818042"/>
            <a:ext cx="6571990" cy="461665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pt-BR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pt-BR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9DC92-09A8-7A38-4E51-1B23E8BBB19F}"/>
              </a:ext>
            </a:extLst>
          </p:cNvPr>
          <p:cNvSpPr txBox="1"/>
          <p:nvPr/>
        </p:nvSpPr>
        <p:spPr>
          <a:xfrm>
            <a:off x="2810005" y="3351187"/>
            <a:ext cx="6571990" cy="523220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8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arr3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8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063BA-A552-98C5-49EF-F33BC37601EE}"/>
              </a:ext>
            </a:extLst>
          </p:cNvPr>
          <p:cNvSpPr txBox="1"/>
          <p:nvPr/>
        </p:nvSpPr>
        <p:spPr>
          <a:xfrm>
            <a:off x="2647950" y="1811358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두 배열 합치기</a:t>
            </a: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438D561F-4AD0-650A-52D3-06BF29C9CC3B}"/>
              </a:ext>
            </a:extLst>
          </p:cNvPr>
          <p:cNvSpPr/>
          <p:nvPr/>
        </p:nvSpPr>
        <p:spPr>
          <a:xfrm>
            <a:off x="5886450" y="4049103"/>
            <a:ext cx="419099" cy="594242"/>
          </a:xfrm>
          <a:prstGeom prst="downArrow">
            <a:avLst>
              <a:gd name="adj1" fmla="val 50000"/>
              <a:gd name="adj2" fmla="val 5444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091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파라미터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B6FDD1-D7DB-FAAB-6AD0-A13D0557B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191" y="1963371"/>
            <a:ext cx="8529618" cy="3546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F55F2A-63AD-12F7-9527-F650504F7FB5}"/>
              </a:ext>
            </a:extLst>
          </p:cNvPr>
          <p:cNvSpPr txBox="1"/>
          <p:nvPr/>
        </p:nvSpPr>
        <p:spPr>
          <a:xfrm>
            <a:off x="238990" y="1145408"/>
            <a:ext cx="9688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💡 배열이나 </a:t>
            </a:r>
            <a:r>
              <a:rPr lang="ko-KR" altLang="en-US" sz="2400" dirty="0">
                <a:solidFill>
                  <a:srgbClr val="272B34"/>
                </a:solidFill>
              </a:rPr>
              <a:t>객체의</a:t>
            </a:r>
            <a:r>
              <a:rPr lang="ko-KR" altLang="en-US" sz="2400" dirty="0"/>
              <a:t> </a:t>
            </a:r>
            <a:r>
              <a:rPr lang="ko-KR" altLang="en-US" sz="2400" b="1" dirty="0"/>
              <a:t>나머지 요소들을 하나로 묶어</a:t>
            </a:r>
            <a:r>
              <a:rPr lang="ko-KR" altLang="en-US" sz="2400" dirty="0"/>
              <a:t> 변수에 담을 때 사용하는 문법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EC1EF-58A1-0BFA-6BA7-6B8E9A43E9BC}"/>
              </a:ext>
            </a:extLst>
          </p:cNvPr>
          <p:cNvSpPr txBox="1"/>
          <p:nvPr/>
        </p:nvSpPr>
        <p:spPr>
          <a:xfrm>
            <a:off x="1722922" y="5615895"/>
            <a:ext cx="7304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✔️ 구조분해할당 시 </a:t>
            </a:r>
            <a:r>
              <a:rPr lang="ko-KR" altLang="en-US" sz="2000" b="1" dirty="0"/>
              <a:t>남은 값들을 묶어서</a:t>
            </a:r>
            <a:r>
              <a:rPr lang="ko-KR" altLang="en-US" sz="2000" dirty="0"/>
              <a:t> 새로운 배열이나 객체로 저장</a:t>
            </a:r>
          </a:p>
        </p:txBody>
      </p:sp>
    </p:spTree>
    <p:extLst>
      <p:ext uri="{BB962C8B-B14F-4D97-AF65-F5344CB8AC3E}">
        <p14:creationId xmlns:p14="http://schemas.microsoft.com/office/powerpoint/2010/main" val="2566819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D7EC5-CE6D-3A3F-9900-4B5C0C314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701221" cy="46603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spread </a:t>
            </a:r>
            <a:r>
              <a:rPr lang="ko-KR" altLang="en-US" dirty="0"/>
              <a:t>파라미터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펼침</a:t>
            </a:r>
            <a:r>
              <a:rPr lang="ko-KR" altLang="en-US" dirty="0"/>
              <a:t> → 값을 </a:t>
            </a:r>
            <a:r>
              <a:rPr lang="ko-KR" altLang="en-US" b="1" dirty="0"/>
              <a:t>펼쳐서 복사</a:t>
            </a:r>
            <a:r>
              <a:rPr lang="en-US" altLang="ko-KR" b="1" dirty="0"/>
              <a:t>/</a:t>
            </a:r>
            <a:r>
              <a:rPr lang="ko-KR" altLang="en-US" b="1" dirty="0"/>
              <a:t>전개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호출하는</a:t>
            </a:r>
            <a:r>
              <a:rPr lang="ko-KR" altLang="en-US" dirty="0"/>
              <a:t> 함수의 파라미터에 사용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rest</a:t>
            </a:r>
            <a:r>
              <a:rPr lang="ko-KR" altLang="en-US" dirty="0"/>
              <a:t> 파라미터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나머지</a:t>
            </a:r>
            <a:r>
              <a:rPr lang="ko-KR" altLang="en-US" dirty="0"/>
              <a:t> → 값을 </a:t>
            </a:r>
            <a:r>
              <a:rPr lang="ko-KR" altLang="en-US" b="1" dirty="0"/>
              <a:t>묶어서 수집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err="1">
                <a:solidFill>
                  <a:schemeClr val="accent1"/>
                </a:solidFill>
              </a:rPr>
              <a:t>호출받는</a:t>
            </a:r>
            <a:r>
              <a:rPr lang="ko-KR" altLang="en-US" dirty="0"/>
              <a:t> 함수의 파라미터에 사용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호출하는 함수의 파라미터 순서에 맞춰 값 설정 후 남은 파라미터 값을 배열로 설정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28B3E-7E46-8416-284F-F4F43A7E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F702D-FAA1-6C98-EA03-DB218465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1FE8CF-671B-89FF-B68D-5BBADDEC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spread vs. rest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096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Spread</a:t>
            </a:r>
            <a:r>
              <a:rPr lang="ko-KR" altLang="en-US" dirty="0">
                <a:solidFill>
                  <a:srgbClr val="ED7D31"/>
                </a:solidFill>
              </a:rPr>
              <a:t>연산자 만들기</a:t>
            </a:r>
          </a:p>
        </p:txBody>
      </p:sp>
      <p:sp>
        <p:nvSpPr>
          <p:cNvPr id="3" name="내용 개체 틀 1">
            <a:extLst>
              <a:ext uri="{FF2B5EF4-FFF2-40B4-BE49-F238E27FC236}">
                <a16:creationId xmlns:a16="http://schemas.microsoft.com/office/drawing/2014/main" id="{07A38127-3A5D-0497-41F4-F4B1870C9690}"/>
              </a:ext>
            </a:extLst>
          </p:cNvPr>
          <p:cNvSpPr txBox="1">
            <a:spLocks/>
          </p:cNvSpPr>
          <p:nvPr/>
        </p:nvSpPr>
        <p:spPr>
          <a:xfrm>
            <a:off x="251787" y="1511166"/>
            <a:ext cx="11701221" cy="4665797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const word1 = “</a:t>
            </a:r>
            <a:r>
              <a:rPr lang="en-US" altLang="ko-KR" dirty="0" err="1"/>
              <a:t>abc</a:t>
            </a:r>
            <a:r>
              <a:rPr lang="en-US" altLang="ko-KR" dirty="0"/>
              <a:t>”;</a:t>
            </a:r>
            <a:br>
              <a:rPr lang="en-US" altLang="ko-KR" dirty="0"/>
            </a:br>
            <a:r>
              <a:rPr lang="en-US" altLang="ko-KR" dirty="0"/>
              <a:t>const word2 = “</a:t>
            </a:r>
            <a:r>
              <a:rPr lang="en-US" altLang="ko-KR" dirty="0" err="1"/>
              <a:t>xyz</a:t>
            </a:r>
            <a:r>
              <a:rPr lang="en-US" altLang="ko-KR" dirty="0"/>
              <a:t>”;</a:t>
            </a:r>
            <a:br>
              <a:rPr lang="en-US" altLang="ko-KR" dirty="0"/>
            </a:br>
            <a:r>
              <a:rPr lang="ko-KR" altLang="en-US" dirty="0"/>
              <a:t>로 선언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개의 문자열을 합쳐서 배열로 만들기</a:t>
            </a:r>
            <a:endParaRPr lang="en-US" altLang="ko-KR" dirty="0"/>
          </a:p>
          <a:p>
            <a:r>
              <a:rPr lang="ko-KR" altLang="en-US" dirty="0"/>
              <a:t>결과물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296E8-4EDB-A516-39AF-FD2A7075A5A4}"/>
              </a:ext>
            </a:extLst>
          </p:cNvPr>
          <p:cNvSpPr txBox="1"/>
          <p:nvPr/>
        </p:nvSpPr>
        <p:spPr>
          <a:xfrm>
            <a:off x="1942734" y="4542390"/>
            <a:ext cx="4508119" cy="46166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[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"</a:t>
            </a:r>
            <a:r>
              <a:rPr lang="en-US" altLang="ko-KR" sz="2400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a</a:t>
            </a:r>
            <a:r>
              <a:rPr lang="en-US" altLang="ko-KR" sz="2400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","</a:t>
            </a:r>
            <a:r>
              <a:rPr lang="en-US" altLang="ko-KR" sz="2400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b</a:t>
            </a:r>
            <a:r>
              <a:rPr lang="en-US" altLang="ko-KR" sz="2400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","</a:t>
            </a:r>
            <a:r>
              <a:rPr lang="en-US" altLang="ko-KR" sz="2400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c</a:t>
            </a:r>
            <a:r>
              <a:rPr lang="en-US" altLang="ko-KR" sz="2400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","</a:t>
            </a:r>
            <a:r>
              <a:rPr lang="en-US" altLang="ko-KR" sz="2400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x</a:t>
            </a:r>
            <a:r>
              <a:rPr lang="en-US" altLang="ko-KR" sz="2400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","</a:t>
            </a:r>
            <a:r>
              <a:rPr lang="en-US" altLang="ko-KR" sz="2400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y</a:t>
            </a:r>
            <a:r>
              <a:rPr lang="en-US" altLang="ko-KR" sz="2400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","</a:t>
            </a:r>
            <a:r>
              <a:rPr lang="en-US" altLang="ko-KR" sz="2400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z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"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  <a:ea typeface="Pretendard Variable Medium" panose="02000003000000020004" pitchFamily="2" charset="-127"/>
              </a:rPr>
              <a:t>]</a:t>
            </a:r>
            <a:endParaRPr lang="en-US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  <a:ea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517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D0B73-4C57-3FBA-6124-ACCA2C96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598FD0-9A16-30E5-D397-A2DDCA49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89F193E-9353-D50A-940A-FE23BC84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E17702B-7527-58FC-F3A6-890028E3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8269"/>
            <a:ext cx="10515600" cy="1687981"/>
          </a:xfrm>
        </p:spPr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비동기 처리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>
                <a:solidFill>
                  <a:srgbClr val="ED7D31"/>
                </a:solidFill>
              </a:rPr>
              <a:t>asynchronous processing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121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4939-7AB4-D9D9-3A96-7DE3494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96101"/>
            <a:ext cx="11701221" cy="23328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프로그램이 작업을 요청한 뒤 그 결과가 끝날 때까지 기다리지 않고 </a:t>
            </a:r>
            <a:r>
              <a:rPr lang="ko-KR" altLang="en-US" b="1" dirty="0"/>
              <a:t>다른 작업을 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      </a:t>
            </a:r>
            <a:r>
              <a:rPr lang="ko-KR" altLang="en-US" b="1" dirty="0"/>
              <a:t>동시에 진행할 수 있도록 하는 방식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동기 처리 </a:t>
            </a:r>
            <a:r>
              <a:rPr lang="en-US" altLang="ko-KR" dirty="0"/>
              <a:t>vs </a:t>
            </a:r>
            <a:r>
              <a:rPr lang="ko-KR" altLang="en-US" dirty="0"/>
              <a:t>비동기 처리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1"/>
                </a:solidFill>
              </a:rPr>
              <a:t>비동기 </a:t>
            </a:r>
            <a:r>
              <a:rPr lang="ko-KR" altLang="en-US" b="1" dirty="0" err="1">
                <a:solidFill>
                  <a:schemeClr val="accent1"/>
                </a:solidFill>
              </a:rPr>
              <a:t>처리</a:t>
            </a:r>
            <a:r>
              <a:rPr lang="ko-KR" altLang="en-US" dirty="0" err="1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C7388B5-C3E4-6C17-1E89-A09A80A16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469193"/>
              </p:ext>
            </p:extLst>
          </p:nvPr>
        </p:nvGraphicFramePr>
        <p:xfrm>
          <a:off x="832282" y="3428999"/>
          <a:ext cx="10527435" cy="2409825"/>
        </p:xfrm>
        <a:graphic>
          <a:graphicData uri="http://schemas.openxmlformats.org/drawingml/2006/table">
            <a:tbl>
              <a:tblPr/>
              <a:tblGrid>
                <a:gridCol w="1381883">
                  <a:extLst>
                    <a:ext uri="{9D8B030D-6E8A-4147-A177-3AD203B41FA5}">
                      <a16:colId xmlns:a16="http://schemas.microsoft.com/office/drawing/2014/main" val="1786429451"/>
                    </a:ext>
                  </a:extLst>
                </a:gridCol>
                <a:gridCol w="3768771">
                  <a:extLst>
                    <a:ext uri="{9D8B030D-6E8A-4147-A177-3AD203B41FA5}">
                      <a16:colId xmlns:a16="http://schemas.microsoft.com/office/drawing/2014/main" val="3784098430"/>
                    </a:ext>
                  </a:extLst>
                </a:gridCol>
                <a:gridCol w="5376781">
                  <a:extLst>
                    <a:ext uri="{9D8B030D-6E8A-4147-A177-3AD203B41FA5}">
                      <a16:colId xmlns:a16="http://schemas.microsoft.com/office/drawing/2014/main" val="2349165537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동기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Synchronous)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비동기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Asynchronous)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848350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동작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요청 → 결과 완료까지 대기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요청 → 대기하지 않고 다음 작업 실행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951789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순차적 실행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차례대로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병렬적 실행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대기 없이 다른 작업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08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136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B3EB2-0D21-F30A-6741-96EFF33AD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0F7844-8C26-31BB-3358-44A970629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96101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왜 비동기 처리일까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서버로 데이터를 요청 시</a:t>
            </a:r>
            <a:r>
              <a:rPr lang="en-US" altLang="ko-KR" dirty="0"/>
              <a:t>,</a:t>
            </a:r>
            <a:r>
              <a:rPr lang="ko-KR" altLang="en-US" dirty="0"/>
              <a:t> 서버가 언제 그 요청에 대한 응답을 줄지도 모르는데 마냥 다른 코드를 실행 안 하고 기다릴 순 없음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비동기 처리가 아니고 동기 처리라면 코드 실행하고 기다리고</a:t>
            </a:r>
            <a:r>
              <a:rPr lang="en-US" altLang="ko-KR" dirty="0"/>
              <a:t>, </a:t>
            </a:r>
            <a:r>
              <a:rPr lang="ko-KR" altLang="en-US" dirty="0"/>
              <a:t>실행하고 기다리고</a:t>
            </a:r>
            <a:r>
              <a:rPr lang="en-US" altLang="ko-KR" dirty="0"/>
              <a:t>.. 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웹을 실행하는데 수십 분이 걸릴 수도</a:t>
            </a:r>
            <a:r>
              <a:rPr lang="en-US" altLang="ko-KR" dirty="0"/>
              <a:t>…?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AAD02D-CC02-28D9-D6F6-25EC9C17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FEB940-B07D-875C-F0BD-792B0F18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13A8FF-4645-26EF-7588-AAB73EA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1"/>
                </a:solidFill>
              </a:rPr>
              <a:t>비동기 </a:t>
            </a:r>
            <a:r>
              <a:rPr lang="ko-KR" altLang="en-US" b="1" dirty="0" err="1">
                <a:solidFill>
                  <a:schemeClr val="accent1"/>
                </a:solidFill>
              </a:rPr>
              <a:t>처리</a:t>
            </a:r>
            <a:r>
              <a:rPr lang="ko-KR" altLang="en-US" dirty="0" err="1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8281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4939-7AB4-D9D9-3A96-7DE3494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612" y="1304573"/>
            <a:ext cx="4419988" cy="56710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🤔 아래 코드에서 문제점은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 처리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D40132-CA31-9095-F22C-42E3E34C2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54" y="1871676"/>
            <a:ext cx="5235051" cy="40355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B469DD7-10B5-8272-9298-C3ADB6DDD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909" y="1871676"/>
            <a:ext cx="2461316" cy="1623695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6578728" y="3696466"/>
            <a:ext cx="5980612" cy="1888258"/>
            <a:chOff x="6378703" y="4001266"/>
            <a:chExt cx="5980612" cy="1888258"/>
          </a:xfrm>
        </p:grpSpPr>
        <p:grpSp>
          <p:nvGrpSpPr>
            <p:cNvPr id="11" name="그룹 10"/>
            <p:cNvGrpSpPr/>
            <p:nvPr/>
          </p:nvGrpSpPr>
          <p:grpSpPr>
            <a:xfrm>
              <a:off x="6378703" y="4001266"/>
              <a:ext cx="4827150" cy="1678830"/>
              <a:chOff x="6378703" y="4001266"/>
              <a:chExt cx="4827150" cy="1678830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0F21A6E7-4137-C416-128A-FF05D20F98DE}"/>
                  </a:ext>
                </a:extLst>
              </p:cNvPr>
              <p:cNvGrpSpPr/>
              <p:nvPr/>
            </p:nvGrpSpPr>
            <p:grpSpPr>
              <a:xfrm>
                <a:off x="6429884" y="4431256"/>
                <a:ext cx="4775969" cy="1248840"/>
                <a:chOff x="6431126" y="4283597"/>
                <a:chExt cx="4775969" cy="1248840"/>
              </a:xfrm>
            </p:grpSpPr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2223FBA2-AB69-A998-7549-2140095FE8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31126" y="4283597"/>
                  <a:ext cx="4775969" cy="1248840"/>
                </a:xfrm>
                <a:prstGeom prst="rect">
                  <a:avLst/>
                </a:prstGeom>
              </p:spPr>
            </p:pic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15E48459-7985-65EA-6CC5-763715325FD6}"/>
                    </a:ext>
                  </a:extLst>
                </p:cNvPr>
                <p:cNvSpPr/>
                <p:nvPr/>
              </p:nvSpPr>
              <p:spPr>
                <a:xfrm>
                  <a:off x="7463096" y="4782145"/>
                  <a:ext cx="1210941" cy="308711"/>
                </a:xfrm>
                <a:prstGeom prst="rect">
                  <a:avLst/>
                </a:prstGeom>
                <a:solidFill>
                  <a:srgbClr val="FFFF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83462A2D-C8EE-F0DA-9F72-316751D8C067}"/>
                    </a:ext>
                  </a:extLst>
                </p:cNvPr>
                <p:cNvSpPr/>
                <p:nvPr/>
              </p:nvSpPr>
              <p:spPr>
                <a:xfrm>
                  <a:off x="9556447" y="4782145"/>
                  <a:ext cx="1210941" cy="308711"/>
                </a:xfrm>
                <a:prstGeom prst="rect">
                  <a:avLst/>
                </a:prstGeom>
                <a:solidFill>
                  <a:srgbClr val="FFFF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" name="내용 개체 틀 7">
                <a:extLst>
                  <a:ext uri="{FF2B5EF4-FFF2-40B4-BE49-F238E27FC236}">
                    <a16:creationId xmlns:a16="http://schemas.microsoft.com/office/drawing/2014/main" id="{F4CBBB39-9637-489A-0906-6449920E2F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8703" y="4001266"/>
                <a:ext cx="2499441" cy="3860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ko-KR" altLang="en-US" sz="2000" b="1" dirty="0"/>
                  <a:t>🚀 실행 결과</a:t>
                </a:r>
              </a:p>
            </p:txBody>
          </p:sp>
        </p:grpSp>
        <p:sp>
          <p:nvSpPr>
            <p:cNvPr id="9" name="내용 개체 틀 7">
              <a:extLst>
                <a:ext uri="{FF2B5EF4-FFF2-40B4-BE49-F238E27FC236}">
                  <a16:creationId xmlns:a16="http://schemas.microsoft.com/office/drawing/2014/main" id="{7E4CBD39-B044-9750-480C-D75108D811A3}"/>
                </a:ext>
              </a:extLst>
            </p:cNvPr>
            <p:cNvSpPr txBox="1">
              <a:spLocks/>
            </p:cNvSpPr>
            <p:nvPr/>
          </p:nvSpPr>
          <p:spPr>
            <a:xfrm>
              <a:off x="7962034" y="5316802"/>
              <a:ext cx="4397281" cy="5727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ko-KR" altLang="en-US" sz="1800" dirty="0">
                  <a:solidFill>
                    <a:srgbClr val="ED7D31"/>
                  </a:solidFill>
                </a:rPr>
                <a:t>왜 </a:t>
              </a:r>
              <a:r>
                <a:rPr lang="en-US" altLang="ko-KR" sz="1800" dirty="0">
                  <a:solidFill>
                    <a:srgbClr val="ED7D31"/>
                  </a:solidFill>
                </a:rPr>
                <a:t>undefined</a:t>
              </a:r>
              <a:r>
                <a:rPr lang="ko-KR" altLang="en-US" sz="1800" dirty="0">
                  <a:solidFill>
                    <a:srgbClr val="ED7D31"/>
                  </a:solidFill>
                </a:rPr>
                <a:t>가 뜰까</a:t>
              </a:r>
              <a:r>
                <a:rPr lang="en-US" altLang="ko-KR" sz="1800" dirty="0">
                  <a:solidFill>
                    <a:srgbClr val="ED7D31"/>
                  </a:solidFill>
                </a:rPr>
                <a:t>??</a:t>
              </a:r>
              <a:endParaRPr lang="ko-KR" altLang="en-US" sz="1800" dirty="0">
                <a:solidFill>
                  <a:srgbClr val="ED7D3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85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5926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callback 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 promise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 async/await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 코드를 처리하기 위한 </a:t>
            </a:r>
            <a:r>
              <a:rPr lang="en-US" altLang="ko-KR" dirty="0"/>
              <a:t>3</a:t>
            </a:r>
            <a:r>
              <a:rPr lang="ko-KR" altLang="en-US" dirty="0"/>
              <a:t>가지 방법</a:t>
            </a:r>
          </a:p>
        </p:txBody>
      </p:sp>
    </p:spTree>
    <p:extLst>
      <p:ext uri="{BB962C8B-B14F-4D97-AF65-F5344CB8AC3E}">
        <p14:creationId xmlns:p14="http://schemas.microsoft.com/office/powerpoint/2010/main" val="3533994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setTimeout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13825-6524-D9AB-FF53-78F2F28116F0}"/>
              </a:ext>
            </a:extLst>
          </p:cNvPr>
          <p:cNvSpPr txBox="1"/>
          <p:nvPr/>
        </p:nvSpPr>
        <p:spPr>
          <a:xfrm>
            <a:off x="238991" y="1145407"/>
            <a:ext cx="8958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💡 지정한 시간이 지난 뒤에 특정 함수를 한 번 실행하도록 예약하는 기능</a:t>
            </a:r>
            <a:endParaRPr lang="en-US" altLang="ko-KR" sz="2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BAB472-268C-EEA4-64E6-0D4F5DD02CF5}"/>
              </a:ext>
            </a:extLst>
          </p:cNvPr>
          <p:cNvSpPr/>
          <p:nvPr/>
        </p:nvSpPr>
        <p:spPr>
          <a:xfrm>
            <a:off x="827598" y="1890703"/>
            <a:ext cx="6531144" cy="40011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setTimeout</a:t>
            </a: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  <a:t>(callback, delay, arg1, arg2, ...);</a:t>
            </a:r>
            <a:endParaRPr lang="ko-KR" alt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3A5ED-6E1A-5924-1F2B-EF0983F9E0C0}"/>
              </a:ext>
            </a:extLst>
          </p:cNvPr>
          <p:cNvSpPr txBox="1"/>
          <p:nvPr/>
        </p:nvSpPr>
        <p:spPr>
          <a:xfrm>
            <a:off x="827598" y="2379063"/>
            <a:ext cx="8958021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callback: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실행할 함수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delay: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지연 시간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밀리초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단위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1000ms =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arg1, arg2 ...: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콜백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함수에 전달할 인자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7950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EFC6-E9C1-236C-8773-C9C16AE1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719FAC-CCA3-8AC7-F171-9AD0265A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EFC98B-DE6D-7B7D-361F-442819A1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9B0119-68C5-AC85-9A00-18FE8851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setTimeout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2E18B6-C53E-9126-CE8B-F3D3D75E3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913" y="2431270"/>
            <a:ext cx="1959429" cy="2334025"/>
          </a:xfrm>
          <a:prstGeom prst="rect">
            <a:avLst/>
          </a:prstGeom>
        </p:spPr>
      </p:pic>
      <p:sp>
        <p:nvSpPr>
          <p:cNvPr id="14" name="내용 개체 틀 7">
            <a:extLst>
              <a:ext uri="{FF2B5EF4-FFF2-40B4-BE49-F238E27FC236}">
                <a16:creationId xmlns:a16="http://schemas.microsoft.com/office/drawing/2014/main" id="{A658CDF4-E359-2155-20CE-65DAF0DBE5B1}"/>
              </a:ext>
            </a:extLst>
          </p:cNvPr>
          <p:cNvSpPr txBox="1">
            <a:spLocks/>
          </p:cNvSpPr>
          <p:nvPr/>
        </p:nvSpPr>
        <p:spPr>
          <a:xfrm>
            <a:off x="8040914" y="1885015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15" name="내용 개체 틀 7">
            <a:extLst>
              <a:ext uri="{FF2B5EF4-FFF2-40B4-BE49-F238E27FC236}">
                <a16:creationId xmlns:a16="http://schemas.microsoft.com/office/drawing/2014/main" id="{D8220F3E-ABF2-DCD8-FAD6-EB18DD9B8C84}"/>
              </a:ext>
            </a:extLst>
          </p:cNvPr>
          <p:cNvSpPr txBox="1">
            <a:spLocks/>
          </p:cNvSpPr>
          <p:nvPr/>
        </p:nvSpPr>
        <p:spPr>
          <a:xfrm>
            <a:off x="3625079" y="5199725"/>
            <a:ext cx="4941841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 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2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3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아닌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3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2 </a:t>
            </a:r>
            <a:r>
              <a:rPr lang="ko-KR" altLang="en-US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로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출력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됨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!!</a:t>
            </a:r>
            <a:endParaRPr lang="ko-KR" altLang="en-US" sz="2000" dirty="0">
              <a:solidFill>
                <a:srgbClr val="2B2B2B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160F3D-F8C9-D216-5E63-BCE998698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811" y="1885015"/>
            <a:ext cx="5296440" cy="296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97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591C0D-5D74-5B3D-A01A-53D76FB7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471761-1179-68FB-43A3-17DE73CA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5070334-CB0F-C09E-6F1E-F8357BA2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Callback </a:t>
            </a:r>
            <a:r>
              <a:rPr lang="ko-KR" altLang="en-US" sz="6000" dirty="0">
                <a:solidFill>
                  <a:srgbClr val="ED7D31"/>
                </a:solidFill>
              </a:rPr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2702514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4939-7AB4-D9D9-3A96-7DE3494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다른 함수의 인자로 전달되어</a:t>
            </a:r>
            <a:r>
              <a:rPr lang="en-US" altLang="ko-KR" sz="2400" dirty="0"/>
              <a:t>, </a:t>
            </a:r>
            <a:r>
              <a:rPr lang="ko-KR" altLang="en-US" sz="2400" dirty="0"/>
              <a:t>특정 시점에 호출되는 함수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다른 함수가 실행을 끝낸 뒤 실행되는 함수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함수를 선언할 때는 </a:t>
            </a:r>
            <a:r>
              <a:rPr lang="en-US" altLang="ko-KR" sz="2000" b="1" dirty="0"/>
              <a:t>parameter(</a:t>
            </a:r>
            <a:r>
              <a:rPr lang="ko-KR" altLang="en-US" sz="2000" b="1" dirty="0"/>
              <a:t>인자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매개변수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로 함수를 </a:t>
            </a:r>
            <a:r>
              <a:rPr lang="ko-KR" altLang="en-US" sz="2000" dirty="0"/>
              <a:t>받아서 쓸 수 있다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고차함수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인자로 받거나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결과값으로 반환하는 함수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콜백</a:t>
            </a:r>
            <a:r>
              <a:rPr lang="en-US" altLang="ko-KR" b="1" dirty="0"/>
              <a:t>(callback)</a:t>
            </a:r>
            <a:r>
              <a:rPr lang="ko-KR" altLang="en-US" b="1" dirty="0"/>
              <a:t> 함수</a:t>
            </a:r>
          </a:p>
        </p:txBody>
      </p:sp>
    </p:spTree>
    <p:extLst>
      <p:ext uri="{BB962C8B-B14F-4D97-AF65-F5344CB8AC3E}">
        <p14:creationId xmlns:p14="http://schemas.microsoft.com/office/powerpoint/2010/main" val="1141111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4939-7AB4-D9D9-3A96-7DE3494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878" y="1373156"/>
            <a:ext cx="10351032" cy="10529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400" dirty="0"/>
              <a:t>Q.  </a:t>
            </a:r>
            <a:r>
              <a:rPr lang="ko-KR" altLang="en-US" sz="2400" dirty="0" err="1"/>
              <a:t>콜백</a:t>
            </a:r>
            <a:r>
              <a:rPr lang="ko-KR" altLang="en-US" sz="2400" dirty="0"/>
              <a:t> 함수를 </a:t>
            </a:r>
            <a:r>
              <a:rPr lang="ko-KR" altLang="en-US" sz="2400" b="1" dirty="0">
                <a:solidFill>
                  <a:schemeClr val="accent1"/>
                </a:solidFill>
              </a:rPr>
              <a:t>왜 사용할까</a:t>
            </a:r>
            <a:r>
              <a:rPr lang="en-US" altLang="ko-KR" sz="2400" b="1" dirty="0">
                <a:solidFill>
                  <a:schemeClr val="accent1"/>
                </a:solidFill>
              </a:rPr>
              <a:t>?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lphaUcPeriod"/>
            </a:pPr>
            <a:r>
              <a:rPr lang="ko-KR" altLang="en-US" sz="2400" dirty="0"/>
              <a:t>어떤 </a:t>
            </a:r>
            <a:r>
              <a:rPr lang="ko-KR" altLang="en-US" sz="2400" dirty="0">
                <a:solidFill>
                  <a:schemeClr val="accent1"/>
                </a:solidFill>
              </a:rPr>
              <a:t>함수가 다른 함수의 실행을 끝낸 뒤 실행되는 것을 보장</a:t>
            </a:r>
            <a:r>
              <a:rPr lang="ko-KR" altLang="en-US" sz="2400" dirty="0"/>
              <a:t>하기 위해</a:t>
            </a:r>
            <a:endParaRPr lang="en-US" altLang="ko-KR" sz="2400" dirty="0"/>
          </a:p>
          <a:p>
            <a:pPr marL="514350" indent="-514350">
              <a:buAutoNum type="alphaUcPeriod"/>
            </a:pPr>
            <a:endParaRPr lang="en-US" altLang="ko-KR" sz="2400" b="1" dirty="0">
              <a:solidFill>
                <a:schemeClr val="accent1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en-US" altLang="ko-KR" dirty="0"/>
              <a:t>(callback)</a:t>
            </a:r>
            <a:r>
              <a:rPr lang="ko-KR" altLang="en-US" dirty="0"/>
              <a:t> 함수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66D84A3-69CA-6A12-8E33-42086F19D566}"/>
              </a:ext>
            </a:extLst>
          </p:cNvPr>
          <p:cNvSpPr/>
          <p:nvPr/>
        </p:nvSpPr>
        <p:spPr>
          <a:xfrm>
            <a:off x="1371600" y="2496769"/>
            <a:ext cx="9419630" cy="102151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tx1"/>
                </a:solidFill>
              </a:rPr>
              <a:t>독립적으로 수행되는 작업도 있는 반면 </a:t>
            </a:r>
            <a:r>
              <a:rPr lang="ko-KR" altLang="en-US" sz="2000" b="1" dirty="0">
                <a:solidFill>
                  <a:schemeClr val="tx1"/>
                </a:solidFill>
              </a:rPr>
              <a:t>응답을 받은 이후 처리되어야 하는 종속적인 작업</a:t>
            </a:r>
            <a:r>
              <a:rPr lang="ko-KR" altLang="en-US" sz="2000" dirty="0">
                <a:solidFill>
                  <a:schemeClr val="tx1"/>
                </a:solidFill>
              </a:rPr>
              <a:t>도 있을 수 있으므로 그에 대한 대응 방법이 필요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65F446-6068-F5E2-39A2-39347DFFA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758" y="3864810"/>
            <a:ext cx="4267660" cy="5923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9C34360-C78A-A2B4-F99D-9614F141B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738" y="3864810"/>
            <a:ext cx="5047650" cy="1625097"/>
          </a:xfrm>
          <a:prstGeom prst="rect">
            <a:avLst/>
          </a:prstGeom>
        </p:spPr>
      </p:pic>
      <p:sp>
        <p:nvSpPr>
          <p:cNvPr id="13" name="내용 개체 틀 4">
            <a:extLst>
              <a:ext uri="{FF2B5EF4-FFF2-40B4-BE49-F238E27FC236}">
                <a16:creationId xmlns:a16="http://schemas.microsoft.com/office/drawing/2014/main" id="{DEC02815-6B9D-FCAE-7B85-9BAC537BF6CF}"/>
              </a:ext>
            </a:extLst>
          </p:cNvPr>
          <p:cNvSpPr txBox="1">
            <a:spLocks/>
          </p:cNvSpPr>
          <p:nvPr/>
        </p:nvSpPr>
        <p:spPr>
          <a:xfrm>
            <a:off x="1762558" y="5640385"/>
            <a:ext cx="8666884" cy="511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sayHello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button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요소에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클릭 이벤트가 발생했을 때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되어야 함</a:t>
            </a:r>
          </a:p>
        </p:txBody>
      </p:sp>
    </p:spTree>
    <p:extLst>
      <p:ext uri="{BB962C8B-B14F-4D97-AF65-F5344CB8AC3E}">
        <p14:creationId xmlns:p14="http://schemas.microsoft.com/office/powerpoint/2010/main" val="4288748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23B7173-5795-90B3-CF8A-D05740F7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62" y="1517739"/>
            <a:ext cx="11268075" cy="499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함수를 선언한 뒤에 </a:t>
            </a:r>
            <a:r>
              <a:rPr lang="ko-KR" altLang="en-US" sz="2400" b="1" dirty="0"/>
              <a:t>함수 타입 파라미터</a:t>
            </a:r>
            <a:r>
              <a:rPr lang="ko-KR" altLang="en-US" sz="2400" dirty="0"/>
              <a:t>를 맨 마지막에 하나 더 선언해 주는 방식으로 정의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en-US" altLang="ko-KR" dirty="0"/>
              <a:t>(callback)</a:t>
            </a:r>
            <a:r>
              <a:rPr lang="ko-KR" altLang="en-US" dirty="0"/>
              <a:t> 함수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7AB043-1D07-A934-E83D-9618DFFD7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80289"/>
            <a:ext cx="6651021" cy="3390399"/>
          </a:xfrm>
          <a:prstGeom prst="rect">
            <a:avLst/>
          </a:prstGeom>
        </p:spPr>
      </p:pic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5F9456D1-FEA6-DBAD-D2F1-BBDC75432216}"/>
              </a:ext>
            </a:extLst>
          </p:cNvPr>
          <p:cNvSpPr txBox="1">
            <a:spLocks/>
          </p:cNvSpPr>
          <p:nvPr/>
        </p:nvSpPr>
        <p:spPr>
          <a:xfrm>
            <a:off x="6217920" y="5426661"/>
            <a:ext cx="1652301" cy="386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콜백함수 사용 예시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07BB79-60C1-7FB3-1CC1-7A108DAFCAC7}"/>
              </a:ext>
            </a:extLst>
          </p:cNvPr>
          <p:cNvSpPr/>
          <p:nvPr/>
        </p:nvSpPr>
        <p:spPr>
          <a:xfrm>
            <a:off x="5522651" y="2693398"/>
            <a:ext cx="1074092" cy="27867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4A111B-92E0-13B0-63A8-DA3917278B68}"/>
              </a:ext>
            </a:extLst>
          </p:cNvPr>
          <p:cNvSpPr/>
          <p:nvPr/>
        </p:nvSpPr>
        <p:spPr>
          <a:xfrm>
            <a:off x="1886822" y="3026501"/>
            <a:ext cx="2110411" cy="27867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0956C9-00FF-AC79-1C28-2C1F20E326DA}"/>
              </a:ext>
            </a:extLst>
          </p:cNvPr>
          <p:cNvSpPr/>
          <p:nvPr/>
        </p:nvSpPr>
        <p:spPr>
          <a:xfrm>
            <a:off x="1371601" y="5348611"/>
            <a:ext cx="1162594" cy="27867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A19A95-2E5C-872F-8D4F-00A9CF388578}"/>
              </a:ext>
            </a:extLst>
          </p:cNvPr>
          <p:cNvSpPr/>
          <p:nvPr/>
        </p:nvSpPr>
        <p:spPr>
          <a:xfrm>
            <a:off x="2503107" y="2697097"/>
            <a:ext cx="1043861" cy="27497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4B801A00-0BBB-E704-ED24-095672A21E5B}"/>
              </a:ext>
            </a:extLst>
          </p:cNvPr>
          <p:cNvSpPr txBox="1">
            <a:spLocks/>
          </p:cNvSpPr>
          <p:nvPr/>
        </p:nvSpPr>
        <p:spPr>
          <a:xfrm>
            <a:off x="6839622" y="2590269"/>
            <a:ext cx="4170645" cy="575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mainFunc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(1,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2,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callbackFunc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내용 개체 틀 7">
            <a:extLst>
              <a:ext uri="{FF2B5EF4-FFF2-40B4-BE49-F238E27FC236}">
                <a16:creationId xmlns:a16="http://schemas.microsoft.com/office/drawing/2014/main" id="{6434088E-A66E-494B-77A9-7D07AB549B6B}"/>
              </a:ext>
            </a:extLst>
          </p:cNvPr>
          <p:cNvSpPr txBox="1">
            <a:spLocks/>
          </p:cNvSpPr>
          <p:nvPr/>
        </p:nvSpPr>
        <p:spPr>
          <a:xfrm>
            <a:off x="6916232" y="2915459"/>
            <a:ext cx="2929671" cy="575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callbackFunc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(result);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CC3ED5-E977-2175-F39C-03C8513C970F}"/>
              </a:ext>
            </a:extLst>
          </p:cNvPr>
          <p:cNvSpPr/>
          <p:nvPr/>
        </p:nvSpPr>
        <p:spPr>
          <a:xfrm>
            <a:off x="3256559" y="5324477"/>
            <a:ext cx="1498322" cy="30280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614A8A-5EFD-C774-1DC3-C0D98F426229}"/>
              </a:ext>
            </a:extLst>
          </p:cNvPr>
          <p:cNvSpPr/>
          <p:nvPr/>
        </p:nvSpPr>
        <p:spPr>
          <a:xfrm>
            <a:off x="2498911" y="4024085"/>
            <a:ext cx="2255970" cy="30280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748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en-US" altLang="ko-KR" dirty="0"/>
              <a:t>(callback)</a:t>
            </a:r>
            <a:r>
              <a:rPr lang="ko-KR" altLang="en-US" dirty="0"/>
              <a:t> 함수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114FAE-920F-EA28-48AE-331EB38B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20" y="1644664"/>
            <a:ext cx="5678666" cy="40955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A0F5D9-AA2D-218E-03F3-921C40EDB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258" y="1644664"/>
            <a:ext cx="2139701" cy="16237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39452E8-F0B3-6BF0-6D43-2B9BAD98F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258" y="3823304"/>
            <a:ext cx="4760769" cy="112793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161299-2FEF-2F18-A497-250AB59E0EC2}"/>
              </a:ext>
            </a:extLst>
          </p:cNvPr>
          <p:cNvSpPr/>
          <p:nvPr/>
        </p:nvSpPr>
        <p:spPr>
          <a:xfrm>
            <a:off x="2591610" y="2699657"/>
            <a:ext cx="739419" cy="22642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08EACD-D46B-198D-1040-6A4A618791EB}"/>
              </a:ext>
            </a:extLst>
          </p:cNvPr>
          <p:cNvSpPr/>
          <p:nvPr/>
        </p:nvSpPr>
        <p:spPr>
          <a:xfrm>
            <a:off x="1189530" y="3962400"/>
            <a:ext cx="2324379" cy="22642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D31923-DA8D-D40C-3187-ECC0265E91A5}"/>
              </a:ext>
            </a:extLst>
          </p:cNvPr>
          <p:cNvSpPr/>
          <p:nvPr/>
        </p:nvSpPr>
        <p:spPr>
          <a:xfrm>
            <a:off x="7964800" y="2843348"/>
            <a:ext cx="499932" cy="21336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6AA244F1-77D6-02A4-5097-80F531EBC354}"/>
              </a:ext>
            </a:extLst>
          </p:cNvPr>
          <p:cNvSpPr txBox="1">
            <a:spLocks/>
          </p:cNvSpPr>
          <p:nvPr/>
        </p:nvSpPr>
        <p:spPr>
          <a:xfrm>
            <a:off x="6639258" y="3394507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9A42BD-36E7-0C53-A521-8073FB107868}"/>
              </a:ext>
            </a:extLst>
          </p:cNvPr>
          <p:cNvSpPr/>
          <p:nvPr/>
        </p:nvSpPr>
        <p:spPr>
          <a:xfrm>
            <a:off x="7568019" y="4572256"/>
            <a:ext cx="1039954" cy="30871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C9633E-A79D-9466-1BFF-C172A22912E9}"/>
              </a:ext>
            </a:extLst>
          </p:cNvPr>
          <p:cNvSpPr/>
          <p:nvPr/>
        </p:nvSpPr>
        <p:spPr>
          <a:xfrm>
            <a:off x="9398529" y="4572256"/>
            <a:ext cx="523237" cy="30871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내용 개체 틀 7">
            <a:extLst>
              <a:ext uri="{FF2B5EF4-FFF2-40B4-BE49-F238E27FC236}">
                <a16:creationId xmlns:a16="http://schemas.microsoft.com/office/drawing/2014/main" id="{E7DA1EB9-0400-341B-3220-948DE823132C}"/>
              </a:ext>
            </a:extLst>
          </p:cNvPr>
          <p:cNvSpPr txBox="1">
            <a:spLocks/>
          </p:cNvSpPr>
          <p:nvPr/>
        </p:nvSpPr>
        <p:spPr>
          <a:xfrm>
            <a:off x="6580318" y="4926975"/>
            <a:ext cx="4683039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 err="1">
                <a:solidFill>
                  <a:schemeClr val="accent1"/>
                </a:solidFill>
              </a:rPr>
              <a:t>콜백</a:t>
            </a:r>
            <a:r>
              <a:rPr lang="ko-KR" altLang="en-US" sz="1800" dirty="0">
                <a:solidFill>
                  <a:schemeClr val="accent1"/>
                </a:solidFill>
              </a:rPr>
              <a:t> 함수를 이용하니 값이 제대로 들어온다</a:t>
            </a:r>
            <a:r>
              <a:rPr lang="en-US" altLang="ko-KR" sz="1800" dirty="0">
                <a:solidFill>
                  <a:schemeClr val="accent1"/>
                </a:solidFill>
              </a:rPr>
              <a:t>!!</a:t>
            </a:r>
            <a:endParaRPr lang="ko-KR" altLang="en-US" sz="1800" dirty="0">
              <a:solidFill>
                <a:schemeClr val="accent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80CC5A3-7DD9-4E03-08F5-7E88701E274B}"/>
              </a:ext>
            </a:extLst>
          </p:cNvPr>
          <p:cNvCxnSpPr>
            <a:cxnSpLocks/>
          </p:cNvCxnSpPr>
          <p:nvPr/>
        </p:nvCxnSpPr>
        <p:spPr>
          <a:xfrm>
            <a:off x="3666985" y="4099614"/>
            <a:ext cx="3110478" cy="62699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823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74ED3E8-161B-3E4C-C110-D1DE34314C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782"/>
          <a:stretch/>
        </p:blipFill>
        <p:spPr>
          <a:xfrm>
            <a:off x="710220" y="1387489"/>
            <a:ext cx="5678666" cy="3162467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en-US" altLang="ko-KR" dirty="0"/>
              <a:t>(callback)</a:t>
            </a:r>
            <a:r>
              <a:rPr lang="ko-KR" altLang="en-US" dirty="0"/>
              <a:t> 함수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3BFCE-C763-654B-3D41-670FB0965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011" y="2579606"/>
            <a:ext cx="4760769" cy="11279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01BF886-6F43-4F21-60BA-14BB4553C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263" y="3915199"/>
            <a:ext cx="5850517" cy="189202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469DF3-28BC-E509-0ABD-DDEC2BC4DDE4}"/>
              </a:ext>
            </a:extLst>
          </p:cNvPr>
          <p:cNvSpPr/>
          <p:nvPr/>
        </p:nvSpPr>
        <p:spPr>
          <a:xfrm>
            <a:off x="1189530" y="3705225"/>
            <a:ext cx="2324379" cy="22642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A84742-A727-3E7C-D0AD-4F994C9C6612}"/>
              </a:ext>
            </a:extLst>
          </p:cNvPr>
          <p:cNvSpPr/>
          <p:nvPr/>
        </p:nvSpPr>
        <p:spPr>
          <a:xfrm>
            <a:off x="2591610" y="2442482"/>
            <a:ext cx="739419" cy="22642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252541-BED1-CCA1-5283-5ED7FC5B88D1}"/>
              </a:ext>
            </a:extLst>
          </p:cNvPr>
          <p:cNvSpPr/>
          <p:nvPr/>
        </p:nvSpPr>
        <p:spPr>
          <a:xfrm>
            <a:off x="6777016" y="4897890"/>
            <a:ext cx="3359761" cy="22874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77279E-D3C2-D86B-A0E2-42891FCFF89C}"/>
              </a:ext>
            </a:extLst>
          </p:cNvPr>
          <p:cNvSpPr/>
          <p:nvPr/>
        </p:nvSpPr>
        <p:spPr>
          <a:xfrm>
            <a:off x="5995764" y="5196664"/>
            <a:ext cx="5316670" cy="22874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0A3DA0-CE66-51F3-A109-4989F4914262}"/>
              </a:ext>
            </a:extLst>
          </p:cNvPr>
          <p:cNvSpPr/>
          <p:nvPr/>
        </p:nvSpPr>
        <p:spPr>
          <a:xfrm>
            <a:off x="5759372" y="5476060"/>
            <a:ext cx="336628" cy="22874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B70B57E4-FCE4-3288-E174-D3DE0AC55BE3}"/>
              </a:ext>
            </a:extLst>
          </p:cNvPr>
          <p:cNvSpPr txBox="1">
            <a:spLocks/>
          </p:cNvSpPr>
          <p:nvPr/>
        </p:nvSpPr>
        <p:spPr>
          <a:xfrm>
            <a:off x="6668094" y="2105787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EC44D8E3-D808-46D9-2F20-EA66F923C27C}"/>
              </a:ext>
            </a:extLst>
          </p:cNvPr>
          <p:cNvSpPr txBox="1">
            <a:spLocks/>
          </p:cNvSpPr>
          <p:nvPr/>
        </p:nvSpPr>
        <p:spPr>
          <a:xfrm>
            <a:off x="879566" y="5013554"/>
            <a:ext cx="4397281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chemeClr val="accent1"/>
                </a:solidFill>
              </a:rPr>
              <a:t>이전 페이지와 동일한 코드</a:t>
            </a:r>
            <a:r>
              <a:rPr lang="en-US" altLang="ko-KR" sz="1800" dirty="0">
                <a:solidFill>
                  <a:schemeClr val="accent1"/>
                </a:solidFill>
              </a:rPr>
              <a:t>!</a:t>
            </a:r>
            <a:endParaRPr lang="ko-KR" altLang="en-US" sz="1800" dirty="0">
              <a:solidFill>
                <a:schemeClr val="accent1"/>
              </a:solidFill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A156492-2269-3B0C-868C-3F32E399118B}"/>
              </a:ext>
            </a:extLst>
          </p:cNvPr>
          <p:cNvSpPr txBox="1">
            <a:spLocks/>
          </p:cNvSpPr>
          <p:nvPr/>
        </p:nvSpPr>
        <p:spPr>
          <a:xfrm>
            <a:off x="6096000" y="5425410"/>
            <a:ext cx="2310291" cy="406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en-US" altLang="ko-KR" sz="18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pickDrink</a:t>
            </a:r>
            <a:r>
              <a:rPr lang="en-US" altLang="ko-KR" sz="18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(pay);</a:t>
            </a:r>
            <a:endParaRPr lang="ko-KR" altLang="en-US" sz="18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878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92260BA-CBD7-CC99-AB8A-801547495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비동기 프로그래밍 시 발생하는 문제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함수의 매개변수로 넘겨지는 </a:t>
            </a:r>
            <a:r>
              <a:rPr lang="ko-KR" altLang="en-US" dirty="0" err="1"/>
              <a:t>콜백</a:t>
            </a:r>
            <a:r>
              <a:rPr lang="ko-KR" altLang="en-US" dirty="0"/>
              <a:t> 함수가 반복되어 코드의 들여쓰기가 너무 깊어지는 현상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1" dirty="0">
                <a:solidFill>
                  <a:srgbClr val="00B050"/>
                </a:solidFill>
              </a:rPr>
              <a:t>가독성↓ 코드 수정 난이도↑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A2EE60-BD9F-4A94-401A-5AA1F1379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7E5A0-2494-3B87-9658-9761670B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15355FC-E50C-388D-18F8-9271679B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콜백</a:t>
            </a:r>
            <a:r>
              <a:rPr lang="ko-KR" altLang="en-US" b="1" dirty="0"/>
              <a:t> 지옥</a:t>
            </a:r>
            <a:r>
              <a:rPr lang="en-US" altLang="ko-KR" b="1" dirty="0"/>
              <a:t>(Callback Hell)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14395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AB4E04-0E61-A4F3-57C6-D7167FB1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D1FE0-C06F-9758-FEDF-A4136184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6B1FA3-80A4-86EA-262F-A6A5B176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ko-KR" altLang="en-US" dirty="0"/>
              <a:t> 지옥 👎👎👎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4449FE-F26B-CB51-6CD5-11B315293A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368"/>
          <a:stretch/>
        </p:blipFill>
        <p:spPr>
          <a:xfrm>
            <a:off x="463526" y="1734850"/>
            <a:ext cx="5862576" cy="41818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892D273-832E-70A8-8186-CE1F1D871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840" y="838460"/>
            <a:ext cx="4687614" cy="5078248"/>
          </a:xfrm>
          <a:prstGeom prst="rect">
            <a:avLst/>
          </a:prstGeom>
        </p:spPr>
      </p:pic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2639D941-B6D0-F2B0-2F45-712337640A24}"/>
              </a:ext>
            </a:extLst>
          </p:cNvPr>
          <p:cNvSpPr txBox="1">
            <a:spLocks/>
          </p:cNvSpPr>
          <p:nvPr/>
        </p:nvSpPr>
        <p:spPr>
          <a:xfrm>
            <a:off x="304800" y="1266948"/>
            <a:ext cx="5183183" cy="4679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/>
              <a:t>이런 코드</a:t>
            </a:r>
            <a:r>
              <a:rPr lang="en-US" altLang="ko-KR" sz="2400" dirty="0"/>
              <a:t>.. </a:t>
            </a:r>
            <a:r>
              <a:rPr lang="ko-KR" altLang="en-US" sz="2400" dirty="0"/>
              <a:t>만나고 </a:t>
            </a:r>
            <a:r>
              <a:rPr lang="ko-KR" altLang="en-US" sz="2400" dirty="0" err="1"/>
              <a:t>싶으신가요</a:t>
            </a:r>
            <a:r>
              <a:rPr lang="en-US" altLang="ko-KR" sz="2400" dirty="0"/>
              <a:t>..? </a:t>
            </a:r>
            <a:r>
              <a:rPr lang="ko-KR" altLang="en-US" sz="2400" dirty="0"/>
              <a:t>😫</a:t>
            </a:r>
          </a:p>
        </p:txBody>
      </p:sp>
    </p:spTree>
    <p:extLst>
      <p:ext uri="{BB962C8B-B14F-4D97-AF65-F5344CB8AC3E}">
        <p14:creationId xmlns:p14="http://schemas.microsoft.com/office/powerpoint/2010/main" val="686535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591C0D-5D74-5B3D-A01A-53D76FB7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471761-1179-68FB-43A3-17DE73CA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5070334-CB0F-C09E-6F1E-F8357BA2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Promise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789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CF7164-23A3-86DB-0BBC-74E7E0A7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285621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비동기 처리를 할 수 있는 </a:t>
            </a:r>
            <a:r>
              <a:rPr lang="ko-KR" altLang="en-US" b="1" dirty="0">
                <a:solidFill>
                  <a:schemeClr val="accent1"/>
                </a:solidFill>
              </a:rPr>
              <a:t>객체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비동기 작업이 맞이할 미래의 완료 또는 실패와 그 결과 값을 나타냄 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promise </a:t>
            </a:r>
            <a:r>
              <a:rPr lang="ko-KR" altLang="en-US" dirty="0"/>
              <a:t>라는 명칭의 이유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/>
                </a:solidFill>
              </a:rPr>
              <a:t>성공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chemeClr val="accent1"/>
                </a:solidFill>
              </a:rPr>
              <a:t>실패</a:t>
            </a:r>
            <a:r>
              <a:rPr lang="ko-KR" altLang="en-US" dirty="0"/>
              <a:t>를 분리하여 반환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비동기 작업이 완료된 이후에 </a:t>
            </a:r>
            <a:r>
              <a:rPr lang="ko-KR" altLang="en-US" b="1" dirty="0">
                <a:solidFill>
                  <a:schemeClr val="accent1"/>
                </a:solidFill>
              </a:rPr>
              <a:t>다음 작업을 연결시켜 진행</a:t>
            </a:r>
            <a:r>
              <a:rPr lang="ko-KR" altLang="en-US" dirty="0"/>
              <a:t>할 수 있는 기능을 가짐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ES6 </a:t>
            </a:r>
            <a:r>
              <a:rPr lang="ko-KR" altLang="en-US" dirty="0"/>
              <a:t>에서 추가된 </a:t>
            </a:r>
            <a:r>
              <a:rPr lang="en-US" altLang="ko-KR" dirty="0"/>
              <a:t>JS </a:t>
            </a:r>
            <a:r>
              <a:rPr lang="ko-KR" altLang="en-US" dirty="0"/>
              <a:t>문법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8558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D9D07949-1F5A-A14B-FF35-3D2E4FEAF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922876" cy="40045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Pending</a:t>
            </a:r>
            <a:r>
              <a:rPr lang="en-US" altLang="ko-KR" sz="2400" dirty="0"/>
              <a:t>(</a:t>
            </a:r>
            <a:r>
              <a:rPr lang="ko-KR" altLang="en-US" sz="2400" dirty="0"/>
              <a:t>대기</a:t>
            </a:r>
            <a:r>
              <a:rPr lang="en-US" altLang="ko-KR" sz="2400" dirty="0"/>
              <a:t>) : Promise</a:t>
            </a:r>
            <a:r>
              <a:rPr lang="ko-KR" altLang="en-US" sz="2400" dirty="0"/>
              <a:t>를 수행 중인 상태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Fulfilled</a:t>
            </a:r>
            <a:r>
              <a:rPr lang="en-US" altLang="ko-KR" sz="2400" dirty="0"/>
              <a:t>(</a:t>
            </a:r>
            <a:r>
              <a:rPr lang="ko-KR" altLang="en-US" sz="2400" dirty="0"/>
              <a:t>이행</a:t>
            </a:r>
            <a:r>
              <a:rPr lang="en-US" altLang="ko-KR" sz="2400" dirty="0"/>
              <a:t>) : Promise</a:t>
            </a:r>
            <a:r>
              <a:rPr lang="ko-KR" altLang="en-US" sz="2400" dirty="0"/>
              <a:t>가 </a:t>
            </a:r>
            <a:r>
              <a:rPr lang="en-US" altLang="ko-KR" sz="2400" b="1" dirty="0">
                <a:solidFill>
                  <a:schemeClr val="accent1"/>
                </a:solidFill>
              </a:rPr>
              <a:t>Resolve</a:t>
            </a:r>
            <a:r>
              <a:rPr lang="en-US" altLang="ko-KR" sz="2400" dirty="0"/>
              <a:t> </a:t>
            </a:r>
            <a:r>
              <a:rPr lang="ko-KR" altLang="en-US" sz="2400" dirty="0"/>
              <a:t>된 상태 </a:t>
            </a:r>
            <a:r>
              <a:rPr lang="en-US" altLang="ko-KR" sz="2400" dirty="0">
                <a:solidFill>
                  <a:schemeClr val="accent1"/>
                </a:solidFill>
              </a:rPr>
              <a:t>(</a:t>
            </a:r>
            <a:r>
              <a:rPr lang="ko-KR" altLang="en-US" sz="2400" dirty="0">
                <a:solidFill>
                  <a:schemeClr val="accent1"/>
                </a:solidFill>
              </a:rPr>
              <a:t>성공</a:t>
            </a:r>
            <a:r>
              <a:rPr lang="en-US" altLang="ko-KR" sz="2400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Rejected</a:t>
            </a:r>
            <a:r>
              <a:rPr lang="en-US" altLang="ko-KR" sz="2400" dirty="0"/>
              <a:t>(</a:t>
            </a:r>
            <a:r>
              <a:rPr lang="ko-KR" altLang="en-US" sz="2400" dirty="0"/>
              <a:t>거부</a:t>
            </a:r>
            <a:r>
              <a:rPr lang="en-US" altLang="ko-KR" sz="2400" dirty="0"/>
              <a:t>) : Promise</a:t>
            </a:r>
            <a:r>
              <a:rPr lang="ko-KR" altLang="en-US" sz="2400" dirty="0"/>
              <a:t>가 지켜지지 못한 상태</a:t>
            </a:r>
            <a:r>
              <a:rPr lang="en-US" altLang="ko-KR" sz="2400" dirty="0"/>
              <a:t>. </a:t>
            </a:r>
            <a:r>
              <a:rPr lang="en-US" altLang="ko-KR" sz="2400" b="1" dirty="0">
                <a:solidFill>
                  <a:schemeClr val="accent1"/>
                </a:solidFill>
              </a:rPr>
              <a:t>Reject</a:t>
            </a:r>
            <a:r>
              <a:rPr lang="en-US" altLang="ko-KR" sz="2400" dirty="0"/>
              <a:t> </a:t>
            </a:r>
            <a:r>
              <a:rPr lang="ko-KR" altLang="en-US" sz="2400" dirty="0"/>
              <a:t>된 상태 </a:t>
            </a:r>
            <a:r>
              <a:rPr lang="en-US" altLang="ko-KR" sz="2400" dirty="0">
                <a:solidFill>
                  <a:schemeClr val="accent1"/>
                </a:solidFill>
              </a:rPr>
              <a:t>(</a:t>
            </a:r>
            <a:r>
              <a:rPr lang="ko-KR" altLang="en-US" sz="2400" dirty="0">
                <a:solidFill>
                  <a:schemeClr val="accent1"/>
                </a:solidFill>
              </a:rPr>
              <a:t>실패</a:t>
            </a:r>
            <a:r>
              <a:rPr lang="en-US" altLang="ko-KR" sz="2400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Settled</a:t>
            </a:r>
            <a:r>
              <a:rPr lang="en-US" altLang="ko-KR" sz="2400" dirty="0"/>
              <a:t> : fulfilled </a:t>
            </a:r>
            <a:r>
              <a:rPr lang="ko-KR" altLang="en-US" sz="2400" dirty="0"/>
              <a:t>혹은 </a:t>
            </a:r>
            <a:r>
              <a:rPr lang="en-US" altLang="ko-KR" sz="2400" dirty="0"/>
              <a:t>rejected</a:t>
            </a:r>
            <a:r>
              <a:rPr lang="ko-KR" altLang="en-US" sz="2400" dirty="0"/>
              <a:t>로 결론이 난 상태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</a:t>
            </a:r>
            <a:r>
              <a:rPr lang="ko-KR" altLang="en-US"/>
              <a:t>의 </a:t>
            </a:r>
            <a:r>
              <a:rPr lang="ko-KR" altLang="en-US" dirty="0"/>
              <a:t>상태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510307-3346-433E-8238-2D325E8822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464" y="3640016"/>
            <a:ext cx="4060547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19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AE7D0D2-310D-4496-B6F2-BAB6B7524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693" y="3043151"/>
            <a:ext cx="9749007" cy="28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new Promise </a:t>
            </a:r>
            <a:r>
              <a:rPr lang="ko-KR" altLang="en-US" sz="2400" dirty="0"/>
              <a:t>로 생성</a:t>
            </a:r>
            <a:endParaRPr lang="en-US" altLang="ko-KR" sz="2400" dirty="0"/>
          </a:p>
          <a:p>
            <a:pPr lvl="1"/>
            <a:r>
              <a:rPr lang="en-US" altLang="ko-KR" sz="2000" dirty="0"/>
              <a:t>Promise</a:t>
            </a:r>
            <a:r>
              <a:rPr lang="ko-KR" altLang="en-US" sz="2000" dirty="0"/>
              <a:t>가 만들어질 때</a:t>
            </a:r>
            <a:r>
              <a:rPr lang="en-US" altLang="ko-KR" sz="2000" dirty="0"/>
              <a:t>, executor(</a:t>
            </a:r>
            <a:r>
              <a:rPr lang="ko-KR" altLang="en-US" sz="2000" dirty="0"/>
              <a:t>실행 함수</a:t>
            </a:r>
            <a:r>
              <a:rPr lang="en-US" altLang="ko-KR" sz="2000" dirty="0"/>
              <a:t>)</a:t>
            </a:r>
            <a:r>
              <a:rPr lang="ko-KR" altLang="en-US" sz="2000" dirty="0"/>
              <a:t>가 자동으로 실행</a:t>
            </a:r>
            <a:endParaRPr lang="en-US" altLang="ko-KR" sz="2000" dirty="0"/>
          </a:p>
          <a:p>
            <a:pPr lvl="1"/>
            <a:r>
              <a:rPr lang="en-US" altLang="ko-KR" sz="2000" dirty="0"/>
              <a:t>Promise</a:t>
            </a:r>
            <a:r>
              <a:rPr lang="ko-KR" altLang="en-US" sz="2000" dirty="0"/>
              <a:t>가 생성되면 작업을 실행 → 완료 여부를 </a:t>
            </a:r>
            <a:r>
              <a:rPr lang="en-US" altLang="ko-KR" sz="2000" dirty="0"/>
              <a:t>executor</a:t>
            </a:r>
            <a:r>
              <a:rPr lang="ko-KR" altLang="en-US" sz="2000" dirty="0"/>
              <a:t>의 매개변수를 통해서 전달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executor </a:t>
            </a:r>
            <a:r>
              <a:rPr lang="ko-KR" altLang="en-US" sz="2400" dirty="0"/>
              <a:t>매개변수 </a:t>
            </a:r>
            <a:r>
              <a:rPr lang="en-US" altLang="ko-KR" sz="2400" dirty="0"/>
              <a:t>(resolve</a:t>
            </a:r>
            <a:r>
              <a:rPr lang="ko-KR" altLang="en-US" sz="2400" dirty="0"/>
              <a:t>와 </a:t>
            </a:r>
            <a:r>
              <a:rPr lang="en-US" altLang="ko-KR" sz="2400" dirty="0"/>
              <a:t>reject </a:t>
            </a:r>
            <a:r>
              <a:rPr lang="ko-KR" altLang="en-US" sz="2400" dirty="0"/>
              <a:t>모두 </a:t>
            </a:r>
            <a:r>
              <a:rPr lang="en-US" altLang="ko-KR" sz="2400" dirty="0"/>
              <a:t>callback)</a:t>
            </a:r>
          </a:p>
          <a:p>
            <a:pPr lvl="1"/>
            <a:r>
              <a:rPr lang="en-US" altLang="ko-KR" sz="2000" dirty="0"/>
              <a:t>resolve : </a:t>
            </a:r>
            <a:r>
              <a:rPr lang="ko-KR" altLang="en-US" sz="2000" dirty="0"/>
              <a:t>비동기 작업이 성공했을 때</a:t>
            </a:r>
            <a:endParaRPr lang="en-US" altLang="ko-KR" sz="2000" dirty="0"/>
          </a:p>
          <a:p>
            <a:pPr lvl="1"/>
            <a:r>
              <a:rPr lang="en-US" altLang="ko-KR" sz="2000" dirty="0"/>
              <a:t>reject : </a:t>
            </a:r>
            <a:r>
              <a:rPr lang="ko-KR" altLang="en-US" sz="2000" dirty="0"/>
              <a:t>비동기 작업이 실패했을 때</a:t>
            </a:r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21384F-27D4-48A8-EB29-A6212A7B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32D94-48BF-3100-2305-0E476730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28E17DD-715C-F170-9DDC-FBC51B8E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Promise </a:t>
            </a:r>
            <a:r>
              <a:rPr lang="ko-KR" altLang="en-US" b="1" dirty="0"/>
              <a:t>사용법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98C1FD-79AE-5CEF-BC8D-8E714B2D0F10}"/>
              </a:ext>
            </a:extLst>
          </p:cNvPr>
          <p:cNvSpPr/>
          <p:nvPr/>
        </p:nvSpPr>
        <p:spPr>
          <a:xfrm>
            <a:off x="1185693" y="1404136"/>
            <a:ext cx="9820613" cy="1569660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84C472"/>
                </a:solidFill>
                <a:latin typeface="Consolas" panose="020B0609020204030204" pitchFamily="49" charset="0"/>
              </a:rPr>
              <a:t>// Promise </a:t>
            </a:r>
            <a:r>
              <a:rPr lang="ko-KR" altLang="en-US" sz="2400" dirty="0">
                <a:solidFill>
                  <a:srgbClr val="84C472"/>
                </a:solidFill>
                <a:latin typeface="Consolas" panose="020B0609020204030204" pitchFamily="49" charset="0"/>
              </a:rPr>
              <a:t>생성</a:t>
            </a:r>
          </a:p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const </a:t>
            </a:r>
            <a:r>
              <a:rPr lang="en-US" altLang="ko-KR" sz="2400" dirty="0">
                <a:solidFill>
                  <a:srgbClr val="6DC9FE"/>
                </a:solidFill>
                <a:latin typeface="Consolas" panose="020B0609020204030204" pitchFamily="49" charset="0"/>
              </a:rPr>
              <a:t>promise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 new </a:t>
            </a:r>
            <a:r>
              <a:rPr lang="en-US" altLang="ko-KR" sz="2400" dirty="0">
                <a:solidFill>
                  <a:srgbClr val="D09343"/>
                </a:solidFill>
                <a:latin typeface="Consolas" panose="020B0609020204030204" pitchFamily="49" charset="0"/>
              </a:rPr>
              <a:t>Promise</a:t>
            </a:r>
            <a:r>
              <a:rPr lang="en-US" altLang="ko-KR" sz="2400" dirty="0">
                <a:solidFill>
                  <a:srgbClr val="6DC9FE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resolve, reject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400" dirty="0">
                <a:solidFill>
                  <a:srgbClr val="84C472"/>
                </a:solidFill>
                <a:latin typeface="Consolas" panose="020B0609020204030204" pitchFamily="49" charset="0"/>
              </a:rPr>
              <a:t>  //…</a:t>
            </a:r>
          </a:p>
          <a:p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2400" dirty="0">
                <a:solidFill>
                  <a:srgbClr val="6DC9FE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4805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Promise </a:t>
            </a:r>
            <a:r>
              <a:rPr lang="ko-KR" altLang="en-US" b="1" dirty="0"/>
              <a:t>사용법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788BB-CB79-4D74-9A75-A83773BF319B}"/>
              </a:ext>
            </a:extLst>
          </p:cNvPr>
          <p:cNvSpPr txBox="1"/>
          <p:nvPr/>
        </p:nvSpPr>
        <p:spPr>
          <a:xfrm>
            <a:off x="920142" y="4538800"/>
            <a:ext cx="10351715" cy="13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Promise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가지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콜백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resolve(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</a:t>
            </a:r>
            <a:r>
              <a:rPr lang="en-US" altLang="ko-KR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dirty="0">
                <a:solidFill>
                  <a:srgbClr val="F9A13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작업이 </a:t>
            </a:r>
            <a:r>
              <a:rPr lang="ko-KR" altLang="en-US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성공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(fulfilled)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 경우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결과를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함께 호출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reject(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error</a:t>
            </a:r>
            <a:r>
              <a:rPr lang="en-US" altLang="ko-KR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(rejected)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발생 시 에러 객체를 나타내는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error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함께 호출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ECBE27-5377-6B6B-D41D-0515125B2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42" y="1771107"/>
            <a:ext cx="10351715" cy="276769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18B290C-126E-4BA9-1EC5-7CD9739D3550}"/>
              </a:ext>
            </a:extLst>
          </p:cNvPr>
          <p:cNvSpPr/>
          <p:nvPr/>
        </p:nvSpPr>
        <p:spPr>
          <a:xfrm>
            <a:off x="1603925" y="2713987"/>
            <a:ext cx="904144" cy="35007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0E8390-11B8-54F3-5405-5DB115F958E1}"/>
              </a:ext>
            </a:extLst>
          </p:cNvPr>
          <p:cNvSpPr/>
          <p:nvPr/>
        </p:nvSpPr>
        <p:spPr>
          <a:xfrm>
            <a:off x="1603925" y="3280518"/>
            <a:ext cx="799641" cy="35007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내용 개체 틀 7">
            <a:extLst>
              <a:ext uri="{FF2B5EF4-FFF2-40B4-BE49-F238E27FC236}">
                <a16:creationId xmlns:a16="http://schemas.microsoft.com/office/drawing/2014/main" id="{FD93382E-C617-8EB5-CA79-F3B752BFBA15}"/>
              </a:ext>
            </a:extLst>
          </p:cNvPr>
          <p:cNvSpPr txBox="1">
            <a:spLocks/>
          </p:cNvSpPr>
          <p:nvPr/>
        </p:nvSpPr>
        <p:spPr>
          <a:xfrm>
            <a:off x="781355" y="1239244"/>
            <a:ext cx="6359220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Promise </a:t>
            </a:r>
            <a:r>
              <a:rPr lang="ko-KR" altLang="en-US" sz="2400" dirty="0">
                <a:latin typeface="+mn-ea"/>
              </a:rPr>
              <a:t>객체를 반환하는 </a:t>
            </a:r>
            <a:r>
              <a:rPr lang="en-US" altLang="ko-KR" sz="2400" dirty="0">
                <a:latin typeface="+mn-ea"/>
              </a:rPr>
              <a:t>promise1 </a:t>
            </a:r>
            <a:r>
              <a:rPr lang="ko-KR" altLang="en-US" sz="2400" dirty="0">
                <a:latin typeface="+mn-ea"/>
              </a:rPr>
              <a:t>함수 정의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E77ED5-25E6-14EC-7FCE-58FC0FB54009}"/>
              </a:ext>
            </a:extLst>
          </p:cNvPr>
          <p:cNvSpPr/>
          <p:nvPr/>
        </p:nvSpPr>
        <p:spPr>
          <a:xfrm>
            <a:off x="4370736" y="2118320"/>
            <a:ext cx="780813" cy="3371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D52FA8-FE65-1E12-934B-5FF8A5C9102A}"/>
              </a:ext>
            </a:extLst>
          </p:cNvPr>
          <p:cNvSpPr/>
          <p:nvPr/>
        </p:nvSpPr>
        <p:spPr>
          <a:xfrm>
            <a:off x="5315185" y="2118320"/>
            <a:ext cx="780813" cy="3371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997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/>
              <a:t>사용법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235D3D-8CAA-FBFE-F102-4B72F1317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73" y="1709075"/>
            <a:ext cx="3531450" cy="24705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7B3890-6DD6-2F51-3E67-078FD0603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927" y="1709076"/>
            <a:ext cx="3563599" cy="247056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5EA4E6A-9E3B-A97C-D1F9-7D88A83C798E}"/>
              </a:ext>
            </a:extLst>
          </p:cNvPr>
          <p:cNvSpPr/>
          <p:nvPr/>
        </p:nvSpPr>
        <p:spPr>
          <a:xfrm>
            <a:off x="3561341" y="1761218"/>
            <a:ext cx="666694" cy="35039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4F036C-318A-734A-EE0A-57548A846697}"/>
              </a:ext>
            </a:extLst>
          </p:cNvPr>
          <p:cNvSpPr/>
          <p:nvPr/>
        </p:nvSpPr>
        <p:spPr>
          <a:xfrm>
            <a:off x="7326834" y="1761218"/>
            <a:ext cx="746323" cy="35039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25714FF-877B-9239-C785-C8DFD510E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033" y="4338514"/>
            <a:ext cx="3779040" cy="40965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2F45CE7-7338-C30B-95CD-C2AD6CF51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276" y="4338514"/>
            <a:ext cx="3813441" cy="457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057E12-104B-8CF0-C349-2D619935F589}"/>
              </a:ext>
            </a:extLst>
          </p:cNvPr>
          <p:cNvSpPr txBox="1"/>
          <p:nvPr/>
        </p:nvSpPr>
        <p:spPr>
          <a:xfrm>
            <a:off x="4267236" y="4955003"/>
            <a:ext cx="3657527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resolve()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reject()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catch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실행</a:t>
            </a:r>
          </a:p>
        </p:txBody>
      </p:sp>
      <p:sp>
        <p:nvSpPr>
          <p:cNvPr id="7" name="내용 개체 틀 7">
            <a:extLst>
              <a:ext uri="{FF2B5EF4-FFF2-40B4-BE49-F238E27FC236}">
                <a16:creationId xmlns:a16="http://schemas.microsoft.com/office/drawing/2014/main" id="{7D2526E7-7658-E4F7-40CB-91EF074B0EC1}"/>
              </a:ext>
            </a:extLst>
          </p:cNvPr>
          <p:cNvSpPr txBox="1">
            <a:spLocks/>
          </p:cNvSpPr>
          <p:nvPr/>
        </p:nvSpPr>
        <p:spPr>
          <a:xfrm>
            <a:off x="2664648" y="1304283"/>
            <a:ext cx="3079100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/>
              <a:t>✅ </a:t>
            </a:r>
            <a:r>
              <a:rPr lang="en-US" altLang="ko-KR" sz="1800" dirty="0"/>
              <a:t>promise1 </a:t>
            </a:r>
            <a:r>
              <a:rPr lang="ko-KR" altLang="en-US" sz="1800" dirty="0"/>
              <a:t>함수 호출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성공</a:t>
            </a:r>
            <a:r>
              <a:rPr lang="en-US" altLang="ko-KR" sz="1800" b="1" dirty="0"/>
              <a:t>)</a:t>
            </a:r>
            <a:endParaRPr lang="ko-KR" altLang="en-US" sz="1800" b="1" dirty="0"/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320F08AE-5CFA-2BB8-41AA-9B8E97BC38F5}"/>
              </a:ext>
            </a:extLst>
          </p:cNvPr>
          <p:cNvSpPr txBox="1">
            <a:spLocks/>
          </p:cNvSpPr>
          <p:nvPr/>
        </p:nvSpPr>
        <p:spPr>
          <a:xfrm>
            <a:off x="6385213" y="1299605"/>
            <a:ext cx="3079100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/>
              <a:t>✅ </a:t>
            </a:r>
            <a:r>
              <a:rPr lang="en-US" altLang="ko-KR" sz="1800" dirty="0"/>
              <a:t>promise1 </a:t>
            </a:r>
            <a:r>
              <a:rPr lang="ko-KR" altLang="en-US" sz="1800" dirty="0"/>
              <a:t>함수 호출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실패</a:t>
            </a:r>
            <a:r>
              <a:rPr lang="en-US" altLang="ko-KR" sz="1800" b="1" dirty="0"/>
              <a:t>)</a:t>
            </a:r>
            <a:endParaRPr lang="ko-KR" altLang="en-US" sz="18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D5F3F6-3167-C18B-21B7-BE41670D04EC}"/>
              </a:ext>
            </a:extLst>
          </p:cNvPr>
          <p:cNvSpPr/>
          <p:nvPr/>
        </p:nvSpPr>
        <p:spPr>
          <a:xfrm>
            <a:off x="2820361" y="2124312"/>
            <a:ext cx="666694" cy="35039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00FFFF"/>
              </a:highligh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743C61-8B92-5FE9-89D0-09734CAE7C9B}"/>
              </a:ext>
            </a:extLst>
          </p:cNvPr>
          <p:cNvSpPr/>
          <p:nvPr/>
        </p:nvSpPr>
        <p:spPr>
          <a:xfrm>
            <a:off x="6580511" y="3119233"/>
            <a:ext cx="746323" cy="35039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93889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/>
              <a:t>사용법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B2B197-C557-6911-93DF-0FCD10412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161" y="1259137"/>
            <a:ext cx="5591584" cy="47961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45EDF02-37A2-D0C8-62C7-59C4519D0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580" y="4612523"/>
            <a:ext cx="2623258" cy="144279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29F0CA-56E7-210F-1F7D-72FB1F76E843}"/>
              </a:ext>
            </a:extLst>
          </p:cNvPr>
          <p:cNvSpPr/>
          <p:nvPr/>
        </p:nvSpPr>
        <p:spPr>
          <a:xfrm>
            <a:off x="2540817" y="3899018"/>
            <a:ext cx="1018903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8791F3-F72B-04B8-D520-D3CA0E7F6676}"/>
              </a:ext>
            </a:extLst>
          </p:cNvPr>
          <p:cNvSpPr/>
          <p:nvPr/>
        </p:nvSpPr>
        <p:spPr>
          <a:xfrm>
            <a:off x="7715753" y="5630306"/>
            <a:ext cx="1018903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87C41DA1-5C00-5AB5-6E36-6EE6118485B9}"/>
              </a:ext>
            </a:extLst>
          </p:cNvPr>
          <p:cNvSpPr txBox="1">
            <a:spLocks/>
          </p:cNvSpPr>
          <p:nvPr/>
        </p:nvSpPr>
        <p:spPr>
          <a:xfrm>
            <a:off x="7431147" y="1078785"/>
            <a:ext cx="3557324" cy="10998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1800" dirty="0"/>
              <a:t>“</a:t>
            </a:r>
            <a:r>
              <a:rPr lang="ko-KR" altLang="en-US" sz="1800" dirty="0"/>
              <a:t>콜백함수</a:t>
            </a:r>
            <a:r>
              <a:rPr lang="en-US" altLang="ko-KR" sz="1800" dirty="0"/>
              <a:t>”</a:t>
            </a:r>
            <a:r>
              <a:rPr lang="ko-KR" altLang="en-US" sz="1800" dirty="0"/>
              <a:t>를 이용해 구현한 것을 </a:t>
            </a:r>
            <a:endParaRPr lang="en-US" altLang="ko-KR" sz="1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1800" b="1" dirty="0"/>
              <a:t>“promise”</a:t>
            </a:r>
            <a:r>
              <a:rPr lang="ko-KR" altLang="en-US" sz="1800" b="1" dirty="0"/>
              <a:t>를 이용해 구현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075877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/>
              <a:t>사용법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EB34CB-25BF-F859-BBC6-4746824033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666"/>
          <a:stretch/>
        </p:blipFill>
        <p:spPr>
          <a:xfrm>
            <a:off x="1040267" y="1230952"/>
            <a:ext cx="5591584" cy="38529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DDAD00F-6AE1-9C5E-3ACE-1B581A486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087" y="3842249"/>
            <a:ext cx="6442544" cy="21623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61E5A9-AD32-408D-BD8B-708353EA3204}"/>
              </a:ext>
            </a:extLst>
          </p:cNvPr>
          <p:cNvSpPr/>
          <p:nvPr/>
        </p:nvSpPr>
        <p:spPr>
          <a:xfrm>
            <a:off x="1628774" y="3858620"/>
            <a:ext cx="1018903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D32047-938A-AF5B-AC33-89D133DEEB7D}"/>
              </a:ext>
            </a:extLst>
          </p:cNvPr>
          <p:cNvSpPr/>
          <p:nvPr/>
        </p:nvSpPr>
        <p:spPr>
          <a:xfrm>
            <a:off x="6882533" y="4923411"/>
            <a:ext cx="1618642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B2E1E-B9E7-2437-B455-319EE50CBD32}"/>
              </a:ext>
            </a:extLst>
          </p:cNvPr>
          <p:cNvSpPr/>
          <p:nvPr/>
        </p:nvSpPr>
        <p:spPr>
          <a:xfrm>
            <a:off x="5083733" y="5246419"/>
            <a:ext cx="6002242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D9196E-7DF1-8D53-8BF4-7F05784610AC}"/>
              </a:ext>
            </a:extLst>
          </p:cNvPr>
          <p:cNvSpPr/>
          <p:nvPr/>
        </p:nvSpPr>
        <p:spPr>
          <a:xfrm>
            <a:off x="4825733" y="5576035"/>
            <a:ext cx="176242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07CDFFB2-2D33-7A18-DFA1-9B40303A195A}"/>
              </a:ext>
            </a:extLst>
          </p:cNvPr>
          <p:cNvSpPr txBox="1">
            <a:spLocks/>
          </p:cNvSpPr>
          <p:nvPr/>
        </p:nvSpPr>
        <p:spPr>
          <a:xfrm>
            <a:off x="689037" y="5301131"/>
            <a:ext cx="4397281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chemeClr val="accent1"/>
                </a:solidFill>
              </a:rPr>
              <a:t>이전 페이지와 동일한 코드</a:t>
            </a:r>
            <a:r>
              <a:rPr lang="en-US" altLang="ko-KR" sz="1800" dirty="0">
                <a:solidFill>
                  <a:schemeClr val="accent1"/>
                </a:solidFill>
              </a:rPr>
              <a:t>!</a:t>
            </a:r>
            <a:endParaRPr lang="ko-KR" altLang="en-US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197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Promise </a:t>
            </a:r>
            <a:r>
              <a:rPr lang="ko-KR" altLang="en-US" b="1" dirty="0" err="1"/>
              <a:t>체이닝</a:t>
            </a:r>
            <a:r>
              <a:rPr lang="ko-KR" altLang="en-US" b="1" dirty="0"/>
              <a:t> </a:t>
            </a:r>
            <a:r>
              <a:rPr lang="ko-KR" altLang="en-US" dirty="0"/>
              <a:t>사용 </a:t>
            </a:r>
            <a:r>
              <a:rPr lang="ko-KR" altLang="en-US" dirty="0" err="1"/>
              <a:t>안한</a:t>
            </a:r>
            <a:r>
              <a:rPr lang="ko-KR" altLang="en-US" dirty="0"/>
              <a:t> 경우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9A1F537-7C6F-750F-FDBB-F338587B3824}"/>
              </a:ext>
            </a:extLst>
          </p:cNvPr>
          <p:cNvGrpSpPr/>
          <p:nvPr/>
        </p:nvGrpSpPr>
        <p:grpSpPr>
          <a:xfrm>
            <a:off x="7657439" y="3785135"/>
            <a:ext cx="4159143" cy="2378160"/>
            <a:chOff x="8658620" y="3441289"/>
            <a:chExt cx="3554889" cy="203265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607B6DF-2BC6-7A2F-DB21-A87018C26B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8403"/>
            <a:stretch/>
          </p:blipFill>
          <p:spPr>
            <a:xfrm>
              <a:off x="8658620" y="3441289"/>
              <a:ext cx="2108768" cy="203265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AF9E25-2164-1C1D-751A-3406F5DC3FDB}"/>
                </a:ext>
              </a:extLst>
            </p:cNvPr>
            <p:cNvSpPr txBox="1"/>
            <p:nvPr/>
          </p:nvSpPr>
          <p:spPr>
            <a:xfrm>
              <a:off x="10288418" y="3663500"/>
              <a:ext cx="17533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4+3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305F9F-F48F-DAFB-4073-5F4E16455ED7}"/>
                </a:ext>
              </a:extLst>
            </p:cNvPr>
            <p:cNvSpPr txBox="1"/>
            <p:nvPr/>
          </p:nvSpPr>
          <p:spPr>
            <a:xfrm>
              <a:off x="10288419" y="4288636"/>
              <a:ext cx="1925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(4+3)*</a:t>
              </a:r>
              <a:r>
                <a:rPr lang="en-US" altLang="ko-KR" b="1" dirty="0">
                  <a:solidFill>
                    <a:srgbClr val="6A9955"/>
                  </a:solidFill>
                  <a:latin typeface="Consolas" panose="020B0609020204030204" pitchFamily="49" charset="0"/>
                </a:rPr>
                <a:t>2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2C4197-CBE0-D61B-87B1-4ACD189314B9}"/>
                </a:ext>
              </a:extLst>
            </p:cNvPr>
            <p:cNvSpPr txBox="1"/>
            <p:nvPr/>
          </p:nvSpPr>
          <p:spPr>
            <a:xfrm>
              <a:off x="10288419" y="4978095"/>
              <a:ext cx="1925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(4+3)*</a:t>
              </a:r>
              <a:r>
                <a:rPr lang="en-US" altLang="ko-KR" b="1" dirty="0">
                  <a:solidFill>
                    <a:srgbClr val="6A9955"/>
                  </a:solidFill>
                  <a:latin typeface="Consolas" panose="020B0609020204030204" pitchFamily="49" charset="0"/>
                </a:rPr>
                <a:t>2</a:t>
              </a:r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-1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4180082-9810-E70E-69FE-CE8549A9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13" y="1223680"/>
            <a:ext cx="2743200" cy="495759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4325535-DCB3-4CF0-3D54-BFC9D6C53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626" y="3359407"/>
            <a:ext cx="3345924" cy="2821863"/>
          </a:xfrm>
          <a:prstGeom prst="rect">
            <a:avLst/>
          </a:prstGeom>
        </p:spPr>
      </p:pic>
      <p:sp>
        <p:nvSpPr>
          <p:cNvPr id="19" name="내용 개체 틀 7">
            <a:extLst>
              <a:ext uri="{FF2B5EF4-FFF2-40B4-BE49-F238E27FC236}">
                <a16:creationId xmlns:a16="http://schemas.microsoft.com/office/drawing/2014/main" id="{4CE22C60-2830-C2C4-9805-0364098290BE}"/>
              </a:ext>
            </a:extLst>
          </p:cNvPr>
          <p:cNvSpPr txBox="1">
            <a:spLocks/>
          </p:cNvSpPr>
          <p:nvPr/>
        </p:nvSpPr>
        <p:spPr>
          <a:xfrm>
            <a:off x="3637013" y="2760746"/>
            <a:ext cx="4495524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dirty="0"/>
              <a:t>✔️ 콜백함수 사용시 →</a:t>
            </a:r>
            <a:r>
              <a:rPr lang="en-US" altLang="ko-KR" sz="2000" dirty="0"/>
              <a:t> </a:t>
            </a:r>
            <a:r>
              <a:rPr lang="ko-KR" altLang="en-US" sz="2000" b="1" dirty="0" err="1"/>
              <a:t>콜백</a:t>
            </a:r>
            <a:r>
              <a:rPr lang="ko-KR" altLang="en-US" sz="2000" b="1" dirty="0"/>
              <a:t> 지옥</a:t>
            </a:r>
            <a:r>
              <a:rPr lang="en-US" altLang="ko-KR" sz="2000" b="1" dirty="0"/>
              <a:t>!!!! </a:t>
            </a:r>
            <a:r>
              <a:rPr lang="ko-KR" altLang="en-US" sz="2000" b="1" dirty="0"/>
              <a:t>❌ </a:t>
            </a:r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39AA1919-DB0E-51F1-A103-2129AD14DD54}"/>
              </a:ext>
            </a:extLst>
          </p:cNvPr>
          <p:cNvSpPr txBox="1">
            <a:spLocks/>
          </p:cNvSpPr>
          <p:nvPr/>
        </p:nvSpPr>
        <p:spPr>
          <a:xfrm>
            <a:off x="7625211" y="3359825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5D5FB-80D0-202F-E15E-9BC9B0FABA4B}"/>
              </a:ext>
            </a:extLst>
          </p:cNvPr>
          <p:cNvSpPr txBox="1"/>
          <p:nvPr/>
        </p:nvSpPr>
        <p:spPr>
          <a:xfrm>
            <a:off x="4257442" y="1268491"/>
            <a:ext cx="7461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6A9955"/>
                </a:solidFill>
                <a:effectLst/>
              </a:rPr>
              <a:t>// </a:t>
            </a:r>
            <a:r>
              <a:rPr lang="ko-KR" altLang="en-US" sz="2400" dirty="0">
                <a:solidFill>
                  <a:srgbClr val="6A9955"/>
                </a:solidFill>
              </a:rPr>
              <a:t>함수를 이용해 </a:t>
            </a:r>
            <a:r>
              <a:rPr lang="en-US" altLang="ko-KR" sz="2400" b="1" dirty="0">
                <a:solidFill>
                  <a:srgbClr val="6A9955"/>
                </a:solidFill>
                <a:effectLst/>
              </a:rPr>
              <a:t>(4+3)*</a:t>
            </a:r>
            <a:r>
              <a:rPr lang="en-US" altLang="ko-KR" sz="2400" b="1" dirty="0">
                <a:solidFill>
                  <a:srgbClr val="6A9955"/>
                </a:solidFill>
              </a:rPr>
              <a:t>2</a:t>
            </a:r>
            <a:r>
              <a:rPr lang="en-US" altLang="ko-KR" sz="2400" b="1" dirty="0">
                <a:solidFill>
                  <a:srgbClr val="6A9955"/>
                </a:solidFill>
                <a:effectLst/>
              </a:rPr>
              <a:t>-1 = 13 </a:t>
            </a:r>
            <a:r>
              <a:rPr lang="ko-KR" altLang="en-US" sz="2400" dirty="0">
                <a:solidFill>
                  <a:srgbClr val="6A9955"/>
                </a:solidFill>
                <a:effectLst/>
              </a:rPr>
              <a:t>연산을 해보자</a:t>
            </a:r>
            <a:r>
              <a:rPr lang="en-US" altLang="ko-KR" sz="2400" dirty="0">
                <a:solidFill>
                  <a:srgbClr val="6A9955"/>
                </a:solidFill>
                <a:effectLst/>
              </a:rPr>
              <a:t>!</a:t>
            </a:r>
          </a:p>
          <a:p>
            <a:r>
              <a:rPr lang="en-US" altLang="ko-KR" sz="2400" dirty="0">
                <a:solidFill>
                  <a:srgbClr val="6A9955"/>
                </a:solidFill>
              </a:rPr>
              <a:t>// </a:t>
            </a:r>
            <a:r>
              <a:rPr lang="ko-KR" altLang="en-US" sz="2400" dirty="0">
                <a:solidFill>
                  <a:srgbClr val="6A9955"/>
                </a:solidFill>
              </a:rPr>
              <a:t>연산 순서</a:t>
            </a:r>
            <a:r>
              <a:rPr lang="en-US" altLang="ko-KR" sz="2400" dirty="0">
                <a:solidFill>
                  <a:srgbClr val="6A9955"/>
                </a:solidFill>
              </a:rPr>
              <a:t>: </a:t>
            </a:r>
            <a:r>
              <a:rPr lang="ko-KR" altLang="en-US" sz="2400" dirty="0">
                <a:solidFill>
                  <a:srgbClr val="6A9955"/>
                </a:solidFill>
              </a:rPr>
              <a:t>덧셈 </a:t>
            </a:r>
            <a:r>
              <a:rPr lang="en-US" altLang="ko-KR" sz="2400" dirty="0">
                <a:solidFill>
                  <a:srgbClr val="6A9955"/>
                </a:solidFill>
              </a:rPr>
              <a:t>-&gt; </a:t>
            </a:r>
            <a:r>
              <a:rPr lang="ko-KR" altLang="en-US" sz="2400" dirty="0">
                <a:solidFill>
                  <a:srgbClr val="6A9955"/>
                </a:solidFill>
              </a:rPr>
              <a:t>곱셈 </a:t>
            </a:r>
            <a:r>
              <a:rPr lang="en-US" altLang="ko-KR" sz="2400" dirty="0">
                <a:solidFill>
                  <a:srgbClr val="6A9955"/>
                </a:solidFill>
              </a:rPr>
              <a:t>-&gt; </a:t>
            </a:r>
            <a:r>
              <a:rPr lang="ko-KR" altLang="en-US" sz="2400" dirty="0">
                <a:solidFill>
                  <a:srgbClr val="6A9955"/>
                </a:solidFill>
              </a:rPr>
              <a:t>뺄셈</a:t>
            </a:r>
            <a:endParaRPr lang="ko-KR" altLang="en-US" sz="24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4578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Promise </a:t>
            </a:r>
            <a:r>
              <a:rPr lang="ko-KR" altLang="en-US" b="1" dirty="0" err="1"/>
              <a:t>체이닝</a:t>
            </a:r>
            <a:r>
              <a:rPr lang="ko-KR" altLang="en-US" b="1" dirty="0"/>
              <a:t> </a:t>
            </a:r>
            <a:r>
              <a:rPr lang="ko-KR" altLang="en-US" dirty="0"/>
              <a:t>사용한 경우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48D498-2F54-74FC-EEC9-118D7F1D2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03" y="1268059"/>
            <a:ext cx="3631224" cy="48807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CF631F-3EA3-44E6-7316-63007291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605" y="3124038"/>
            <a:ext cx="4069321" cy="302478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34917E-4D5A-B2FA-C482-4726ED93A4D4}"/>
              </a:ext>
            </a:extLst>
          </p:cNvPr>
          <p:cNvSpPr/>
          <p:nvPr/>
        </p:nvSpPr>
        <p:spPr>
          <a:xfrm>
            <a:off x="4417686" y="3402833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B01FA9-81DA-8E64-9536-F1FC7FD1FD84}"/>
              </a:ext>
            </a:extLst>
          </p:cNvPr>
          <p:cNvSpPr/>
          <p:nvPr/>
        </p:nvSpPr>
        <p:spPr>
          <a:xfrm>
            <a:off x="4417686" y="4368786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83D854-4E47-1358-5BD0-3B3F74BC82BA}"/>
              </a:ext>
            </a:extLst>
          </p:cNvPr>
          <p:cNvSpPr/>
          <p:nvPr/>
        </p:nvSpPr>
        <p:spPr>
          <a:xfrm>
            <a:off x="4417686" y="5323671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9C636-C18B-F3BD-A11F-53DC04B940C1}"/>
              </a:ext>
            </a:extLst>
          </p:cNvPr>
          <p:cNvSpPr txBox="1"/>
          <p:nvPr/>
        </p:nvSpPr>
        <p:spPr>
          <a:xfrm>
            <a:off x="4257442" y="1268491"/>
            <a:ext cx="74615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6A9955"/>
                </a:solidFill>
                <a:effectLst/>
              </a:rPr>
              <a:t>// </a:t>
            </a:r>
            <a:r>
              <a:rPr lang="ko-KR" altLang="en-US" sz="2800" dirty="0">
                <a:solidFill>
                  <a:srgbClr val="6A9955"/>
                </a:solidFill>
              </a:rPr>
              <a:t>함수를 이용해 </a:t>
            </a:r>
            <a:r>
              <a:rPr lang="en-US" altLang="ko-KR" sz="2800" b="1" dirty="0">
                <a:solidFill>
                  <a:srgbClr val="6A9955"/>
                </a:solidFill>
                <a:effectLst/>
              </a:rPr>
              <a:t>(4+3)*</a:t>
            </a:r>
            <a:r>
              <a:rPr lang="en-US" altLang="ko-KR" sz="2800" b="1" dirty="0">
                <a:solidFill>
                  <a:srgbClr val="6A9955"/>
                </a:solidFill>
              </a:rPr>
              <a:t>2</a:t>
            </a:r>
            <a:r>
              <a:rPr lang="en-US" altLang="ko-KR" sz="2800" b="1" dirty="0">
                <a:solidFill>
                  <a:srgbClr val="6A9955"/>
                </a:solidFill>
                <a:effectLst/>
              </a:rPr>
              <a:t>-1 = 13 </a:t>
            </a:r>
            <a:r>
              <a:rPr lang="ko-KR" altLang="en-US" sz="2800" dirty="0">
                <a:solidFill>
                  <a:srgbClr val="6A9955"/>
                </a:solidFill>
                <a:effectLst/>
              </a:rPr>
              <a:t>연산을 해보자</a:t>
            </a:r>
            <a:r>
              <a:rPr lang="en-US" altLang="ko-KR" sz="2800" dirty="0">
                <a:solidFill>
                  <a:srgbClr val="6A9955"/>
                </a:solidFill>
                <a:effectLst/>
              </a:rPr>
              <a:t>!</a:t>
            </a:r>
          </a:p>
          <a:p>
            <a:r>
              <a:rPr lang="en-US" altLang="ko-KR" sz="2800" dirty="0">
                <a:solidFill>
                  <a:srgbClr val="6A9955"/>
                </a:solidFill>
              </a:rPr>
              <a:t>// </a:t>
            </a:r>
            <a:r>
              <a:rPr lang="ko-KR" altLang="en-US" sz="2800" dirty="0">
                <a:solidFill>
                  <a:srgbClr val="6A9955"/>
                </a:solidFill>
              </a:rPr>
              <a:t>연산 순서</a:t>
            </a:r>
            <a:r>
              <a:rPr lang="en-US" altLang="ko-KR" sz="2800" dirty="0">
                <a:solidFill>
                  <a:srgbClr val="6A9955"/>
                </a:solidFill>
              </a:rPr>
              <a:t>: </a:t>
            </a:r>
            <a:r>
              <a:rPr lang="ko-KR" altLang="en-US" sz="2800" dirty="0">
                <a:solidFill>
                  <a:srgbClr val="6A9955"/>
                </a:solidFill>
              </a:rPr>
              <a:t>덧셈 </a:t>
            </a:r>
            <a:r>
              <a:rPr lang="en-US" altLang="ko-KR" sz="2800" dirty="0">
                <a:solidFill>
                  <a:srgbClr val="6A9955"/>
                </a:solidFill>
              </a:rPr>
              <a:t>-&gt; </a:t>
            </a:r>
            <a:r>
              <a:rPr lang="ko-KR" altLang="en-US" sz="2800" dirty="0">
                <a:solidFill>
                  <a:srgbClr val="6A9955"/>
                </a:solidFill>
              </a:rPr>
              <a:t>곱셈 </a:t>
            </a:r>
            <a:r>
              <a:rPr lang="en-US" altLang="ko-KR" sz="2800" dirty="0">
                <a:solidFill>
                  <a:srgbClr val="6A9955"/>
                </a:solidFill>
              </a:rPr>
              <a:t>-&gt; </a:t>
            </a:r>
            <a:r>
              <a:rPr lang="ko-KR" altLang="en-US" sz="2800" dirty="0">
                <a:solidFill>
                  <a:srgbClr val="6A9955"/>
                </a:solidFill>
              </a:rPr>
              <a:t>뺄셈</a:t>
            </a:r>
            <a:endParaRPr lang="ko-KR" altLang="en-US" sz="2800" dirty="0">
              <a:solidFill>
                <a:srgbClr val="D4D4D4"/>
              </a:solidFill>
              <a:effectLst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A35249-259A-542E-6C30-26986D756605}"/>
              </a:ext>
            </a:extLst>
          </p:cNvPr>
          <p:cNvSpPr/>
          <p:nvPr/>
        </p:nvSpPr>
        <p:spPr>
          <a:xfrm>
            <a:off x="4634480" y="3893689"/>
            <a:ext cx="1701925" cy="25476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17AF68-3FCB-CACD-CE86-8B4B248568AA}"/>
              </a:ext>
            </a:extLst>
          </p:cNvPr>
          <p:cNvSpPr/>
          <p:nvPr/>
        </p:nvSpPr>
        <p:spPr>
          <a:xfrm>
            <a:off x="4634480" y="4843883"/>
            <a:ext cx="1701925" cy="25476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949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장점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48D498-2F54-74FC-EEC9-118D7F1D2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03" y="1268059"/>
            <a:ext cx="3631224" cy="48807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CF631F-3EA3-44E6-7316-63007291D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605" y="3124038"/>
            <a:ext cx="4069321" cy="302478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9D03FC6-57BB-303A-9553-8FA57EA21BA9}"/>
              </a:ext>
            </a:extLst>
          </p:cNvPr>
          <p:cNvGrpSpPr/>
          <p:nvPr/>
        </p:nvGrpSpPr>
        <p:grpSpPr>
          <a:xfrm>
            <a:off x="8424304" y="3770667"/>
            <a:ext cx="4159143" cy="2378160"/>
            <a:chOff x="8658620" y="3441289"/>
            <a:chExt cx="3554889" cy="203265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30610C7-7D16-ADBB-23C1-79AA0137D8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8403"/>
            <a:stretch/>
          </p:blipFill>
          <p:spPr>
            <a:xfrm>
              <a:off x="8658620" y="3441289"/>
              <a:ext cx="2108768" cy="203265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5B75DA-82B7-D151-0A85-07EC9C4D6B78}"/>
                </a:ext>
              </a:extLst>
            </p:cNvPr>
            <p:cNvSpPr txBox="1"/>
            <p:nvPr/>
          </p:nvSpPr>
          <p:spPr>
            <a:xfrm>
              <a:off x="10288418" y="3663500"/>
              <a:ext cx="17533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4+3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D776C3-8457-E987-7514-B2813661711D}"/>
                </a:ext>
              </a:extLst>
            </p:cNvPr>
            <p:cNvSpPr txBox="1"/>
            <p:nvPr/>
          </p:nvSpPr>
          <p:spPr>
            <a:xfrm>
              <a:off x="10288419" y="4288636"/>
              <a:ext cx="1925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(4+3)*</a:t>
              </a:r>
              <a:r>
                <a:rPr lang="en-US" altLang="ko-KR" b="1" dirty="0">
                  <a:solidFill>
                    <a:srgbClr val="6A9955"/>
                  </a:solidFill>
                  <a:latin typeface="Consolas" panose="020B0609020204030204" pitchFamily="49" charset="0"/>
                </a:rPr>
                <a:t>2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9AF47E-1ADD-DB88-C51C-498F294F0BEB}"/>
                </a:ext>
              </a:extLst>
            </p:cNvPr>
            <p:cNvSpPr txBox="1"/>
            <p:nvPr/>
          </p:nvSpPr>
          <p:spPr>
            <a:xfrm>
              <a:off x="10288419" y="4978095"/>
              <a:ext cx="1925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(4+3)*</a:t>
              </a:r>
              <a:r>
                <a:rPr lang="en-US" altLang="ko-KR" b="1" dirty="0">
                  <a:solidFill>
                    <a:srgbClr val="6A9955"/>
                  </a:solidFill>
                  <a:latin typeface="Consolas" panose="020B0609020204030204" pitchFamily="49" charset="0"/>
                </a:rPr>
                <a:t>2</a:t>
              </a:r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-1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5" name="내용 개체 틀 7">
            <a:extLst>
              <a:ext uri="{FF2B5EF4-FFF2-40B4-BE49-F238E27FC236}">
                <a16:creationId xmlns:a16="http://schemas.microsoft.com/office/drawing/2014/main" id="{51C959CE-0B39-4A6E-78CC-BBC6ED179C16}"/>
              </a:ext>
            </a:extLst>
          </p:cNvPr>
          <p:cNvSpPr txBox="1">
            <a:spLocks/>
          </p:cNvSpPr>
          <p:nvPr/>
        </p:nvSpPr>
        <p:spPr>
          <a:xfrm>
            <a:off x="4462014" y="1344408"/>
            <a:ext cx="7290983" cy="1368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then </a:t>
            </a:r>
            <a:r>
              <a:rPr lang="ko-KR" altLang="en-US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연속 사용</a:t>
            </a:r>
            <a:r>
              <a:rPr lang="ko-KR" altLang="en-US" sz="2400" b="1" dirty="0">
                <a:solidFill>
                  <a:srgbClr val="ED7D3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 순차적인 작업 가능</a:t>
            </a:r>
            <a:endParaRPr lang="en-US" altLang="ko-KR" sz="2400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콜백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지옥에서 탈출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  <a:endParaRPr lang="ko-KR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34917E-4D5A-B2FA-C482-4726ED93A4D4}"/>
              </a:ext>
            </a:extLst>
          </p:cNvPr>
          <p:cNvSpPr/>
          <p:nvPr/>
        </p:nvSpPr>
        <p:spPr>
          <a:xfrm>
            <a:off x="4417686" y="3402833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B01FA9-81DA-8E64-9536-F1FC7FD1FD84}"/>
              </a:ext>
            </a:extLst>
          </p:cNvPr>
          <p:cNvSpPr/>
          <p:nvPr/>
        </p:nvSpPr>
        <p:spPr>
          <a:xfrm>
            <a:off x="4417686" y="4368786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83D854-4E47-1358-5BD0-3B3F74BC82BA}"/>
              </a:ext>
            </a:extLst>
          </p:cNvPr>
          <p:cNvSpPr/>
          <p:nvPr/>
        </p:nvSpPr>
        <p:spPr>
          <a:xfrm>
            <a:off x="4417686" y="5323671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7E9D17EE-D6FE-A4EB-615C-455BED832A55}"/>
              </a:ext>
            </a:extLst>
          </p:cNvPr>
          <p:cNvSpPr txBox="1">
            <a:spLocks/>
          </p:cNvSpPr>
          <p:nvPr/>
        </p:nvSpPr>
        <p:spPr>
          <a:xfrm>
            <a:off x="8392076" y="3321649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543390-C45D-D475-5199-BAD5E4BC553F}"/>
              </a:ext>
            </a:extLst>
          </p:cNvPr>
          <p:cNvSpPr/>
          <p:nvPr/>
        </p:nvSpPr>
        <p:spPr>
          <a:xfrm>
            <a:off x="4634480" y="3893689"/>
            <a:ext cx="1701925" cy="25476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545926-99EE-D690-453C-6AD0B8E4B2B4}"/>
              </a:ext>
            </a:extLst>
          </p:cNvPr>
          <p:cNvSpPr/>
          <p:nvPr/>
        </p:nvSpPr>
        <p:spPr>
          <a:xfrm>
            <a:off x="4634480" y="4843883"/>
            <a:ext cx="1701925" cy="25476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5501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장점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15" name="내용 개체 틀 7">
            <a:extLst>
              <a:ext uri="{FF2B5EF4-FFF2-40B4-BE49-F238E27FC236}">
                <a16:creationId xmlns:a16="http://schemas.microsoft.com/office/drawing/2014/main" id="{51C959CE-0B39-4A6E-78CC-BBC6ED179C16}"/>
              </a:ext>
            </a:extLst>
          </p:cNvPr>
          <p:cNvSpPr txBox="1">
            <a:spLocks/>
          </p:cNvSpPr>
          <p:nvPr/>
        </p:nvSpPr>
        <p:spPr>
          <a:xfrm>
            <a:off x="4393327" y="1268967"/>
            <a:ext cx="6374061" cy="1368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예외 처리 간편</a:t>
            </a:r>
            <a:endParaRPr lang="en-US" altLang="ko-KR" sz="2400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마지막 </a:t>
            </a:r>
            <a:r>
              <a:rPr lang="en-US" altLang="ko-KR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catch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구문에서 </a:t>
            </a:r>
            <a:r>
              <a:rPr lang="ko-KR" altLang="en-US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 번에 에러 처리</a:t>
            </a:r>
            <a:r>
              <a:rPr lang="en-US" altLang="ko-KR" sz="2400" b="1" dirty="0">
                <a:solidFill>
                  <a:srgbClr val="ED7D3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AB296A-914B-3815-272A-6E8DE9427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8" y="1141346"/>
            <a:ext cx="3957660" cy="500748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B74990-719D-0900-7B2D-485BAC7D5A38}"/>
              </a:ext>
            </a:extLst>
          </p:cNvPr>
          <p:cNvSpPr/>
          <p:nvPr/>
        </p:nvSpPr>
        <p:spPr>
          <a:xfrm>
            <a:off x="672801" y="5349795"/>
            <a:ext cx="3394564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7B1343E-C69E-3F26-1780-9DB8D096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775" y="2700777"/>
            <a:ext cx="3600450" cy="344805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07B60C-A2DC-2163-5A57-2DD260B5EC29}"/>
              </a:ext>
            </a:extLst>
          </p:cNvPr>
          <p:cNvSpPr/>
          <p:nvPr/>
        </p:nvSpPr>
        <p:spPr>
          <a:xfrm>
            <a:off x="4575109" y="5245946"/>
            <a:ext cx="576440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D2CD70-B0A5-BBED-F957-FE3A86890212}"/>
              </a:ext>
            </a:extLst>
          </p:cNvPr>
          <p:cNvSpPr/>
          <p:nvPr/>
        </p:nvSpPr>
        <p:spPr>
          <a:xfrm>
            <a:off x="6567593" y="4608904"/>
            <a:ext cx="1069578" cy="246432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FB51CE7D-72ED-D693-1C3F-E3ED6D42FEB6}"/>
              </a:ext>
            </a:extLst>
          </p:cNvPr>
          <p:cNvSpPr txBox="1">
            <a:spLocks/>
          </p:cNvSpPr>
          <p:nvPr/>
        </p:nvSpPr>
        <p:spPr>
          <a:xfrm>
            <a:off x="8392076" y="3321649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6984B5B-DE35-49DB-ADB6-811021E1D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316" y="3833431"/>
            <a:ext cx="3215994" cy="204380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DC406C-06DD-391D-FF7B-93D26445E70A}"/>
              </a:ext>
            </a:extLst>
          </p:cNvPr>
          <p:cNvSpPr/>
          <p:nvPr/>
        </p:nvSpPr>
        <p:spPr>
          <a:xfrm>
            <a:off x="8470761" y="4611156"/>
            <a:ext cx="3213549" cy="126608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2546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591C0D-5D74-5B3D-A01A-53D76FB7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471761-1179-68FB-43A3-17DE73CA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5070334-CB0F-C09E-6F1E-F8357BA2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b="0" dirty="0">
                <a:solidFill>
                  <a:srgbClr val="ED7D31"/>
                </a:solidFill>
              </a:rPr>
              <a:t>Async / Await</a:t>
            </a:r>
            <a:endParaRPr lang="ko-KR" altLang="en-US" sz="6000" b="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5504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3314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Promise</a:t>
            </a:r>
            <a:r>
              <a:rPr lang="ko-KR" altLang="en-US" sz="2400" dirty="0"/>
              <a:t>를 더 간단하고 직관적으로 사용할 수 있게 해주는 문법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기능이 추가된 것이 아닌</a:t>
            </a:r>
            <a:r>
              <a:rPr lang="en-US" altLang="ko-KR" sz="2000" dirty="0"/>
              <a:t>, </a:t>
            </a:r>
            <a:r>
              <a:rPr lang="en-US" altLang="ko-KR" sz="2000" dirty="0">
                <a:solidFill>
                  <a:schemeClr val="accent1"/>
                </a:solidFill>
              </a:rPr>
              <a:t>Promise </a:t>
            </a:r>
            <a:r>
              <a:rPr lang="ko-KR" altLang="en-US" sz="2000" dirty="0">
                <a:solidFill>
                  <a:schemeClr val="accent1"/>
                </a:solidFill>
              </a:rPr>
              <a:t>문법의 다른 패턴</a:t>
            </a:r>
            <a:endParaRPr lang="en-US" altLang="ko-KR" sz="2000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비동기 코드를 마치 동기 코드인 것처럼 작성할 수 있게 함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</a:t>
            </a:r>
            <a:r>
              <a:rPr lang="en-US" altLang="ko-KR" sz="2400" dirty="0"/>
              <a:t>Promise </a:t>
            </a:r>
            <a:r>
              <a:rPr lang="ko-KR" altLang="en-US" sz="2400" dirty="0"/>
              <a:t>도 </a:t>
            </a:r>
            <a:r>
              <a:rPr lang="en-US" altLang="ko-KR" sz="2400" dirty="0" err="1"/>
              <a:t>chaning</a:t>
            </a:r>
            <a:r>
              <a:rPr lang="ko-KR" altLang="en-US" sz="2400" dirty="0"/>
              <a:t>을 </a:t>
            </a:r>
            <a:r>
              <a:rPr lang="ko-KR" altLang="en-US" sz="2400" dirty="0" err="1"/>
              <a:t>하다보면</a:t>
            </a:r>
            <a:r>
              <a:rPr lang="ko-KR" altLang="en-US" sz="2400" dirty="0"/>
              <a:t> </a:t>
            </a:r>
            <a:r>
              <a:rPr lang="en-US" altLang="ko-KR" sz="2400" dirty="0"/>
              <a:t>then().then()… </a:t>
            </a:r>
            <a:r>
              <a:rPr lang="ko-KR" altLang="en-US" sz="2400" dirty="0"/>
              <a:t>처럼 꼬리를 물게 되어 코드의 가독성이 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 </a:t>
            </a:r>
            <a:r>
              <a:rPr lang="ko-KR" altLang="en-US" sz="2400" dirty="0"/>
              <a:t>떨어지게 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Promise</a:t>
            </a:r>
            <a:r>
              <a:rPr lang="ko-KR" altLang="en-US" sz="2000" dirty="0"/>
              <a:t>를</a:t>
            </a:r>
            <a:r>
              <a:rPr lang="en-US" altLang="ko-KR" sz="2000" dirty="0"/>
              <a:t> </a:t>
            </a:r>
            <a:r>
              <a:rPr lang="ko-KR" altLang="en-US" sz="2000" dirty="0"/>
              <a:t>보다 직관적으로 사용할 수 있도록 등장</a:t>
            </a:r>
            <a:endParaRPr lang="en-US" altLang="ko-KR" sz="20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async/await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55452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38EBC0-A604-6C7A-F969-C5C0406E5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49339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sz="2400" b="1" dirty="0">
                <a:solidFill>
                  <a:schemeClr val="accent1"/>
                </a:solidFill>
              </a:rPr>
              <a:t>✔️ </a:t>
            </a:r>
            <a:r>
              <a:rPr lang="en-US" altLang="ko-KR" sz="2400" b="1" dirty="0">
                <a:solidFill>
                  <a:schemeClr val="accent1"/>
                </a:solidFill>
              </a:rPr>
              <a:t>async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/>
              <a:t>비동기 실행되는 게 있음을 알림</a:t>
            </a:r>
            <a:endParaRPr lang="en-US" altLang="ko-KR" sz="2000" dirty="0"/>
          </a:p>
          <a:p>
            <a:pPr lvl="1">
              <a:lnSpc>
                <a:spcPct val="170000"/>
              </a:lnSpc>
            </a:pPr>
            <a:r>
              <a:rPr lang="ko-KR" altLang="en-US" sz="2000" dirty="0"/>
              <a:t>함수 앞에 붙여 </a:t>
            </a:r>
            <a:r>
              <a:rPr lang="en-US" altLang="ko-KR" sz="2000" dirty="0"/>
              <a:t>Promise</a:t>
            </a:r>
            <a:r>
              <a:rPr lang="ko-KR" altLang="en-US" sz="2000" dirty="0"/>
              <a:t>를 반환</a:t>
            </a:r>
            <a:endParaRPr lang="en-US" altLang="ko-KR" sz="2000" dirty="0"/>
          </a:p>
          <a:p>
            <a:pPr lvl="1">
              <a:lnSpc>
                <a:spcPct val="170000"/>
              </a:lnSpc>
            </a:pPr>
            <a:r>
              <a:rPr lang="ko-KR" altLang="en-US" sz="2000" dirty="0"/>
              <a:t>프로미스가 아닌 값을 반환해도 프로미스로 감싸서 반환함</a:t>
            </a:r>
            <a:endParaRPr lang="en-US" altLang="ko-KR" sz="2000" dirty="0"/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b="1" dirty="0">
                <a:solidFill>
                  <a:schemeClr val="accent1"/>
                </a:solidFill>
              </a:rPr>
              <a:t>✔️ </a:t>
            </a:r>
            <a:r>
              <a:rPr lang="en-US" altLang="ko-KR" sz="2400" b="1" dirty="0">
                <a:solidFill>
                  <a:schemeClr val="accent1"/>
                </a:solidFill>
              </a:rPr>
              <a:t>await</a:t>
            </a:r>
          </a:p>
          <a:p>
            <a:pPr lvl="1">
              <a:lnSpc>
                <a:spcPct val="170000"/>
              </a:lnSpc>
            </a:pPr>
            <a:r>
              <a:rPr lang="en-US" altLang="ko-KR" sz="2000" dirty="0"/>
              <a:t>‘</a:t>
            </a:r>
            <a:r>
              <a:rPr lang="ko-KR" altLang="en-US" sz="2000" dirty="0"/>
              <a:t>기다리다</a:t>
            </a:r>
            <a:r>
              <a:rPr lang="en-US" altLang="ko-KR" sz="2000" dirty="0"/>
              <a:t>’ </a:t>
            </a:r>
            <a:r>
              <a:rPr lang="ko-KR" altLang="en-US" sz="2000" dirty="0"/>
              <a:t>라는 뜻을 가진 </a:t>
            </a:r>
            <a:r>
              <a:rPr lang="ko-KR" altLang="en-US" sz="2000" dirty="0" err="1"/>
              <a:t>영단어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실행 다 될 때까지 기다려주세요</a:t>
            </a:r>
            <a:r>
              <a:rPr lang="en-US" altLang="ko-KR" sz="2000" dirty="0"/>
              <a:t>!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/>
              <a:t>프로미스 앞에 붙여 프로미스가 다 처리될 때까지 기다리는 역할을 하며 결과는 그 후에 반환한다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CAE79-71DE-0571-54BF-8EBFA118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179548-7224-FBCA-4B53-5027818F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8AB781-E1FC-A4C8-B7C3-FC01841E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async/await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16016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E40AD-D2C6-B2D0-F5BC-E1750A646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/>
            <a:r>
              <a:rPr lang="en-US" altLang="ko-KR" dirty="0"/>
              <a:t>async/await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C3AA9-C5B4-325A-4750-5D2FF5A93355}"/>
              </a:ext>
            </a:extLst>
          </p:cNvPr>
          <p:cNvSpPr txBox="1"/>
          <p:nvPr/>
        </p:nvSpPr>
        <p:spPr>
          <a:xfrm>
            <a:off x="3433763" y="2473675"/>
            <a:ext cx="5324474" cy="18158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f2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27F45-1B7C-1035-E108-A93C091E16CD}"/>
              </a:ext>
            </a:extLst>
          </p:cNvPr>
          <p:cNvSpPr txBox="1"/>
          <p:nvPr/>
        </p:nvSpPr>
        <p:spPr>
          <a:xfrm>
            <a:off x="3352799" y="4384325"/>
            <a:ext cx="55816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async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붙은 함수는 항상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Promise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반환함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async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있는 함수에서만 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await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 사용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2337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en-US" altLang="ko-KR" b="1" dirty="0"/>
              <a:t>async</a:t>
            </a:r>
            <a:r>
              <a:rPr lang="ko-KR" altLang="en-US" b="1" dirty="0"/>
              <a:t> </a:t>
            </a:r>
            <a:r>
              <a:rPr lang="en-US" altLang="ko-KR" b="1" dirty="0"/>
              <a:t>/ await</a:t>
            </a:r>
            <a:endParaRPr lang="ko-KR" altLang="en-US" b="1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0EB071C-5CB1-7A4E-7068-5FFDABE78F1F}"/>
              </a:ext>
            </a:extLst>
          </p:cNvPr>
          <p:cNvGrpSpPr/>
          <p:nvPr/>
        </p:nvGrpSpPr>
        <p:grpSpPr>
          <a:xfrm>
            <a:off x="1842484" y="1957153"/>
            <a:ext cx="8545132" cy="3910469"/>
            <a:chOff x="1325832" y="2306806"/>
            <a:chExt cx="8545132" cy="391046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C47A266-B713-4759-C67B-8B81D6E6F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5832" y="2306807"/>
              <a:ext cx="4505325" cy="390525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D71EDA6-9970-D0F2-ACCA-6B6922BC5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2638" y="2306806"/>
              <a:ext cx="3928326" cy="3910469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7D879F-9298-A5B6-1F71-C6A91567B78D}"/>
                </a:ext>
              </a:extLst>
            </p:cNvPr>
            <p:cNvSpPr/>
            <p:nvPr/>
          </p:nvSpPr>
          <p:spPr>
            <a:xfrm>
              <a:off x="6184968" y="2451100"/>
              <a:ext cx="834018" cy="36924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38A63BF-FC52-BEC1-9522-CF67ADA74C56}"/>
                </a:ext>
              </a:extLst>
            </p:cNvPr>
            <p:cNvSpPr/>
            <p:nvPr/>
          </p:nvSpPr>
          <p:spPr>
            <a:xfrm>
              <a:off x="6466157" y="3214194"/>
              <a:ext cx="834018" cy="36924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CE0C462-E52E-D93A-13E9-FB8BD1DD5C83}"/>
                </a:ext>
              </a:extLst>
            </p:cNvPr>
            <p:cNvSpPr/>
            <p:nvPr/>
          </p:nvSpPr>
          <p:spPr>
            <a:xfrm>
              <a:off x="8292809" y="2451099"/>
              <a:ext cx="954221" cy="369243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74F6022-4989-DDBA-9BEE-38DE627274AC}"/>
                </a:ext>
              </a:extLst>
            </p:cNvPr>
            <p:cNvSpPr/>
            <p:nvPr/>
          </p:nvSpPr>
          <p:spPr>
            <a:xfrm>
              <a:off x="6184968" y="5584047"/>
              <a:ext cx="954221" cy="369243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4CFB008A-FA99-3366-10C4-D2D15BD08994}"/>
              </a:ext>
            </a:extLst>
          </p:cNvPr>
          <p:cNvSpPr txBox="1">
            <a:spLocks/>
          </p:cNvSpPr>
          <p:nvPr/>
        </p:nvSpPr>
        <p:spPr>
          <a:xfrm>
            <a:off x="1686791" y="1456578"/>
            <a:ext cx="6359220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>
                <a:latin typeface="+mn-ea"/>
              </a:rPr>
              <a:t>✅ 사용 예시</a:t>
            </a:r>
          </a:p>
        </p:txBody>
      </p:sp>
    </p:spTree>
    <p:extLst>
      <p:ext uri="{BB962C8B-B14F-4D97-AF65-F5344CB8AC3E}">
        <p14:creationId xmlns:p14="http://schemas.microsoft.com/office/powerpoint/2010/main" val="13110378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en-US" altLang="ko-KR" dirty="0">
                <a:solidFill>
                  <a:schemeClr val="accent2"/>
                </a:solidFill>
              </a:rPr>
              <a:t>Callback -&gt; Promise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EE5727-8986-8102-F687-8730B3F3B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093" y="4119162"/>
            <a:ext cx="3080713" cy="1981648"/>
          </a:xfrm>
          <a:prstGeom prst="rect">
            <a:avLst/>
          </a:prstGeom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08F257A-9753-45A8-56FA-C9F2943D7E86}"/>
              </a:ext>
            </a:extLst>
          </p:cNvPr>
          <p:cNvSpPr txBox="1">
            <a:spLocks/>
          </p:cNvSpPr>
          <p:nvPr/>
        </p:nvSpPr>
        <p:spPr>
          <a:xfrm>
            <a:off x="8407093" y="3716568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7E78DFF-615F-676F-5AAF-11B8261A5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94" y="1329936"/>
            <a:ext cx="3456502" cy="47732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04B37A-E9B9-8DF5-ED7D-C45570D2D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079" y="3799251"/>
            <a:ext cx="3631842" cy="2303950"/>
          </a:xfrm>
          <a:prstGeom prst="rect">
            <a:avLst/>
          </a:prstGeom>
        </p:spPr>
      </p:pic>
      <p:sp>
        <p:nvSpPr>
          <p:cNvPr id="14" name="내용 개체 틀 7">
            <a:extLst>
              <a:ext uri="{FF2B5EF4-FFF2-40B4-BE49-F238E27FC236}">
                <a16:creationId xmlns:a16="http://schemas.microsoft.com/office/drawing/2014/main" id="{0602D83E-556D-A659-E4C3-692DA793AE98}"/>
              </a:ext>
            </a:extLst>
          </p:cNvPr>
          <p:cNvSpPr txBox="1">
            <a:spLocks/>
          </p:cNvSpPr>
          <p:nvPr/>
        </p:nvSpPr>
        <p:spPr>
          <a:xfrm>
            <a:off x="4385814" y="1325563"/>
            <a:ext cx="7290983" cy="1368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콜백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함수로 이루어진 코드를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Promise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로 변경하기</a:t>
            </a:r>
          </a:p>
        </p:txBody>
      </p:sp>
    </p:spTree>
    <p:extLst>
      <p:ext uri="{BB962C8B-B14F-4D97-AF65-F5344CB8AC3E}">
        <p14:creationId xmlns:p14="http://schemas.microsoft.com/office/powerpoint/2010/main" val="25679908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</a:t>
            </a:r>
            <a:r>
              <a:rPr lang="en-US" altLang="ko-KR" dirty="0">
                <a:solidFill>
                  <a:schemeClr val="accent2"/>
                </a:solidFill>
              </a:rPr>
              <a:t>.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2"/>
                </a:solidFill>
              </a:rPr>
              <a:t>Promise - async/await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11487B41-A202-BE61-B09C-97ECDFE9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3" y="1325563"/>
            <a:ext cx="10299865" cy="4558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실습</a:t>
            </a:r>
            <a:r>
              <a:rPr lang="en-US" altLang="ko-KR" b="1" dirty="0"/>
              <a:t>1</a:t>
            </a:r>
            <a:r>
              <a:rPr lang="en-US" altLang="ko-KR" dirty="0"/>
              <a:t> </a:t>
            </a:r>
            <a:r>
              <a:rPr lang="ko-KR" altLang="en-US" dirty="0"/>
              <a:t>에서 </a:t>
            </a:r>
            <a:r>
              <a:rPr lang="en-US" altLang="ko-KR" dirty="0"/>
              <a:t>promise</a:t>
            </a:r>
            <a:r>
              <a:rPr lang="ko-KR" altLang="en-US" dirty="0"/>
              <a:t>로 바꾼 코드를 </a:t>
            </a:r>
            <a:r>
              <a:rPr lang="en-US" altLang="ko-KR" dirty="0"/>
              <a:t>exec </a:t>
            </a:r>
            <a:r>
              <a:rPr lang="ko-KR" altLang="en-US" dirty="0"/>
              <a:t>함수를 만들어 실행하게 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이때</a:t>
            </a:r>
            <a:r>
              <a:rPr lang="en-US" altLang="ko-KR" dirty="0"/>
              <a:t>, exec</a:t>
            </a:r>
            <a:r>
              <a:rPr lang="ko-KR" altLang="en-US" dirty="0"/>
              <a:t>는 </a:t>
            </a:r>
            <a:r>
              <a:rPr lang="en-US" altLang="ko-KR" dirty="0"/>
              <a:t>async </a:t>
            </a:r>
            <a:r>
              <a:rPr lang="ko-KR" altLang="en-US" dirty="0"/>
              <a:t>함수이다</a:t>
            </a:r>
            <a:r>
              <a:rPr lang="en-US" altLang="ko-KR" dirty="0"/>
              <a:t>.)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19BD58-0014-DC5B-0C8F-68277244E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838" y="3219073"/>
            <a:ext cx="5320028" cy="2889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7DAAD4-1E7E-48FE-233E-0E7C8D8A579F}"/>
              </a:ext>
            </a:extLst>
          </p:cNvPr>
          <p:cNvSpPr txBox="1"/>
          <p:nvPr/>
        </p:nvSpPr>
        <p:spPr>
          <a:xfrm>
            <a:off x="8440506" y="2563516"/>
            <a:ext cx="1109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ighlight>
                  <a:srgbClr val="FFFF00"/>
                </a:highlight>
              </a:rPr>
              <a:t>Hint!!</a:t>
            </a:r>
            <a:endParaRPr lang="ko-KR" altLang="en-US" sz="2800" dirty="0">
              <a:highlight>
                <a:srgbClr val="FFFF00"/>
              </a:highlight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13ED75-6EED-DD2F-F68F-ECF4FEEBF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13" y="4126531"/>
            <a:ext cx="3080713" cy="1981648"/>
          </a:xfrm>
          <a:prstGeom prst="rect">
            <a:avLst/>
          </a:prstGeom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1CEFBD6-BFDA-04DB-F203-1FA75231D9BA}"/>
              </a:ext>
            </a:extLst>
          </p:cNvPr>
          <p:cNvSpPr txBox="1">
            <a:spLocks/>
          </p:cNvSpPr>
          <p:nvPr/>
        </p:nvSpPr>
        <p:spPr>
          <a:xfrm>
            <a:off x="827313" y="3723937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</p:spTree>
    <p:extLst>
      <p:ext uri="{BB962C8B-B14F-4D97-AF65-F5344CB8AC3E}">
        <p14:creationId xmlns:p14="http://schemas.microsoft.com/office/powerpoint/2010/main" val="25161664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</a:t>
            </a:r>
            <a:r>
              <a:rPr lang="en-US" altLang="ko-KR" dirty="0">
                <a:solidFill>
                  <a:schemeClr val="accent2"/>
                </a:solidFill>
              </a:rPr>
              <a:t>.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2"/>
                </a:solidFill>
              </a:rPr>
              <a:t>Promise</a:t>
            </a:r>
            <a:r>
              <a:rPr lang="ko-KR" altLang="en-US" dirty="0">
                <a:solidFill>
                  <a:schemeClr val="accent2"/>
                </a:solidFill>
              </a:rPr>
              <a:t>로 배경색 변경하기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11487B41-A202-BE61-B09C-97ECDFE9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3" y="1325563"/>
            <a:ext cx="10299865" cy="4558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/>
              <a:t>콜백지옥으로 </a:t>
            </a:r>
            <a:r>
              <a:rPr lang="ko-KR" altLang="en-US" dirty="0"/>
              <a:t>작성한 배경색 변경 코드를 </a:t>
            </a:r>
            <a:r>
              <a:rPr lang="en-US" altLang="ko-KR" dirty="0"/>
              <a:t>Promise</a:t>
            </a:r>
            <a:r>
              <a:rPr lang="ko-KR" altLang="en-US" dirty="0"/>
              <a:t>를 이용해 변경하기</a:t>
            </a: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69DEA6F-F7A7-1FC0-5B4E-14C2FFDE9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2072574"/>
            <a:ext cx="5400150" cy="381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169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8983</TotalTime>
  <Words>2077</Words>
  <Application>Microsoft Office PowerPoint</Application>
  <PresentationFormat>와이드스크린</PresentationFormat>
  <Paragraphs>414</Paragraphs>
  <Slides>53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4" baseType="lpstr">
      <vt:lpstr>D2Coding</vt:lpstr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Consolas</vt:lpstr>
      <vt:lpstr>Wingdings</vt:lpstr>
      <vt:lpstr>1_Office 테마</vt:lpstr>
      <vt:lpstr>PowerPoint 프레젠테이션</vt:lpstr>
      <vt:lpstr>JavaScript(2)</vt:lpstr>
      <vt:lpstr>구조 분해 할당 Destructuring assignment</vt:lpstr>
      <vt:lpstr>구조분해 할당</vt:lpstr>
      <vt:lpstr>배열의 구조 분해 할당</vt:lpstr>
      <vt:lpstr>배열의 구조 분해 할당</vt:lpstr>
      <vt:lpstr>배열의 구조 분해 할당</vt:lpstr>
      <vt:lpstr>객체의 구조 분해 할당</vt:lpstr>
      <vt:lpstr>객체의 구조 분해 할당</vt:lpstr>
      <vt:lpstr>객체 구조 분해 할당</vt:lpstr>
      <vt:lpstr>… 연산자</vt:lpstr>
      <vt:lpstr>전개구문 (spread) ...</vt:lpstr>
      <vt:lpstr>전개구문 (spread) ...</vt:lpstr>
      <vt:lpstr>전개구문 (spread) ...</vt:lpstr>
      <vt:lpstr>rest 파라미터</vt:lpstr>
      <vt:lpstr>spread vs. rest</vt:lpstr>
      <vt:lpstr>실습. Spread연산자 만들기</vt:lpstr>
      <vt:lpstr>비동기 처리 asynchronous processing</vt:lpstr>
      <vt:lpstr>비동기 처리란?</vt:lpstr>
      <vt:lpstr>비동기 처리란?</vt:lpstr>
      <vt:lpstr>비동기 처리</vt:lpstr>
      <vt:lpstr>비동기 코드를 처리하기 위한 3가지 방법</vt:lpstr>
      <vt:lpstr>setTimeout()</vt:lpstr>
      <vt:lpstr>setTimeout()</vt:lpstr>
      <vt:lpstr>Callback 함수</vt:lpstr>
      <vt:lpstr>콜백(callback) 함수</vt:lpstr>
      <vt:lpstr>콜백(callback) 함수</vt:lpstr>
      <vt:lpstr>콜백(callback) 함수</vt:lpstr>
      <vt:lpstr>콜백(callback) 함수</vt:lpstr>
      <vt:lpstr>콜백(callback) 함수</vt:lpstr>
      <vt:lpstr>콜백 지옥(Callback Hell)</vt:lpstr>
      <vt:lpstr>콜백 지옥 👎👎👎</vt:lpstr>
      <vt:lpstr>Promise</vt:lpstr>
      <vt:lpstr>Promise</vt:lpstr>
      <vt:lpstr>Promise의 상태</vt:lpstr>
      <vt:lpstr>Promise 사용법</vt:lpstr>
      <vt:lpstr>Promise 사용법</vt:lpstr>
      <vt:lpstr>Promise 사용법</vt:lpstr>
      <vt:lpstr>Promise 사용법</vt:lpstr>
      <vt:lpstr>Promise 사용법</vt:lpstr>
      <vt:lpstr>Promise 체이닝 사용 안한 경우</vt:lpstr>
      <vt:lpstr>Promise 체이닝 사용한 경우</vt:lpstr>
      <vt:lpstr>Promise 체이닝 장점(1)</vt:lpstr>
      <vt:lpstr>Promise 체이닝 장점(2)</vt:lpstr>
      <vt:lpstr>Async / Await</vt:lpstr>
      <vt:lpstr>async/await</vt:lpstr>
      <vt:lpstr>async/await</vt:lpstr>
      <vt:lpstr>async/await</vt:lpstr>
      <vt:lpstr>Promise → async / await</vt:lpstr>
      <vt:lpstr>실습1. Callback -&gt; Promise</vt:lpstr>
      <vt:lpstr>실습2. Promise - async/await</vt:lpstr>
      <vt:lpstr>실습3. Promise로 배경색 변경하기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676</cp:revision>
  <dcterms:created xsi:type="dcterms:W3CDTF">2023-01-31T04:26:23Z</dcterms:created>
  <dcterms:modified xsi:type="dcterms:W3CDTF">2026-02-03T02:19:52Z</dcterms:modified>
</cp:coreProperties>
</file>