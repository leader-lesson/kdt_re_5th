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61"/>
  </p:notesMasterIdLst>
  <p:sldIdLst>
    <p:sldId id="1004" r:id="rId2"/>
    <p:sldId id="570" r:id="rId3"/>
    <p:sldId id="571" r:id="rId4"/>
    <p:sldId id="572" r:id="rId5"/>
    <p:sldId id="573" r:id="rId6"/>
    <p:sldId id="574" r:id="rId7"/>
    <p:sldId id="575" r:id="rId8"/>
    <p:sldId id="590" r:id="rId9"/>
    <p:sldId id="591" r:id="rId10"/>
    <p:sldId id="579" r:id="rId11"/>
    <p:sldId id="592" r:id="rId12"/>
    <p:sldId id="581" r:id="rId13"/>
    <p:sldId id="582" r:id="rId14"/>
    <p:sldId id="583" r:id="rId15"/>
    <p:sldId id="584" r:id="rId16"/>
    <p:sldId id="586" r:id="rId17"/>
    <p:sldId id="587" r:id="rId18"/>
    <p:sldId id="588" r:id="rId19"/>
    <p:sldId id="589" r:id="rId20"/>
    <p:sldId id="596" r:id="rId21"/>
    <p:sldId id="597" r:id="rId22"/>
    <p:sldId id="598" r:id="rId23"/>
    <p:sldId id="599" r:id="rId24"/>
    <p:sldId id="593" r:id="rId25"/>
    <p:sldId id="594" r:id="rId26"/>
    <p:sldId id="595" r:id="rId27"/>
    <p:sldId id="600" r:id="rId28"/>
    <p:sldId id="261" r:id="rId29"/>
    <p:sldId id="262" r:id="rId30"/>
    <p:sldId id="263" r:id="rId31"/>
    <p:sldId id="264" r:id="rId32"/>
    <p:sldId id="268" r:id="rId33"/>
    <p:sldId id="283" r:id="rId34"/>
    <p:sldId id="265" r:id="rId35"/>
    <p:sldId id="267" r:id="rId36"/>
    <p:sldId id="269" r:id="rId37"/>
    <p:sldId id="282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80" r:id="rId47"/>
    <p:sldId id="1005" r:id="rId48"/>
    <p:sldId id="1006" r:id="rId49"/>
    <p:sldId id="1007" r:id="rId50"/>
    <p:sldId id="1008" r:id="rId51"/>
    <p:sldId id="1009" r:id="rId52"/>
    <p:sldId id="1010" r:id="rId53"/>
    <p:sldId id="1014" r:id="rId54"/>
    <p:sldId id="613" r:id="rId55"/>
    <p:sldId id="610" r:id="rId56"/>
    <p:sldId id="1013" r:id="rId57"/>
    <p:sldId id="614" r:id="rId58"/>
    <p:sldId id="602" r:id="rId59"/>
    <p:sldId id="609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43" autoAdjust="0"/>
    <p:restoredTop sz="83954" autoAdjust="0"/>
  </p:normalViewPr>
  <p:slideViewPr>
    <p:cSldViewPr snapToGrid="0">
      <p:cViewPr varScale="1">
        <p:scale>
          <a:sx n="93" d="100"/>
          <a:sy n="93" d="100"/>
        </p:scale>
        <p:origin x="13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95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앵귤러</a:t>
            </a:r>
            <a:endParaRPr lang="en-US" altLang="ko-KR" dirty="0"/>
          </a:p>
          <a:p>
            <a:r>
              <a:rPr lang="ko-KR" altLang="en-US" dirty="0"/>
              <a:t>양방향 데이터 바인딩 개념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데이터 값이 한쪽에서 변화하면 다른 쪽에서도 바로 업데이트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모델과 뷰 간의 데이터를 자동으로 동기화 하는 기능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모델의 데이터가 변경되면 뷰가 자동으로 업데이트되고</a:t>
            </a:r>
            <a:r>
              <a:rPr lang="en-US" altLang="ko-KR" dirty="0"/>
              <a:t>, </a:t>
            </a:r>
            <a:r>
              <a:rPr lang="ko-KR" altLang="en-US" dirty="0"/>
              <a:t>반대로 뷰에서 입력된 데이터가 변경되면 모델의 데이터도 자동으로 업데이트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AngularJS</a:t>
            </a:r>
            <a:r>
              <a:rPr lang="ko-KR" altLang="en-US" dirty="0"/>
              <a:t>는 공식적으로 </a:t>
            </a:r>
            <a:r>
              <a:rPr lang="en-US" altLang="ko-KR" dirty="0"/>
              <a:t>21</a:t>
            </a:r>
            <a:r>
              <a:rPr lang="ko-KR" altLang="en-US" dirty="0"/>
              <a:t>년 </a:t>
            </a:r>
            <a:r>
              <a:rPr lang="en-US" altLang="ko-KR" dirty="0"/>
              <a:t>12.31</a:t>
            </a:r>
            <a:r>
              <a:rPr lang="ko-KR" altLang="en-US" dirty="0"/>
              <a:t>에 지원 종료</a:t>
            </a:r>
            <a:r>
              <a:rPr lang="en-US" altLang="ko-KR" dirty="0"/>
              <a:t>. Angular </a:t>
            </a:r>
            <a:r>
              <a:rPr lang="ko-KR" altLang="en-US" dirty="0"/>
              <a:t>최신 버전 탄생 </a:t>
            </a:r>
            <a:r>
              <a:rPr lang="en-US" altLang="ko-KR" dirty="0"/>
              <a:t>(TypeScript) </a:t>
            </a:r>
            <a:r>
              <a:rPr lang="ko-KR" altLang="en-US" dirty="0"/>
              <a:t>기반 작성 마이그레이션 권장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마이그레이션 </a:t>
            </a:r>
            <a:r>
              <a:rPr lang="en-US" altLang="ko-KR" dirty="0"/>
              <a:t>– </a:t>
            </a:r>
            <a:r>
              <a:rPr lang="ko-KR" altLang="en-US" dirty="0"/>
              <a:t>기존 애플리케이션을 최신 프레임워크로 이동시키는 과정으로</a:t>
            </a:r>
            <a:r>
              <a:rPr lang="en-US" altLang="ko-KR" dirty="0"/>
              <a:t>, </a:t>
            </a:r>
            <a:r>
              <a:rPr lang="ko-KR" altLang="en-US" dirty="0"/>
              <a:t>신중하게 계획하여 단계적으로 수행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72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중국에서의 점유율이 높다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중국에서 많이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참고할 자료들도 중국어가 대부분이라 사용하기 어렵다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9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React(</a:t>
            </a:r>
            <a:r>
              <a:rPr lang="ko-KR" altLang="en-US" dirty="0"/>
              <a:t>주황색</a:t>
            </a:r>
            <a:r>
              <a:rPr lang="en-US" altLang="ko-KR" dirty="0"/>
              <a:t>) </a:t>
            </a:r>
            <a:r>
              <a:rPr lang="ko-KR" altLang="en-US" dirty="0"/>
              <a:t>비율이 앞도적으로 높음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372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68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화면 </a:t>
            </a:r>
            <a:r>
              <a:rPr lang="en-US" altLang="ko-KR" dirty="0"/>
              <a:t>– user interface</a:t>
            </a:r>
          </a:p>
          <a:p>
            <a:endParaRPr lang="en-US" altLang="ko-KR" dirty="0"/>
          </a:p>
          <a:p>
            <a:r>
              <a:rPr lang="ko-KR" altLang="en-US" dirty="0"/>
              <a:t>왜 쓰냐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Single page application </a:t>
            </a:r>
            <a:r>
              <a:rPr lang="ko-KR" altLang="en-US" dirty="0"/>
              <a:t>만들 때 사용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재사용성이</a:t>
            </a:r>
            <a:r>
              <a:rPr lang="ko-KR" altLang="en-US" dirty="0"/>
              <a:t> 용이</a:t>
            </a:r>
            <a:endParaRPr lang="en-US" altLang="ko-KR" dirty="0"/>
          </a:p>
          <a:p>
            <a:r>
              <a:rPr lang="ko-KR" altLang="en-US" dirty="0"/>
              <a:t>같은 앱 개발도 같음 </a:t>
            </a:r>
            <a:r>
              <a:rPr lang="en-US" altLang="ko-KR" dirty="0"/>
              <a:t>.</a:t>
            </a:r>
            <a:r>
              <a:rPr lang="en-US" altLang="ko-KR" dirty="0" err="1"/>
              <a:t>react.native</a:t>
            </a:r>
            <a:r>
              <a:rPr lang="en-US" altLang="ko-KR" baseline="0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5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57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부모 </a:t>
            </a:r>
            <a:r>
              <a:rPr lang="en-US" altLang="ko-KR" dirty="0"/>
              <a:t>-&gt; </a:t>
            </a:r>
            <a:r>
              <a:rPr lang="ko-KR" altLang="en-US" dirty="0"/>
              <a:t>자식</a:t>
            </a:r>
            <a:r>
              <a:rPr lang="en-US" altLang="ko-KR" dirty="0"/>
              <a:t> – </a:t>
            </a:r>
            <a:r>
              <a:rPr lang="ko-KR" altLang="en-US" dirty="0"/>
              <a:t>한 방향으로만 흐르는 방식</a:t>
            </a:r>
            <a:endParaRPr lang="en-US" altLang="ko-KR" dirty="0"/>
          </a:p>
          <a:p>
            <a:r>
              <a:rPr lang="ko-KR" altLang="en-US" dirty="0"/>
              <a:t>데이터가 부모에서 자식으로 흐른다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애플리케이션의 상태와 데이터 흐름으로 인해 상태 변화가 어떻게 발생하는지 더욱 예측 가능하고 관리하기 쉽게 만든다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1. </a:t>
            </a:r>
            <a:r>
              <a:rPr lang="ko-KR" altLang="en-US" dirty="0"/>
              <a:t>부모에서 자식으로 </a:t>
            </a:r>
            <a:r>
              <a:rPr lang="en-US" altLang="ko-KR" dirty="0"/>
              <a:t>(Top –down)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자식 컴포넌트는 </a:t>
            </a:r>
            <a:r>
              <a:rPr lang="en-US" altLang="ko-KR" dirty="0"/>
              <a:t>props</a:t>
            </a:r>
            <a:r>
              <a:rPr lang="ko-KR" altLang="en-US" dirty="0"/>
              <a:t>를 통해 데이터를 받는다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2. </a:t>
            </a:r>
            <a:r>
              <a:rPr lang="ko-KR" altLang="en-US" dirty="0"/>
              <a:t>불변성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Props </a:t>
            </a:r>
            <a:r>
              <a:rPr lang="ko-KR" altLang="en-US" dirty="0"/>
              <a:t>는 읽기전용</a:t>
            </a:r>
            <a:r>
              <a:rPr lang="en-US" altLang="ko-KR" dirty="0"/>
              <a:t>. </a:t>
            </a:r>
            <a:r>
              <a:rPr lang="ko-KR" altLang="en-US" dirty="0"/>
              <a:t>변경 </a:t>
            </a:r>
            <a:r>
              <a:rPr lang="en-US" altLang="ko-KR" dirty="0"/>
              <a:t>x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865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블록</a:t>
            </a:r>
            <a:r>
              <a:rPr lang="en-US" altLang="ko-KR" dirty="0"/>
              <a:t>, </a:t>
            </a:r>
            <a:r>
              <a:rPr lang="ko-KR" altLang="en-US" dirty="0"/>
              <a:t>레고에 비유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애플리케이션을 독립적인 재사용 가능한 컴포넌트 단위로 나누어 개발하는 방식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</a:t>
            </a:r>
            <a:r>
              <a:rPr lang="ko-KR" altLang="en-US" dirty="0"/>
              <a:t>의 가장 큰 특징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대규모 애플리케이션을 체계적으로 관리하고 유지보수하기 쉽게 </a:t>
            </a:r>
            <a:r>
              <a:rPr lang="ko-KR" altLang="en-US" dirty="0" err="1"/>
              <a:t>만듬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286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동일한 컴포넌트를 여러 곳에서 재사용할 수 있어 코드 중복을 줄이고 일관성을 유지할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82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컴포넌트는 부모</a:t>
            </a:r>
            <a:r>
              <a:rPr lang="en-US" altLang="ko-KR" dirty="0"/>
              <a:t>-</a:t>
            </a:r>
            <a:r>
              <a:rPr lang="ko-KR" altLang="en-US" dirty="0"/>
              <a:t>자식 관계를 통해 계층 구조를 형성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상위 컴포넌트는 하위 컴포넌트를 포함하고</a:t>
            </a:r>
            <a:r>
              <a:rPr lang="en-US" altLang="ko-KR" dirty="0"/>
              <a:t>, </a:t>
            </a:r>
            <a:r>
              <a:rPr lang="ko-KR" altLang="en-US" dirty="0"/>
              <a:t>데이터와 상태를 전달합니다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 개의 작은 컴포넌트를 하나의 최상위 컴포넌트 안에 결합하여 전체 애플리케이션의 구조를 구성하는 것을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Root Component</a:t>
            </a:r>
            <a:r>
              <a:rPr lang="ko-KR" altLang="en-US" dirty="0"/>
              <a:t>는 애플리케이션의 진입점이 되며</a:t>
            </a:r>
            <a:r>
              <a:rPr lang="en-US" altLang="ko-KR" dirty="0"/>
              <a:t>, </a:t>
            </a:r>
            <a:r>
              <a:rPr lang="ko-KR" altLang="en-US" dirty="0"/>
              <a:t>이 컴포넌트 안에서 하위 컴포넌트들이 중첩되고 조합되어 최종 </a:t>
            </a:r>
            <a:r>
              <a:rPr lang="en-US" altLang="ko-KR" dirty="0"/>
              <a:t>UI</a:t>
            </a:r>
            <a:r>
              <a:rPr lang="ko-KR" altLang="en-US" dirty="0"/>
              <a:t>를 형성한다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554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성능 최적화</a:t>
            </a:r>
            <a:r>
              <a:rPr lang="en-US" altLang="ko-KR" dirty="0"/>
              <a:t>, UI </a:t>
            </a:r>
            <a:r>
              <a:rPr lang="ko-KR" altLang="en-US" dirty="0"/>
              <a:t>업데이트의 효율성을 높이는 데 중요한 역할을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Virtual DOM</a:t>
            </a:r>
            <a:r>
              <a:rPr lang="ko-KR" altLang="en-US" dirty="0"/>
              <a:t>은 실제 </a:t>
            </a:r>
            <a:r>
              <a:rPr lang="en-US" altLang="ko-KR" dirty="0"/>
              <a:t>DOM</a:t>
            </a:r>
            <a:r>
              <a:rPr lang="ko-KR" altLang="en-US" dirty="0"/>
              <a:t>과 동일한 구조를 가지지만 메모리에 존재하며</a:t>
            </a:r>
            <a:r>
              <a:rPr lang="en-US" altLang="ko-KR" dirty="0"/>
              <a:t>, React </a:t>
            </a:r>
            <a:r>
              <a:rPr lang="ko-KR" altLang="en-US" dirty="0"/>
              <a:t>엔진이 관리하는 가상의 표현임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44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initial Render</a:t>
            </a:r>
            <a:r>
              <a:rPr lang="en-US" altLang="ko-KR" dirty="0"/>
              <a:t>: </a:t>
            </a:r>
            <a:r>
              <a:rPr lang="ko-KR" altLang="en-US" dirty="0"/>
              <a:t>초기 렌더링 시</a:t>
            </a:r>
            <a:r>
              <a:rPr lang="en-US" altLang="ko-KR" dirty="0"/>
              <a:t>, React</a:t>
            </a:r>
            <a:r>
              <a:rPr lang="ko-KR" altLang="en-US" dirty="0"/>
              <a:t>는 컴포넌트를 </a:t>
            </a:r>
            <a:r>
              <a:rPr lang="en-US" altLang="ko-KR" dirty="0"/>
              <a:t>Virtual DOM</a:t>
            </a:r>
            <a:r>
              <a:rPr lang="ko-KR" altLang="en-US" dirty="0"/>
              <a:t>에 렌더링합니다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/>
              <a:t>Diffing Algorithm</a:t>
            </a:r>
            <a:r>
              <a:rPr lang="en-US" altLang="ko-KR" dirty="0"/>
              <a:t>: </a:t>
            </a:r>
            <a:r>
              <a:rPr lang="ko-KR" altLang="en-US" dirty="0"/>
              <a:t>상태나 속성이 변경되면</a:t>
            </a:r>
            <a:r>
              <a:rPr lang="en-US" altLang="ko-KR" dirty="0"/>
              <a:t>, React</a:t>
            </a:r>
            <a:r>
              <a:rPr lang="ko-KR" altLang="en-US" dirty="0"/>
              <a:t>는 새로운 </a:t>
            </a:r>
            <a:r>
              <a:rPr lang="en-US" altLang="ko-KR" dirty="0"/>
              <a:t>Virtual DOM </a:t>
            </a:r>
            <a:r>
              <a:rPr lang="ko-KR" altLang="en-US" dirty="0"/>
              <a:t>트리를 생성하고</a:t>
            </a:r>
            <a:r>
              <a:rPr lang="en-US" altLang="ko-KR" dirty="0"/>
              <a:t>, </a:t>
            </a:r>
            <a:r>
              <a:rPr lang="ko-KR" altLang="en-US" dirty="0"/>
              <a:t>기존의 </a:t>
            </a:r>
            <a:r>
              <a:rPr lang="en-US" altLang="ko-KR" dirty="0"/>
              <a:t>Virtual DOM </a:t>
            </a:r>
            <a:r>
              <a:rPr lang="ko-KR" altLang="en-US" dirty="0"/>
              <a:t>트리와 비교</a:t>
            </a:r>
            <a:r>
              <a:rPr lang="en-US" altLang="ko-KR" dirty="0"/>
              <a:t>(diffing)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과정을 통해 실제 </a:t>
            </a:r>
            <a:r>
              <a:rPr lang="en-US" altLang="ko-KR" dirty="0"/>
              <a:t>DOM</a:t>
            </a:r>
            <a:r>
              <a:rPr lang="ko-KR" altLang="en-US" dirty="0"/>
              <a:t>과 새로운 </a:t>
            </a:r>
            <a:r>
              <a:rPr lang="en-US" altLang="ko-KR" dirty="0"/>
              <a:t>Virtual DOM </a:t>
            </a:r>
            <a:r>
              <a:rPr lang="ko-KR" altLang="en-US" dirty="0"/>
              <a:t>간의 차이점</a:t>
            </a:r>
            <a:r>
              <a:rPr lang="en-US" altLang="ko-KR" dirty="0"/>
              <a:t>(</a:t>
            </a:r>
            <a:r>
              <a:rPr lang="ko-KR" altLang="en-US" dirty="0"/>
              <a:t>변경된 부분</a:t>
            </a:r>
            <a:r>
              <a:rPr lang="en-US" altLang="ko-KR" dirty="0"/>
              <a:t>)</a:t>
            </a:r>
            <a:r>
              <a:rPr lang="ko-KR" altLang="en-US" dirty="0"/>
              <a:t>을 찾습니다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/>
              <a:t>Reconciliation</a:t>
            </a:r>
            <a:r>
              <a:rPr lang="en-US" altLang="ko-KR" dirty="0"/>
              <a:t>: </a:t>
            </a:r>
            <a:r>
              <a:rPr lang="ko-KR" altLang="en-US" dirty="0"/>
              <a:t>차이점이 발견되면 </a:t>
            </a:r>
            <a:r>
              <a:rPr lang="en-US" altLang="ko-KR" dirty="0"/>
              <a:t>React</a:t>
            </a:r>
            <a:r>
              <a:rPr lang="ko-KR" altLang="en-US" dirty="0"/>
              <a:t>는 변경된 부분만 실제 </a:t>
            </a:r>
            <a:r>
              <a:rPr lang="en-US" altLang="ko-KR" dirty="0"/>
              <a:t>DOM</a:t>
            </a:r>
            <a:r>
              <a:rPr lang="ko-KR" altLang="en-US" dirty="0"/>
              <a:t>에 업데이트합니다</a:t>
            </a:r>
            <a:r>
              <a:rPr lang="en-US" altLang="ko-KR" dirty="0"/>
              <a:t>. </a:t>
            </a:r>
            <a:r>
              <a:rPr lang="ko-KR" altLang="en-US" dirty="0"/>
              <a:t>이를 통해 전체 </a:t>
            </a:r>
            <a:r>
              <a:rPr lang="en-US" altLang="ko-KR" dirty="0"/>
              <a:t>DOM </a:t>
            </a:r>
            <a:r>
              <a:rPr lang="ko-KR" altLang="en-US" dirty="0"/>
              <a:t>트리를 다시 렌더링하지 않고도 </a:t>
            </a:r>
            <a:r>
              <a:rPr lang="en-US" altLang="ko-KR" dirty="0"/>
              <a:t>UI</a:t>
            </a:r>
            <a:r>
              <a:rPr lang="ko-KR" altLang="en-US" dirty="0"/>
              <a:t>를 효율적으로 업데이트할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**</a:t>
            </a:r>
            <a:r>
              <a:rPr lang="ko-KR" altLang="en-US" dirty="0"/>
              <a:t> 동작 원리</a:t>
            </a:r>
            <a:endParaRPr lang="en-US" altLang="ko-KR" dirty="0"/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ko-KR" altLang="en-US" dirty="0"/>
              <a:t>가상 </a:t>
            </a:r>
            <a:r>
              <a:rPr lang="en-US" altLang="ko-KR" dirty="0"/>
              <a:t>DOM </a:t>
            </a:r>
            <a:r>
              <a:rPr lang="ko-KR" altLang="en-US" dirty="0"/>
              <a:t>구축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React </a:t>
            </a:r>
            <a:r>
              <a:rPr lang="ko-KR" altLang="en-US" dirty="0"/>
              <a:t>애플리케이션이 렌더링 될 때</a:t>
            </a:r>
            <a:r>
              <a:rPr lang="en-US" altLang="ko-KR" dirty="0"/>
              <a:t>, </a:t>
            </a:r>
            <a:r>
              <a:rPr lang="ko-KR" altLang="en-US" dirty="0"/>
              <a:t>각 컴포넌트는 </a:t>
            </a:r>
            <a:r>
              <a:rPr lang="en-US" altLang="ko-KR" dirty="0"/>
              <a:t>Virtual DOM</a:t>
            </a:r>
            <a:r>
              <a:rPr lang="ko-KR" altLang="en-US" dirty="0"/>
              <a:t>에 대응하는 가상 </a:t>
            </a:r>
            <a:r>
              <a:rPr lang="en-US" altLang="ko-KR" dirty="0"/>
              <a:t>DOM </a:t>
            </a:r>
            <a:r>
              <a:rPr lang="ko-KR" altLang="en-US" dirty="0"/>
              <a:t>트리를 생성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 가상 </a:t>
            </a:r>
            <a:r>
              <a:rPr lang="en-US" altLang="ko-KR" dirty="0"/>
              <a:t>DOM </a:t>
            </a:r>
            <a:r>
              <a:rPr lang="ko-KR" altLang="en-US" dirty="0"/>
              <a:t>트리는 </a:t>
            </a:r>
            <a:r>
              <a:rPr lang="en-US" altLang="ko-KR" dirty="0"/>
              <a:t>React </a:t>
            </a:r>
            <a:r>
              <a:rPr lang="ko-KR" altLang="en-US" dirty="0"/>
              <a:t>요소와 컴포넌트의 상태 및 속성에 대한 정보를 담고 있음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2. </a:t>
            </a:r>
            <a:r>
              <a:rPr lang="ko-KR" altLang="en-US" dirty="0"/>
              <a:t>실제 </a:t>
            </a:r>
            <a:r>
              <a:rPr lang="en-US" altLang="ko-KR" dirty="0"/>
              <a:t>DOM </a:t>
            </a:r>
            <a:r>
              <a:rPr lang="ko-KR" altLang="en-US" dirty="0"/>
              <a:t>과 비교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상태가 변경되면 </a:t>
            </a:r>
            <a:r>
              <a:rPr lang="en-US" altLang="ko-KR" dirty="0"/>
              <a:t>React</a:t>
            </a:r>
            <a:r>
              <a:rPr lang="ko-KR" altLang="en-US" dirty="0"/>
              <a:t>는 기존의 가상 </a:t>
            </a:r>
            <a:r>
              <a:rPr lang="en-US" altLang="ko-KR" dirty="0"/>
              <a:t>DOM </a:t>
            </a:r>
            <a:r>
              <a:rPr lang="ko-KR" altLang="en-US" dirty="0"/>
              <a:t>트리와 새로운 가상 </a:t>
            </a:r>
            <a:r>
              <a:rPr lang="en-US" altLang="ko-KR" dirty="0"/>
              <a:t>DOM </a:t>
            </a:r>
            <a:r>
              <a:rPr lang="ko-KR" altLang="en-US" dirty="0"/>
              <a:t>트리를 비교함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 과정에서 변경된 부분만을 실제 </a:t>
            </a:r>
            <a:r>
              <a:rPr lang="en-US" altLang="ko-KR" dirty="0"/>
              <a:t>DOM </a:t>
            </a:r>
            <a:r>
              <a:rPr lang="ko-KR" altLang="en-US" dirty="0"/>
              <a:t>에 반영하고</a:t>
            </a:r>
            <a:r>
              <a:rPr lang="en-US" altLang="ko-KR" dirty="0"/>
              <a:t>, </a:t>
            </a:r>
            <a:r>
              <a:rPr lang="ko-KR" altLang="en-US" dirty="0"/>
              <a:t>필요한 경우에만 실제 </a:t>
            </a:r>
            <a:r>
              <a:rPr lang="en-US" altLang="ko-KR" dirty="0"/>
              <a:t>DOM</a:t>
            </a:r>
            <a:r>
              <a:rPr lang="ko-KR" altLang="en-US" dirty="0"/>
              <a:t>을 업데이트 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이는 전체적인 렌더링의 성능을 향상시키고</a:t>
            </a:r>
            <a:r>
              <a:rPr lang="en-US" altLang="ko-KR" dirty="0"/>
              <a:t>, </a:t>
            </a:r>
            <a:r>
              <a:rPr lang="ko-KR" altLang="en-US" dirty="0"/>
              <a:t>불필요한 </a:t>
            </a:r>
            <a:r>
              <a:rPr lang="en-US" altLang="ko-KR" dirty="0"/>
              <a:t>DOM </a:t>
            </a:r>
            <a:r>
              <a:rPr lang="ko-KR" altLang="en-US" dirty="0"/>
              <a:t>조작을 </a:t>
            </a:r>
            <a:r>
              <a:rPr lang="ko-KR" altLang="en-US" dirty="0" err="1"/>
              <a:t>줄여줌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3. </a:t>
            </a:r>
            <a:r>
              <a:rPr lang="ko-KR" altLang="en-US" dirty="0"/>
              <a:t>성능 최적화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Virtual DOM</a:t>
            </a:r>
            <a:r>
              <a:rPr lang="ko-KR" altLang="en-US" dirty="0"/>
              <a:t>은 실제 </a:t>
            </a:r>
            <a:r>
              <a:rPr lang="en-US" altLang="ko-KR" dirty="0"/>
              <a:t>DOM </a:t>
            </a:r>
            <a:r>
              <a:rPr lang="ko-KR" altLang="en-US" dirty="0"/>
              <a:t>조작보다 빠르게 작동할 수 있음</a:t>
            </a:r>
            <a:r>
              <a:rPr lang="en-US" altLang="ko-KR" dirty="0"/>
              <a:t>. </a:t>
            </a:r>
            <a:r>
              <a:rPr lang="ko-KR" altLang="en-US" dirty="0"/>
              <a:t>이는 가상 </a:t>
            </a:r>
            <a:r>
              <a:rPr lang="en-US" altLang="ko-KR" dirty="0"/>
              <a:t>DOM</a:t>
            </a:r>
            <a:r>
              <a:rPr lang="ko-KR" altLang="en-US" dirty="0"/>
              <a:t>의 변경 내용을 실제 </a:t>
            </a:r>
            <a:r>
              <a:rPr lang="en-US" altLang="ko-KR" dirty="0"/>
              <a:t>DOM</a:t>
            </a:r>
            <a:r>
              <a:rPr lang="ko-KR" altLang="en-US" dirty="0"/>
              <a:t>에 일괄적으로 적용하거나</a:t>
            </a:r>
            <a:r>
              <a:rPr lang="en-US" altLang="ko-KR" dirty="0"/>
              <a:t>, </a:t>
            </a:r>
            <a:r>
              <a:rPr lang="ko-KR" altLang="en-US" dirty="0"/>
              <a:t>최적화된 방식으로 변경 사항을 처리함으로써 가능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또한 </a:t>
            </a:r>
            <a:r>
              <a:rPr lang="en-US" altLang="ko-KR" dirty="0"/>
              <a:t>React</a:t>
            </a:r>
            <a:r>
              <a:rPr lang="ko-KR" altLang="en-US" dirty="0"/>
              <a:t>는 가상 </a:t>
            </a:r>
            <a:r>
              <a:rPr lang="en-US" altLang="ko-KR" dirty="0"/>
              <a:t>DOM</a:t>
            </a:r>
            <a:r>
              <a:rPr lang="ko-KR" altLang="en-US" dirty="0"/>
              <a:t>을 통해 효율적인 배치와 렌더링 최적화를 수행할 수 있다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4. </a:t>
            </a:r>
            <a:r>
              <a:rPr lang="ko-KR" altLang="en-US" dirty="0"/>
              <a:t>자동화된 업데이트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개발자는 직접적으로 실제 </a:t>
            </a:r>
            <a:r>
              <a:rPr lang="en-US" altLang="ko-KR" dirty="0"/>
              <a:t>DOM</a:t>
            </a:r>
            <a:r>
              <a:rPr lang="ko-KR" altLang="en-US" dirty="0"/>
              <a:t>을 조작하는 대신</a:t>
            </a:r>
            <a:r>
              <a:rPr lang="en-US" altLang="ko-KR" dirty="0"/>
              <a:t>, React </a:t>
            </a:r>
            <a:r>
              <a:rPr lang="ko-KR" altLang="en-US" dirty="0"/>
              <a:t>컴포넌트의 상태를 업데이트하면 </a:t>
            </a:r>
            <a:r>
              <a:rPr lang="en-US" altLang="ko-KR" dirty="0"/>
              <a:t>React</a:t>
            </a:r>
            <a:r>
              <a:rPr lang="ko-KR" altLang="en-US" dirty="0"/>
              <a:t>가 알아서 가상 </a:t>
            </a:r>
            <a:r>
              <a:rPr lang="en-US" altLang="ko-KR" dirty="0"/>
              <a:t>DOM</a:t>
            </a:r>
            <a:r>
              <a:rPr lang="ko-KR" altLang="en-US" dirty="0"/>
              <a:t>을 업데이트하고 이를  실제 </a:t>
            </a:r>
            <a:r>
              <a:rPr lang="en-US" altLang="ko-KR" dirty="0"/>
              <a:t>DOM</a:t>
            </a:r>
            <a:r>
              <a:rPr lang="ko-KR" altLang="en-US" dirty="0"/>
              <a:t>에 반영함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이로 인해 코드의 복잡성을 줄이고</a:t>
            </a:r>
            <a:r>
              <a:rPr lang="en-US" altLang="ko-KR" dirty="0"/>
              <a:t>, </a:t>
            </a:r>
            <a:r>
              <a:rPr lang="ko-KR" altLang="en-US" dirty="0"/>
              <a:t>버그 발생 가능성을 낮출 수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47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이전에는 주로 클래스형 컴포넌트에서만 사용할 수 있었지만</a:t>
            </a:r>
            <a:r>
              <a:rPr lang="en-US" altLang="ko-KR" dirty="0"/>
              <a:t>, React 16.8</a:t>
            </a:r>
            <a:r>
              <a:rPr lang="ko-KR" altLang="en-US" dirty="0"/>
              <a:t>에서 도입된 </a:t>
            </a:r>
            <a:r>
              <a:rPr lang="en-US" altLang="ko-KR" dirty="0"/>
              <a:t>Hooks(</a:t>
            </a:r>
            <a:r>
              <a:rPr lang="ko-KR" altLang="en-US" dirty="0"/>
              <a:t>훅</a:t>
            </a:r>
            <a:r>
              <a:rPr lang="en-US" altLang="ko-KR" dirty="0"/>
              <a:t>)</a:t>
            </a:r>
            <a:r>
              <a:rPr lang="ko-KR" altLang="en-US" dirty="0"/>
              <a:t>를 통해 함수형 컴포넌트에서도 </a:t>
            </a:r>
            <a:r>
              <a:rPr lang="en-US" altLang="ko-KR" dirty="0"/>
              <a:t>‘state’</a:t>
            </a:r>
            <a:r>
              <a:rPr lang="ko-KR" altLang="en-US" dirty="0"/>
              <a:t>를 사용할 수 있게 되었다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263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사용하는 특수한 문법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XML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마크업 언어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코드 내에서 </a:t>
            </a:r>
            <a:r>
              <a:rPr lang="en-US" altLang="ko-KR" dirty="0"/>
              <a:t>HTML</a:t>
            </a:r>
            <a:r>
              <a:rPr lang="ko-KR" altLang="en-US" dirty="0"/>
              <a:t>과 유사한 구조를 작성할 수 있게 해준다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자세한건</a:t>
            </a:r>
            <a:r>
              <a:rPr lang="ko-KR" altLang="en-US" dirty="0"/>
              <a:t> 나중에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79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리액트는</a:t>
            </a:r>
            <a:r>
              <a:rPr lang="ko-KR" altLang="en-US" dirty="0"/>
              <a:t> 라이브러리 이니까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613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자바스크립트 컴파일러로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JS </a:t>
            </a:r>
            <a:r>
              <a:rPr lang="ko-KR" altLang="en-US" dirty="0"/>
              <a:t>코드를 구형 브라우저에서도 동작할 수 있도록 트랜스파일링 하는 도구이다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주로 최신 문법과 기능을 지원하지 않는 환경에서도 코드를 실행할 수 있게 해준다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화살표 함수</a:t>
            </a:r>
            <a:r>
              <a:rPr lang="en-US" altLang="ko-KR" dirty="0"/>
              <a:t>, </a:t>
            </a:r>
            <a:r>
              <a:rPr lang="en-US" altLang="ko-KR" dirty="0" err="1"/>
              <a:t>async</a:t>
            </a:r>
            <a:r>
              <a:rPr lang="en-US" altLang="ko-KR" dirty="0"/>
              <a:t>/await</a:t>
            </a:r>
            <a:r>
              <a:rPr lang="en-US" altLang="ko-KR" baseline="0" dirty="0"/>
              <a:t> </a:t>
            </a:r>
            <a:r>
              <a:rPr lang="ko-KR" altLang="en-US" baseline="0" dirty="0"/>
              <a:t>등</a:t>
            </a:r>
            <a:r>
              <a:rPr lang="en-US" altLang="ko-KR" baseline="0" dirty="0"/>
              <a:t>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플러그인 시스템</a:t>
            </a:r>
            <a:endParaRPr lang="en-US" altLang="ko-KR" dirty="0"/>
          </a:p>
          <a:p>
            <a:r>
              <a:rPr lang="en-US" altLang="ko-KR" dirty="0"/>
              <a:t>Babel</a:t>
            </a:r>
            <a:r>
              <a:rPr lang="ko-KR" altLang="en-US" dirty="0"/>
              <a:t>은 다양한 플러그인을 통해 특정한 </a:t>
            </a:r>
            <a:r>
              <a:rPr lang="en-US" altLang="ko-KR" dirty="0"/>
              <a:t>JS </a:t>
            </a:r>
            <a:r>
              <a:rPr lang="ko-KR" altLang="en-US" dirty="0"/>
              <a:t>기능을 변환한다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@babel/preset-env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브라우저 호환성을 위해 필요한 모든 플러그인을 말함</a:t>
            </a:r>
            <a:endParaRPr lang="en-US" altLang="ko-KR" dirty="0"/>
          </a:p>
          <a:p>
            <a:r>
              <a:rPr lang="en-US" altLang="ko-KR" dirty="0"/>
              <a:t>@babel/plugin-transform-react-jsx</a:t>
            </a:r>
            <a:br>
              <a:rPr lang="en-US" altLang="ko-KR" dirty="0"/>
            </a:br>
            <a:r>
              <a:rPr lang="en-US" altLang="ko-KR" dirty="0"/>
              <a:t>-  JSX</a:t>
            </a:r>
            <a:r>
              <a:rPr lang="ko-KR" altLang="en-US" dirty="0"/>
              <a:t>를 변환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Bable</a:t>
            </a:r>
            <a:r>
              <a:rPr lang="ko-KR" altLang="en-US" dirty="0"/>
              <a:t>을 사용하면 최신 </a:t>
            </a:r>
            <a:r>
              <a:rPr lang="en-US" altLang="ko-KR" dirty="0"/>
              <a:t>JS</a:t>
            </a:r>
            <a:r>
              <a:rPr lang="ko-KR" altLang="en-US" dirty="0"/>
              <a:t>문법을 마음껏 사용할 수 있고</a:t>
            </a:r>
            <a:r>
              <a:rPr lang="en-US" altLang="ko-KR" dirty="0"/>
              <a:t>, </a:t>
            </a:r>
            <a:r>
              <a:rPr lang="ko-KR" altLang="en-US" dirty="0"/>
              <a:t>호환성 문제를 걱정할 필요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07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en-US" altLang="ko-KR" dirty="0" err="1"/>
              <a:t>Webpack</a:t>
            </a:r>
            <a:r>
              <a:rPr lang="ko-KR" altLang="en-US" dirty="0"/>
              <a:t>은 주로 빌드 시스템으로 사용됨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여러가지 자원을 </a:t>
            </a:r>
            <a:r>
              <a:rPr lang="ko-KR" altLang="en-US" dirty="0" err="1"/>
              <a:t>번들링하고</a:t>
            </a:r>
            <a:r>
              <a:rPr lang="ko-KR" altLang="en-US" dirty="0"/>
              <a:t> 최적화하는 도구이다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 err="1"/>
              <a:t>번들링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은 여러 개의 </a:t>
            </a:r>
            <a:r>
              <a:rPr lang="en-US" altLang="ko-KR" baseline="0" dirty="0"/>
              <a:t>JS </a:t>
            </a:r>
            <a:r>
              <a:rPr lang="ko-KR" altLang="en-US" baseline="0" dirty="0"/>
              <a:t>파일 및 다양한 종류의 리소스 </a:t>
            </a:r>
            <a:r>
              <a:rPr lang="en-US" altLang="ko-KR" baseline="0" dirty="0"/>
              <a:t>(</a:t>
            </a:r>
            <a:r>
              <a:rPr lang="ko-KR" altLang="en-US" baseline="0" dirty="0"/>
              <a:t>이미지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css</a:t>
            </a:r>
            <a:r>
              <a:rPr lang="en-US" altLang="ko-KR" baseline="0" dirty="0"/>
              <a:t> </a:t>
            </a:r>
            <a:r>
              <a:rPr lang="ko-KR" altLang="en-US" baseline="0" dirty="0"/>
              <a:t>등</a:t>
            </a:r>
            <a:r>
              <a:rPr lang="en-US" altLang="ko-KR" baseline="0" dirty="0"/>
              <a:t>)</a:t>
            </a:r>
            <a:r>
              <a:rPr lang="ko-KR" altLang="en-US" baseline="0" dirty="0"/>
              <a:t>을 하나로 묶어주는 역할을 한다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 과정을 </a:t>
            </a:r>
            <a:r>
              <a:rPr lang="ko-KR" altLang="en-US" baseline="0" dirty="0" err="1"/>
              <a:t>번들링이라고</a:t>
            </a:r>
            <a:r>
              <a:rPr lang="ko-KR" altLang="en-US" baseline="0" dirty="0"/>
              <a:t> 하며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번들링된</a:t>
            </a:r>
            <a:r>
              <a:rPr lang="ko-KR" altLang="en-US" baseline="0" dirty="0"/>
              <a:t> 결과물은 브라우저에서 로드 된다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모듈 번들러</a:t>
            </a: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en-US" altLang="ko-KR" baseline="0" dirty="0" err="1"/>
              <a:t>Webpack</a:t>
            </a:r>
            <a:r>
              <a:rPr lang="ko-KR" altLang="en-US" baseline="0" dirty="0"/>
              <a:t>은 기본적으로 모듈 </a:t>
            </a:r>
            <a:r>
              <a:rPr lang="ko-KR" altLang="en-US" baseline="0" dirty="0" err="1"/>
              <a:t>번들러이다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이는 각각의 파일을 모듈로 취급하고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이들 간의 의존성을 분석하여 하나의 묶음으로 만드는 작업을 의미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모듈 시스템을 사용하면 코드의 구조화와 유지보수가 용이해진다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개발 서버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은 개발 중에 빠르게 변경 사항을 확인할 수 있도록 개발 서버를 제공</a:t>
            </a:r>
            <a:r>
              <a:rPr lang="en-US" altLang="ko-KR" baseline="0" dirty="0"/>
              <a:t>. (</a:t>
            </a:r>
            <a:r>
              <a:rPr lang="ko-KR" altLang="en-US" baseline="0" dirty="0"/>
              <a:t>도구</a:t>
            </a:r>
            <a:r>
              <a:rPr lang="en-US" altLang="ko-KR" baseline="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 서버는 파일의 변경사항을 실시간으로 감지하여 자동으로 브라우저를 새로고침하고 적용된 결과를 보여준다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</a:t>
            </a:r>
            <a:r>
              <a:rPr lang="ko-KR" altLang="en-US" baseline="0" dirty="0"/>
              <a:t>소스 코드 파일 수정하면 </a:t>
            </a:r>
            <a:r>
              <a:rPr lang="ko-KR" altLang="en-US" baseline="0" dirty="0" err="1"/>
              <a:t>새로고침</a:t>
            </a:r>
            <a:r>
              <a:rPr lang="ko-KR" altLang="en-US" baseline="0" dirty="0"/>
              <a:t> 안해도 자동으로 해줌</a:t>
            </a:r>
            <a:r>
              <a:rPr lang="en-US" altLang="ko-KR" baseline="0" dirty="0"/>
              <a:t>. ‘</a:t>
            </a:r>
            <a:r>
              <a:rPr lang="ko-KR" altLang="en-US" baseline="0" dirty="0"/>
              <a:t>라이브</a:t>
            </a:r>
            <a:r>
              <a:rPr lang="en-US" altLang="ko-KR" baseline="0" dirty="0"/>
              <a:t> </a:t>
            </a:r>
            <a:r>
              <a:rPr lang="ko-KR" altLang="en-US" baseline="0" dirty="0" err="1"/>
              <a:t>리로딩</a:t>
            </a:r>
            <a:r>
              <a:rPr lang="en-US" altLang="ko-KR" baseline="0" dirty="0"/>
              <a:t>’ </a:t>
            </a:r>
            <a:r>
              <a:rPr lang="ko-KR" altLang="en-US" baseline="0" dirty="0"/>
              <a:t>이라고도 합니다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 err="1"/>
              <a:t>프론트엔드</a:t>
            </a:r>
            <a:r>
              <a:rPr lang="ko-KR" altLang="en-US" baseline="0" dirty="0"/>
              <a:t> 개발에서의 </a:t>
            </a:r>
            <a:r>
              <a:rPr lang="en-US" altLang="ko-KR" baseline="0" dirty="0" err="1"/>
              <a:t>nodemon</a:t>
            </a:r>
            <a:r>
              <a:rPr lang="en-US" altLang="ko-KR" baseline="0" dirty="0"/>
              <a:t> </a:t>
            </a:r>
            <a:r>
              <a:rPr lang="ko-KR" altLang="en-US" baseline="0" dirty="0"/>
              <a:t>같은 것이라고 이해 하면 됨</a:t>
            </a:r>
            <a:r>
              <a:rPr lang="en-US" altLang="ko-KR" baseline="0" dirty="0"/>
              <a:t>!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을 사용하면 코드의 구조를 </a:t>
            </a:r>
            <a:r>
              <a:rPr lang="ko-KR" altLang="en-US" baseline="0" dirty="0" err="1"/>
              <a:t>모듈화하고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효율적으로 관리하며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성능을 최적화 할 수 있는 여러 가지 장점을 제공 받을 수 있다</a:t>
            </a:r>
            <a:r>
              <a:rPr lang="en-US" altLang="ko-KR" baseline="0" dirty="0"/>
              <a:t>.</a:t>
            </a:r>
            <a:br>
              <a:rPr lang="en-US" altLang="ko-KR" baseline="0" dirty="0"/>
            </a:b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모듈이란</a:t>
            </a:r>
            <a:r>
              <a:rPr lang="en-US" altLang="ko-KR" baseline="0" dirty="0"/>
              <a:t>?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 err="1"/>
              <a:t>재사용성과</a:t>
            </a:r>
            <a:r>
              <a:rPr lang="ko-KR" altLang="en-US" baseline="0" dirty="0"/>
              <a:t> 유지보수성을 높이기 위해 독립적인 단위로 분리된 코드 조각을 의미함</a:t>
            </a:r>
            <a:r>
              <a:rPr lang="en-US" altLang="ko-KR" baseline="0" dirty="0"/>
              <a:t>.!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 err="1"/>
              <a:t>캡슐화하여</a:t>
            </a:r>
            <a:r>
              <a:rPr lang="ko-KR" altLang="en-US" baseline="0" dirty="0"/>
              <a:t> 다른 부분과 독립적으로 개발되고 사용될 수 있음</a:t>
            </a:r>
            <a:r>
              <a:rPr lang="en-US" altLang="ko-KR" baseline="0" dirty="0"/>
              <a:t>.</a:t>
            </a:r>
            <a:br>
              <a:rPr lang="en-US" altLang="ko-KR" baseline="0" dirty="0"/>
            </a:br>
            <a:br>
              <a:rPr lang="en-US" altLang="ko-KR" baseline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모듈은 개별적으로 존재했을 때는 재사용이 불가능하므로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존재의 의미가 없고 다른 모듈에 의해 재사용되어야 의미가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모듈은 공개가 필요한 자산에 한정해 명시적으로 선택적 공개가 가능합니다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사용자는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다른 모듈을 선택해 자신의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스코프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내로 불러들여 재사용할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***TMI</a:t>
            </a:r>
          </a:p>
          <a:p>
            <a:pPr marL="0" indent="0">
              <a:buFontTx/>
              <a:buNone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번들링을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해줘야 할까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관리의 복잡성 증가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많은 파일 요청 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애플리케이션이 여러 개의 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CSS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파일 등을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로드해야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한다면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브라우저는 각각의 파일에 대해 서버에 요청을 보내야 함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네트워크 부하 증가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로딩속도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저하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관리 어려움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간의 의존성을 수동을 관리해야 함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파일이 어떤 파일을 필요로 하는지 추적하는 것이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복잡해짐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성능저하</a:t>
            </a:r>
            <a:endParaRPr lang="en-US" altLang="ko-K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부족</a:t>
            </a:r>
            <a:endParaRPr lang="en-US" altLang="ko-K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시스템 부재</a:t>
            </a:r>
            <a:endParaRPr lang="en-US" altLang="ko-KR" baseline="0" dirty="0"/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97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32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폴더 이름 </a:t>
            </a:r>
            <a:r>
              <a:rPr lang="en-US" altLang="ko-KR" dirty="0"/>
              <a:t>= </a:t>
            </a:r>
            <a:r>
              <a:rPr lang="ko-KR" altLang="en-US" dirty="0" err="1"/>
              <a:t>케밥</a:t>
            </a:r>
            <a:r>
              <a:rPr lang="ko-KR" altLang="en-US" dirty="0"/>
              <a:t> 케이스</a:t>
            </a:r>
            <a:r>
              <a:rPr lang="en-US" altLang="ko-KR" dirty="0"/>
              <a:t>, </a:t>
            </a:r>
            <a:r>
              <a:rPr lang="ko-KR" altLang="en-US" dirty="0" err="1"/>
              <a:t>데쉬</a:t>
            </a:r>
            <a:r>
              <a:rPr lang="en-US" altLang="ko-KR" dirty="0"/>
              <a:t>-</a:t>
            </a:r>
            <a:r>
              <a:rPr lang="ko-KR" altLang="en-US" dirty="0"/>
              <a:t>케이스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  <a:r>
              <a:rPr lang="ko-KR" altLang="en-US" dirty="0"/>
              <a:t>변경사항이</a:t>
            </a:r>
            <a:r>
              <a:rPr lang="ko-KR" altLang="en-US" baseline="0" dirty="0"/>
              <a:t> 잦은 모듈을 사용할 때</a:t>
            </a:r>
            <a:r>
              <a:rPr lang="en-US" altLang="ko-KR" baseline="0" dirty="0"/>
              <a:t>, </a:t>
            </a:r>
            <a:r>
              <a:rPr lang="ko-KR" altLang="en-US" baseline="0" dirty="0"/>
              <a:t>매번 최신 버전을 설치하지 않도록 모듈을 로컬에 저장하지 않고 매번 최신 버전의 파일만을 불러와 실행시키는 방식</a:t>
            </a:r>
            <a:r>
              <a:rPr lang="en-US" altLang="ko-KR" baseline="0" dirty="0"/>
              <a:t>. </a:t>
            </a:r>
            <a:r>
              <a:rPr lang="ko-KR" altLang="en-US" baseline="0" dirty="0"/>
              <a:t>원래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설치 후에 사용해야 하지만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5.2.0 </a:t>
            </a:r>
            <a:r>
              <a:rPr lang="ko-KR" altLang="en-US" baseline="0" dirty="0"/>
              <a:t>버전부터 추가된 패키지 사용 도구</a:t>
            </a:r>
            <a:endParaRPr lang="en-US" altLang="ko-KR" baseline="0" dirty="0"/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</a:t>
            </a:r>
            <a:r>
              <a:rPr lang="ko-KR" altLang="en-US" baseline="0" dirty="0"/>
              <a:t>일회성 명령 실행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패키지를 설치하지 않고도 직접 실행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전역 설치를 피하고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환경을 깨끗하게 유지하게 해줌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</a:t>
            </a:r>
            <a:r>
              <a:rPr lang="ko-KR" altLang="en-US" baseline="0" dirty="0"/>
              <a:t>패키지의 글로벌 설치가 필요 없으며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특히 다양한 프로젝트에서 여러 패키지 버전 사용할 때 유용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yarn: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사용하는 </a:t>
            </a:r>
            <a:r>
              <a:rPr lang="en-US" altLang="ko-KR" baseline="0" dirty="0" err="1"/>
              <a:t>facebook</a:t>
            </a:r>
            <a:r>
              <a:rPr lang="en-US" altLang="ko-KR" baseline="0" dirty="0"/>
              <a:t> </a:t>
            </a:r>
            <a:r>
              <a:rPr lang="ko-KR" altLang="en-US" baseline="0" dirty="0"/>
              <a:t>에서 만든 자바스크립트 패키지 매니저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보다 빠르고 효율적임</a:t>
            </a:r>
            <a:r>
              <a:rPr lang="en-US" altLang="ko-KR" baseline="0" dirty="0"/>
              <a:t>. </a:t>
            </a:r>
            <a:r>
              <a:rPr lang="ko-KR" altLang="en-US" baseline="0" dirty="0"/>
              <a:t>하지만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이 기본이기 때문에 일단은 계속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사용할 예정</a:t>
            </a:r>
            <a:r>
              <a:rPr lang="en-US" altLang="ko-KR" baseline="0" dirty="0"/>
              <a:t>. </a:t>
            </a:r>
            <a:r>
              <a:rPr lang="ko-KR" altLang="en-US" baseline="0" dirty="0"/>
              <a:t>나중에 공부하다가 </a:t>
            </a:r>
            <a:r>
              <a:rPr lang="en-US" altLang="ko-KR" baseline="0" dirty="0"/>
              <a:t>yarn</a:t>
            </a:r>
            <a:r>
              <a:rPr lang="ko-KR" altLang="en-US" baseline="0" dirty="0"/>
              <a:t>을 만나면 당황하지 말고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쓰이는 친구라고 생각하면 됨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** create-react-app</a:t>
            </a:r>
          </a:p>
          <a:p>
            <a:r>
              <a:rPr lang="en-US" altLang="ko-KR" dirty="0"/>
              <a:t>16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월에 첫 출시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 </a:t>
            </a:r>
            <a:r>
              <a:rPr lang="ko-KR" altLang="en-US" dirty="0"/>
              <a:t>애플리케이션 초기 설정을 간소화하고</a:t>
            </a:r>
            <a:r>
              <a:rPr lang="en-US" altLang="ko-KR" dirty="0"/>
              <a:t>, </a:t>
            </a:r>
            <a:r>
              <a:rPr lang="ko-KR" altLang="en-US" dirty="0"/>
              <a:t>별도 설정 없이 빠르게 프로젝트 시작 가능하게 해줌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CRA</a:t>
            </a:r>
            <a:r>
              <a:rPr lang="ko-KR" altLang="en-US" dirty="0"/>
              <a:t>는 </a:t>
            </a:r>
            <a:r>
              <a:rPr lang="en-US" altLang="ko-KR" dirty="0" err="1"/>
              <a:t>Webpack</a:t>
            </a:r>
            <a:r>
              <a:rPr lang="en-US" altLang="ko-KR" dirty="0"/>
              <a:t>. Babel.</a:t>
            </a:r>
            <a:r>
              <a:rPr lang="en-US" altLang="ko-KR" baseline="0" dirty="0"/>
              <a:t> </a:t>
            </a:r>
            <a:r>
              <a:rPr lang="ko-KR" altLang="en-US" baseline="0" dirty="0"/>
              <a:t>여러 가지 도구를 포함하고 개발 환경을 구성하고 관리하는 부담을 </a:t>
            </a:r>
            <a:r>
              <a:rPr lang="ko-KR" altLang="en-US" baseline="0" dirty="0" err="1"/>
              <a:t>줄여줌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감사해 해야겠죠</a:t>
            </a:r>
            <a:r>
              <a:rPr lang="en-US" altLang="ko-KR" baseline="0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425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package.json</a:t>
            </a:r>
            <a:r>
              <a:rPr lang="en-US" altLang="ko-KR" dirty="0"/>
              <a:t>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프로젝트의 메타 데이터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사용할 </a:t>
            </a:r>
            <a:r>
              <a:rPr lang="en-US" altLang="ko-KR" dirty="0"/>
              <a:t>node.js </a:t>
            </a:r>
            <a:r>
              <a:rPr lang="ko-KR" altLang="en-US" dirty="0"/>
              <a:t>패키지 목록 등을 </a:t>
            </a:r>
            <a:r>
              <a:rPr lang="ko-KR" altLang="en-US" dirty="0" err="1"/>
              <a:t>퐇마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public/**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index.html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http://localhost:3000</a:t>
            </a:r>
            <a:r>
              <a:rPr lang="ko-KR" altLang="en-US" dirty="0"/>
              <a:t> 이 가장 먼저 </a:t>
            </a:r>
            <a:r>
              <a:rPr lang="ko-KR" altLang="en-US" dirty="0" err="1"/>
              <a:t>리턴하는</a:t>
            </a:r>
            <a:r>
              <a:rPr lang="ko-KR" altLang="en-US" dirty="0"/>
              <a:t> 파일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현재 유일한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페이지들은 </a:t>
            </a:r>
            <a:r>
              <a:rPr lang="en-US" altLang="ko-KR" dirty="0"/>
              <a:t>React.js</a:t>
            </a:r>
            <a:r>
              <a:rPr lang="ko-KR" altLang="en-US" dirty="0"/>
              <a:t>를 통해 생성되어 </a:t>
            </a:r>
            <a:r>
              <a:rPr lang="en-US" altLang="ko-KR" dirty="0"/>
              <a:t>&lt;div id="root"&gt; </a:t>
            </a:r>
            <a:r>
              <a:rPr lang="ko-KR" altLang="en-US" dirty="0"/>
              <a:t>요소 아래에 동적으로 렌더링 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src</a:t>
            </a:r>
            <a:r>
              <a:rPr lang="en-US" altLang="ko-KR" dirty="0"/>
              <a:t>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**index.js**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dirty="0"/>
              <a:t>index.html</a:t>
            </a:r>
            <a:r>
              <a:rPr lang="ko-KR" altLang="en-US" dirty="0"/>
              <a:t>과 함께 가장 처음으로 실행 되는 자바스크립트 코드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이 자바스크립트 코드가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컴포넌트를 </a:t>
            </a:r>
            <a:r>
              <a:rPr lang="en-US" altLang="ko-KR" dirty="0"/>
              <a:t>root </a:t>
            </a:r>
            <a:r>
              <a:rPr lang="ko-KR" altLang="en-US" dirty="0"/>
              <a:t>아래에 추가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App.js**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기본으로 생성되는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403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654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764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C000"/>
                </a:solidFill>
              </a:rPr>
              <a:t>컴포넌트 안에 컴포넌트 안에 컴포넌트</a:t>
            </a:r>
            <a:r>
              <a:rPr lang="en-US" altLang="ko-KR" dirty="0">
                <a:solidFill>
                  <a:srgbClr val="FFC000"/>
                </a:solidFill>
              </a:rPr>
              <a:t>… </a:t>
            </a:r>
            <a:r>
              <a:rPr lang="ko-KR" altLang="en-US" dirty="0">
                <a:solidFill>
                  <a:srgbClr val="FFC000"/>
                </a:solidFill>
              </a:rPr>
              <a:t>가 될 수 있다</a:t>
            </a:r>
            <a:r>
              <a:rPr lang="en-US" altLang="ko-KR" dirty="0">
                <a:solidFill>
                  <a:srgbClr val="FFC000"/>
                </a:solidFill>
              </a:rPr>
              <a:t>.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3253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App.js </a:t>
            </a:r>
            <a:r>
              <a:rPr lang="ko-KR" altLang="en-US" dirty="0"/>
              <a:t>밑으로 컴포넌트 </a:t>
            </a:r>
            <a:r>
              <a:rPr lang="ko-KR" altLang="en-US" dirty="0" err="1"/>
              <a:t>와다다다</a:t>
            </a:r>
            <a:r>
              <a:rPr lang="ko-KR" altLang="en-US" dirty="0"/>
              <a:t> 달림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83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클래스형</a:t>
            </a:r>
            <a:r>
              <a:rPr lang="ko-KR" altLang="en-US" dirty="0"/>
              <a:t> 컴포넌트</a:t>
            </a:r>
            <a:endParaRPr lang="en-US" altLang="ko-KR" dirty="0"/>
          </a:p>
          <a:p>
            <a:r>
              <a:rPr lang="en-US" altLang="ko-KR" dirty="0" err="1"/>
              <a:t>React.Component</a:t>
            </a:r>
            <a:r>
              <a:rPr lang="en-US" altLang="ko-KR" baseline="0" dirty="0"/>
              <a:t> </a:t>
            </a:r>
            <a:r>
              <a:rPr lang="ko-KR" altLang="en-US" baseline="0" dirty="0"/>
              <a:t>를 상속 받아야함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다양한 생명주기 메서드 제공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** </a:t>
            </a:r>
            <a:r>
              <a:rPr lang="ko-KR" altLang="en-US" baseline="0" dirty="0"/>
              <a:t>함수형 컴포넌트</a:t>
            </a:r>
            <a:endParaRPr lang="en-US" altLang="ko-KR" baseline="0" dirty="0"/>
          </a:p>
          <a:p>
            <a:r>
              <a:rPr lang="ko-KR" altLang="en-US" baseline="0" dirty="0"/>
              <a:t>단순히 </a:t>
            </a:r>
            <a:r>
              <a:rPr lang="en-US" altLang="ko-KR" baseline="0" dirty="0"/>
              <a:t>JS </a:t>
            </a:r>
            <a:r>
              <a:rPr lang="ko-KR" altLang="en-US" baseline="0" dirty="0"/>
              <a:t>함수로 정의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3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/>
              <a:t>React 16.8 </a:t>
            </a:r>
            <a:r>
              <a:rPr lang="ko-KR" altLang="en-US" baseline="0" dirty="0"/>
              <a:t>이후로 훅 을 통해 상태와 생명주기 기능 사용 가능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React </a:t>
            </a:r>
            <a:r>
              <a:rPr lang="ko-KR" altLang="en-US" baseline="0" dirty="0"/>
              <a:t>커뮤니티에서는 함수형 컴포넌트와 훅 사용을 더 권장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코드의 간결성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가독성</a:t>
            </a:r>
            <a:r>
              <a:rPr lang="en-US" altLang="ko-KR" baseline="0" dirty="0"/>
              <a:t>, </a:t>
            </a:r>
            <a:r>
              <a:rPr lang="ko-KR" altLang="en-US" baseline="0" dirty="0"/>
              <a:t>그리고 미래 방향성 때문</a:t>
            </a:r>
            <a:r>
              <a:rPr lang="en-US" altLang="ko-KR" baseline="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9087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export</a:t>
            </a:r>
            <a:r>
              <a:rPr lang="en-US" altLang="ko-KR" baseline="0" dirty="0"/>
              <a:t> default</a:t>
            </a:r>
            <a:r>
              <a:rPr lang="ko-KR" altLang="en-US" baseline="0" dirty="0"/>
              <a:t>는 따로 </a:t>
            </a:r>
            <a:r>
              <a:rPr lang="ko-KR" altLang="en-US" baseline="0" dirty="0" err="1"/>
              <a:t>빼둬도</a:t>
            </a:r>
            <a:r>
              <a:rPr lang="ko-KR" altLang="en-US" baseline="0" dirty="0"/>
              <a:t> 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함수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클래스형</a:t>
            </a:r>
            <a:r>
              <a:rPr lang="ko-KR" altLang="en-US" baseline="0" dirty="0"/>
              <a:t> 앞에 둬도 됨</a:t>
            </a:r>
            <a:endParaRPr lang="en-US" altLang="ko-KR" baseline="0" dirty="0"/>
          </a:p>
          <a:p>
            <a:r>
              <a:rPr lang="ko-KR" altLang="en-US" dirty="0" err="1"/>
              <a:t>클래스형</a:t>
            </a:r>
            <a:endParaRPr lang="en-US" altLang="ko-KR" baseline="0" dirty="0"/>
          </a:p>
          <a:p>
            <a:r>
              <a:rPr lang="en-US" altLang="ko-KR" baseline="0" dirty="0"/>
              <a:t>1. Components class </a:t>
            </a:r>
            <a:r>
              <a:rPr lang="ko-KR" altLang="en-US" baseline="0" dirty="0"/>
              <a:t>상속</a:t>
            </a:r>
            <a:r>
              <a:rPr lang="en-US" altLang="ko-KR" baseline="0" dirty="0"/>
              <a:t>, </a:t>
            </a:r>
          </a:p>
          <a:p>
            <a:r>
              <a:rPr lang="en-US" altLang="ko-KR" baseline="0" dirty="0"/>
              <a:t>2. render() </a:t>
            </a:r>
            <a:r>
              <a:rPr lang="ko-KR" altLang="en-US" baseline="0" dirty="0"/>
              <a:t>함수 사용 리턴에 실제로 보여주고 싶은 </a:t>
            </a:r>
            <a:r>
              <a:rPr lang="en-US" altLang="ko-KR" baseline="0" dirty="0"/>
              <a:t>html </a:t>
            </a:r>
            <a:r>
              <a:rPr lang="ko-KR" altLang="en-US" baseline="0" dirty="0"/>
              <a:t>요소 작성</a:t>
            </a:r>
            <a:endParaRPr lang="en-US" altLang="ko-KR" baseline="0" dirty="0"/>
          </a:p>
          <a:p>
            <a:r>
              <a:rPr lang="ko-KR" altLang="en-US" dirty="0"/>
              <a:t>함수형 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직관적으로 함수 이름만 만들고</a:t>
            </a:r>
            <a:r>
              <a:rPr lang="en-US" altLang="ko-KR" dirty="0"/>
              <a:t>, </a:t>
            </a:r>
            <a:r>
              <a:rPr lang="ko-KR" altLang="en-US" dirty="0"/>
              <a:t>보여줄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</a:t>
            </a:r>
            <a:r>
              <a:rPr lang="en-US" altLang="ko-KR" baseline="0" dirty="0"/>
              <a:t>return </a:t>
            </a:r>
          </a:p>
          <a:p>
            <a:pPr marL="0" indent="0">
              <a:buNone/>
            </a:pPr>
            <a:r>
              <a:rPr lang="en-US" altLang="ko-KR" baseline="0" dirty="0"/>
              <a:t>+ </a:t>
            </a:r>
            <a:r>
              <a:rPr lang="ko-KR" altLang="en-US" baseline="0" dirty="0"/>
              <a:t>화살표 함수</a:t>
            </a:r>
            <a:r>
              <a:rPr lang="en-US" altLang="ko-KR" baseline="0" dirty="0"/>
              <a:t>(</a:t>
            </a:r>
            <a:r>
              <a:rPr lang="ko-KR" altLang="en-US" baseline="0" dirty="0" err="1"/>
              <a:t>함수표현식</a:t>
            </a:r>
            <a:r>
              <a:rPr lang="en-US" altLang="ko-KR" baseline="0" dirty="0"/>
              <a:t>)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작성해놨지만</a:t>
            </a:r>
            <a:r>
              <a:rPr lang="ko-KR" altLang="en-US" baseline="0" dirty="0"/>
              <a:t> 함수선언문으로 작성해도 무방함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2461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과 유사한 구문 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JS </a:t>
            </a:r>
            <a:r>
              <a:rPr lang="ko-KR" altLang="en-US" dirty="0"/>
              <a:t>코드 내에서 </a:t>
            </a:r>
            <a:r>
              <a:rPr lang="en-US" altLang="ko-KR" dirty="0"/>
              <a:t>UI </a:t>
            </a:r>
            <a:r>
              <a:rPr lang="ko-KR" altLang="en-US" dirty="0"/>
              <a:t>구조를 정의 할 수 있게 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**</a:t>
            </a:r>
            <a:r>
              <a:rPr lang="en-US" altLang="ko-KR" baseline="0" dirty="0"/>
              <a:t> </a:t>
            </a:r>
            <a:r>
              <a:rPr lang="ko-KR" altLang="en-US" baseline="0" dirty="0"/>
              <a:t>브라우저는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를 직접 이해 못함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Babel</a:t>
            </a:r>
            <a:r>
              <a:rPr lang="ko-KR" altLang="en-US" dirty="0"/>
              <a:t>과 같은 트랜스파일러를 사용하여 </a:t>
            </a:r>
            <a:r>
              <a:rPr lang="en-US" altLang="ko-KR" dirty="0"/>
              <a:t>JSX</a:t>
            </a:r>
            <a:r>
              <a:rPr lang="ko-KR" altLang="en-US" dirty="0"/>
              <a:t>를 일반 </a:t>
            </a:r>
            <a:r>
              <a:rPr lang="en-US" altLang="ko-KR" dirty="0"/>
              <a:t>JS</a:t>
            </a:r>
            <a:r>
              <a:rPr lang="ko-KR" altLang="en-US" dirty="0"/>
              <a:t>로 변환해야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바벨은 </a:t>
            </a:r>
            <a:r>
              <a:rPr lang="en-US" altLang="ko-KR" dirty="0"/>
              <a:t>JSX </a:t>
            </a:r>
            <a:r>
              <a:rPr lang="ko-KR" altLang="en-US" dirty="0"/>
              <a:t>코드를 </a:t>
            </a:r>
            <a:r>
              <a:rPr lang="en-US" altLang="ko-KR" dirty="0" err="1"/>
              <a:t>React.createElement</a:t>
            </a:r>
            <a:r>
              <a:rPr lang="en-US" altLang="ko-KR" dirty="0"/>
              <a:t> </a:t>
            </a:r>
            <a:r>
              <a:rPr lang="ko-KR" altLang="en-US" dirty="0"/>
              <a:t>호출로 </a:t>
            </a:r>
            <a:r>
              <a:rPr lang="ko-KR" altLang="en-US" dirty="0" err="1"/>
              <a:t>변환해줌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&lt;h1 </a:t>
            </a:r>
            <a:r>
              <a:rPr lang="en-US" altLang="ko-KR" dirty="0" err="1"/>
              <a:t>className</a:t>
            </a:r>
            <a:r>
              <a:rPr lang="en-US" altLang="ko-KR" dirty="0"/>
              <a:t>=＂hello"&gt;Hello, world!&lt;/h1&gt;;</a:t>
            </a:r>
          </a:p>
          <a:p>
            <a:endParaRPr lang="en-US" altLang="ko-KR" dirty="0"/>
          </a:p>
          <a:p>
            <a:r>
              <a:rPr lang="en-US" altLang="ko-KR" dirty="0"/>
              <a:t>=&gt;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</a:t>
            </a:r>
            <a:r>
              <a:rPr lang="en-US" altLang="ko-KR" dirty="0" err="1"/>
              <a:t>React.createElement</a:t>
            </a:r>
            <a:r>
              <a:rPr lang="en-US" altLang="ko-KR" dirty="0"/>
              <a:t>(</a:t>
            </a:r>
          </a:p>
          <a:p>
            <a:r>
              <a:rPr lang="en-US" altLang="ko-KR" dirty="0"/>
              <a:t> 'h1', {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className</a:t>
            </a:r>
            <a:r>
              <a:rPr lang="en-US" altLang="ko-KR" dirty="0"/>
              <a:t>: hello' }, </a:t>
            </a:r>
          </a:p>
          <a:p>
            <a:r>
              <a:rPr lang="en-US" altLang="ko-KR" dirty="0"/>
              <a:t>'Hello, world!' </a:t>
            </a:r>
          </a:p>
          <a:p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5073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67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쓰다가 변수를 넣는다거나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연산을 하고 싶을 때는 중괄호 쓰고</a:t>
            </a:r>
            <a:r>
              <a:rPr lang="en-US" altLang="ko-KR" baseline="0" dirty="0"/>
              <a:t>,</a:t>
            </a:r>
          </a:p>
          <a:p>
            <a:r>
              <a:rPr lang="ko-KR" altLang="en-US" dirty="0"/>
              <a:t>중괄호안에서 자바스크립트 문법을 쓰다가 </a:t>
            </a:r>
            <a:r>
              <a:rPr lang="en-US" altLang="ko-KR" dirty="0"/>
              <a:t>html </a:t>
            </a:r>
            <a:r>
              <a:rPr lang="ko-KR" altLang="en-US" dirty="0"/>
              <a:t>요소를 쓰고 싶으면 </a:t>
            </a:r>
            <a:r>
              <a:rPr lang="ko-KR" altLang="en-US" dirty="0" err="1"/>
              <a:t>소괄호안에다가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쓰기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(return </a:t>
            </a:r>
            <a:r>
              <a:rPr lang="ko-KR" altLang="en-US" baseline="0" dirty="0"/>
              <a:t>과 마찬가지로 하나의 태그만 </a:t>
            </a:r>
            <a:r>
              <a:rPr lang="ko-KR" altLang="en-US" baseline="0" dirty="0" err="1"/>
              <a:t>쓸때는</a:t>
            </a:r>
            <a:r>
              <a:rPr lang="ko-KR" altLang="en-US" baseline="0" dirty="0"/>
              <a:t> 소괄호로 감싸지 않아도 됨</a:t>
            </a:r>
            <a:r>
              <a:rPr lang="en-US" altLang="ko-KR" baseline="0" dirty="0"/>
              <a:t>. </a:t>
            </a:r>
          </a:p>
          <a:p>
            <a:r>
              <a:rPr lang="en-US" altLang="ko-KR" baseline="0" dirty="0"/>
              <a:t>div&gt;h2 </a:t>
            </a:r>
            <a:r>
              <a:rPr lang="ko-KR" altLang="en-US" baseline="0" dirty="0"/>
              <a:t>가 아닌 </a:t>
            </a:r>
            <a:r>
              <a:rPr lang="en-US" altLang="ko-KR" baseline="0" dirty="0"/>
              <a:t>h2</a:t>
            </a:r>
            <a:r>
              <a:rPr lang="ko-KR" altLang="en-US" baseline="0" dirty="0"/>
              <a:t>만 쓰고 싶었다면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소괄호 굳이 필요 없고</a:t>
            </a:r>
            <a:r>
              <a:rPr lang="en-US" altLang="ko-KR" baseline="0" dirty="0"/>
              <a:t>,  </a:t>
            </a:r>
          </a:p>
          <a:p>
            <a:r>
              <a:rPr lang="ko-KR" altLang="en-US" baseline="0" dirty="0"/>
              <a:t>중괄호 내부에서 </a:t>
            </a:r>
            <a:r>
              <a:rPr lang="en-US" altLang="ko-KR" baseline="0" dirty="0"/>
              <a:t>html</a:t>
            </a:r>
            <a:r>
              <a:rPr lang="ko-KR" altLang="en-US" baseline="0" dirty="0"/>
              <a:t>을 작성할 때도 마찬가지로 하나의 전체 태그가 </a:t>
            </a:r>
            <a:r>
              <a:rPr lang="ko-KR" altLang="en-US" baseline="0" dirty="0" err="1"/>
              <a:t>모든것을</a:t>
            </a:r>
            <a:r>
              <a:rPr lang="ko-KR" altLang="en-US" baseline="0" dirty="0"/>
              <a:t> 감싸야 함</a:t>
            </a:r>
            <a:r>
              <a:rPr lang="en-US" altLang="ko-KR" baseline="0" dirty="0"/>
              <a:t>)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{</a:t>
            </a:r>
            <a:r>
              <a:rPr lang="ko-KR" altLang="en-US" baseline="0" dirty="0"/>
              <a:t>중괄호</a:t>
            </a:r>
            <a:r>
              <a:rPr lang="en-US" altLang="ko-KR" baseline="0" dirty="0"/>
              <a:t>}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id </a:t>
            </a:r>
            <a:r>
              <a:rPr lang="ko-KR" altLang="en-US" baseline="0" dirty="0"/>
              <a:t>속성에도 가능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 등등 왠만한 모든 곳에 가능하다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이런걸 </a:t>
            </a:r>
            <a:r>
              <a:rPr lang="en-US" altLang="ko-KR" baseline="0" dirty="0"/>
              <a:t>– </a:t>
            </a:r>
            <a:r>
              <a:rPr lang="ko-KR" altLang="en-US" baseline="0" dirty="0"/>
              <a:t>데이터 바인딩이라고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42323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str</a:t>
            </a:r>
            <a:r>
              <a:rPr lang="ko-KR" altLang="en-US" dirty="0"/>
              <a:t>이 </a:t>
            </a:r>
            <a:r>
              <a:rPr lang="en-US" altLang="ko-KR" dirty="0"/>
              <a:t>‘hello,’ </a:t>
            </a:r>
            <a:r>
              <a:rPr lang="ko-KR" altLang="en-US" dirty="0"/>
              <a:t>였기 때문에 </a:t>
            </a:r>
            <a:r>
              <a:rPr lang="ko-KR" altLang="en-US" dirty="0" err="1"/>
              <a:t>결과화면</a:t>
            </a:r>
            <a:r>
              <a:rPr lang="ko-KR" altLang="en-US" dirty="0"/>
              <a:t> 저렇게 나타남</a:t>
            </a:r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우리는 </a:t>
            </a:r>
            <a:r>
              <a:rPr lang="en-US" altLang="ko-KR" dirty="0"/>
              <a:t>JSX </a:t>
            </a:r>
            <a:r>
              <a:rPr lang="ko-KR" altLang="en-US" dirty="0"/>
              <a:t>형태로 썼지만 실제 브라우저는 </a:t>
            </a:r>
            <a:r>
              <a:rPr lang="en-US" altLang="ko-KR" dirty="0" err="1"/>
              <a:t>js</a:t>
            </a:r>
            <a:r>
              <a:rPr lang="ko-KR" altLang="en-US" dirty="0"/>
              <a:t>로 받아서 봄</a:t>
            </a:r>
            <a:r>
              <a:rPr lang="en-US" altLang="ko-KR" dirty="0"/>
              <a:t>. </a:t>
            </a:r>
            <a:r>
              <a:rPr lang="ko-KR" altLang="en-US" dirty="0"/>
              <a:t>바벨이 번역해서 전달해주니까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277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밑줄쳐진</a:t>
            </a:r>
            <a:r>
              <a:rPr lang="ko-KR" altLang="en-US" dirty="0"/>
              <a:t>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/>
              <a:t>if</a:t>
            </a:r>
            <a:r>
              <a:rPr lang="en-US" altLang="ko-KR" baseline="0" dirty="0"/>
              <a:t> ~ else </a:t>
            </a:r>
            <a:r>
              <a:rPr lang="ko-KR" altLang="en-US" baseline="0" dirty="0"/>
              <a:t>문이 올 수 없음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JSX </a:t>
            </a:r>
            <a:r>
              <a:rPr lang="ko-KR" altLang="en-US" baseline="0" dirty="0"/>
              <a:t>외부에서 </a:t>
            </a:r>
            <a:r>
              <a:rPr lang="ko-KR" altLang="en-US" baseline="0" dirty="0" err="1"/>
              <a:t>로직처리</a:t>
            </a:r>
            <a:r>
              <a:rPr lang="en-US" altLang="ko-KR" baseline="0" dirty="0"/>
              <a:t>!</a:t>
            </a:r>
          </a:p>
          <a:p>
            <a:r>
              <a:rPr lang="ko-KR" altLang="en-US" baseline="0" dirty="0"/>
              <a:t>렌더링할 요소를 결정한 후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해당 요소를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에 </a:t>
            </a:r>
            <a:r>
              <a:rPr lang="ko-KR" altLang="en-US" baseline="0"/>
              <a:t>포함하는 방식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0302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dash-case(kebab-case</a:t>
            </a:r>
            <a:r>
              <a:rPr lang="ko-KR" altLang="en-US" dirty="0"/>
              <a:t>라고도 함</a:t>
            </a:r>
            <a:r>
              <a:rPr lang="en-US" altLang="ko-KR" dirty="0"/>
              <a:t>): </a:t>
            </a:r>
            <a:r>
              <a:rPr lang="en-US" altLang="ko-KR" dirty="0" err="1"/>
              <a:t>dashcase</a:t>
            </a:r>
            <a:r>
              <a:rPr lang="en-US" altLang="ko-KR" dirty="0"/>
              <a:t>?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js</a:t>
            </a:r>
            <a:r>
              <a:rPr lang="ko-KR" altLang="en-US" baseline="0" dirty="0"/>
              <a:t>가 </a:t>
            </a:r>
            <a:r>
              <a:rPr lang="ko-KR" altLang="en-US" baseline="0" dirty="0" err="1"/>
              <a:t>볼때</a:t>
            </a:r>
            <a:r>
              <a:rPr lang="ko-KR" altLang="en-US" baseline="0" dirty="0"/>
              <a:t> </a:t>
            </a:r>
            <a:r>
              <a:rPr lang="en-US" altLang="ko-KR" baseline="0" dirty="0"/>
              <a:t>-</a:t>
            </a:r>
            <a:r>
              <a:rPr lang="ko-KR" altLang="en-US" baseline="0" dirty="0"/>
              <a:t>는 </a:t>
            </a:r>
            <a:r>
              <a:rPr lang="ko-KR" altLang="en-US" baseline="0" dirty="0" err="1"/>
              <a:t>빼기라고</a:t>
            </a:r>
            <a:r>
              <a:rPr lang="ko-KR" altLang="en-US" baseline="0" dirty="0"/>
              <a:t> 생각할 수 있기 </a:t>
            </a:r>
            <a:r>
              <a:rPr lang="ko-KR" altLang="en-US" baseline="0" dirty="0" err="1"/>
              <a:t>떄문에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객체를 담는 방식을 </a:t>
            </a:r>
            <a:r>
              <a:rPr lang="en-US" altLang="ko-KR" dirty="0" err="1"/>
              <a:t>jsx</a:t>
            </a:r>
            <a:r>
              <a:rPr lang="en-US" altLang="ko-KR" dirty="0"/>
              <a:t> </a:t>
            </a:r>
            <a:r>
              <a:rPr lang="ko-KR" altLang="en-US" dirty="0"/>
              <a:t>문법을 통해서 </a:t>
            </a:r>
            <a:r>
              <a:rPr lang="ko-KR" altLang="en-US" dirty="0" err="1"/>
              <a:t>쓴것이기</a:t>
            </a:r>
            <a:r>
              <a:rPr lang="ko-KR" altLang="en-US" dirty="0"/>
              <a:t> 때문에 스타일 적용 시에는 두번의 중괄호가 필요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오브젝트를 따로 변수에 선언해서 사용할 수도 있음</a:t>
            </a:r>
            <a:endParaRPr lang="en-US" altLang="ko-KR" dirty="0"/>
          </a:p>
          <a:p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style </a:t>
            </a:r>
            <a:r>
              <a:rPr lang="ko-KR" altLang="en-US" dirty="0"/>
              <a:t>넣을 땐 </a:t>
            </a:r>
            <a:r>
              <a:rPr lang="en-US" altLang="ko-KR" dirty="0"/>
              <a:t>style = { }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{ {</a:t>
            </a:r>
            <a:r>
              <a:rPr lang="ko-KR" altLang="en-US" dirty="0" err="1"/>
              <a:t>스타일명</a:t>
            </a:r>
            <a:r>
              <a:rPr lang="ko-KR" altLang="en-US" dirty="0"/>
              <a:t> </a:t>
            </a:r>
            <a:r>
              <a:rPr lang="en-US" altLang="ko-KR" dirty="0"/>
              <a:t>: ‘</a:t>
            </a:r>
            <a:r>
              <a:rPr lang="ko-KR" altLang="en-US" dirty="0"/>
              <a:t>값’</a:t>
            </a:r>
            <a:r>
              <a:rPr lang="en-US" altLang="ko-KR" dirty="0"/>
              <a:t>} }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객체 형태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font-size(x)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fontSize</a:t>
            </a:r>
            <a:r>
              <a:rPr lang="en-US" altLang="ko-KR" dirty="0"/>
              <a:t> </a:t>
            </a:r>
            <a:r>
              <a:rPr lang="ko-KR" altLang="en-US" dirty="0"/>
              <a:t>형식으로 </a:t>
            </a:r>
            <a:r>
              <a:rPr lang="ko-KR" altLang="en-US" dirty="0" err="1"/>
              <a:t>써줘야함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JSX</a:t>
            </a:r>
            <a:r>
              <a:rPr lang="ko-KR" altLang="en-US" dirty="0"/>
              <a:t>에서는 </a:t>
            </a:r>
            <a:r>
              <a:rPr lang="en-US" altLang="ko-KR" dirty="0"/>
              <a:t>-</a:t>
            </a:r>
            <a:r>
              <a:rPr lang="ko-KR" altLang="en-US" dirty="0"/>
              <a:t>는 진짜 빼기를 말함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7929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</a:t>
            </a:r>
            <a:r>
              <a:rPr lang="ko-KR" altLang="en-US" dirty="0"/>
              <a:t>에서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class 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? </a:t>
            </a:r>
            <a:r>
              <a:rPr lang="ko-KR" altLang="en-US" baseline="0" dirty="0"/>
              <a:t>다른 기능이 있으니 </a:t>
            </a:r>
            <a:r>
              <a:rPr lang="en-US" altLang="ko-KR" baseline="0" dirty="0"/>
              <a:t>CSS </a:t>
            </a:r>
            <a:r>
              <a:rPr lang="ko-KR" altLang="en-US" baseline="0" dirty="0"/>
              <a:t>에서의 클래스를 구분하기 위해서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사용</a:t>
            </a:r>
            <a:endParaRPr lang="en-US" altLang="ko-KR" baseline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72191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err: </a:t>
            </a:r>
            <a:r>
              <a:rPr lang="ko-KR" altLang="en-US" dirty="0"/>
              <a:t>인풋에 대한 </a:t>
            </a:r>
            <a:r>
              <a:rPr lang="ko-KR" altLang="en-US" dirty="0" err="1"/>
              <a:t>클로징</a:t>
            </a:r>
            <a:r>
              <a:rPr lang="ko-KR" altLang="en-US" dirty="0"/>
              <a:t> 태그가 존재하지 않습니다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html</a:t>
            </a:r>
            <a:r>
              <a:rPr lang="en-US" altLang="ko-KR" baseline="0" dirty="0">
                <a:sym typeface="Wingdings" panose="05000000000000000000" pitchFamily="2" charset="2"/>
              </a:rPr>
              <a:t> </a:t>
            </a:r>
            <a:r>
              <a:rPr lang="ko-KR" altLang="en-US" baseline="0" dirty="0">
                <a:sym typeface="Wingdings" panose="05000000000000000000" pitchFamily="2" charset="2"/>
              </a:rPr>
              <a:t>수업에서 배웠던 것처럼</a:t>
            </a:r>
            <a:r>
              <a:rPr lang="en-US" altLang="ko-KR" baseline="0" dirty="0">
                <a:sym typeface="Wingdings" panose="05000000000000000000" pitchFamily="2" charset="2"/>
              </a:rPr>
              <a:t>, </a:t>
            </a:r>
            <a:r>
              <a:rPr lang="ko-KR" altLang="en-US" baseline="0" dirty="0" err="1">
                <a:sym typeface="Wingdings" panose="05000000000000000000" pitchFamily="2" charset="2"/>
              </a:rPr>
              <a:t>빈태그</a:t>
            </a:r>
            <a:r>
              <a:rPr lang="ko-KR" altLang="en-US" baseline="0" dirty="0">
                <a:sym typeface="Wingdings" panose="05000000000000000000" pitchFamily="2" charset="2"/>
              </a:rPr>
              <a:t> 마지막에 슬래시를 붙여서 닫아주거나</a:t>
            </a:r>
            <a:r>
              <a:rPr lang="en-US" altLang="ko-KR" baseline="0" dirty="0">
                <a:sym typeface="Wingdings" panose="05000000000000000000" pitchFamily="2" charset="2"/>
              </a:rPr>
              <a:t>,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baseline="0" dirty="0">
                <a:sym typeface="Wingdings" panose="05000000000000000000" pitchFamily="2" charset="2"/>
              </a:rPr>
              <a:t>기존의 </a:t>
            </a:r>
            <a:r>
              <a:rPr lang="en-US" altLang="ko-KR" baseline="0" dirty="0">
                <a:sym typeface="Wingdings" panose="05000000000000000000" pitchFamily="2" charset="2"/>
              </a:rPr>
              <a:t>div span</a:t>
            </a:r>
            <a:r>
              <a:rPr lang="ko-KR" altLang="en-US" baseline="0" dirty="0">
                <a:sym typeface="Wingdings" panose="05000000000000000000" pitchFamily="2" charset="2"/>
              </a:rPr>
              <a:t>등의 태그처럼 아예 닫는 태그를 만들어줘도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0280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7981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디버깅 </a:t>
            </a:r>
            <a:r>
              <a:rPr lang="en-US" altLang="ko-KR" dirty="0"/>
              <a:t>= </a:t>
            </a:r>
            <a:r>
              <a:rPr lang="ko-KR" altLang="en-US" dirty="0" err="1"/>
              <a:t>오류있는지</a:t>
            </a:r>
            <a:r>
              <a:rPr lang="ko-KR" altLang="en-US" dirty="0"/>
              <a:t> 검사하는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969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774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0254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 err="1"/>
              <a:t>다크</a:t>
            </a:r>
            <a:r>
              <a:rPr lang="en-US" altLang="ko-KR" dirty="0"/>
              <a:t>/</a:t>
            </a:r>
            <a:r>
              <a:rPr lang="ko-KR" altLang="en-US" dirty="0"/>
              <a:t>라이트 모드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751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348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코딩온</a:t>
            </a:r>
            <a:r>
              <a:rPr lang="ko-KR" altLang="en-US" dirty="0"/>
              <a:t> </a:t>
            </a:r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state</a:t>
            </a:r>
            <a:r>
              <a:rPr lang="ko-KR" altLang="en-US"/>
              <a:t> 실습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42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709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96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2277595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chemeClr val="accent2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85904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C6AD9-4778-56CA-F759-7A32EFD840E2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04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</a:t>
            </a:r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AD3C5-9D19-0A21-1F59-38D68C6F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5F0C9-FE0D-8412-01B3-B0E76BBD0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중 가장 많이 쓰이는 것은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1ECF6-E311-B183-3352-B26531EB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E71B-4077-4B0C-A21C-DB8409E582EB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32716-7B4E-A65C-7A80-0B25C9F5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3074" name="Picture 2" descr="Blog - Allwyn is Angular JS (Level 3) certified - Acquven">
            <a:extLst>
              <a:ext uri="{FF2B5EF4-FFF2-40B4-BE49-F238E27FC236}">
                <a16:creationId xmlns:a16="http://schemas.microsoft.com/office/drawing/2014/main" id="{AF101674-9D07-0BDD-B0F8-0C6133A9E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0" y="2708763"/>
            <a:ext cx="4163285" cy="273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B47EAD37-3C41-2A13-E5A8-C13CBC1BF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585" y="2708763"/>
            <a:ext cx="4163634" cy="27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7E128CBE-826A-91C7-146F-AE4AD321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149" y="2708763"/>
            <a:ext cx="42386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98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9C0C0-8DD8-FC9D-77A6-7DE58845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JS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88AF7-3DE7-9B17-3077-F9B1A131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580" y="1565213"/>
            <a:ext cx="8880231" cy="4351338"/>
          </a:xfrm>
        </p:spPr>
        <p:txBody>
          <a:bodyPr/>
          <a:lstStyle/>
          <a:p>
            <a:r>
              <a:rPr lang="ko-KR" altLang="en-US" dirty="0"/>
              <a:t>구글에서 만든 </a:t>
            </a:r>
            <a:r>
              <a:rPr lang="en-US" altLang="ko-KR" dirty="0"/>
              <a:t>JavaScript </a:t>
            </a:r>
            <a:r>
              <a:rPr lang="ko-KR" altLang="en-US" dirty="0"/>
              <a:t>기반의 오픈 소스 프레임워크</a:t>
            </a:r>
            <a:endParaRPr lang="en-US" altLang="ko-KR" dirty="0"/>
          </a:p>
          <a:p>
            <a:r>
              <a:rPr lang="ko-KR" altLang="en-US" dirty="0"/>
              <a:t>양방향 데이터 바인딩으로 양방향 웹 애플리케이션에 적합</a:t>
            </a:r>
            <a:endParaRPr lang="en-US" altLang="ko-KR" dirty="0"/>
          </a:p>
          <a:p>
            <a:r>
              <a:rPr lang="en-US" altLang="ko-KR" dirty="0"/>
              <a:t>2016</a:t>
            </a:r>
            <a:r>
              <a:rPr lang="ko-KR" altLang="en-US" dirty="0"/>
              <a:t>년도 이후 점유율 하락 중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 err="1"/>
              <a:t>페이팔</a:t>
            </a:r>
            <a:r>
              <a:rPr lang="en-US" altLang="ko-KR" dirty="0"/>
              <a:t>,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 err="1"/>
              <a:t>텔레그램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EDE66-39BF-C4F9-B38A-B188F293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695F-ED15-4181-BC24-4818008DEB4A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2CC90-7A60-2BB5-6CC9-16D7985B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Picture 2" descr="Blog - Allwyn is Angular JS (Level 3) certified - Acquven">
            <a:extLst>
              <a:ext uri="{FF2B5EF4-FFF2-40B4-BE49-F238E27FC236}">
                <a16:creationId xmlns:a16="http://schemas.microsoft.com/office/drawing/2014/main" id="{92E236B6-88BF-D491-4EC5-7C2C11A7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8540"/>
            <a:ext cx="2098431" cy="137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96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0BA45-8CAF-F578-9DA8-D3149A28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JS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8DBD1-4313-2759-DB87-B89A4D73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616" y="1565213"/>
            <a:ext cx="9185031" cy="4351338"/>
          </a:xfrm>
        </p:spPr>
        <p:txBody>
          <a:bodyPr/>
          <a:lstStyle/>
          <a:p>
            <a:r>
              <a:rPr lang="ko-KR" altLang="en-US" dirty="0"/>
              <a:t>동적 사용자 인터페이스를 만들기 위해 </a:t>
            </a:r>
            <a:r>
              <a:rPr lang="en-US" altLang="ko-KR" dirty="0"/>
              <a:t>2011</a:t>
            </a:r>
            <a:r>
              <a:rPr lang="ko-KR" altLang="en-US" dirty="0"/>
              <a:t>년 </a:t>
            </a:r>
            <a:r>
              <a:rPr lang="ko-KR" altLang="en-US" dirty="0" err="1"/>
              <a:t>페이스북에서</a:t>
            </a:r>
            <a:r>
              <a:rPr lang="ko-KR" altLang="en-US" dirty="0"/>
              <a:t> 만든 오픈 소스 </a:t>
            </a:r>
            <a:r>
              <a:rPr lang="en-US" altLang="ko-KR" dirty="0"/>
              <a:t>JavaScript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r>
              <a:rPr lang="ko-KR" altLang="en-US" dirty="0"/>
              <a:t>데이터 변경이 잦은 복잡하고</a:t>
            </a:r>
            <a:r>
              <a:rPr lang="en-US" altLang="ko-KR" dirty="0"/>
              <a:t>, </a:t>
            </a:r>
            <a:r>
              <a:rPr lang="ko-KR" altLang="en-US" dirty="0"/>
              <a:t>규모가 큰 라이브러리에 적합</a:t>
            </a:r>
            <a:endParaRPr lang="en-US" altLang="ko-KR" dirty="0"/>
          </a:p>
          <a:p>
            <a:r>
              <a:rPr lang="en-US" altLang="ko-KR" dirty="0"/>
              <a:t>Angular </a:t>
            </a:r>
            <a:r>
              <a:rPr lang="ko-KR" altLang="en-US" dirty="0"/>
              <a:t>보다 배우기 쉽다고 이야기 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페이스북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, </a:t>
            </a:r>
            <a:r>
              <a:rPr lang="ko-KR" alt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야후</a:t>
            </a:r>
            <a:r>
              <a:rPr lang="en-US" altLang="ko-KR" dirty="0"/>
              <a:t>, </a:t>
            </a:r>
            <a:r>
              <a:rPr lang="ko-KR" altLang="en-US" dirty="0" err="1"/>
              <a:t>드롭박스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A1410C-A82E-01A8-8211-21B49421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F1434-6E25-475C-8377-59FE6BAECDE6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6DB0CF-A3C5-C746-9A0A-82C3F1D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7AB17B41-725F-6761-4FE1-0A8F23939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" y="1585000"/>
            <a:ext cx="2383318" cy="156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98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274D-CE25-2CF7-6F00-85394B5D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Vue.js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7BBF2-6052-3233-841D-68D677AD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84" y="1565213"/>
            <a:ext cx="8364415" cy="4351338"/>
          </a:xfrm>
        </p:spPr>
        <p:txBody>
          <a:bodyPr/>
          <a:lstStyle/>
          <a:p>
            <a:r>
              <a:rPr lang="en-US" altLang="ko-KR" dirty="0"/>
              <a:t>2013</a:t>
            </a:r>
            <a:r>
              <a:rPr lang="ko-KR" altLang="en-US" dirty="0"/>
              <a:t>년 출시된 </a:t>
            </a:r>
            <a:r>
              <a:rPr lang="en-US" altLang="ko-KR" dirty="0"/>
              <a:t>JavaScript </a:t>
            </a:r>
            <a:r>
              <a:rPr lang="ko-KR" altLang="en-US" dirty="0"/>
              <a:t>프레임워크</a:t>
            </a:r>
            <a:endParaRPr lang="en-US" altLang="ko-KR" dirty="0"/>
          </a:p>
          <a:p>
            <a:r>
              <a:rPr lang="en-US" altLang="ko-KR" dirty="0"/>
              <a:t>Angular</a:t>
            </a:r>
            <a:r>
              <a:rPr lang="ko-KR" altLang="en-US" dirty="0"/>
              <a:t>와 </a:t>
            </a:r>
            <a:r>
              <a:rPr lang="en-US" altLang="ko-KR" dirty="0"/>
              <a:t>React</a:t>
            </a:r>
            <a:r>
              <a:rPr lang="ko-KR" altLang="en-US" dirty="0"/>
              <a:t>의 장점을 수용한 프레임워크</a:t>
            </a:r>
            <a:endParaRPr lang="en-US" altLang="ko-KR" dirty="0"/>
          </a:p>
          <a:p>
            <a:r>
              <a:rPr lang="ko-KR" altLang="en-US" dirty="0"/>
              <a:t>중국어 기반으로 </a:t>
            </a:r>
            <a:r>
              <a:rPr lang="en-US" altLang="ko-KR" dirty="0"/>
              <a:t>Reference</a:t>
            </a:r>
            <a:r>
              <a:rPr lang="ko-KR" altLang="en-US" dirty="0"/>
              <a:t>가 적음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</a:t>
            </a:r>
            <a:r>
              <a:rPr lang="ko-KR" altLang="en-US" dirty="0"/>
              <a:t> 샤오미</a:t>
            </a:r>
            <a:r>
              <a:rPr lang="en-US" altLang="ko-KR" dirty="0"/>
              <a:t>, </a:t>
            </a:r>
            <a:r>
              <a:rPr lang="ko-KR" altLang="en-US" dirty="0" err="1"/>
              <a:t>알리바바</a:t>
            </a:r>
            <a:r>
              <a:rPr lang="en-US" altLang="ko-KR" dirty="0"/>
              <a:t>, </a:t>
            </a:r>
            <a:r>
              <a:rPr lang="ko-KR" altLang="en-US" dirty="0" err="1"/>
              <a:t>깃랩</a:t>
            </a:r>
            <a:r>
              <a:rPr lang="en-US" altLang="ko-KR" dirty="0"/>
              <a:t>, </a:t>
            </a:r>
            <a:r>
              <a:rPr lang="ko-KR" altLang="en-US" dirty="0" err="1"/>
              <a:t>어도비</a:t>
            </a:r>
            <a:r>
              <a:rPr lang="ko-KR" altLang="en-US" dirty="0"/>
              <a:t> 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F8C106-6485-575F-F03C-310DD9EB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8F57-5581-4FA1-9B0C-81906BCA3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23CD61-067B-0756-4B0E-BF33DA74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1B6CB3FA-54D3-6262-BE2F-60CB18A3A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3" t="-1660" r="23637" b="1660"/>
          <a:stretch/>
        </p:blipFill>
        <p:spPr bwMode="auto">
          <a:xfrm>
            <a:off x="838201" y="1614913"/>
            <a:ext cx="1700271" cy="205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68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F818A-81EF-1339-8EDB-B25A87DD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vs. React</a:t>
            </a:r>
            <a:r>
              <a:rPr lang="ko-KR" altLang="en-US" dirty="0"/>
              <a:t> </a:t>
            </a:r>
            <a:r>
              <a:rPr lang="en-US" altLang="ko-KR" dirty="0"/>
              <a:t>vs. Vue.js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F765A-1995-70E7-44E9-C520B5B3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63825-48B7-4D15-9EE9-BC4A2FA13F72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AD6D90-4769-2AA2-1071-321FB2B0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1E5D6C-C53E-317C-2F25-DCC06C86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271297"/>
            <a:ext cx="11146972" cy="510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84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r>
              <a:rPr lang="en-US" altLang="ko-KR" dirty="0">
                <a:hlinkClick r:id="rId3"/>
              </a:rPr>
              <a:t>https://react.dev/</a:t>
            </a:r>
            <a:endParaRPr lang="en-US" altLang="ko-KR" dirty="0"/>
          </a:p>
          <a:p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1"/>
                </a:solidFill>
              </a:rPr>
              <a:t>library</a:t>
            </a:r>
            <a:r>
              <a:rPr lang="en-US" altLang="ko-KR" dirty="0"/>
              <a:t> for web and native </a:t>
            </a:r>
            <a:r>
              <a:rPr lang="en-US" altLang="ko-KR" dirty="0">
                <a:solidFill>
                  <a:schemeClr val="accent1"/>
                </a:solidFill>
              </a:rPr>
              <a:t>user interfaces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1" r="1848" b="621"/>
          <a:stretch/>
        </p:blipFill>
        <p:spPr>
          <a:xfrm>
            <a:off x="6397754" y="704844"/>
            <a:ext cx="4774434" cy="536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4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29A2B-3218-BB87-0592-07CA74BC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37AD5-610C-2412-B349-81DEB319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화면을 만들기 위한 </a:t>
            </a:r>
            <a:r>
              <a:rPr lang="ko-KR" altLang="en-US" dirty="0">
                <a:solidFill>
                  <a:schemeClr val="accent1"/>
                </a:solidFill>
              </a:rPr>
              <a:t>자바스크립트 라이브러리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ko-KR" altLang="en-US" dirty="0"/>
              <a:t>현재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 환경에서 가장 많이 활용되고 있는 라이브러리</a:t>
            </a:r>
            <a:endParaRPr lang="en-US" altLang="ko-KR" dirty="0"/>
          </a:p>
          <a:p>
            <a:r>
              <a:rPr lang="ko-KR" altLang="en-US" dirty="0"/>
              <a:t>사용자와 상호 작용이 가능한 동적 </a:t>
            </a:r>
            <a:r>
              <a:rPr lang="en-US" altLang="ko-KR" dirty="0"/>
              <a:t>UI </a:t>
            </a:r>
            <a:r>
              <a:rPr lang="ko-KR" altLang="en-US" dirty="0"/>
              <a:t>제작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11914-DD55-BFF2-E3D5-7874FC27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7BEF-B73A-49F5-82B0-918E780DEC4B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212A2-5058-0EB1-FDE3-4DA51941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792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특징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Data Flow</a:t>
            </a:r>
          </a:p>
          <a:p>
            <a:pPr marL="514350" indent="-514350">
              <a:buAutoNum type="arabicPeriod"/>
            </a:pPr>
            <a:r>
              <a:rPr lang="en-US" altLang="ko-KR" dirty="0"/>
              <a:t>Component </a:t>
            </a:r>
            <a:r>
              <a:rPr lang="ko-KR" altLang="en-US" dirty="0"/>
              <a:t>기반 구조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Virtual</a:t>
            </a:r>
            <a:r>
              <a:rPr lang="ko-KR" altLang="en-US" dirty="0"/>
              <a:t> </a:t>
            </a:r>
            <a:r>
              <a:rPr lang="en-US" altLang="ko-KR" dirty="0"/>
              <a:t>Dom</a:t>
            </a:r>
          </a:p>
          <a:p>
            <a:pPr marL="514350" indent="-514350">
              <a:buAutoNum type="arabicPeriod"/>
            </a:pPr>
            <a:r>
              <a:rPr lang="en-US" altLang="ko-KR" dirty="0"/>
              <a:t>Props and State</a:t>
            </a:r>
          </a:p>
          <a:p>
            <a:pPr marL="514350" indent="-514350">
              <a:buAutoNum type="arabicPeriod"/>
            </a:pPr>
            <a:r>
              <a:rPr lang="en-US" altLang="ko-KR" dirty="0" err="1"/>
              <a:t>JSX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7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81697-F3C6-F906-2920-D4293EE3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1. Data Flow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2EB69-5D0B-BD0D-3F68-2C11B5F0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양방향 </a:t>
            </a:r>
            <a:r>
              <a:rPr lang="en-US" altLang="ko-KR" dirty="0"/>
              <a:t>X </a:t>
            </a:r>
            <a:r>
              <a:rPr lang="ko-KR" altLang="en-US" b="1" dirty="0">
                <a:solidFill>
                  <a:schemeClr val="accent1"/>
                </a:solidFill>
              </a:rPr>
              <a:t>단방향 </a:t>
            </a:r>
            <a:r>
              <a:rPr lang="en-US" altLang="ko-KR" b="1" dirty="0">
                <a:solidFill>
                  <a:schemeClr val="accent1"/>
                </a:solidFill>
              </a:rPr>
              <a:t>O </a:t>
            </a:r>
            <a:r>
              <a:rPr lang="ko-KR" altLang="en-US" b="1" dirty="0">
                <a:solidFill>
                  <a:schemeClr val="accent1"/>
                </a:solidFill>
              </a:rPr>
              <a:t>데이터 흐름</a:t>
            </a:r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dirty="0"/>
              <a:t>Angular JS </a:t>
            </a:r>
            <a:r>
              <a:rPr lang="ko-KR" altLang="en-US" dirty="0"/>
              <a:t>처럼 양방향 데이터 바인딩은 규모가 커질수록 데이터의 흐름을 추적하기 힘들고 복잡해지는 경향이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B420A-7F40-C197-E70E-7A7EDD4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85CA-27A9-4DEA-8849-A362F4ECB08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E88A00-63DF-D74B-D42B-63D26475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28ECF-601C-4F1B-2965-BA97998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B3876-DA3B-390F-10DC-BB305F986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</a:rPr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독립적인 단위의 소프트웨어 모듈로 소프트웨어를 독립적인 </a:t>
            </a:r>
            <a:r>
              <a:rPr lang="ko-KR" altLang="en-US" b="1" dirty="0">
                <a:solidFill>
                  <a:schemeClr val="accent1"/>
                </a:solidFill>
              </a:rPr>
              <a:t>하나의 부품</a:t>
            </a:r>
            <a:r>
              <a:rPr lang="ko-KR" altLang="en-US" dirty="0"/>
              <a:t>으로 만드는 방법</a:t>
            </a:r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는 </a:t>
            </a:r>
            <a:r>
              <a:rPr lang="en-US" altLang="ko-KR" dirty="0"/>
              <a:t>UI(View)</a:t>
            </a:r>
            <a:r>
              <a:rPr lang="ko-KR" altLang="en-US" dirty="0"/>
              <a:t>를 여러 </a:t>
            </a:r>
            <a:r>
              <a:rPr lang="en-US" altLang="ko-KR" dirty="0"/>
              <a:t>Component</a:t>
            </a:r>
            <a:r>
              <a:rPr lang="ko-KR" altLang="en-US" dirty="0"/>
              <a:t>를 쪼개서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 페이지 내에서 여러 부분을 </a:t>
            </a:r>
            <a:r>
              <a:rPr lang="en-US" altLang="ko-KR" dirty="0"/>
              <a:t>Component</a:t>
            </a:r>
            <a:r>
              <a:rPr lang="ko-KR" altLang="en-US" dirty="0"/>
              <a:t>로 만들고 이를 조립해 화면을 구성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25303-5F51-DC58-F265-B63E2582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5DEE-25A5-4339-9AC2-7BA35671899D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FCE170-7E4F-F360-9309-9EC36B3A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2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E814A3-8CE1-6D84-9FC3-0128B1FF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FC0F-ED49-9D2C-CE9E-EAFD39AA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2923"/>
            <a:ext cx="10515600" cy="368397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Component</a:t>
            </a:r>
            <a:r>
              <a:rPr lang="ko-KR" altLang="en-US" dirty="0"/>
              <a:t> 단위로 쪼개져 있기 때문에</a:t>
            </a:r>
            <a:r>
              <a:rPr lang="en-US" altLang="ko-KR" dirty="0"/>
              <a:t>, </a:t>
            </a:r>
            <a:r>
              <a:rPr lang="ko-KR" altLang="en-US" dirty="0"/>
              <a:t>전체 코드를 파악하기 쉽다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기능 단위</a:t>
            </a:r>
            <a:r>
              <a:rPr lang="en-US" altLang="ko-KR" dirty="0"/>
              <a:t>, UI </a:t>
            </a:r>
            <a:r>
              <a:rPr lang="ko-KR" altLang="en-US" dirty="0"/>
              <a:t>단위로 </a:t>
            </a:r>
            <a:r>
              <a:rPr lang="ko-KR" altLang="en-US" dirty="0" err="1"/>
              <a:t>캡슐화시켜</a:t>
            </a:r>
            <a:r>
              <a:rPr lang="ko-KR" altLang="en-US" dirty="0"/>
              <a:t> 코드를 관리하기 때문에 </a:t>
            </a:r>
            <a:r>
              <a:rPr lang="ko-KR" altLang="en-US" b="1" dirty="0"/>
              <a:t>재사용성</a:t>
            </a:r>
            <a:r>
              <a:rPr lang="ko-KR" altLang="en-US" dirty="0"/>
              <a:t>이 높다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코드를 반복할 필요 없이 </a:t>
            </a:r>
            <a:r>
              <a:rPr lang="en-US" altLang="ko-KR" dirty="0"/>
              <a:t>Component</a:t>
            </a:r>
            <a:r>
              <a:rPr lang="ko-KR" altLang="en-US" dirty="0"/>
              <a:t>만 </a:t>
            </a:r>
            <a:r>
              <a:rPr lang="en-US" altLang="ko-KR" dirty="0"/>
              <a:t>import </a:t>
            </a:r>
            <a:r>
              <a:rPr lang="ko-KR" altLang="en-US" dirty="0"/>
              <a:t>해서 사용하면 된다는 </a:t>
            </a:r>
            <a:r>
              <a:rPr lang="ko-KR" altLang="en-US" b="1" dirty="0"/>
              <a:t>간편함</a:t>
            </a:r>
            <a:r>
              <a:rPr lang="ko-KR" altLang="en-US" dirty="0"/>
              <a:t>이 있다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애플리케이션이 </a:t>
            </a:r>
            <a:r>
              <a:rPr lang="ko-KR" altLang="en-US" dirty="0" err="1"/>
              <a:t>복잡해지더라도</a:t>
            </a:r>
            <a:r>
              <a:rPr lang="ko-KR" altLang="en-US" dirty="0"/>
              <a:t> </a:t>
            </a:r>
            <a:r>
              <a:rPr lang="ko-KR" altLang="en-US" b="1" dirty="0"/>
              <a:t>코드의 유지보수</a:t>
            </a:r>
            <a:r>
              <a:rPr lang="en-US" altLang="ko-KR" b="1" dirty="0"/>
              <a:t>, </a:t>
            </a:r>
            <a:r>
              <a:rPr lang="ko-KR" altLang="en-US" b="1" dirty="0"/>
              <a:t>관리가 용이</a:t>
            </a:r>
            <a:r>
              <a:rPr lang="ko-KR" altLang="en-US" dirty="0"/>
              <a:t>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970B1-6792-DBF1-D7C6-0C10762D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D4D2-499C-4900-92C8-E32DFC679E3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62CBD0-D77C-9617-49A7-DC2E2B11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6FE55-3508-5229-9C15-088403C3718F}"/>
              </a:ext>
            </a:extLst>
          </p:cNvPr>
          <p:cNvSpPr txBox="1"/>
          <p:nvPr/>
        </p:nvSpPr>
        <p:spPr>
          <a:xfrm>
            <a:off x="3033656" y="5458280"/>
            <a:ext cx="8502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b="1" dirty="0" err="1">
                <a:solidFill>
                  <a:schemeClr val="accent6"/>
                </a:solidFill>
              </a:rPr>
              <a:t>캡슐화</a:t>
            </a:r>
            <a:r>
              <a:rPr lang="ko-KR" altLang="en-US" dirty="0" err="1">
                <a:solidFill>
                  <a:schemeClr val="accent6"/>
                </a:solidFill>
              </a:rPr>
              <a:t>란</a:t>
            </a:r>
            <a:r>
              <a:rPr lang="en-US" altLang="ko-KR" dirty="0">
                <a:solidFill>
                  <a:schemeClr val="accent6"/>
                </a:solidFill>
              </a:rPr>
              <a:t>?</a:t>
            </a:r>
          </a:p>
          <a:p>
            <a:pPr algn="r"/>
            <a:r>
              <a:rPr lang="ko-KR" altLang="en-US" dirty="0">
                <a:solidFill>
                  <a:schemeClr val="accent6"/>
                </a:solidFill>
              </a:rPr>
              <a:t>데이터와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데이터를 처리하는 행위를 묶고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외부에는 그 행위를 보여주지 않는 것</a:t>
            </a:r>
          </a:p>
        </p:txBody>
      </p:sp>
    </p:spTree>
    <p:extLst>
      <p:ext uri="{BB962C8B-B14F-4D97-AF65-F5344CB8AC3E}">
        <p14:creationId xmlns:p14="http://schemas.microsoft.com/office/powerpoint/2010/main" val="189471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D4EAF-7B25-09C0-1F77-1807B780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6F692-1DF0-07C4-D0A7-0604C6C72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740" y="1825625"/>
            <a:ext cx="6576060" cy="4351338"/>
          </a:xfrm>
        </p:spPr>
        <p:txBody>
          <a:bodyPr/>
          <a:lstStyle/>
          <a:p>
            <a:r>
              <a:rPr lang="en-US" altLang="ko-KR" dirty="0"/>
              <a:t>Header, Footer </a:t>
            </a:r>
            <a:r>
              <a:rPr lang="ko-KR" altLang="en-US" dirty="0"/>
              <a:t>같은 구조를 컴포넌트로 제작</a:t>
            </a:r>
            <a:endParaRPr lang="en-US" altLang="ko-KR" dirty="0"/>
          </a:p>
          <a:p>
            <a:r>
              <a:rPr lang="ko-KR" altLang="en-US" dirty="0"/>
              <a:t>컴포넌트를 조합해 </a:t>
            </a:r>
            <a:r>
              <a:rPr lang="en-US" altLang="ko-KR" dirty="0"/>
              <a:t>Root Component (</a:t>
            </a:r>
            <a:r>
              <a:rPr lang="ko-KR" altLang="en-US" dirty="0"/>
              <a:t>최상위 컴포넌트</a:t>
            </a:r>
            <a:r>
              <a:rPr lang="en-US" altLang="ko-KR" dirty="0"/>
              <a:t>) </a:t>
            </a:r>
            <a:r>
              <a:rPr lang="ko-KR" altLang="en-US" dirty="0"/>
              <a:t>로 만듦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5DC2B-100D-4ABF-F404-9B4BBBA1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3EB5-E321-4CB7-8431-D125BB957E9D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B07BC2-C803-43E4-7F17-0C939F41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F4E319-1F2E-4CC6-C5B7-7D2C21093C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6" b="6739"/>
          <a:stretch/>
        </p:blipFill>
        <p:spPr>
          <a:xfrm>
            <a:off x="861054" y="1825625"/>
            <a:ext cx="3627131" cy="42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12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0BE54-8F51-7B76-8DA7-418BB14D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 : Document Object Model ( </a:t>
            </a:r>
            <a:r>
              <a:rPr lang="ko-KR" altLang="en-US" dirty="0"/>
              <a:t>문서 객체 모델 </a:t>
            </a:r>
            <a:r>
              <a:rPr lang="en-US" altLang="ko-KR" dirty="0"/>
              <a:t>)</a:t>
            </a:r>
          </a:p>
          <a:p>
            <a:pPr marL="3657600" lvl="8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CCB0EEF-6763-EE0A-3543-C4BE1B4DF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22" y="2516076"/>
            <a:ext cx="3198286" cy="33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4220308" y="2516076"/>
            <a:ext cx="7285892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React</a:t>
            </a:r>
            <a:r>
              <a:rPr lang="ko-KR" altLang="en-US" sz="2400" dirty="0"/>
              <a:t>는 </a:t>
            </a:r>
            <a:r>
              <a:rPr lang="en-US" altLang="ko-KR" sz="2400" dirty="0"/>
              <a:t>DOM Tree </a:t>
            </a:r>
            <a:r>
              <a:rPr lang="ko-KR" altLang="en-US" sz="2400" dirty="0"/>
              <a:t>구조와 같은 구조를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으로 가지고 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08615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561860" y="1325563"/>
            <a:ext cx="10944340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397D1C-55A6-CA0D-2549-5E2672BBE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46" y="2538317"/>
            <a:ext cx="5935108" cy="32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49363-2D3C-2EF7-A689-C289F3B5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4. Props and State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973BD-0840-0409-CB5C-44A263F4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</a:p>
          <a:p>
            <a:pPr lvl="1"/>
            <a:r>
              <a:rPr lang="ko-KR" altLang="en-US" dirty="0"/>
              <a:t>부모 컴포넌트에서 자식 컴포넌트로 전달해주는 데이터</a:t>
            </a:r>
            <a:endParaRPr lang="en-US" altLang="ko-KR" dirty="0"/>
          </a:p>
          <a:p>
            <a:pPr lvl="1"/>
            <a:r>
              <a:rPr lang="ko-KR" altLang="en-US" dirty="0"/>
              <a:t>자식에서는 </a:t>
            </a:r>
            <a:r>
              <a:rPr lang="en-US" altLang="ko-KR" dirty="0"/>
              <a:t>props </a:t>
            </a:r>
            <a:r>
              <a:rPr lang="ko-KR" altLang="en-US" dirty="0"/>
              <a:t>변경 불가능</a:t>
            </a:r>
            <a:r>
              <a:rPr lang="en-US" altLang="ko-KR" dirty="0"/>
              <a:t>, props</a:t>
            </a:r>
            <a:r>
              <a:rPr lang="ko-KR" altLang="en-US" dirty="0"/>
              <a:t>를 전달한 최상위에서만 변경 가능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State</a:t>
            </a:r>
          </a:p>
          <a:p>
            <a:pPr lvl="1"/>
            <a:r>
              <a:rPr lang="ko-KR" altLang="en-US" dirty="0"/>
              <a:t>컴포넌트 내부에서 선언되고 내부에서 값을 변경</a:t>
            </a:r>
            <a:endParaRPr lang="en-US" altLang="ko-KR" dirty="0"/>
          </a:p>
          <a:p>
            <a:pPr lvl="1"/>
            <a:r>
              <a:rPr lang="ko-KR" altLang="en-US" dirty="0"/>
              <a:t>함수형</a:t>
            </a:r>
            <a:r>
              <a:rPr lang="en-US" altLang="ko-KR" dirty="0"/>
              <a:t>, </a:t>
            </a:r>
            <a:r>
              <a:rPr lang="ko-KR" altLang="en-US" dirty="0"/>
              <a:t>클래스형 컴포넌트에서 사용 가능</a:t>
            </a:r>
            <a:r>
              <a:rPr lang="en-US" altLang="ko-KR" dirty="0"/>
              <a:t>, </a:t>
            </a:r>
            <a:r>
              <a:rPr lang="ko-KR" altLang="en-US" dirty="0"/>
              <a:t>각각의 </a:t>
            </a:r>
            <a:r>
              <a:rPr lang="en-US" altLang="ko-KR" dirty="0"/>
              <a:t>state</a:t>
            </a:r>
            <a:r>
              <a:rPr lang="ko-KR" altLang="en-US" dirty="0"/>
              <a:t>는 독립적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BF3FE-AAED-37F5-322F-D9C19167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9B623-B367-4165-8C2F-DFDEC75DE620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B6A307-3626-2212-51E5-1F8DBB53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19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36E38-1694-2EA3-1C9F-7D09B520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5. JSX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AD72E-5551-D378-962D-FCD56600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에서 </a:t>
            </a:r>
            <a:r>
              <a:rPr lang="en-US" altLang="ko-KR" dirty="0"/>
              <a:t>JSX </a:t>
            </a:r>
            <a:r>
              <a:rPr lang="ko-KR" altLang="en-US" dirty="0"/>
              <a:t>사용이 필수는 아니지만 편의성을 위해 대부분의 프로젝트에서 </a:t>
            </a:r>
            <a:r>
              <a:rPr lang="en-US" altLang="ko-KR" dirty="0" err="1"/>
              <a:t>JSX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 err="1"/>
              <a:t>JSX</a:t>
            </a:r>
            <a:r>
              <a:rPr lang="en-US" altLang="ko-KR" dirty="0"/>
              <a:t> = </a:t>
            </a:r>
            <a:r>
              <a:rPr lang="en-US" altLang="ko-KR" dirty="0" err="1"/>
              <a:t>Javascript</a:t>
            </a:r>
            <a:r>
              <a:rPr lang="en-US" altLang="ko-KR" dirty="0"/>
              <a:t> + XML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를 확장한 문법으로 </a:t>
            </a:r>
            <a:r>
              <a:rPr lang="en-US" altLang="ko-KR" dirty="0"/>
              <a:t>React Element</a:t>
            </a:r>
            <a:r>
              <a:rPr lang="ko-KR" altLang="en-US" dirty="0"/>
              <a:t>를 생성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079305-30A5-BA9F-62C1-B11FF595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4E03-9351-4410-87CA-D059FFF49069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A65109-24D4-E914-3046-2DA25C8D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5662E-767C-D055-4DBF-234C8E84C3A4}"/>
              </a:ext>
            </a:extLst>
          </p:cNvPr>
          <p:cNvSpPr txBox="1"/>
          <p:nvPr/>
        </p:nvSpPr>
        <p:spPr>
          <a:xfrm>
            <a:off x="2703757" y="4780616"/>
            <a:ext cx="6784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6"/>
                </a:solidFill>
              </a:rPr>
              <a:t>더 자세한 건 </a:t>
            </a:r>
            <a:r>
              <a:rPr lang="en-US" altLang="ko-KR" sz="2400" dirty="0">
                <a:solidFill>
                  <a:schemeClr val="accent6"/>
                </a:solidFill>
              </a:rPr>
              <a:t>React </a:t>
            </a:r>
            <a:r>
              <a:rPr lang="ko-KR" altLang="en-US" sz="2400" dirty="0">
                <a:solidFill>
                  <a:schemeClr val="accent6"/>
                </a:solidFill>
              </a:rPr>
              <a:t>프로젝트를 생성한 후에 배워보자</a:t>
            </a:r>
            <a:r>
              <a:rPr lang="en-US" altLang="ko-KR" sz="2400" dirty="0">
                <a:solidFill>
                  <a:schemeClr val="accent6"/>
                </a:solidFill>
              </a:rPr>
              <a:t>!</a:t>
            </a:r>
            <a:endParaRPr lang="ko-KR" alt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13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E08F1-E4F2-20DC-80E6-5D5A0CF1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51FCCB-21F1-C247-CCA0-668E623C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2B11E1-C1B6-B8DD-9585-9840F75C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080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B570A96-23CB-1DBC-CC4B-D864C715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 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F00573-52FF-E4C7-62B5-262ACC8E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는 </a:t>
            </a:r>
            <a:r>
              <a:rPr lang="en-US" altLang="ko-KR" dirty="0"/>
              <a:t>React</a:t>
            </a:r>
            <a:r>
              <a:rPr lang="ko-KR" altLang="en-US" dirty="0"/>
              <a:t>를 사용하기 쉽게 하는 도구를 내장하고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Node.js</a:t>
            </a:r>
            <a:r>
              <a:rPr lang="ko-KR" altLang="en-US" dirty="0"/>
              <a:t>와 함께 설치되는 </a:t>
            </a:r>
            <a:r>
              <a:rPr lang="en-US" altLang="ko-KR" dirty="0"/>
              <a:t>NPM(Node Package Manager)</a:t>
            </a:r>
            <a:r>
              <a:rPr lang="ko-KR" altLang="en-US" dirty="0"/>
              <a:t>를 이용하면</a:t>
            </a:r>
            <a:r>
              <a:rPr lang="en-US" altLang="ko-KR" dirty="0"/>
              <a:t> </a:t>
            </a:r>
            <a:r>
              <a:rPr lang="ko-KR" altLang="en-US" dirty="0" err="1"/>
              <a:t>프론트엔드</a:t>
            </a:r>
            <a:r>
              <a:rPr lang="ko-KR" altLang="en-US" dirty="0"/>
              <a:t> 프로젝트를</a:t>
            </a:r>
            <a:r>
              <a:rPr lang="en-US" altLang="ko-KR" dirty="0"/>
              <a:t> </a:t>
            </a:r>
            <a:r>
              <a:rPr lang="ko-KR" altLang="en-US" dirty="0"/>
              <a:t>위한 다양한 패키지를 쉽게 설치하고 관리 가능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리액트</a:t>
            </a:r>
            <a:r>
              <a:rPr lang="ko-KR" altLang="en-US" dirty="0" err="1"/>
              <a:t>도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하나의 패키지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자바스크립트 런타임인 </a:t>
            </a:r>
            <a:r>
              <a:rPr lang="en-US" altLang="ko-KR" dirty="0"/>
              <a:t>Node.js </a:t>
            </a:r>
            <a:r>
              <a:rPr lang="ko-KR" altLang="en-US" dirty="0"/>
              <a:t>기반으로 만들어진 </a:t>
            </a:r>
            <a:r>
              <a:rPr lang="en-US" altLang="ko-KR" dirty="0">
                <a:solidFill>
                  <a:schemeClr val="accent1"/>
                </a:solidFill>
              </a:rPr>
              <a:t>Webpack</a:t>
            </a:r>
            <a:r>
              <a:rPr lang="ko-KR" altLang="en-US" dirty="0"/>
              <a:t>과 </a:t>
            </a:r>
            <a:r>
              <a:rPr lang="en-US" altLang="ko-KR" dirty="0">
                <a:solidFill>
                  <a:schemeClr val="accent1"/>
                </a:solidFill>
              </a:rPr>
              <a:t>Babel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r>
              <a:rPr lang="ko-KR" altLang="en-US" dirty="0" err="1"/>
              <a:t>도구을</a:t>
            </a:r>
            <a:r>
              <a:rPr lang="ko-KR" altLang="en-US" dirty="0"/>
              <a:t> 자주 사용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60317D-5173-DBB7-7438-56BC233B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0C4A-4625-56FD-B7F4-F116387C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030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93E3C9D-5953-8E7B-BA6B-2C3EA44F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Babel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EE18CE1-F290-8AD9-4B51-5663B1CA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옛날에는 큰 기능을 하지 않는 자바스크립트 컴파일러</a:t>
            </a:r>
            <a:r>
              <a:rPr lang="en-US" altLang="ko-KR" dirty="0"/>
              <a:t>(</a:t>
            </a:r>
            <a:r>
              <a:rPr lang="ko-KR" altLang="en-US" dirty="0"/>
              <a:t>해석기</a:t>
            </a:r>
            <a:r>
              <a:rPr lang="en-US" altLang="ko-KR" dirty="0"/>
              <a:t>)</a:t>
            </a:r>
            <a:r>
              <a:rPr lang="ko-KR" altLang="en-US" dirty="0"/>
              <a:t>였지만 </a:t>
            </a:r>
            <a:r>
              <a:rPr lang="ko-KR" altLang="en-US" dirty="0" err="1"/>
              <a:t>리액트에서는</a:t>
            </a:r>
            <a:r>
              <a:rPr lang="ko-KR" altLang="en-US" dirty="0"/>
              <a:t> 중요한 역할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최신</a:t>
            </a:r>
            <a:r>
              <a:rPr lang="en-US" altLang="ko-KR" dirty="0"/>
              <a:t> JavaScript </a:t>
            </a:r>
            <a:r>
              <a:rPr lang="ko-KR" altLang="en-US" dirty="0"/>
              <a:t>문법을 이전 버전의 </a:t>
            </a:r>
            <a:r>
              <a:rPr lang="en-US" altLang="ko-KR" dirty="0"/>
              <a:t>JavaScript </a:t>
            </a:r>
            <a:r>
              <a:rPr lang="ko-KR" altLang="en-US" dirty="0"/>
              <a:t>문법으로 변환해주어 다양한 브라우저에서 호환성에 문제 없이 코드를 실행할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BF2302-3DEF-5632-67CF-3EBD0BC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B20E8-EEE4-BD3D-BA0F-F799786E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" name="Picture 2" descr="File:Babel Logo.svg - Wikimedia Commons">
            <a:extLst>
              <a:ext uri="{FF2B5EF4-FFF2-40B4-BE49-F238E27FC236}">
                <a16:creationId xmlns:a16="http://schemas.microsoft.com/office/drawing/2014/main" id="{EC21896F-080E-D586-E2B8-2DAB58CB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77" y="444895"/>
            <a:ext cx="1805594" cy="81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8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CCB753A-EDC8-E68A-C775-48A827C0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Webpack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C7D93F-78BF-1C43-5A73-2CEA6F7E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 모듈 번들러 </a:t>
            </a:r>
            <a:r>
              <a:rPr lang="en-US" altLang="ko-KR" dirty="0"/>
              <a:t>(Module Bundler)</a:t>
            </a:r>
          </a:p>
          <a:p>
            <a:r>
              <a:rPr lang="ko-KR" altLang="en-US" dirty="0"/>
              <a:t>여러 개의 파일과 모듈을 하나의 파일로 </a:t>
            </a:r>
            <a:r>
              <a:rPr lang="ko-KR" altLang="en-US" dirty="0" err="1"/>
              <a:t>합쳐줌</a:t>
            </a:r>
            <a:endParaRPr lang="en-US" altLang="ko-KR" dirty="0"/>
          </a:p>
          <a:p>
            <a:r>
              <a:rPr lang="ko-KR" altLang="en-US" dirty="0"/>
              <a:t>코드 변경사항 발생 시 바로 반영되는 기능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A8145F-8FFD-0F8F-E2F5-721D215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35CEE-5823-222A-9F18-75E86D07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Picture 2" descr="Branding Guidelines | 웹팩">
            <a:extLst>
              <a:ext uri="{FF2B5EF4-FFF2-40B4-BE49-F238E27FC236}">
                <a16:creationId xmlns:a16="http://schemas.microsoft.com/office/drawing/2014/main" id="{8507FFA5-811D-FE96-4D39-CB28DF7C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954" y="239650"/>
            <a:ext cx="3088046" cy="120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A02B44-2D92-6027-7073-1E33C110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917" y="3571644"/>
            <a:ext cx="5466402" cy="26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54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</a:t>
            </a:r>
          </a:p>
        </p:txBody>
      </p:sp>
    </p:spTree>
    <p:extLst>
      <p:ext uri="{BB962C8B-B14F-4D97-AF65-F5344CB8AC3E}">
        <p14:creationId xmlns:p14="http://schemas.microsoft.com/office/powerpoint/2010/main" val="3893178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리액트</a:t>
            </a:r>
            <a:r>
              <a:rPr lang="ko-KR" altLang="en-US" dirty="0"/>
              <a:t> 앱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 </a:t>
            </a:r>
            <a:r>
              <a:rPr lang="ko-KR" altLang="en-US" dirty="0"/>
              <a:t>이름 규칙</a:t>
            </a:r>
            <a:endParaRPr lang="en-US" altLang="ko-KR" dirty="0"/>
          </a:p>
          <a:p>
            <a:pPr lvl="1"/>
            <a:r>
              <a:rPr lang="ko-KR" altLang="en-US" dirty="0"/>
              <a:t>대문자 사용 불가능</a:t>
            </a:r>
            <a:endParaRPr lang="en-US" altLang="ko-KR" dirty="0"/>
          </a:p>
          <a:p>
            <a:pPr lvl="1"/>
            <a:r>
              <a:rPr lang="ko-KR" altLang="en-US" dirty="0"/>
              <a:t>단어 여러 개 사용시 하이픈</a:t>
            </a:r>
            <a:r>
              <a:rPr lang="en-US" altLang="ko-KR" dirty="0"/>
              <a:t>(-) </a:t>
            </a:r>
            <a:r>
              <a:rPr lang="ko-KR" altLang="en-US" dirty="0"/>
              <a:t>기호로 구분</a:t>
            </a:r>
            <a:endParaRPr lang="en-US" altLang="ko-KR" dirty="0"/>
          </a:p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npm</a:t>
            </a:r>
            <a:r>
              <a:rPr lang="ko-KR" altLang="en-US" dirty="0"/>
              <a:t>의 자식 명령어로 </a:t>
            </a:r>
            <a:r>
              <a:rPr lang="en-US" altLang="ko-KR" dirty="0" err="1"/>
              <a:t>npm</a:t>
            </a:r>
            <a:r>
              <a:rPr lang="ko-KR" altLang="en-US" dirty="0"/>
              <a:t>보다 가볍게 패키지를 구성</a:t>
            </a:r>
            <a:endParaRPr lang="en-US" altLang="ko-KR" dirty="0"/>
          </a:p>
          <a:p>
            <a:pPr lvl="1"/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버전이 </a:t>
            </a:r>
            <a:r>
              <a:rPr lang="en-US" altLang="ko-KR" dirty="0"/>
              <a:t>5.2 </a:t>
            </a:r>
            <a:r>
              <a:rPr lang="ko-KR" altLang="en-US" dirty="0"/>
              <a:t>이상일 때</a:t>
            </a:r>
            <a:r>
              <a:rPr lang="en-US" altLang="ko-KR" dirty="0"/>
              <a:t>, node </a:t>
            </a:r>
            <a:r>
              <a:rPr lang="ko-KR" altLang="en-US" dirty="0"/>
              <a:t>버전이 </a:t>
            </a:r>
            <a:r>
              <a:rPr lang="en-US" altLang="ko-KR" dirty="0"/>
              <a:t>14 </a:t>
            </a:r>
            <a:r>
              <a:rPr lang="ko-KR" altLang="en-US" dirty="0"/>
              <a:t>이상일 때 사용 가능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4815840"/>
            <a:ext cx="8953500" cy="5238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856220" y="4815840"/>
            <a:ext cx="2434590" cy="523875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057082" y="5415461"/>
            <a:ext cx="203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5"/>
                </a:solidFill>
              </a:rPr>
              <a:t>React App Name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44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실행하기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2132"/>
            <a:ext cx="5189220" cy="25503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EBC82F-9FC6-A16D-CCE6-0E23E59315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736" r="33893" b="6885"/>
          <a:stretch/>
        </p:blipFill>
        <p:spPr>
          <a:xfrm>
            <a:off x="838200" y="1825625"/>
            <a:ext cx="2240280" cy="50609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65" y="1825625"/>
            <a:ext cx="4994459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21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ADD239B-019F-8311-F1D9-32734A87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create-react-app</a:t>
            </a:r>
            <a:r>
              <a:rPr lang="ko-KR" altLang="en-US" sz="4000" dirty="0"/>
              <a:t>으로 생성한 프로젝트의 구조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42B04D4-48CD-0E55-275E-2B82255AC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558" y="1867963"/>
            <a:ext cx="6638109" cy="24214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node_modules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npm</a:t>
            </a:r>
            <a:r>
              <a:rPr lang="en-US" altLang="ko-KR" sz="2400" dirty="0"/>
              <a:t> </a:t>
            </a:r>
            <a:r>
              <a:rPr lang="ko-KR" altLang="en-US" sz="2400" dirty="0"/>
              <a:t>을 시작하면 생기는 폴더</a:t>
            </a:r>
            <a:r>
              <a:rPr lang="en-US" altLang="ko-KR" sz="2400" dirty="0"/>
              <a:t>, </a:t>
            </a:r>
            <a:r>
              <a:rPr lang="ko-KR" altLang="en-US" sz="2400" dirty="0"/>
              <a:t>내부에 모듈과 관련된 정보가 들어있음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/public</a:t>
            </a:r>
            <a:r>
              <a:rPr lang="en-US" altLang="ko-KR" sz="2400" dirty="0"/>
              <a:t> : index.html &amp; favicon.ico!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가상</a:t>
            </a:r>
            <a:r>
              <a:rPr lang="en-US" altLang="ko-KR" sz="2400" dirty="0"/>
              <a:t>DOM</a:t>
            </a:r>
            <a:r>
              <a:rPr lang="ko-KR" altLang="en-US" sz="2400" dirty="0"/>
              <a:t>을 위한 </a:t>
            </a:r>
            <a:r>
              <a:rPr lang="en-US" altLang="ko-KR" sz="2400" dirty="0"/>
              <a:t>html </a:t>
            </a:r>
            <a:r>
              <a:rPr lang="ko-KR" altLang="en-US" sz="2400" dirty="0"/>
              <a:t>파일이 들어있는 곳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src</a:t>
            </a:r>
            <a:r>
              <a:rPr lang="en-US" altLang="ko-KR" sz="2400" dirty="0"/>
              <a:t> : </a:t>
            </a:r>
            <a:r>
              <a:rPr lang="ko-KR" altLang="en-US" sz="2400" dirty="0"/>
              <a:t>실제 </a:t>
            </a:r>
            <a:r>
              <a:rPr lang="en-US" altLang="ko-KR" sz="2400" dirty="0"/>
              <a:t>React </a:t>
            </a:r>
            <a:r>
              <a:rPr lang="ko-KR" altLang="en-US" sz="2400" dirty="0"/>
              <a:t>코드</a:t>
            </a:r>
            <a:r>
              <a:rPr lang="en-US" altLang="ko-KR" sz="2400" dirty="0"/>
              <a:t>(</a:t>
            </a:r>
            <a:r>
              <a:rPr lang="ko-KR" altLang="en-US" sz="2400" dirty="0"/>
              <a:t>컴포넌트</a:t>
            </a:r>
            <a:r>
              <a:rPr lang="en-US" altLang="ko-KR" sz="2400" dirty="0"/>
              <a:t>)</a:t>
            </a:r>
            <a:r>
              <a:rPr lang="ko-KR" altLang="en-US" sz="2400" dirty="0"/>
              <a:t>를 작성하는 곳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D718A4-45BF-9A39-F6EB-DEFAC38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303A6-3E14-7AFF-5FFD-5F88556F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DED0C8-844C-2691-2A23-250EDF455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7963"/>
            <a:ext cx="3524250" cy="3638550"/>
          </a:xfrm>
          <a:prstGeom prst="rect">
            <a:avLst/>
          </a:prstGeom>
        </p:spPr>
      </p:pic>
      <p:pic>
        <p:nvPicPr>
          <p:cNvPr id="8" name="Picture 2" descr="폴더 | 무료 아이콘">
            <a:extLst>
              <a:ext uri="{FF2B5EF4-FFF2-40B4-BE49-F238E27FC236}">
                <a16:creationId xmlns:a16="http://schemas.microsoft.com/office/drawing/2014/main" id="{9A0C5A4F-CEC3-222B-7C30-A01FD6E0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590" y="186796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파일 아이콘 에 Multimedia">
            <a:extLst>
              <a:ext uri="{FF2B5EF4-FFF2-40B4-BE49-F238E27FC236}">
                <a16:creationId xmlns:a16="http://schemas.microsoft.com/office/drawing/2014/main" id="{90335741-A4CD-D06D-239D-6A1EF7CA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576" y="4478534"/>
            <a:ext cx="504000" cy="36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2CF044B6-16F8-7B14-AE5B-B0D533D5DC57}"/>
              </a:ext>
            </a:extLst>
          </p:cNvPr>
          <p:cNvSpPr txBox="1">
            <a:spLocks/>
          </p:cNvSpPr>
          <p:nvPr/>
        </p:nvSpPr>
        <p:spPr>
          <a:xfrm>
            <a:off x="5393267" y="4478533"/>
            <a:ext cx="6125364" cy="1471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dirty="0"/>
              <a:t>.</a:t>
            </a:r>
            <a:r>
              <a:rPr lang="en-US" altLang="ko-KR" sz="2400" dirty="0" err="1"/>
              <a:t>gitignore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package-</a:t>
            </a:r>
            <a:r>
              <a:rPr lang="en-US" altLang="ko-KR" sz="2400" dirty="0" err="1"/>
              <a:t>lock.json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package.json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README.md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8016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277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573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</a:t>
            </a:r>
            <a:r>
              <a:rPr lang="ko-KR" altLang="en-US" dirty="0"/>
              <a:t>의 꽃이라 불리는 </a:t>
            </a:r>
            <a:r>
              <a:rPr lang="en-US" altLang="ko-KR" dirty="0">
                <a:solidFill>
                  <a:schemeClr val="accent1"/>
                </a:solidFill>
              </a:rPr>
              <a:t>React</a:t>
            </a:r>
            <a:r>
              <a:rPr lang="ko-KR" altLang="en-US" dirty="0">
                <a:solidFill>
                  <a:schemeClr val="accent1"/>
                </a:solidFill>
              </a:rPr>
              <a:t>의 핵심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/>
              <a:t>React </a:t>
            </a:r>
            <a:r>
              <a:rPr lang="ko-KR" altLang="en-US" dirty="0"/>
              <a:t>를 화면을 구성하는 하나의 부분</a:t>
            </a:r>
            <a:endParaRPr lang="en-US" altLang="ko-KR" dirty="0"/>
          </a:p>
          <a:p>
            <a:r>
              <a:rPr lang="ko-KR" altLang="en-US" dirty="0"/>
              <a:t>내부의 데이터만 변경해서 전체적인 틀</a:t>
            </a:r>
            <a:r>
              <a:rPr lang="en-US" altLang="ko-KR" dirty="0"/>
              <a:t>(UI)</a:t>
            </a:r>
            <a:r>
              <a:rPr lang="ko-KR" altLang="en-US" dirty="0"/>
              <a:t>을 재사용 가능</a:t>
            </a:r>
            <a:endParaRPr lang="en-US" altLang="ko-KR" dirty="0"/>
          </a:p>
          <a:p>
            <a:r>
              <a:rPr lang="en-US" altLang="ko-KR" dirty="0"/>
              <a:t>UI</a:t>
            </a:r>
            <a:r>
              <a:rPr lang="ko-KR" altLang="en-US" dirty="0"/>
              <a:t>를 재사용 가능한 개별적인 여러 조각으로 나누고</a:t>
            </a:r>
            <a:r>
              <a:rPr lang="en-US" altLang="ko-KR" dirty="0"/>
              <a:t>, </a:t>
            </a:r>
            <a:r>
              <a:rPr lang="ko-KR" altLang="en-US" dirty="0"/>
              <a:t>각 조각을 개별적으로 나누어 분리 가능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653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1" y="3203798"/>
            <a:ext cx="10515600" cy="2711410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8199" y="2601532"/>
            <a:ext cx="10515601" cy="602266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865423" y="3258528"/>
            <a:ext cx="2085304" cy="256272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38198" y="2087380"/>
            <a:ext cx="10515601" cy="514152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851076" y="2619061"/>
            <a:ext cx="733026" cy="54387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48045" y="1983347"/>
            <a:ext cx="10701273" cy="40310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83802" y="681953"/>
            <a:ext cx="6180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399FF"/>
                </a:solidFill>
                <a:latin typeface="+mn-ea"/>
              </a:rPr>
              <a:t>1. </a:t>
            </a:r>
            <a:r>
              <a:rPr lang="ko-KR" altLang="en-US" dirty="0">
                <a:solidFill>
                  <a:srgbClr val="3399FF"/>
                </a:solidFill>
                <a:latin typeface="+mn-ea"/>
              </a:rPr>
              <a:t>재사용 되고 있는 부분을 담당하고 있는 작은 단위의 컴포넌트</a:t>
            </a:r>
            <a:endParaRPr lang="en-US" altLang="ko-KR" dirty="0">
              <a:solidFill>
                <a:srgbClr val="3399FF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5050"/>
                </a:solidFill>
                <a:latin typeface="+mn-ea"/>
              </a:rPr>
              <a:t>2.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페이지의 부분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(section, header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등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을 담당하고 있는 컴포넌트</a:t>
            </a:r>
            <a:endParaRPr lang="en-US" altLang="ko-KR" dirty="0">
              <a:solidFill>
                <a:srgbClr val="FF5050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C000"/>
                </a:solidFill>
                <a:latin typeface="+mn-ea"/>
              </a:rPr>
              <a:t>3. </a:t>
            </a:r>
            <a:r>
              <a:rPr lang="ko-KR" altLang="en-US" dirty="0">
                <a:solidFill>
                  <a:srgbClr val="FFC000"/>
                </a:solidFill>
                <a:latin typeface="+mn-ea"/>
              </a:rPr>
              <a:t>페이지 전체를 담당하고 있는 컴포넌트</a:t>
            </a:r>
          </a:p>
        </p:txBody>
      </p:sp>
    </p:spTree>
    <p:extLst>
      <p:ext uri="{BB962C8B-B14F-4D97-AF65-F5344CB8AC3E}">
        <p14:creationId xmlns:p14="http://schemas.microsoft.com/office/powerpoint/2010/main" val="110651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7" grpId="0" animBg="1"/>
      <p:bldP spid="8" grpId="0" animBg="1"/>
      <p:bldP spid="10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9A688-2F5D-8B51-60C9-FFEB0523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698F-A099-4459-96DD-C5B99D5CE837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D0328C-2E8F-DD57-52F6-4CEE68F3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6F743E-6D99-228E-21E4-B6FD029F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트리 구조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A8DE69-7729-8C4A-3329-8DF0B36FF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 r="345" b="7003"/>
          <a:stretch/>
        </p:blipFill>
        <p:spPr>
          <a:xfrm>
            <a:off x="2164575" y="1488687"/>
            <a:ext cx="7862849" cy="388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7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CA096F-6F3F-6E1B-B93A-CE04A9DF4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클래스형 컴포넌트 </a:t>
            </a:r>
            <a:r>
              <a:rPr lang="en-US" altLang="ko-KR" dirty="0">
                <a:solidFill>
                  <a:schemeClr val="accent1"/>
                </a:solidFill>
              </a:rPr>
              <a:t>(Class Component)</a:t>
            </a:r>
          </a:p>
          <a:p>
            <a:pPr lvl="1"/>
            <a:r>
              <a:rPr lang="en-US" altLang="ko-KR" dirty="0"/>
              <a:t>render </a:t>
            </a:r>
            <a:r>
              <a:rPr lang="ko-KR" altLang="en-US" dirty="0"/>
              <a:t>함수를 반드시 사용해야 함</a:t>
            </a:r>
            <a:endParaRPr lang="en-US" altLang="ko-KR" dirty="0"/>
          </a:p>
          <a:p>
            <a:pPr lvl="1"/>
            <a:r>
              <a:rPr lang="en-US" altLang="ko-KR" dirty="0"/>
              <a:t>lifecycle </a:t>
            </a:r>
            <a:r>
              <a:rPr lang="ko-KR" altLang="en-US" dirty="0"/>
              <a:t>기능 </a:t>
            </a:r>
            <a:endParaRPr lang="en-US" altLang="ko-KR" dirty="0"/>
          </a:p>
          <a:p>
            <a:pPr lvl="1"/>
            <a:r>
              <a:rPr lang="ko-KR" altLang="en-US" dirty="0"/>
              <a:t>컴포넌트를 만들 때 기존 </a:t>
            </a:r>
            <a:r>
              <a:rPr lang="en-US" altLang="ko-KR" dirty="0"/>
              <a:t>Components </a:t>
            </a:r>
            <a:r>
              <a:rPr lang="ko-KR" altLang="en-US" dirty="0"/>
              <a:t>클래스에서 상속받아서 사용</a:t>
            </a:r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함수형 컴포넌트 </a:t>
            </a:r>
            <a:r>
              <a:rPr lang="en-US" altLang="ko-KR" dirty="0">
                <a:solidFill>
                  <a:schemeClr val="accent1"/>
                </a:solidFill>
              </a:rPr>
              <a:t>(Functional Component)</a:t>
            </a:r>
          </a:p>
          <a:p>
            <a:pPr lvl="1"/>
            <a:r>
              <a:rPr lang="ko-KR" altLang="en-US" dirty="0"/>
              <a:t>짧고 직관적이며</a:t>
            </a:r>
            <a:r>
              <a:rPr lang="en-US" altLang="ko-KR" dirty="0"/>
              <a:t>, </a:t>
            </a:r>
            <a:r>
              <a:rPr lang="ko-KR" altLang="en-US" dirty="0"/>
              <a:t>사용방법이 더 간단함</a:t>
            </a:r>
            <a:endParaRPr lang="en-US" altLang="ko-KR" dirty="0"/>
          </a:p>
          <a:p>
            <a:pPr lvl="1"/>
            <a:r>
              <a:rPr lang="ko-KR" altLang="en-US" dirty="0"/>
              <a:t>메모리 사용에 이점이 있음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712E-47C4-D02F-744F-A910EE24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7DD45-DE90-3D89-3299-F2DF57E2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38601F7-E9A8-CB0C-86CB-96A8625F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 컴포넌트 종류</a:t>
            </a:r>
          </a:p>
        </p:txBody>
      </p:sp>
    </p:spTree>
    <p:extLst>
      <p:ext uri="{BB962C8B-B14F-4D97-AF65-F5344CB8AC3E}">
        <p14:creationId xmlns:p14="http://schemas.microsoft.com/office/powerpoint/2010/main" val="4162559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31354"/>
            <a:ext cx="10515600" cy="4819874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 </a:t>
            </a:r>
            <a:r>
              <a:rPr lang="en-US" altLang="ko-KR" dirty="0">
                <a:solidFill>
                  <a:srgbClr val="2FA599"/>
                </a:solidFill>
              </a:rPr>
              <a:t>vs.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endParaRPr lang="en-US" altLang="ko-KR" dirty="0">
              <a:solidFill>
                <a:srgbClr val="6DC172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React </a:t>
            </a:r>
            <a:r>
              <a:rPr lang="ko-KR" altLang="en-US" dirty="0"/>
              <a:t>초창기에는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에는 현재 </a:t>
            </a:r>
            <a:r>
              <a:rPr lang="ko-KR" altLang="en-US" dirty="0" err="1"/>
              <a:t>리액트의</a:t>
            </a:r>
            <a:r>
              <a:rPr lang="ko-KR" altLang="en-US" dirty="0"/>
              <a:t> 핵심기능</a:t>
            </a:r>
            <a:r>
              <a:rPr lang="en-US" altLang="ko-KR" dirty="0"/>
              <a:t>(state, lifecycle..)</a:t>
            </a:r>
            <a:r>
              <a:rPr lang="ko-KR" altLang="en-US" dirty="0"/>
              <a:t>등 기능을 사용할 수 없었어요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React 16.8 </a:t>
            </a:r>
            <a:r>
              <a:rPr lang="ko-KR" altLang="en-US" dirty="0"/>
              <a:t>부터 </a:t>
            </a:r>
            <a:r>
              <a:rPr lang="en-US" altLang="ko-KR" dirty="0"/>
              <a:t>hooks </a:t>
            </a:r>
            <a:r>
              <a:rPr lang="ko-KR" altLang="en-US" dirty="0"/>
              <a:t>의 등장으로 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에도 핵심기능을 사용할 수 있게 되었습니다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과거에는 다양한 기능을 사용할 수 있는 </a:t>
            </a:r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</a:t>
            </a:r>
            <a:r>
              <a:rPr lang="ko-KR" altLang="en-US" dirty="0"/>
              <a:t>를 사용했지만</a:t>
            </a:r>
            <a:r>
              <a:rPr lang="en-US" altLang="ko-KR" dirty="0"/>
              <a:t>, </a:t>
            </a:r>
            <a:r>
              <a:rPr lang="ko-KR" altLang="en-US" dirty="0"/>
              <a:t>현재는 더 쉬운 문법을 가지고 있는 </a:t>
            </a:r>
            <a:r>
              <a:rPr lang="ko-KR" altLang="en-US" u="sng" dirty="0">
                <a:solidFill>
                  <a:srgbClr val="6DC172"/>
                </a:solidFill>
              </a:rPr>
              <a:t>함수형 컴포넌트의</a:t>
            </a:r>
            <a:r>
              <a:rPr lang="ko-KR" altLang="en-US" u="sng" dirty="0"/>
              <a:t> 사용 비율이 압도적으로 높아요</a:t>
            </a:r>
            <a:r>
              <a:rPr lang="en-US" altLang="ko-KR" u="sng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000" u="sng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공통적으로 컴포넌트의 이름은 </a:t>
            </a:r>
            <a:r>
              <a:rPr lang="en-US" altLang="ko-KR" dirty="0" err="1">
                <a:solidFill>
                  <a:schemeClr val="accent5"/>
                </a:solidFill>
              </a:rPr>
              <a:t>PascalCase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800" u="sng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클래스형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컴포넌트를 만드는 방법도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배울거지만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저렇게 쓰는구나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~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하고 알아만 주시면 됩니다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를 만드는 방법</a:t>
            </a:r>
          </a:p>
        </p:txBody>
      </p:sp>
    </p:spTree>
    <p:extLst>
      <p:ext uri="{BB962C8B-B14F-4D97-AF65-F5344CB8AC3E}">
        <p14:creationId xmlns:p14="http://schemas.microsoft.com/office/powerpoint/2010/main" val="414345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이렇게</a:t>
            </a:r>
            <a:r>
              <a:rPr lang="en-US" altLang="ko-KR" dirty="0"/>
              <a:t> </a:t>
            </a:r>
            <a:r>
              <a:rPr lang="ko-KR" altLang="en-US" dirty="0"/>
              <a:t>생겼어요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FFE2C-D46A-FD74-FBC3-4E1A499D5FF6}"/>
              </a:ext>
            </a:extLst>
          </p:cNvPr>
          <p:cNvSpPr txBox="1"/>
          <p:nvPr/>
        </p:nvSpPr>
        <p:spPr>
          <a:xfrm>
            <a:off x="302149" y="1690688"/>
            <a:ext cx="65532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Class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E8C96-0434-7B0F-CD73-1384897015A5}"/>
              </a:ext>
            </a:extLst>
          </p:cNvPr>
          <p:cNvSpPr txBox="1"/>
          <p:nvPr/>
        </p:nvSpPr>
        <p:spPr>
          <a:xfrm>
            <a:off x="5698523" y="4354030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</a:p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Funtional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9449" y="4795669"/>
            <a:ext cx="1657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클래스형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컴포넌트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4974" y="4001294"/>
            <a:ext cx="1483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함수형 컴포넌트</a:t>
            </a:r>
          </a:p>
        </p:txBody>
      </p:sp>
    </p:spTree>
    <p:extLst>
      <p:ext uri="{BB962C8B-B14F-4D97-AF65-F5344CB8AC3E}">
        <p14:creationId xmlns:p14="http://schemas.microsoft.com/office/powerpoint/2010/main" val="1273078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120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E62515-77DC-5636-47A6-D37F1B113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31" y="1825625"/>
            <a:ext cx="10515600" cy="43513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Java</a:t>
            </a:r>
            <a:r>
              <a:rPr lang="en-US" altLang="ko-KR" dirty="0">
                <a:solidFill>
                  <a:srgbClr val="F3DF49"/>
                </a:solidFill>
                <a:latin typeface="+mj-lt"/>
              </a:rPr>
              <a:t>S</a:t>
            </a: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cript</a:t>
            </a:r>
            <a:r>
              <a:rPr lang="en-US" altLang="ko-KR" dirty="0">
                <a:latin typeface="+mj-lt"/>
              </a:rPr>
              <a:t> + </a:t>
            </a:r>
            <a:r>
              <a:rPr lang="en-US" altLang="ko-KR" dirty="0">
                <a:solidFill>
                  <a:srgbClr val="8A53A6"/>
                </a:solidFill>
                <a:latin typeface="+mj-lt"/>
              </a:rPr>
              <a:t>XML</a:t>
            </a:r>
          </a:p>
          <a:p>
            <a:r>
              <a:rPr lang="ko-KR" altLang="en-US" dirty="0"/>
              <a:t>자바스크립트 확장 문법으로 </a:t>
            </a:r>
            <a:r>
              <a:rPr lang="en-US" altLang="ko-KR" dirty="0"/>
              <a:t>XML </a:t>
            </a:r>
            <a:r>
              <a:rPr lang="ko-KR" altLang="en-US" dirty="0"/>
              <a:t>과 유사</a:t>
            </a:r>
            <a:endParaRPr lang="en-US" altLang="ko-KR" dirty="0"/>
          </a:p>
          <a:p>
            <a:r>
              <a:rPr lang="ko-KR" altLang="en-US" dirty="0"/>
              <a:t>바벨을 이용해 일반 자바스크립트 코드로 변환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B72458-EFF5-77A4-A6F9-13EB3EDE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9E7A-0652-D644-D24E-338EF03B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191F99-BB90-B152-95C7-F086E168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JSX</a:t>
            </a:r>
            <a:endParaRPr lang="ko-KR" altLang="en-US" dirty="0"/>
          </a:p>
        </p:txBody>
      </p:sp>
      <p:pic>
        <p:nvPicPr>
          <p:cNvPr id="6" name="Picture 2" descr="GitHub - OpenJSX/logo: Logo of JSX-IR">
            <a:extLst>
              <a:ext uri="{FF2B5EF4-FFF2-40B4-BE49-F238E27FC236}">
                <a16:creationId xmlns:a16="http://schemas.microsoft.com/office/drawing/2014/main" id="{4D814A0F-C916-7827-5A00-789759C2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56" y="1825625"/>
            <a:ext cx="3385819" cy="338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421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1. </a:t>
            </a:r>
            <a:r>
              <a:rPr lang="ko-KR" altLang="en-US" dirty="0"/>
              <a:t>전체는 하나의 태그로 감싸야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600" dirty="0"/>
              <a:t>html </a:t>
            </a:r>
            <a:r>
              <a:rPr lang="ko-KR" altLang="en-US" sz="2600" dirty="0"/>
              <a:t>태그는 항상 </a:t>
            </a:r>
            <a:r>
              <a:rPr lang="en-US" altLang="ko-KR" sz="2600" dirty="0"/>
              <a:t>return </a:t>
            </a:r>
            <a:r>
              <a:rPr lang="ko-KR" altLang="en-US" sz="2600" dirty="0"/>
              <a:t>이후에</a:t>
            </a:r>
            <a:r>
              <a:rPr lang="en-US" altLang="ko-KR" sz="2600" dirty="0"/>
              <a:t>, </a:t>
            </a:r>
            <a:r>
              <a:rPr lang="ko-KR" altLang="en-US" sz="2600" dirty="0"/>
              <a:t>반드시 하나의 부모 요소가 전체 요소를 감싸는 형태로</a:t>
            </a:r>
            <a:r>
              <a:rPr lang="en-US" altLang="ko-KR" sz="2600" dirty="0"/>
              <a:t>!</a:t>
            </a:r>
          </a:p>
          <a:p>
            <a:pPr marL="457200" lvl="1" indent="0">
              <a:buNone/>
            </a:pPr>
            <a:r>
              <a:rPr lang="en-US" altLang="ko-KR" sz="2000" dirty="0"/>
              <a:t>+ </a:t>
            </a:r>
            <a:r>
              <a:rPr lang="ko-KR" altLang="en-US" sz="2000" dirty="0"/>
              <a:t>딱 하나의 태그만 </a:t>
            </a:r>
            <a:r>
              <a:rPr lang="en-US" altLang="ko-KR" sz="2000" dirty="0"/>
              <a:t>return</a:t>
            </a:r>
            <a:r>
              <a:rPr lang="ko-KR" altLang="en-US" sz="2000" dirty="0"/>
              <a:t>할 때는 </a:t>
            </a:r>
            <a:r>
              <a:rPr lang="en-US" altLang="ko-KR" sz="2000" dirty="0"/>
              <a:t>()</a:t>
            </a:r>
            <a:r>
              <a:rPr lang="ko-KR" altLang="en-US" sz="2000" dirty="0"/>
              <a:t>가 필요 없지만 여러 개의 태그가 있다면 </a:t>
            </a:r>
            <a:r>
              <a:rPr lang="en-US" altLang="ko-KR" sz="2000" dirty="0"/>
              <a:t>return (~) </a:t>
            </a:r>
            <a:r>
              <a:rPr lang="ko-KR" altLang="en-US" sz="2000" dirty="0"/>
              <a:t>괄호 내부에</a:t>
            </a:r>
            <a:r>
              <a:rPr lang="en-US" altLang="ko-KR" sz="2000" dirty="0"/>
              <a:t> </a:t>
            </a:r>
            <a:r>
              <a:rPr lang="ko-KR" altLang="en-US" sz="2000" dirty="0"/>
              <a:t>작성해야 해요</a:t>
            </a:r>
            <a:r>
              <a:rPr lang="en-US" altLang="ko-KR" sz="2000" dirty="0"/>
              <a:t>!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77793" y="3040851"/>
            <a:ext cx="4284807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hello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&gt;world&lt;/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EEFF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10" y="3040851"/>
            <a:ext cx="4229201" cy="313123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608" y="4703970"/>
            <a:ext cx="855418" cy="5987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985" y="5208801"/>
            <a:ext cx="5356195" cy="344327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448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>
                <a:solidFill>
                  <a:srgbClr val="FFC000"/>
                </a:solidFill>
              </a:rPr>
              <a:t>{</a:t>
            </a:r>
            <a:r>
              <a:rPr lang="ko-KR" altLang="en-US" dirty="0"/>
              <a:t>중괄호</a:t>
            </a:r>
            <a:r>
              <a:rPr lang="en-US" altLang="ko-KR" dirty="0">
                <a:solidFill>
                  <a:srgbClr val="FFC000"/>
                </a:solidFill>
              </a:rPr>
              <a:t>} 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2853003" y="2281023"/>
            <a:ext cx="7867511" cy="1802235"/>
            <a:chOff x="1204507" y="2708046"/>
            <a:chExt cx="7867511" cy="180223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809190">
              <a:off x="6875440" y="2977881"/>
              <a:ext cx="1532400" cy="15324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866071" flipH="1" flipV="1">
              <a:off x="2428431" y="2957033"/>
              <a:ext cx="1492557" cy="1492557"/>
            </a:xfrm>
            <a:prstGeom prst="rect">
              <a:avLst/>
            </a:prstGeom>
          </p:spPr>
        </p:pic>
        <p:pic>
          <p:nvPicPr>
            <p:cNvPr id="4" name="Picture 2" descr="Learn HTML - Google Play 앱">
              <a:extLst>
                <a:ext uri="{FF2B5EF4-FFF2-40B4-BE49-F238E27FC236}">
                  <a16:creationId xmlns:a16="http://schemas.microsoft.com/office/drawing/2014/main" id="{2CF6B682-995A-6BCE-AC16-873A5A06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507" y="2738141"/>
              <a:ext cx="1469721" cy="1469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Javascript ] Javascript 기본 이론">
              <a:extLst>
                <a:ext uri="{FF2B5EF4-FFF2-40B4-BE49-F238E27FC236}">
                  <a16:creationId xmlns:a16="http://schemas.microsoft.com/office/drawing/2014/main" id="{D483B20F-94E8-4157-B953-877AE2EDD5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8"/>
            <a:stretch/>
          </p:blipFill>
          <p:spPr bwMode="auto">
            <a:xfrm>
              <a:off x="5534284" y="2708047"/>
              <a:ext cx="2568853" cy="1724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FBA9DC-FBA2-F61A-ECC5-30460748177C}"/>
                </a:ext>
              </a:extLst>
            </p:cNvPr>
            <p:cNvSpPr txBox="1"/>
            <p:nvPr/>
          </p:nvSpPr>
          <p:spPr>
            <a:xfrm>
              <a:off x="3221918" y="2708047"/>
              <a:ext cx="2156360" cy="523220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28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();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172934-1DE0-E8D4-D8D4-F69331765EF4}"/>
                </a:ext>
              </a:extLst>
            </p:cNvPr>
            <p:cNvSpPr txBox="1"/>
            <p:nvPr/>
          </p:nvSpPr>
          <p:spPr>
            <a:xfrm>
              <a:off x="8435305" y="2708046"/>
              <a:ext cx="636713" cy="584775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32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{}</a:t>
              </a:r>
              <a:endParaRPr lang="en-US" altLang="ko-K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531874" y="4083258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34862" y="4870803"/>
            <a:ext cx="631065" cy="296215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34862" y="5167018"/>
            <a:ext cx="4391696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56898" y="5680491"/>
            <a:ext cx="9390144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72410" y="5612302"/>
            <a:ext cx="3210370" cy="431391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513676" y="5602013"/>
            <a:ext cx="3278819" cy="441680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2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</a:t>
            </a:r>
            <a:r>
              <a:rPr lang="en-US" altLang="ko-KR" dirty="0"/>
              <a:t>. html with JS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>
                <a:solidFill>
                  <a:srgbClr val="FFC000"/>
                </a:solidFill>
              </a:rPr>
              <a:t>{</a:t>
            </a:r>
            <a:r>
              <a:rPr lang="ko-KR" altLang="en-US" dirty="0"/>
              <a:t>중괄호</a:t>
            </a:r>
            <a:r>
              <a:rPr lang="en-US" altLang="ko-KR" dirty="0">
                <a:solidFill>
                  <a:srgbClr val="FFC000"/>
                </a:solidFill>
              </a:rPr>
              <a:t>}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72385" y="3222062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164" y="2383882"/>
            <a:ext cx="3891451" cy="21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00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구부러진 연결선 16"/>
          <p:cNvCxnSpPr/>
          <p:nvPr/>
        </p:nvCxnSpPr>
        <p:spPr>
          <a:xfrm rot="10800000">
            <a:off x="7796817" y="3617302"/>
            <a:ext cx="573647" cy="385544"/>
          </a:xfrm>
          <a:prstGeom prst="curvedConnector3">
            <a:avLst>
              <a:gd name="adj1" fmla="val 99392"/>
            </a:avLst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 14"/>
          <p:cNvCxnSpPr/>
          <p:nvPr/>
        </p:nvCxnSpPr>
        <p:spPr>
          <a:xfrm flipV="1">
            <a:off x="1275012" y="3741947"/>
            <a:ext cx="489397" cy="401525"/>
          </a:xfrm>
          <a:prstGeom prst="curvedConnector3">
            <a:avLst/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JSX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>
                <a:solidFill>
                  <a:srgbClr val="FF5050"/>
                </a:solidFill>
              </a:rPr>
              <a:t>if </a:t>
            </a:r>
            <a:r>
              <a:rPr lang="ko-KR" altLang="en-US" dirty="0">
                <a:solidFill>
                  <a:srgbClr val="FF5050"/>
                </a:solidFill>
              </a:rPr>
              <a:t>문이 올 수 없어요</a:t>
            </a:r>
            <a:r>
              <a:rPr lang="en-US" altLang="ko-KR" dirty="0">
                <a:solidFill>
                  <a:srgbClr val="FF5050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dirty="0"/>
              <a:t>+ </a:t>
            </a:r>
            <a:r>
              <a:rPr lang="en-US" altLang="ko-KR" dirty="0">
                <a:solidFill>
                  <a:srgbClr val="FF5050"/>
                </a:solidFill>
              </a:rPr>
              <a:t>for</a:t>
            </a:r>
            <a:r>
              <a:rPr lang="ko-KR" altLang="en-US" dirty="0" err="1">
                <a:solidFill>
                  <a:srgbClr val="FF5050"/>
                </a:solidFill>
              </a:rPr>
              <a:t>문</a:t>
            </a:r>
            <a:r>
              <a:rPr lang="ko-KR" altLang="en-US" dirty="0" err="1"/>
              <a:t>또한</a:t>
            </a:r>
            <a:r>
              <a:rPr lang="ko-KR" altLang="en-US" dirty="0"/>
              <a:t> </a:t>
            </a:r>
            <a:r>
              <a:rPr lang="en-US" altLang="ko-KR" dirty="0"/>
              <a:t>JSX </a:t>
            </a:r>
            <a:r>
              <a:rPr lang="ko-KR" altLang="en-US" dirty="0"/>
              <a:t>내부에 </a:t>
            </a:r>
            <a:r>
              <a:rPr lang="ko-KR" altLang="en-US" dirty="0">
                <a:solidFill>
                  <a:srgbClr val="FF5050"/>
                </a:solidFill>
              </a:rPr>
              <a:t>올 수 없어요</a:t>
            </a:r>
            <a:r>
              <a:rPr lang="en-US" altLang="ko-KR" dirty="0">
                <a:solidFill>
                  <a:srgbClr val="FF5050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2400" dirty="0"/>
              <a:t>(for</a:t>
            </a:r>
            <a:r>
              <a:rPr lang="ko-KR" altLang="en-US" sz="2400" dirty="0"/>
              <a:t>문과 </a:t>
            </a:r>
            <a:r>
              <a:rPr lang="en-US" altLang="ko-KR" sz="2400" dirty="0"/>
              <a:t>if </a:t>
            </a:r>
            <a:r>
              <a:rPr lang="ko-KR" altLang="en-US" sz="2400" dirty="0"/>
              <a:t>문을 사용하고 싶다면 </a:t>
            </a:r>
            <a:r>
              <a:rPr lang="en-US" altLang="ko-KR" sz="2400" dirty="0"/>
              <a:t>return </a:t>
            </a:r>
            <a:r>
              <a:rPr lang="ko-KR" altLang="en-US" sz="2400" dirty="0"/>
              <a:t>이 오기 전에 결과값을 저장하고 사용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3" name="직사각형 12"/>
          <p:cNvSpPr/>
          <p:nvPr/>
        </p:nvSpPr>
        <p:spPr>
          <a:xfrm>
            <a:off x="343439" y="4079078"/>
            <a:ext cx="10083621" cy="2662267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4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6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</a:p>
          <a:p>
            <a:endParaRPr lang="en-US" altLang="ko-KR" sz="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60174" y="3240698"/>
            <a:ext cx="3765461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[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of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+=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92045" y="3557281"/>
            <a:ext cx="2973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삼항연산자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대신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문이 나올 수 없어요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!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04873" y="3128396"/>
            <a:ext cx="2701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for, 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등이 오려면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특정 변수에 저장하고 사용해야 해요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1742014" y="5344732"/>
            <a:ext cx="4167096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353364" y="5831986"/>
            <a:ext cx="8640644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20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3836" y="139120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를 인라인 형태로 적용할 때는 </a:t>
            </a:r>
            <a:r>
              <a:rPr lang="en-US" altLang="ko-KR" dirty="0"/>
              <a:t>{object}</a:t>
            </a:r>
            <a:r>
              <a:rPr lang="ko-KR" altLang="en-US" dirty="0"/>
              <a:t>형태로 저장해야 해요</a:t>
            </a:r>
            <a:r>
              <a:rPr lang="en-US" altLang="ko-KR" dirty="0"/>
              <a:t>!</a:t>
            </a:r>
          </a:p>
          <a:p>
            <a:r>
              <a:rPr lang="en-US" altLang="ko-KR" dirty="0" err="1">
                <a:solidFill>
                  <a:srgbClr val="FF5050"/>
                </a:solidFill>
              </a:rPr>
              <a:t>CSS</a:t>
            </a:r>
            <a:r>
              <a:rPr lang="en-US" altLang="ko-KR" dirty="0">
                <a:solidFill>
                  <a:srgbClr val="FF5050"/>
                </a:solidFill>
              </a:rPr>
              <a:t> </a:t>
            </a:r>
            <a:r>
              <a:rPr lang="ko-KR" altLang="en-US" dirty="0">
                <a:solidFill>
                  <a:srgbClr val="FF5050"/>
                </a:solidFill>
              </a:rPr>
              <a:t>속성은 </a:t>
            </a:r>
            <a:r>
              <a:rPr lang="en-US" altLang="ko-KR" dirty="0"/>
              <a:t>dash-case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rgbClr val="FF5050"/>
                </a:solidFill>
              </a:rPr>
              <a:t>camelCase</a:t>
            </a:r>
            <a:endParaRPr lang="en-US" altLang="ko-KR" dirty="0">
              <a:solidFill>
                <a:srgbClr val="FF505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return </a:t>
            </a:r>
            <a:r>
              <a:rPr lang="ko-KR" altLang="en-US" dirty="0"/>
              <a:t>위에 </a:t>
            </a:r>
            <a:r>
              <a:rPr lang="en-US" altLang="ko-KR" dirty="0"/>
              <a:t>object</a:t>
            </a:r>
            <a:r>
              <a:rPr lang="ko-KR" altLang="en-US" dirty="0"/>
              <a:t>를 변수에 담아놓고 사용할 수도 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3. </a:t>
            </a:r>
            <a:r>
              <a:rPr lang="ko-KR" altLang="en-US" dirty="0"/>
              <a:t>인라인 </a:t>
            </a:r>
            <a:r>
              <a:rPr lang="en-US" altLang="ko-KR" dirty="0"/>
              <a:t>style</a:t>
            </a:r>
            <a:r>
              <a:rPr lang="ko-KR" altLang="en-US" dirty="0"/>
              <a:t> 적용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54416" y="2922362"/>
            <a:ext cx="9674443" cy="369332"/>
          </a:xfrm>
          <a:prstGeom prst="rect">
            <a:avLst/>
          </a:prstGeom>
          <a:solidFill>
            <a:srgbClr val="07090F"/>
          </a:solidFill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font-size: 32px; background-color: crimson;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92787" y="3441398"/>
            <a:ext cx="11590985" cy="923330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{{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 }}&gt;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5731099" y="3374264"/>
            <a:ext cx="360537" cy="385218"/>
          </a:xfrm>
          <a:prstGeom prst="downArrow">
            <a:avLst/>
          </a:prstGeom>
          <a:noFill/>
          <a:ln w="38100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669959" y="5437762"/>
            <a:ext cx="9354356" cy="1200329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JSX</a:t>
            </a:r>
            <a:r>
              <a:rPr lang="en-US" altLang="ko-KR" dirty="0"/>
              <a:t>  4. class</a:t>
            </a:r>
            <a:r>
              <a:rPr lang="ko-KR" altLang="en-US" dirty="0"/>
              <a:t>와 </a:t>
            </a:r>
            <a:r>
              <a:rPr lang="en-US" altLang="ko-KR" dirty="0" err="1"/>
              <a:t>onclick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class </a:t>
            </a:r>
            <a:r>
              <a:rPr lang="ko-KR" altLang="en-US" dirty="0"/>
              <a:t>대신 </a:t>
            </a:r>
            <a:r>
              <a:rPr lang="en-US" altLang="ko-KR" dirty="0" err="1"/>
              <a:t>className</a:t>
            </a:r>
            <a:r>
              <a:rPr lang="en-US" altLang="ko-KR" dirty="0"/>
              <a:t>, </a:t>
            </a:r>
            <a:r>
              <a:rPr lang="en-US" altLang="ko-KR" dirty="0" err="1"/>
              <a:t>onclick</a:t>
            </a:r>
            <a:r>
              <a:rPr lang="ko-KR" altLang="en-US" dirty="0"/>
              <a:t>대신 </a:t>
            </a:r>
            <a:r>
              <a:rPr lang="en-US" altLang="ko-KR" dirty="0" err="1"/>
              <a:t>onClick</a:t>
            </a:r>
            <a:r>
              <a:rPr lang="en-US" altLang="ko-KR" dirty="0"/>
              <a:t> 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onClick</a:t>
            </a:r>
            <a:r>
              <a:rPr lang="en-US" altLang="ko-KR" dirty="0"/>
              <a:t>={</a:t>
            </a:r>
            <a:r>
              <a:rPr lang="ko-KR" altLang="en-US" dirty="0" err="1"/>
              <a:t>클릭되었을</a:t>
            </a:r>
            <a:r>
              <a:rPr lang="ko-KR" altLang="en-US" dirty="0"/>
              <a:t> 때 실행할 </a:t>
            </a:r>
            <a:r>
              <a:rPr lang="en-US" altLang="ko-KR" dirty="0"/>
              <a:t>JS </a:t>
            </a:r>
            <a:r>
              <a:rPr lang="ko-KR" altLang="en-US" dirty="0"/>
              <a:t>코드</a:t>
            </a:r>
            <a:r>
              <a:rPr lang="en-US" altLang="ko-KR" dirty="0"/>
              <a:t>} </a:t>
            </a:r>
          </a:p>
          <a:p>
            <a:r>
              <a:rPr lang="en-US" altLang="ko-KR" dirty="0" err="1"/>
              <a:t>className</a:t>
            </a:r>
            <a:r>
              <a:rPr lang="en-US" altLang="ko-KR" dirty="0"/>
              <a:t>=‘</a:t>
            </a:r>
            <a:r>
              <a:rPr lang="ko-KR" altLang="en-US" dirty="0"/>
              <a:t>클래스 이름</a:t>
            </a:r>
            <a:r>
              <a:rPr lang="en-US" altLang="ko-KR" dirty="0"/>
              <a:t>’</a:t>
            </a:r>
          </a:p>
          <a:p>
            <a:r>
              <a:rPr lang="ko-KR" altLang="en-US" dirty="0"/>
              <a:t>클래스 이름도 따로 선언해서 </a:t>
            </a:r>
            <a:r>
              <a:rPr lang="en-US" altLang="ko-KR" dirty="0" err="1"/>
              <a:t>className</a:t>
            </a:r>
            <a:r>
              <a:rPr lang="en-US" altLang="ko-KR" dirty="0"/>
              <a:t>={class-name}</a:t>
            </a:r>
            <a:r>
              <a:rPr lang="ko-KR" altLang="en-US" dirty="0"/>
              <a:t>처럼 사용할 수 있어요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4" name="그룹 3"/>
          <p:cNvGrpSpPr/>
          <p:nvPr/>
        </p:nvGrpSpPr>
        <p:grpSpPr>
          <a:xfrm>
            <a:off x="961624" y="2540580"/>
            <a:ext cx="7564192" cy="1754326"/>
            <a:chOff x="987381" y="2387581"/>
            <a:chExt cx="7564192" cy="1754326"/>
          </a:xfrm>
        </p:grpSpPr>
        <p:sp>
          <p:nvSpPr>
            <p:cNvPr id="6" name="직사각형 5"/>
            <p:cNvSpPr/>
            <p:nvPr/>
          </p:nvSpPr>
          <p:spPr>
            <a:xfrm>
              <a:off x="987381" y="2387581"/>
              <a:ext cx="7564192" cy="1754326"/>
            </a:xfrm>
            <a:prstGeom prst="rect">
              <a:avLst/>
            </a:prstGeom>
            <a:solidFill>
              <a:srgbClr val="07090F"/>
            </a:solidFill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 (</a:t>
              </a: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className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App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onClick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{()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=&gt;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</a:t>
              </a:r>
              <a:r>
                <a:rPr lang="en-US" altLang="ko-KR" dirty="0">
                  <a:solidFill>
                    <a:srgbClr val="82AAFF"/>
                  </a:solidFill>
                  <a:latin typeface="Consolas" panose="020B0609020204030204" pitchFamily="49" charset="0"/>
                </a:rPr>
                <a:t>alert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hi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')}}&gt;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&gt;{</a:t>
              </a:r>
              <a:r>
                <a:rPr lang="en-US" altLang="ko-KR" dirty="0" err="1">
                  <a:solidFill>
                    <a:srgbClr val="F07178"/>
                  </a:solidFill>
                  <a:latin typeface="Consolas" panose="020B0609020204030204" pitchFamily="49" charset="0"/>
                </a:rPr>
                <a:t>str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}&lt;/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&gt;world!!&lt;/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)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086377" y="2707153"/>
              <a:ext cx="2009105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89925" y="2707153"/>
              <a:ext cx="3408610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026" name="Picture 2" descr="Apple Emoji Faces, Emoji Pictures [Download PNG] | Emoji Isla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099" y="1743729"/>
            <a:ext cx="539884" cy="53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398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opening tag(</a:t>
            </a:r>
            <a:r>
              <a:rPr lang="ko-KR" altLang="en-US" dirty="0" err="1"/>
              <a:t>빈태그</a:t>
            </a:r>
            <a:r>
              <a:rPr lang="en-US" altLang="ko-KR" dirty="0"/>
              <a:t>)</a:t>
            </a:r>
            <a:r>
              <a:rPr lang="ko-KR" altLang="en-US" dirty="0"/>
              <a:t>도 </a:t>
            </a:r>
            <a:r>
              <a:rPr lang="en-US" altLang="ko-KR" dirty="0"/>
              <a:t>closing tag</a:t>
            </a:r>
            <a:r>
              <a:rPr lang="ko-KR" altLang="en-US" dirty="0"/>
              <a:t>가 필요해요</a:t>
            </a:r>
            <a:r>
              <a:rPr lang="en-US" altLang="ko-KR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3DF49"/>
                </a:solidFill>
              </a:rPr>
              <a:t>JS</a:t>
            </a:r>
            <a:r>
              <a:rPr lang="en-US" altLang="ko-KR" dirty="0">
                <a:solidFill>
                  <a:srgbClr val="8A53A6"/>
                </a:solidFill>
              </a:rPr>
              <a:t>X  5. </a:t>
            </a:r>
            <a:r>
              <a:rPr lang="en-US" altLang="ko-KR" dirty="0"/>
              <a:t>closing tag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2" y="3553118"/>
            <a:ext cx="3651777" cy="191452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061008" y="2454564"/>
            <a:ext cx="4160636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848386" y="4367951"/>
            <a:ext cx="4505414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5235919" y="4188713"/>
            <a:ext cx="360537" cy="643332"/>
          </a:xfrm>
          <a:prstGeom prst="downArrow">
            <a:avLst/>
          </a:prstGeom>
          <a:noFill/>
          <a:ln w="38100">
            <a:solidFill>
              <a:srgbClr val="6DC1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88" y="4582756"/>
            <a:ext cx="855418" cy="5987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61" y="4996671"/>
            <a:ext cx="6549951" cy="36975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313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주석은 </a:t>
            </a:r>
            <a:r>
              <a:rPr lang="en-US" altLang="ko-KR" dirty="0">
                <a:solidFill>
                  <a:srgbClr val="6DC172"/>
                </a:solidFill>
              </a:rPr>
              <a:t>{/* </a:t>
            </a:r>
            <a:r>
              <a:rPr lang="ko-KR" altLang="en-US" dirty="0">
                <a:solidFill>
                  <a:srgbClr val="6DC172"/>
                </a:solidFill>
              </a:rPr>
              <a:t>이렇게 씁니다</a:t>
            </a:r>
            <a:r>
              <a:rPr lang="en-US" altLang="ko-KR" dirty="0">
                <a:solidFill>
                  <a:srgbClr val="6DC172"/>
                </a:solidFill>
              </a:rPr>
              <a:t>!*/}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6. </a:t>
            </a:r>
            <a:r>
              <a:rPr lang="ko-KR" altLang="en-US" dirty="0"/>
              <a:t>주석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16168" y="2702803"/>
            <a:ext cx="7757375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//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밖에서는 기존의 </a:t>
            </a:r>
            <a:r>
              <a:rPr lang="en-US" altLang="ko-KR" i="1" dirty="0" err="1">
                <a:solidFill>
                  <a:srgbClr val="546E7A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처럼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주석을 사용하면 돼요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! */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주석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test!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내부에서주석사용은 이렇게 합니다 *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물론 기존의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ctrl + '/'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단축키 이용하면 됩니다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. */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78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리액트의 디버깅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JavaScript </a:t>
            </a:r>
            <a:r>
              <a:rPr lang="ko-KR" altLang="en-US" dirty="0"/>
              <a:t>에서는 에러를 확인하기 위해서 </a:t>
            </a:r>
            <a:r>
              <a:rPr lang="en-US" altLang="ko-KR" dirty="0"/>
              <a:t>console</a:t>
            </a:r>
            <a:r>
              <a:rPr lang="ko-KR" altLang="en-US" dirty="0"/>
              <a:t>창으로 </a:t>
            </a:r>
            <a:r>
              <a:rPr lang="ko-KR" altLang="en-US" dirty="0" err="1"/>
              <a:t>봐야하지만</a:t>
            </a:r>
            <a:r>
              <a:rPr lang="en-US" altLang="ko-KR" dirty="0"/>
              <a:t>, React</a:t>
            </a:r>
            <a:r>
              <a:rPr lang="ko-KR" altLang="en-US" dirty="0"/>
              <a:t>는 치명적인 버그일 경우에 화면에 바로 띄워줍니다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JS</a:t>
            </a:r>
            <a:r>
              <a:rPr lang="ko-KR" altLang="en-US" dirty="0"/>
              <a:t>의 문제점을 보완하고자 </a:t>
            </a:r>
            <a:r>
              <a:rPr lang="en-US" altLang="ko-KR" dirty="0"/>
              <a:t>strict mode </a:t>
            </a:r>
            <a:r>
              <a:rPr lang="ko-KR" altLang="en-US" dirty="0"/>
              <a:t>강제</a:t>
            </a:r>
            <a:r>
              <a:rPr lang="en-US" altLang="ko-KR" dirty="0"/>
              <a:t>! 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어디서 실수 </a:t>
            </a:r>
            <a:r>
              <a:rPr lang="ko-KR" altLang="en-US" dirty="0" err="1"/>
              <a:t>했는지까지</a:t>
            </a:r>
            <a:r>
              <a:rPr lang="ko-KR" altLang="en-US" dirty="0"/>
              <a:t> 자세히 제공하니 </a:t>
            </a:r>
            <a:r>
              <a:rPr lang="ko-KR" altLang="en-US" dirty="0">
                <a:solidFill>
                  <a:srgbClr val="FF5050"/>
                </a:solidFill>
              </a:rPr>
              <a:t>에러 창을 두려워하지 말고 </a:t>
            </a:r>
            <a:r>
              <a:rPr lang="ko-KR" altLang="en-US" dirty="0" err="1">
                <a:solidFill>
                  <a:srgbClr val="FF5050"/>
                </a:solidFill>
              </a:rPr>
              <a:t>에러메세지를</a:t>
            </a:r>
            <a:r>
              <a:rPr lang="ko-KR" altLang="en-US" dirty="0">
                <a:solidFill>
                  <a:srgbClr val="FF5050"/>
                </a:solidFill>
              </a:rPr>
              <a:t> 잘 읽어주세요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8DBC1B-5901-7E2B-982F-F49F11DFC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30" y="2761684"/>
            <a:ext cx="4943770" cy="190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61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776D-1119-47AB-8A89-B6C229E43FDB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DA7CF4-55BF-385B-5C2E-C95BA0B6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527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D341A-A4A5-AEF2-4CD5-0AAC3511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8FEC5-B146-AB68-CA6C-476D14DF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D294-60EA-4DAA-90A4-E86E9A5EB9A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FBE229-2957-079F-DEC2-73F426DE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A56DB0-EFB4-9A97-9462-05D086070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properties</a:t>
            </a:r>
            <a:r>
              <a:rPr lang="ko-KR" altLang="en-US" dirty="0"/>
              <a:t> 를 줄인 표현으로 </a:t>
            </a:r>
            <a:r>
              <a:rPr lang="ko-KR" altLang="en-US" dirty="0">
                <a:solidFill>
                  <a:srgbClr val="FF0000"/>
                </a:solidFill>
              </a:rPr>
              <a:t>컴포넌트 </a:t>
            </a:r>
            <a:r>
              <a:rPr lang="ko-KR" altLang="en-US" b="1" dirty="0">
                <a:solidFill>
                  <a:srgbClr val="FF0000"/>
                </a:solidFill>
              </a:rPr>
              <a:t>속성</a:t>
            </a:r>
            <a:r>
              <a:rPr lang="ko-KR" altLang="en-US" dirty="0">
                <a:solidFill>
                  <a:srgbClr val="FF0000"/>
                </a:solidFill>
              </a:rPr>
              <a:t>을 설정할 때 사용하는 요소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props</a:t>
            </a:r>
            <a:r>
              <a:rPr lang="ko-KR" altLang="en-US" dirty="0"/>
              <a:t>는 컴포넌트끼리 값을 전달하는 수단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상위</a:t>
            </a:r>
            <a:r>
              <a:rPr lang="ko-KR" altLang="en-US" b="1" dirty="0"/>
              <a:t> 컴포넌트에서 </a:t>
            </a:r>
            <a:r>
              <a:rPr lang="ko-KR" altLang="en-US" b="1" dirty="0">
                <a:solidFill>
                  <a:srgbClr val="FF0000"/>
                </a:solidFill>
              </a:rPr>
              <a:t>하위</a:t>
            </a:r>
            <a:r>
              <a:rPr lang="ko-KR" altLang="en-US" b="1" dirty="0"/>
              <a:t> 컴포넌트로 전달 </a:t>
            </a:r>
            <a:r>
              <a:rPr lang="en-US" altLang="ko-KR" b="1" dirty="0"/>
              <a:t>(</a:t>
            </a:r>
            <a:r>
              <a:rPr lang="ko-KR" altLang="en-US" b="1" dirty="0"/>
              <a:t>단방향 데이터 흐름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50D0F5-D6FF-02FF-F06C-A9847C26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55" y="3501232"/>
            <a:ext cx="8756689" cy="187859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57C9F8-0763-556D-5A59-66ABE3679253}"/>
              </a:ext>
            </a:extLst>
          </p:cNvPr>
          <p:cNvSpPr/>
          <p:nvPr/>
        </p:nvSpPr>
        <p:spPr>
          <a:xfrm>
            <a:off x="3980985" y="4902173"/>
            <a:ext cx="3852615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501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BC1B1-0301-1639-46FF-900D8EA2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D7D0A-B415-2367-6C34-8CCD7433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DBD1-6134-4975-8CE7-24ED1E9282F4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68801-C26C-845E-88A0-C0EE20EA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74D3CA-D8CF-CA1C-3F4A-998F76A1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869000" cy="4351338"/>
          </a:xfrm>
        </p:spPr>
        <p:txBody>
          <a:bodyPr/>
          <a:lstStyle/>
          <a:p>
            <a:r>
              <a:rPr lang="ko-KR" altLang="en-US" dirty="0"/>
              <a:t>부모 컴포넌트에서 전달한 </a:t>
            </a:r>
            <a:r>
              <a:rPr lang="en-US" altLang="ko-KR" dirty="0"/>
              <a:t>props</a:t>
            </a:r>
            <a:r>
              <a:rPr lang="ko-KR" altLang="en-US" dirty="0"/>
              <a:t>는 함수형 컴포넌트에서 </a:t>
            </a:r>
            <a:r>
              <a:rPr lang="ko-KR" altLang="en-US" b="1" dirty="0"/>
              <a:t>함수의 파라미터로 전달</a:t>
            </a:r>
            <a:r>
              <a:rPr lang="ko-KR" altLang="en-US" dirty="0"/>
              <a:t>받으며</a:t>
            </a:r>
            <a:r>
              <a:rPr lang="en-US" altLang="ko-KR" dirty="0"/>
              <a:t>, </a:t>
            </a:r>
            <a:r>
              <a:rPr lang="en-US" altLang="ko-KR" b="1" dirty="0"/>
              <a:t>JSX </a:t>
            </a:r>
            <a:r>
              <a:rPr lang="ko-KR" altLang="en-US" b="1" dirty="0"/>
              <a:t>내부에서 </a:t>
            </a:r>
            <a:r>
              <a:rPr lang="en-US" altLang="ko-KR" b="1" dirty="0"/>
              <a:t>{</a:t>
            </a:r>
            <a:r>
              <a:rPr lang="ko-KR" altLang="en-US" b="1" dirty="0"/>
              <a:t> </a:t>
            </a:r>
            <a:r>
              <a:rPr lang="en-US" altLang="ko-KR" b="1" dirty="0"/>
              <a:t>}</a:t>
            </a:r>
            <a:r>
              <a:rPr lang="ko-KR" altLang="en-US" b="1" dirty="0"/>
              <a:t> 기호로 감싸서 </a:t>
            </a:r>
            <a:r>
              <a:rPr lang="ko-KR" altLang="en-US" dirty="0"/>
              <a:t>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51D6CF-BAFC-6E43-82C5-74687E7CA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81" y="2516457"/>
            <a:ext cx="9392217" cy="605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C3DEE9-DD64-3625-3C53-C0508ABE1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858" y="3279140"/>
            <a:ext cx="5437043" cy="274086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D64BAAA-E994-663B-438F-F4DC4D6F48CC}"/>
              </a:ext>
            </a:extLst>
          </p:cNvPr>
          <p:cNvSpPr txBox="1">
            <a:spLocks/>
          </p:cNvSpPr>
          <p:nvPr/>
        </p:nvSpPr>
        <p:spPr>
          <a:xfrm>
            <a:off x="1116981" y="312240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부모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전달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38161D3-9870-C26D-DC87-05DBD05CC0ED}"/>
              </a:ext>
            </a:extLst>
          </p:cNvPr>
          <p:cNvSpPr txBox="1">
            <a:spLocks/>
          </p:cNvSpPr>
          <p:nvPr/>
        </p:nvSpPr>
        <p:spPr>
          <a:xfrm>
            <a:off x="6008858" y="6041894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자식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받음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0FD8AE-ED5A-8988-A4D6-ACA31832D594}"/>
              </a:ext>
            </a:extLst>
          </p:cNvPr>
          <p:cNvSpPr/>
          <p:nvPr/>
        </p:nvSpPr>
        <p:spPr>
          <a:xfrm>
            <a:off x="4169693" y="2570570"/>
            <a:ext cx="2634308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985B5A-1218-7902-7BC9-DDA2AEA54F61}"/>
              </a:ext>
            </a:extLst>
          </p:cNvPr>
          <p:cNvSpPr/>
          <p:nvPr/>
        </p:nvSpPr>
        <p:spPr>
          <a:xfrm>
            <a:off x="8697600" y="4233343"/>
            <a:ext cx="1677600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6364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0F6FF-64A1-A9C5-F4FD-75F1A69D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defaultProps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BA935-9974-ADFF-3BF1-8E8D0A7C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컴포넌트에서 </a:t>
            </a:r>
            <a:r>
              <a:rPr lang="en-US" altLang="ko-KR" dirty="0"/>
              <a:t>props</a:t>
            </a:r>
            <a:r>
              <a:rPr lang="ko-KR" altLang="en-US" dirty="0"/>
              <a:t>가 전달되지 않았을 때 </a:t>
            </a:r>
            <a:r>
              <a:rPr lang="ko-KR" altLang="en-US" b="1" dirty="0"/>
              <a:t>기본값으로 보여줄 </a:t>
            </a:r>
            <a:r>
              <a:rPr lang="en-US" altLang="ko-KR" b="1" dirty="0"/>
              <a:t>props</a:t>
            </a:r>
            <a:r>
              <a:rPr lang="ko-KR" altLang="en-US" b="1" dirty="0"/>
              <a:t>를 설정</a:t>
            </a:r>
            <a:r>
              <a:rPr lang="ko-KR" altLang="en-US" dirty="0"/>
              <a:t>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801AE-74C7-21CB-361E-D40FEB50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E807-52C8-4999-93D3-9678270AD8FA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D298C9-B8AB-36D5-4E0A-1B37A301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1CC9EC-5103-8E8F-F35A-460486D8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0" y="2651126"/>
            <a:ext cx="6277635" cy="565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480FD1-3459-79EB-205E-E4E841B5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53" y="1999396"/>
            <a:ext cx="5378737" cy="42389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8407960-7829-5181-2B64-BEFE94098644}"/>
              </a:ext>
            </a:extLst>
          </p:cNvPr>
          <p:cNvSpPr/>
          <p:nvPr/>
        </p:nvSpPr>
        <p:spPr>
          <a:xfrm>
            <a:off x="6415812" y="4946570"/>
            <a:ext cx="4351575" cy="10870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4A70FDD-59B7-03AC-60AC-4AAEEEF9E093}"/>
              </a:ext>
            </a:extLst>
          </p:cNvPr>
          <p:cNvSpPr txBox="1">
            <a:spLocks/>
          </p:cNvSpPr>
          <p:nvPr/>
        </p:nvSpPr>
        <p:spPr>
          <a:xfrm>
            <a:off x="283840" y="3180090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FF724C0-6D72-23E7-5BB6-6E2A64B863CA}"/>
              </a:ext>
            </a:extLst>
          </p:cNvPr>
          <p:cNvSpPr txBox="1">
            <a:spLocks/>
          </p:cNvSpPr>
          <p:nvPr/>
        </p:nvSpPr>
        <p:spPr>
          <a:xfrm>
            <a:off x="4737840" y="5800559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94008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9E0F2-1D61-CB69-8491-8498FD57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props.children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73E45-3FE2-D7F4-455A-DAEACC1B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6701-635E-4B4D-8246-F6CD3AE14CB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FAE8C-8767-B5C4-EA69-B8DAE4E6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78717-14C8-E4F8-75F1-F1234CB9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부모 컴포넌트에서 자식 컴포넌트를 호출할 때 태그 사이에 작성한 문자열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3B1BED-0007-7448-5CCC-0D6DC2A8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616" y="2871780"/>
            <a:ext cx="5677829" cy="32399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E03D15-0ABA-1274-941A-A1F95AD39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6" y="2186753"/>
            <a:ext cx="10286891" cy="5003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E9A0216-F259-B2FF-147E-338776360EA3}"/>
              </a:ext>
            </a:extLst>
          </p:cNvPr>
          <p:cNvSpPr/>
          <p:nvPr/>
        </p:nvSpPr>
        <p:spPr>
          <a:xfrm>
            <a:off x="6250493" y="2233664"/>
            <a:ext cx="16263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ECDBFF-A638-BD21-A990-4F05F9BF30EF}"/>
              </a:ext>
            </a:extLst>
          </p:cNvPr>
          <p:cNvSpPr/>
          <p:nvPr/>
        </p:nvSpPr>
        <p:spPr>
          <a:xfrm>
            <a:off x="7353293" y="4625264"/>
            <a:ext cx="23595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D131762-2C9C-14F1-8BBF-DE53F198A8F3}"/>
              </a:ext>
            </a:extLst>
          </p:cNvPr>
          <p:cNvSpPr txBox="1">
            <a:spLocks/>
          </p:cNvSpPr>
          <p:nvPr/>
        </p:nvSpPr>
        <p:spPr>
          <a:xfrm>
            <a:off x="696076" y="265112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60DD829-E8F9-0609-7DFF-8CE8EA6BE092}"/>
              </a:ext>
            </a:extLst>
          </p:cNvPr>
          <p:cNvSpPr txBox="1">
            <a:spLocks/>
          </p:cNvSpPr>
          <p:nvPr/>
        </p:nvSpPr>
        <p:spPr>
          <a:xfrm>
            <a:off x="9562117" y="5639009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054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20784-E4F5-8D73-C265-4AB027BD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propTypes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24099-C68E-F711-CF88-171EAEF99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컴포넌트의 </a:t>
            </a:r>
            <a:r>
              <a:rPr lang="ko-KR" altLang="en-US" b="1" dirty="0"/>
              <a:t>필수 </a:t>
            </a:r>
            <a:r>
              <a:rPr lang="en-US" altLang="ko-KR" b="1" dirty="0"/>
              <a:t>props</a:t>
            </a:r>
            <a:r>
              <a:rPr lang="ko-KR" altLang="en-US" b="1" dirty="0"/>
              <a:t>를 지정</a:t>
            </a:r>
            <a:r>
              <a:rPr lang="ko-KR" altLang="en-US" dirty="0"/>
              <a:t>하거나 </a:t>
            </a:r>
            <a:r>
              <a:rPr lang="en-US" altLang="ko-KR" b="1" dirty="0"/>
              <a:t>props</a:t>
            </a:r>
            <a:r>
              <a:rPr lang="ko-KR" altLang="en-US" b="1" dirty="0"/>
              <a:t>의 타입을 지정</a:t>
            </a:r>
            <a:r>
              <a:rPr lang="ko-KR" altLang="en-US" dirty="0"/>
              <a:t>할 때 사용</a:t>
            </a:r>
            <a:endParaRPr lang="en-US" altLang="ko-KR" dirty="0"/>
          </a:p>
          <a:p>
            <a:r>
              <a:rPr lang="en-US" altLang="ko-KR" dirty="0"/>
              <a:t>JavaScript</a:t>
            </a:r>
            <a:r>
              <a:rPr lang="ko-KR" altLang="en-US" dirty="0"/>
              <a:t>의 </a:t>
            </a:r>
            <a:r>
              <a:rPr lang="en-US" altLang="ko-KR" b="1" dirty="0"/>
              <a:t>“</a:t>
            </a:r>
            <a:r>
              <a:rPr lang="ko-KR" altLang="en-US" b="1" dirty="0"/>
              <a:t>유연한 특성</a:t>
            </a:r>
            <a:r>
              <a:rPr lang="en-US" altLang="ko-KR" b="1" dirty="0"/>
              <a:t>” </a:t>
            </a:r>
            <a:r>
              <a:rPr lang="ko-KR" altLang="en-US" b="1" dirty="0"/>
              <a:t>을 해결</a:t>
            </a:r>
            <a:r>
              <a:rPr lang="ko-KR" altLang="en-US" dirty="0"/>
              <a:t>하기 위해 권장되는 기능</a:t>
            </a:r>
            <a:endParaRPr lang="en-US" altLang="ko-KR" dirty="0"/>
          </a:p>
          <a:p>
            <a:r>
              <a:rPr lang="ko-KR" altLang="en-US" dirty="0"/>
              <a:t>정해진 타입이 아닌 다른 타입으로 정보가 전달될 시</a:t>
            </a:r>
            <a:r>
              <a:rPr lang="en-US" altLang="ko-KR" dirty="0"/>
              <a:t>, </a:t>
            </a:r>
            <a:r>
              <a:rPr lang="ko-KR" altLang="en-US" dirty="0"/>
              <a:t>제대로 동작은 하지만 </a:t>
            </a:r>
            <a:r>
              <a:rPr lang="en-US" altLang="ko-KR" dirty="0"/>
              <a:t>console</a:t>
            </a:r>
            <a:r>
              <a:rPr lang="ko-KR" altLang="en-US" dirty="0"/>
              <a:t>에 오류가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27CF3-AEB6-3834-F3BC-884DE699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0AA1-5246-4A25-BE32-94BE467B109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01E7F-761C-AAB6-93BA-ABA9F0CC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C333B9-0CCB-D42B-6EA4-F446F601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364" y="3461451"/>
            <a:ext cx="5216844" cy="4810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3881B7-AA60-536E-8373-31C84067B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34" y="4121135"/>
            <a:ext cx="5612574" cy="15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05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0099-1722-5DE9-885D-D12AE5C5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6D379-883A-EA23-758E-C063AA5D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776D-1119-47AB-8A89-B6C229E43FDB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59C7B0-A006-86CA-A27E-DCA4C71E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913F6C-457E-7FFB-0AFE-0947CFFE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646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state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637DE-CA85-54BD-9BB5-8A7EF0E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앱의 유동적인 데이터를 다루기 위한 개체</a:t>
            </a:r>
            <a:endParaRPr lang="en-US" altLang="ko-KR" dirty="0"/>
          </a:p>
          <a:p>
            <a:r>
              <a:rPr lang="ko-KR" altLang="en-US" dirty="0">
                <a:solidFill>
                  <a:schemeClr val="accent2"/>
                </a:solidFill>
              </a:rPr>
              <a:t>계속해서 변하는 특정 상태</a:t>
            </a:r>
            <a:endParaRPr lang="en-US" altLang="ko-KR" dirty="0">
              <a:solidFill>
                <a:schemeClr val="accent2"/>
              </a:solidFill>
            </a:endParaRPr>
          </a:p>
          <a:p>
            <a:r>
              <a:rPr lang="ko-KR" altLang="en-US" dirty="0"/>
              <a:t>상태에 따라 다른 동작을 함</a:t>
            </a:r>
            <a:endParaRPr lang="en-US" altLang="ko-KR" dirty="0"/>
          </a:p>
          <a:p>
            <a:r>
              <a:rPr lang="ko-KR" altLang="en-US" dirty="0"/>
              <a:t>왜 사용할까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>
                <a:solidFill>
                  <a:schemeClr val="accent2"/>
                </a:solidFill>
              </a:rPr>
              <a:t>State</a:t>
            </a:r>
            <a:r>
              <a:rPr lang="ko-KR" altLang="en-US" dirty="0">
                <a:solidFill>
                  <a:schemeClr val="accent2"/>
                </a:solidFill>
              </a:rPr>
              <a:t>가 변경될 시 자동으로 </a:t>
            </a:r>
            <a:r>
              <a:rPr lang="ko-KR" altLang="en-US" dirty="0" err="1">
                <a:solidFill>
                  <a:schemeClr val="accent2"/>
                </a:solidFill>
              </a:rPr>
              <a:t>재랜더링</a:t>
            </a:r>
            <a:r>
              <a:rPr lang="ko-KR" altLang="en-US" dirty="0"/>
              <a:t> 되기 때문</a:t>
            </a:r>
            <a:endParaRPr lang="en-US" altLang="ko-KR" dirty="0"/>
          </a:p>
          <a:p>
            <a:pPr lvl="1"/>
            <a:r>
              <a:rPr lang="ko-KR" altLang="en-US" dirty="0"/>
              <a:t>이 점이 </a:t>
            </a:r>
            <a:r>
              <a:rPr lang="ko-KR" altLang="en-US" dirty="0">
                <a:solidFill>
                  <a:srgbClr val="FF0000"/>
                </a:solidFill>
              </a:rPr>
              <a:t>변수와 다른 점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0222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state</a:t>
            </a:r>
            <a:r>
              <a:rPr lang="en-US" altLang="ko-KR" dirty="0"/>
              <a:t> vs. </a:t>
            </a:r>
            <a:r>
              <a:rPr lang="en-US" altLang="ko-KR" b="1" dirty="0"/>
              <a:t>props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24FF74-62D5-7D7C-0F72-F4CABE47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29918"/>
            <a:ext cx="5331010" cy="4598163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BD993B5-DDCB-CC10-2049-37CD21B2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34" y="1109567"/>
            <a:ext cx="9335875" cy="3080295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props</a:t>
            </a:r>
            <a:r>
              <a:rPr lang="en-US" altLang="ko-KR" sz="2400" dirty="0"/>
              <a:t>: </a:t>
            </a:r>
            <a:r>
              <a:rPr lang="ko-KR" altLang="en-US" sz="2400" dirty="0"/>
              <a:t>부모 컴포넌트에서 자식 컴포넌트에 데이터 전달 시 사용 </a:t>
            </a:r>
            <a:endParaRPr lang="en-US" altLang="ko-KR" sz="2400" dirty="0"/>
          </a:p>
          <a:p>
            <a:pPr lvl="1"/>
            <a:r>
              <a:rPr lang="en-US" altLang="ko-KR" sz="2000" dirty="0"/>
              <a:t>(</a:t>
            </a:r>
            <a:r>
              <a:rPr lang="ko-KR" altLang="en-US" sz="2000" dirty="0"/>
              <a:t>읽기모드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1600" dirty="0"/>
              <a:t>React</a:t>
            </a:r>
            <a:r>
              <a:rPr lang="ko-KR" altLang="en-US" sz="1600" dirty="0"/>
              <a:t>는 </a:t>
            </a:r>
            <a:r>
              <a:rPr lang="ko-KR" altLang="en-US" sz="1600" b="1" dirty="0"/>
              <a:t>단방향 데이터 흐름</a:t>
            </a:r>
            <a:r>
              <a:rPr lang="en-US" altLang="ko-KR" sz="1600" dirty="0"/>
              <a:t>! </a:t>
            </a:r>
            <a:r>
              <a:rPr lang="ko-KR" altLang="en-US" sz="1600" dirty="0"/>
              <a:t>기억하시죠</a:t>
            </a:r>
            <a:r>
              <a:rPr lang="en-US" altLang="ko-KR" sz="1600" dirty="0"/>
              <a:t>?</a:t>
            </a:r>
            <a:r>
              <a:rPr lang="ko-KR" altLang="en-US" sz="1600" dirty="0"/>
              <a:t>😉</a:t>
            </a:r>
            <a:endParaRPr lang="en-US" altLang="ko-KR" sz="1600" dirty="0"/>
          </a:p>
          <a:p>
            <a:pPr marL="457200" lvl="1" indent="0">
              <a:buNone/>
            </a:pPr>
            <a:endParaRPr lang="en-US" altLang="ko-KR" sz="1600" dirty="0"/>
          </a:p>
          <a:p>
            <a:r>
              <a:rPr lang="en-US" altLang="ko-KR" sz="2400" b="1" dirty="0"/>
              <a:t>state</a:t>
            </a:r>
            <a:r>
              <a:rPr lang="en-US" altLang="ko-KR" sz="2400" dirty="0"/>
              <a:t>: </a:t>
            </a:r>
            <a:r>
              <a:rPr lang="ko-KR" altLang="en-US" sz="2400" dirty="0"/>
              <a:t>특정 컴포넌트가 갖는 상태 </a:t>
            </a:r>
            <a:r>
              <a:rPr lang="en-US" altLang="ko-KR" sz="2400" dirty="0"/>
              <a:t>(</a:t>
            </a:r>
            <a:r>
              <a:rPr lang="ko-KR" altLang="en-US" sz="2400" dirty="0"/>
              <a:t>값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1600" dirty="0"/>
              <a:t>컴포넌트 </a:t>
            </a:r>
            <a:r>
              <a:rPr lang="ko-KR" altLang="en-US" sz="1600" dirty="0">
                <a:latin typeface="+mj-ea"/>
                <a:ea typeface="+mj-ea"/>
              </a:rPr>
              <a:t>내부에서</a:t>
            </a:r>
            <a:r>
              <a:rPr lang="ko-KR" altLang="en-US" sz="1600" dirty="0"/>
              <a:t> 선언되고 </a:t>
            </a:r>
            <a:r>
              <a:rPr lang="ko-KR" altLang="en-US" sz="1600" dirty="0">
                <a:latin typeface="+mj-ea"/>
                <a:ea typeface="+mj-ea"/>
              </a:rPr>
              <a:t>내부에서</a:t>
            </a:r>
            <a:r>
              <a:rPr lang="ko-KR" altLang="en-US" sz="1600" dirty="0"/>
              <a:t> 값을 변경함</a:t>
            </a:r>
            <a:r>
              <a:rPr lang="en-US" altLang="ko-KR" sz="1600" dirty="0"/>
              <a:t>!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877551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1D1DE3-301B-E2B2-CBC2-2603D065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함수형</a:t>
            </a:r>
            <a:r>
              <a:rPr lang="en-US" altLang="ko-KR" dirty="0"/>
              <a:t> </a:t>
            </a:r>
            <a:r>
              <a:rPr lang="ko-KR" altLang="en-US" dirty="0"/>
              <a:t>컴포넌트는 </a:t>
            </a:r>
            <a:r>
              <a:rPr lang="en-US" altLang="ko-KR" dirty="0"/>
              <a:t>state </a:t>
            </a:r>
            <a:r>
              <a:rPr lang="ko-KR" altLang="en-US" dirty="0"/>
              <a:t>기능이 원래 없었다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 16.8 </a:t>
            </a:r>
            <a:r>
              <a:rPr lang="ko-KR" altLang="en-US" dirty="0"/>
              <a:t>버전 이후부터 </a:t>
            </a:r>
            <a:r>
              <a:rPr lang="en-US" altLang="ko-KR" dirty="0" err="1">
                <a:solidFill>
                  <a:schemeClr val="accent1"/>
                </a:solidFill>
              </a:rPr>
              <a:t>useState</a:t>
            </a:r>
            <a:r>
              <a:rPr lang="ko-KR" altLang="en-US" dirty="0"/>
              <a:t>라는 함수가 생겼고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이를 통해 함수형 컴포넌트에서도 상태관리를 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5BBAFB-E5A2-E86E-DF4D-33C5B1AC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07663-0D3A-8917-9E1E-605B5C14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6FD9C34-199D-DA24-F6FD-C17E6EDC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3960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B591E8E-0ABF-648F-4E82-06415FF1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28C8E0-47C0-251E-49DE-BF6104AD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428F-A58A-A1FE-39FF-A49A5BE5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2FB24E7-C040-379F-6853-389B77EB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1D61E-749D-48A3-3AC5-A9F7BEF2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9" y="1825625"/>
            <a:ext cx="6447641" cy="415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54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497A8-6C87-B27D-EFAE-279A835A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033D-EE6D-BF63-37A9-18AC4B5A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CEB6A77-E629-F7FF-151F-65032762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1EF0165-F1CA-E0D3-0865-8CECE42468E1}"/>
              </a:ext>
            </a:extLst>
          </p:cNvPr>
          <p:cNvSpPr txBox="1">
            <a:spLocks/>
          </p:cNvSpPr>
          <p:nvPr/>
        </p:nvSpPr>
        <p:spPr>
          <a:xfrm>
            <a:off x="5562600" y="1565213"/>
            <a:ext cx="58877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함수의 인자에는 </a:t>
            </a:r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상태의 초기값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sz="2000" dirty="0" err="1"/>
              <a:t>useState</a:t>
            </a:r>
            <a:r>
              <a:rPr lang="ko-KR" altLang="en-US" sz="2000" dirty="0"/>
              <a:t>의 초기값은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숫자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문자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배열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 있다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즉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값의 형태가 자유로움</a:t>
            </a:r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>
              <a:buNone/>
            </a:pPr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함수는 배열을 반환</a:t>
            </a:r>
            <a:endParaRPr lang="en-US" altLang="ko-KR" sz="2400" dirty="0"/>
          </a:p>
          <a:p>
            <a:pPr lvl="1"/>
            <a:r>
              <a:rPr lang="ko-KR" altLang="en-US" sz="2000" dirty="0"/>
              <a:t>첫번째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en-US" sz="2000" b="1" dirty="0"/>
              <a:t>현재 상태</a:t>
            </a:r>
            <a:r>
              <a:rPr lang="en-US" altLang="ko-KR" sz="2000" b="1" dirty="0"/>
              <a:t> </a:t>
            </a:r>
          </a:p>
          <a:p>
            <a:pPr lvl="1"/>
            <a:r>
              <a:rPr lang="ko-KR" altLang="en-US" sz="2000" dirty="0"/>
              <a:t>두번째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상태를 바꿔주는 </a:t>
            </a:r>
            <a:r>
              <a:rPr lang="en-US" altLang="ko-KR" sz="2000" dirty="0"/>
              <a:t>setter </a:t>
            </a:r>
            <a:r>
              <a:rPr lang="ko-KR" altLang="en-US" sz="2000" dirty="0"/>
              <a:t>함수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515A64-810E-FE9B-EF3A-B8E969E3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9" y="1565213"/>
            <a:ext cx="4888781" cy="31522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D3F359-2DF8-3F7B-EEE9-7D413F99CF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62" t="18202" r="23983" b="75786"/>
          <a:stretch/>
        </p:blipFill>
        <p:spPr>
          <a:xfrm>
            <a:off x="473159" y="4865502"/>
            <a:ext cx="10823429" cy="6100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9D3577D-B276-C320-57D9-6FA88D445119}"/>
              </a:ext>
            </a:extLst>
          </p:cNvPr>
          <p:cNvSpPr/>
          <p:nvPr/>
        </p:nvSpPr>
        <p:spPr>
          <a:xfrm>
            <a:off x="9132663" y="1545357"/>
            <a:ext cx="1797181" cy="42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C5A51A-93CB-D951-5E41-105440D78A0C}"/>
              </a:ext>
            </a:extLst>
          </p:cNvPr>
          <p:cNvSpPr/>
          <p:nvPr/>
        </p:nvSpPr>
        <p:spPr>
          <a:xfrm>
            <a:off x="10012874" y="4870952"/>
            <a:ext cx="914660" cy="604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EA1856-D422-1B6C-553F-FBEBD18E7D68}"/>
              </a:ext>
            </a:extLst>
          </p:cNvPr>
          <p:cNvSpPr/>
          <p:nvPr/>
        </p:nvSpPr>
        <p:spPr>
          <a:xfrm>
            <a:off x="7604849" y="3344794"/>
            <a:ext cx="1041610" cy="36097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20182B-1345-C634-B06D-D0F816783DF7}"/>
              </a:ext>
            </a:extLst>
          </p:cNvPr>
          <p:cNvSpPr/>
          <p:nvPr/>
        </p:nvSpPr>
        <p:spPr>
          <a:xfrm>
            <a:off x="2438474" y="4998535"/>
            <a:ext cx="1795008" cy="4710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F4C98-F56F-6BB4-CA81-D607772402EC}"/>
              </a:ext>
            </a:extLst>
          </p:cNvPr>
          <p:cNvSpPr/>
          <p:nvPr/>
        </p:nvSpPr>
        <p:spPr>
          <a:xfrm>
            <a:off x="7604849" y="3734877"/>
            <a:ext cx="3055629" cy="36097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5E8BB-3E9B-591D-8244-A7CA4F554DDF}"/>
              </a:ext>
            </a:extLst>
          </p:cNvPr>
          <p:cNvSpPr/>
          <p:nvPr/>
        </p:nvSpPr>
        <p:spPr>
          <a:xfrm>
            <a:off x="4503113" y="4998535"/>
            <a:ext cx="2528962" cy="4710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73A400CB-4F96-9ADE-3209-621EAD444D57}"/>
              </a:ext>
            </a:extLst>
          </p:cNvPr>
          <p:cNvSpPr txBox="1">
            <a:spLocks/>
          </p:cNvSpPr>
          <p:nvPr/>
        </p:nvSpPr>
        <p:spPr>
          <a:xfrm>
            <a:off x="8033729" y="5517453"/>
            <a:ext cx="4053871" cy="962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현재상태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, setter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함수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]</a:t>
            </a: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useState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는 배열 반환</a:t>
            </a:r>
          </a:p>
        </p:txBody>
      </p:sp>
    </p:spTree>
    <p:extLst>
      <p:ext uri="{BB962C8B-B14F-4D97-AF65-F5344CB8AC3E}">
        <p14:creationId xmlns:p14="http://schemas.microsoft.com/office/powerpoint/2010/main" val="15823903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AAEC-7E0B-A789-02BD-F4B3E84A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3DDD5-44A3-4F44-43C3-65379088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E909-BEFD-4A9C-BB36-F9A91296299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389860-8342-055A-2E20-853E187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1AE242-E909-79D8-B5AC-A85E9480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877" y="1565213"/>
            <a:ext cx="6368245" cy="439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531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1778</TotalTime>
  <Words>4239</Words>
  <Application>Microsoft Office PowerPoint</Application>
  <PresentationFormat>와이드스크린</PresentationFormat>
  <Paragraphs>687</Paragraphs>
  <Slides>59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0" baseType="lpstr">
      <vt:lpstr>Arial</vt:lpstr>
      <vt:lpstr>Consolas</vt:lpstr>
      <vt:lpstr>G마켓 산스 TTF Bold</vt:lpstr>
      <vt:lpstr>G마켓 산스 TTF Medium</vt:lpstr>
      <vt:lpstr>Pretendard Black</vt:lpstr>
      <vt:lpstr>Pretendard Light</vt:lpstr>
      <vt:lpstr>Pretendard Medium</vt:lpstr>
      <vt:lpstr>Wingdings</vt:lpstr>
      <vt:lpstr>맑은 고딕</vt:lpstr>
      <vt:lpstr>메이플스토리</vt:lpstr>
      <vt:lpstr>1_Office 테마</vt:lpstr>
      <vt:lpstr>x</vt:lpstr>
      <vt:lpstr>프론트엔드 3대장</vt:lpstr>
      <vt:lpstr>프론트엔드 3대장 </vt:lpstr>
      <vt:lpstr>Angular JS</vt:lpstr>
      <vt:lpstr>React JS</vt:lpstr>
      <vt:lpstr>Vue.js</vt:lpstr>
      <vt:lpstr>Angular vs. React vs. Vue.js</vt:lpstr>
      <vt:lpstr>React 란?</vt:lpstr>
      <vt:lpstr>React란?</vt:lpstr>
      <vt:lpstr>React란?</vt:lpstr>
      <vt:lpstr>React의 특징</vt:lpstr>
      <vt:lpstr>특징 1. Data Flow</vt:lpstr>
      <vt:lpstr>특징 2. Component 기반 구조</vt:lpstr>
      <vt:lpstr>특징 2. Component 기반 구조</vt:lpstr>
      <vt:lpstr>특징 2. Component 기반 구조</vt:lpstr>
      <vt:lpstr>특징 3. Virtual DOM</vt:lpstr>
      <vt:lpstr>특징 3. Virtual DOM</vt:lpstr>
      <vt:lpstr>특징 4. Props and State</vt:lpstr>
      <vt:lpstr>특징 5. JSX</vt:lpstr>
      <vt:lpstr>Node.js &amp; NPM</vt:lpstr>
      <vt:lpstr>Node.js &amp; NPM</vt:lpstr>
      <vt:lpstr>Babel</vt:lpstr>
      <vt:lpstr>Webpack</vt:lpstr>
      <vt:lpstr>React 프로젝트 생성</vt:lpstr>
      <vt:lpstr>React 프로젝트 생성하기</vt:lpstr>
      <vt:lpstr>React 프로젝트 실행하기</vt:lpstr>
      <vt:lpstr>create-react-app으로 생성한 프로젝트의 구조</vt:lpstr>
      <vt:lpstr>Component</vt:lpstr>
      <vt:lpstr>Component</vt:lpstr>
      <vt:lpstr>Component</vt:lpstr>
      <vt:lpstr>Component</vt:lpstr>
      <vt:lpstr>Component 트리 구조</vt:lpstr>
      <vt:lpstr>React 컴포넌트 종류</vt:lpstr>
      <vt:lpstr>Component 를 만드는 방법</vt:lpstr>
      <vt:lpstr>이렇게 생겼어요!</vt:lpstr>
      <vt:lpstr>JSX</vt:lpstr>
      <vt:lpstr>JSX</vt:lpstr>
      <vt:lpstr>JSX  1. 전체는 하나의 태그로 감싸야</vt:lpstr>
      <vt:lpstr>JSX  2. html with JS</vt:lpstr>
      <vt:lpstr>JSX  2. html with JS</vt:lpstr>
      <vt:lpstr>JSX  2. html with JS</vt:lpstr>
      <vt:lpstr>JSX  3. 인라인 style 적용</vt:lpstr>
      <vt:lpstr>JSX  4. class와 onclick</vt:lpstr>
      <vt:lpstr>JSX  5. closing tag</vt:lpstr>
      <vt:lpstr>JSX  6. 주석 사용</vt:lpstr>
      <vt:lpstr>리액트의 디버깅</vt:lpstr>
      <vt:lpstr>Props</vt:lpstr>
      <vt:lpstr>props란?</vt:lpstr>
      <vt:lpstr>함수형 컴포넌트 props</vt:lpstr>
      <vt:lpstr>defaultProps</vt:lpstr>
      <vt:lpstr>props.children</vt:lpstr>
      <vt:lpstr>propTypes</vt:lpstr>
      <vt:lpstr>State</vt:lpstr>
      <vt:lpstr>state란?</vt:lpstr>
      <vt:lpstr>state vs. props </vt:lpstr>
      <vt:lpstr>함수형 컴포넌트의 state</vt:lpstr>
      <vt:lpstr>함수형 컴포넌트의 useState()</vt:lpstr>
      <vt:lpstr>함수형 컴포넌트의 useState()</vt:lpstr>
      <vt:lpstr>함수형 컴포넌트의 useState()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121</cp:revision>
  <dcterms:created xsi:type="dcterms:W3CDTF">2022-06-26T11:10:22Z</dcterms:created>
  <dcterms:modified xsi:type="dcterms:W3CDTF">2026-01-06T08:49:53Z</dcterms:modified>
</cp:coreProperties>
</file>