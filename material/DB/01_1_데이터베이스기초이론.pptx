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790" r:id="rId2"/>
    <p:sldId id="257" r:id="rId3"/>
    <p:sldId id="792" r:id="rId4"/>
    <p:sldId id="752" r:id="rId5"/>
    <p:sldId id="791" r:id="rId6"/>
    <p:sldId id="766" r:id="rId7"/>
    <p:sldId id="262" r:id="rId8"/>
    <p:sldId id="799" r:id="rId9"/>
    <p:sldId id="800" r:id="rId10"/>
    <p:sldId id="321" r:id="rId11"/>
    <p:sldId id="801" r:id="rId12"/>
    <p:sldId id="323" r:id="rId13"/>
    <p:sldId id="324" r:id="rId14"/>
    <p:sldId id="803" r:id="rId15"/>
    <p:sldId id="325" r:id="rId16"/>
    <p:sldId id="326" r:id="rId17"/>
    <p:sldId id="328" r:id="rId18"/>
    <p:sldId id="393" r:id="rId19"/>
    <p:sldId id="395" r:id="rId20"/>
    <p:sldId id="396" r:id="rId21"/>
    <p:sldId id="327" r:id="rId22"/>
    <p:sldId id="333" r:id="rId23"/>
    <p:sldId id="341" r:id="rId24"/>
    <p:sldId id="804" r:id="rId25"/>
    <p:sldId id="805" r:id="rId26"/>
    <p:sldId id="810" r:id="rId27"/>
    <p:sldId id="806" r:id="rId28"/>
    <p:sldId id="809" r:id="rId29"/>
    <p:sldId id="811" r:id="rId30"/>
    <p:sldId id="812" r:id="rId31"/>
    <p:sldId id="936" r:id="rId32"/>
    <p:sldId id="750" r:id="rId33"/>
    <p:sldId id="937" r:id="rId34"/>
    <p:sldId id="938" r:id="rId35"/>
    <p:sldId id="939" r:id="rId36"/>
    <p:sldId id="81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9" autoAdjust="0"/>
    <p:restoredTop sz="77034" autoAdjust="0"/>
  </p:normalViewPr>
  <p:slideViewPr>
    <p:cSldViewPr snapToGrid="0">
      <p:cViewPr varScale="1">
        <p:scale>
          <a:sx n="69" d="100"/>
          <a:sy n="69" d="100"/>
        </p:scale>
        <p:origin x="43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615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2026-03-05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2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77CE-B526-908F-5442-88C4EF13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2849C-7EF5-88B9-4352-B46B9C5E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91E7B0-B0EC-84FB-0ACF-3F543309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13708-1BBA-2BBF-45EA-8D4E377FC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42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7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32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대학생 데이터는 학사 데이터베이스에</a:t>
            </a:r>
            <a:r>
              <a:rPr lang="en-US" altLang="ko-KR" dirty="0"/>
              <a:t>, </a:t>
            </a:r>
            <a:r>
              <a:rPr lang="ko-KR" altLang="en-US" dirty="0"/>
              <a:t>신용카드 데이터는 은행 데이터베이스에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04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그렇구나</a:t>
            </a:r>
            <a:r>
              <a:rPr lang="en-US" altLang="ko-KR" dirty="0"/>
              <a:t>~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3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837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실시간 접근성</a:t>
            </a:r>
            <a:r>
              <a:rPr lang="en-US" altLang="ko-KR" dirty="0"/>
              <a:t>: 1</a:t>
            </a:r>
            <a:r>
              <a:rPr lang="ko-KR" altLang="en-US" dirty="0"/>
              <a:t>일에 요청한 데이터에 대한 결과를 </a:t>
            </a:r>
            <a:r>
              <a:rPr lang="en-US" altLang="ko-KR" dirty="0"/>
              <a:t>3</a:t>
            </a:r>
            <a:r>
              <a:rPr lang="ko-KR" altLang="en-US" dirty="0"/>
              <a:t>일에 전송하는 것이 아니라</a:t>
            </a:r>
            <a:r>
              <a:rPr lang="en-US" altLang="ko-KR" dirty="0"/>
              <a:t>, 1</a:t>
            </a:r>
            <a:r>
              <a:rPr lang="ko-KR" altLang="en-US" dirty="0"/>
              <a:t>일 </a:t>
            </a:r>
            <a:r>
              <a:rPr lang="en-US" altLang="ko-KR" dirty="0"/>
              <a:t>0</a:t>
            </a:r>
            <a:r>
              <a:rPr lang="ko-KR" altLang="en-US" dirty="0"/>
              <a:t>시 </a:t>
            </a:r>
            <a:r>
              <a:rPr lang="en-US" altLang="ko-KR" dirty="0"/>
              <a:t>0</a:t>
            </a:r>
            <a:r>
              <a:rPr lang="ko-KR" altLang="en-US" dirty="0"/>
              <a:t>분에 요청한 데이터는 그 순간에 실제 데이터를 서비스 해야함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181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35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중요한 내용</a:t>
            </a:r>
            <a:r>
              <a:rPr lang="en-US" altLang="ko-KR" dirty="0"/>
              <a:t>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468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30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952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구매 정보는 재무팀이 담당 </a:t>
            </a:r>
            <a:endParaRPr lang="en-US" altLang="ko-KR" dirty="0"/>
          </a:p>
          <a:p>
            <a:r>
              <a:rPr lang="ko-KR" altLang="en-US" dirty="0"/>
              <a:t>고객 정보는 </a:t>
            </a:r>
            <a:r>
              <a:rPr lang="en-US" altLang="ko-KR" dirty="0"/>
              <a:t>CS(Customer Service) </a:t>
            </a:r>
            <a:r>
              <a:rPr lang="ko-KR" altLang="en-US" dirty="0"/>
              <a:t>팀이 담당</a:t>
            </a:r>
            <a:r>
              <a:rPr lang="en-US" altLang="ko-KR" dirty="0"/>
              <a:t>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527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44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781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416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657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76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정형 데이터</a:t>
            </a:r>
            <a:r>
              <a:rPr lang="en-US" altLang="ko-KR" dirty="0"/>
              <a:t>: </a:t>
            </a:r>
            <a:r>
              <a:rPr lang="ko-KR" altLang="en-US" dirty="0"/>
              <a:t>미리 정해 놓은 형식과 구조에 따라 저장되도록 구성</a:t>
            </a:r>
            <a:r>
              <a:rPr lang="en-US" altLang="ko-KR" dirty="0"/>
              <a:t>, </a:t>
            </a:r>
            <a:r>
              <a:rPr lang="ko-KR" altLang="en-US" dirty="0"/>
              <a:t>고정된 필드에 저장된 데이터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관계형 데이터 베이스의 테이블 형태로 저장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비정형 데이터 </a:t>
            </a:r>
            <a:r>
              <a:rPr lang="en-US" altLang="ko-KR" dirty="0"/>
              <a:t>: </a:t>
            </a:r>
            <a:r>
              <a:rPr lang="ko-KR" altLang="en-US" dirty="0"/>
              <a:t>정의된 구조가 없는 동영상 파일</a:t>
            </a:r>
            <a:r>
              <a:rPr lang="en-US" altLang="ko-KR" dirty="0"/>
              <a:t>, </a:t>
            </a:r>
            <a:r>
              <a:rPr lang="ko-KR" altLang="en-US" dirty="0"/>
              <a:t>오디오 파일</a:t>
            </a:r>
            <a:r>
              <a:rPr lang="en-US" altLang="ko-KR" dirty="0"/>
              <a:t>, </a:t>
            </a:r>
            <a:r>
              <a:rPr lang="ko-KR" altLang="en-US" dirty="0"/>
              <a:t>사진</a:t>
            </a:r>
            <a:r>
              <a:rPr lang="en-US" altLang="ko-KR" dirty="0"/>
              <a:t> </a:t>
            </a:r>
            <a:r>
              <a:rPr lang="ko-KR" altLang="en-US" dirty="0"/>
              <a:t>등 정형화 되지 않은 데이터</a:t>
            </a:r>
            <a:endParaRPr lang="en-US" altLang="ko-KR" dirty="0"/>
          </a:p>
          <a:p>
            <a:r>
              <a:rPr lang="ko-KR" altLang="en-US" dirty="0"/>
              <a:t>형태 없고 연산 안됨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데이터 특징 추출하여 반정형</a:t>
            </a:r>
            <a:r>
              <a:rPr lang="en-US" altLang="ko-KR" dirty="0"/>
              <a:t>, </a:t>
            </a:r>
            <a:r>
              <a:rPr lang="ko-KR" altLang="en-US" dirty="0"/>
              <a:t>또는 정형 데이터로 변환하는 </a:t>
            </a:r>
            <a:r>
              <a:rPr lang="ko-KR" altLang="en-US" dirty="0" err="1"/>
              <a:t>전처리</a:t>
            </a:r>
            <a:r>
              <a:rPr lang="ko-KR" altLang="en-US" dirty="0"/>
              <a:t> 과정 필요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반정형 데이터 </a:t>
            </a:r>
            <a:r>
              <a:rPr lang="en-US" altLang="ko-KR" dirty="0"/>
              <a:t>: </a:t>
            </a:r>
            <a:r>
              <a:rPr lang="ko-KR" altLang="en-US" dirty="0"/>
              <a:t>데이터의 구조 정보를 데이터와 함께 제공하는 파일 형식의 데이터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데이터 형식과 구조 변경될 수 있음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936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테이블</a:t>
            </a:r>
            <a:endParaRPr lang="en-US" altLang="ko-KR" dirty="0"/>
          </a:p>
          <a:p>
            <a:r>
              <a:rPr lang="en-US" altLang="ko-KR" dirty="0"/>
              <a:t>DBMS</a:t>
            </a:r>
          </a:p>
          <a:p>
            <a:r>
              <a:rPr lang="en-US" altLang="ko-KR" dirty="0"/>
              <a:t>SQL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394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7033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4C1E-ABDD-CAA1-5710-E1958A2F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11DE9-5EC8-652A-6222-F909FFA62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BCF9A7-9D41-EFEA-E9BD-53968A0D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25589-ACF7-D60B-2EDD-8CCF14F98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84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4C1E-ABDD-CAA1-5710-E1958A2F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11DE9-5EC8-652A-6222-F909FFA62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BCF9A7-9D41-EFEA-E9BD-53968A0D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25589-ACF7-D60B-2EDD-8CCF14F98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84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4C1E-ABDD-CAA1-5710-E1958A2F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11DE9-5EC8-652A-6222-F909FFA62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BCF9A7-9D41-EFEA-E9BD-53968A0D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원자성</a:t>
            </a:r>
            <a:r>
              <a:rPr lang="en-US" altLang="ko-KR" dirty="0"/>
              <a:t>: 1,2 </a:t>
            </a:r>
            <a:r>
              <a:rPr lang="ko-KR" altLang="en-US" dirty="0"/>
              <a:t>번이 함께 실행되거나 아예 실행되지 않아야 한다</a:t>
            </a:r>
            <a:endParaRPr lang="en-US" altLang="ko-KR" dirty="0"/>
          </a:p>
          <a:p>
            <a:r>
              <a:rPr lang="ko-KR" altLang="en-US" dirty="0"/>
              <a:t>일관성</a:t>
            </a:r>
            <a:r>
              <a:rPr lang="en-US" altLang="ko-KR" dirty="0"/>
              <a:t>: </a:t>
            </a:r>
            <a:r>
              <a:rPr lang="ko-KR" altLang="en-US" dirty="0"/>
              <a:t>계좌 이체 후 각 계좌의 잔액 합계는 변하지 않아야 한다</a:t>
            </a:r>
            <a:endParaRPr lang="en-US" altLang="ko-KR" dirty="0"/>
          </a:p>
          <a:p>
            <a:r>
              <a:rPr lang="ko-KR" altLang="en-US" dirty="0" err="1"/>
              <a:t>격리성</a:t>
            </a:r>
            <a:r>
              <a:rPr lang="en-US" altLang="ko-KR" dirty="0"/>
              <a:t>: </a:t>
            </a:r>
            <a:r>
              <a:rPr lang="ko-KR" altLang="en-US" dirty="0"/>
              <a:t>동시에 여러 계좌 이체 트랜잭션이 실행 중일 때</a:t>
            </a:r>
            <a:r>
              <a:rPr lang="en-US" altLang="ko-KR" dirty="0"/>
              <a:t>, </a:t>
            </a:r>
            <a:r>
              <a:rPr lang="ko-KR" altLang="en-US" dirty="0"/>
              <a:t>각 트랜잭션은 다른 트랜잭션의 데이터에 접근하거나 변경할 수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지속성</a:t>
            </a:r>
            <a:r>
              <a:rPr lang="en-US" altLang="ko-KR" dirty="0"/>
              <a:t>: </a:t>
            </a:r>
            <a:r>
              <a:rPr lang="ko-KR" altLang="en-US" dirty="0"/>
              <a:t>시스템 장애 또는 전원 이상과 같은 문제가 발생하더라도 트랜잭션에 의한 변경 사항은 손실되지 </a:t>
            </a:r>
            <a:r>
              <a:rPr lang="ko-KR" altLang="en-US"/>
              <a:t>않아야 한다</a:t>
            </a:r>
            <a:r>
              <a:rPr lang="en-US" altLang="ko-KR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25589-ACF7-D60B-2EDD-8CCF14F98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84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723688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530768" y="2600493"/>
            <a:ext cx="7130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데이터베이스 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EC3-8DBB-4DBC-D313-62955DD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92BCC-8B27-282D-A740-7641D19A881D}"/>
              </a:ext>
            </a:extLst>
          </p:cNvPr>
          <p:cNvSpPr txBox="1"/>
          <p:nvPr/>
        </p:nvSpPr>
        <p:spPr>
          <a:xfrm>
            <a:off x="3675305" y="2600493"/>
            <a:ext cx="4841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DB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6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A63A88-000E-F3D6-56EE-1DA212B9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33A33-3958-3DBC-55E7-C37F059DAEF6}"/>
              </a:ext>
            </a:extLst>
          </p:cNvPr>
          <p:cNvSpPr txBox="1"/>
          <p:nvPr/>
        </p:nvSpPr>
        <p:spPr>
          <a:xfrm>
            <a:off x="490331" y="2184204"/>
            <a:ext cx="9185528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DB, DBMS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 기본 개념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MySQL 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데이터베이스 설계 및 활용 능력 배양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파이썬과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MySQL 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연동을 통한 개발 역량 배양</a:t>
            </a:r>
          </a:p>
        </p:txBody>
      </p:sp>
    </p:spTree>
    <p:extLst>
      <p:ext uri="{BB962C8B-B14F-4D97-AF65-F5344CB8AC3E}">
        <p14:creationId xmlns:p14="http://schemas.microsoft.com/office/powerpoint/2010/main" val="305167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F187BE-9772-50EF-DA54-260DB1D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0240D39-FECC-C440-0F4B-0758DD4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D3E2A3-F23C-8714-44A1-23CE45C63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095269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29D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데이터베이스 이론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MySQL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학습과 문제풀이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파이썬을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통한 </a:t>
                      </a: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DB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연동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미니 프로젝트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D5F04AA1-6C84-4DD9-EACC-F6626C563B51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63FC5-DE57-6ACA-CD4E-22E78A54AA2D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02873CF5-5F3A-48E2-1457-DB5725EBA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0C86B5CB-1D1F-61DA-897A-24F6542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2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D96-2E13-82D4-8580-4CA6BDF8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09E60A-44CF-ACE9-2DD2-D2B2C6353C94}"/>
              </a:ext>
            </a:extLst>
          </p:cNvPr>
          <p:cNvSpPr txBox="1"/>
          <p:nvPr/>
        </p:nvSpPr>
        <p:spPr>
          <a:xfrm>
            <a:off x="3674509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베이스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940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</a:t>
            </a:r>
            <a:r>
              <a:rPr lang="en-US" altLang="ko-KR" b="1" dirty="0"/>
              <a:t>, </a:t>
            </a:r>
            <a:r>
              <a:rPr lang="ko-KR" altLang="en-US" b="1" dirty="0"/>
              <a:t>정보</a:t>
            </a:r>
            <a:r>
              <a:rPr lang="en-US" altLang="ko-KR" b="1" dirty="0"/>
              <a:t>, </a:t>
            </a:r>
            <a:r>
              <a:rPr lang="ko-KR" altLang="en-US" b="1" dirty="0"/>
              <a:t>지식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1DFDD90-1E68-80A6-D8EE-0CB7FCDB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65386"/>
            <a:ext cx="10515600" cy="721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데이터가 모이면 정보가 되고</a:t>
            </a:r>
            <a:r>
              <a:rPr lang="en-US" altLang="ko-KR" dirty="0"/>
              <a:t>, </a:t>
            </a:r>
            <a:r>
              <a:rPr lang="ko-KR" altLang="en-US" dirty="0"/>
              <a:t>정보가 모이면 지식이 된다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684DEF-F7C6-0BE7-480D-88CAC1758A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9" b="22666"/>
          <a:stretch/>
        </p:blipFill>
        <p:spPr>
          <a:xfrm>
            <a:off x="7103532" y="2045487"/>
            <a:ext cx="4224771" cy="3408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97136-EC30-B0FF-A0ED-486508B5782A}"/>
              </a:ext>
            </a:extLst>
          </p:cNvPr>
          <p:cNvSpPr txBox="1"/>
          <p:nvPr/>
        </p:nvSpPr>
        <p:spPr>
          <a:xfrm>
            <a:off x="483657" y="5721028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정량적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양을 헤아려 나타내는 수치</a:t>
            </a:r>
            <a:endParaRPr lang="en-US" altLang="ko-KR" sz="1600" b="0" i="0" dirty="0">
              <a:solidFill>
                <a:srgbClr val="202124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정성적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속성이나 품질을 파악하는 수치</a:t>
            </a:r>
            <a:endParaRPr lang="ko-KR" altLang="en-US" sz="16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C4E40-BD4E-5AE7-0EDE-B420B430B529}"/>
              </a:ext>
            </a:extLst>
          </p:cNvPr>
          <p:cNvSpPr txBox="1"/>
          <p:nvPr/>
        </p:nvSpPr>
        <p:spPr>
          <a:xfrm>
            <a:off x="483657" y="1906858"/>
            <a:ext cx="6746875" cy="316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데이터 </a:t>
            </a:r>
            <a:r>
              <a:rPr lang="en-US" altLang="ko-KR" sz="2400" b="1" dirty="0"/>
              <a:t>(data)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관찰의 결과로 나타난 정량적 혹은 정성적인 값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정보 </a:t>
            </a:r>
            <a:r>
              <a:rPr lang="en-US" altLang="ko-KR" sz="2400" b="1" dirty="0"/>
              <a:t>(information)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유의미하게 가공한 데이터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지식 </a:t>
            </a:r>
            <a:r>
              <a:rPr lang="en-US" altLang="ko-KR" sz="2400" b="1" dirty="0"/>
              <a:t>(knowledge)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가치 있는 정보</a:t>
            </a:r>
          </a:p>
        </p:txBody>
      </p:sp>
    </p:spTree>
    <p:extLst>
      <p:ext uri="{BB962C8B-B14F-4D97-AF65-F5344CB8AC3E}">
        <p14:creationId xmlns:p14="http://schemas.microsoft.com/office/powerpoint/2010/main" val="105010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정보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87" y="1246590"/>
            <a:ext cx="3380413" cy="5462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📌 </a:t>
            </a:r>
            <a:r>
              <a:rPr lang="en-US" altLang="ko-KR" dirty="0"/>
              <a:t>Ex)</a:t>
            </a:r>
            <a:r>
              <a:rPr lang="ko-KR" altLang="en-US" dirty="0"/>
              <a:t> 음료수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7" y="1447725"/>
            <a:ext cx="4421236" cy="3947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DB0F27-E8F2-E216-8A5E-F559EBAACEF5}"/>
              </a:ext>
            </a:extLst>
          </p:cNvPr>
          <p:cNvSpPr txBox="1"/>
          <p:nvPr/>
        </p:nvSpPr>
        <p:spPr>
          <a:xfrm>
            <a:off x="480386" y="1855967"/>
            <a:ext cx="7292013" cy="354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데이터</a:t>
            </a:r>
            <a:r>
              <a:rPr lang="en-US" altLang="ko-KR" sz="2400" b="1" dirty="0"/>
              <a:t>(data)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콜라 칼로리 </a:t>
            </a:r>
            <a:r>
              <a:rPr lang="en-US" altLang="ko-KR" sz="2000" dirty="0"/>
              <a:t>37kcal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제로 콜라 칼로리 </a:t>
            </a:r>
            <a:r>
              <a:rPr lang="en-US" altLang="ko-KR" sz="2000" dirty="0"/>
              <a:t>0kcal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정보</a:t>
            </a:r>
            <a:r>
              <a:rPr lang="en-US" altLang="ko-KR" sz="2400" b="1" dirty="0"/>
              <a:t>(information)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제로 콜라의 칼로리가 콜라보다 낮다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지식</a:t>
            </a:r>
            <a:r>
              <a:rPr lang="en-US" altLang="ko-KR" sz="2400" b="1" dirty="0"/>
              <a:t>(knowledge)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체중 감량을 위해서는 제로 콜라를 마시는 것이 좋다</a:t>
            </a:r>
          </a:p>
        </p:txBody>
      </p:sp>
    </p:spTree>
    <p:extLst>
      <p:ext uri="{BB962C8B-B14F-4D97-AF65-F5344CB8AC3E}">
        <p14:creationId xmlns:p14="http://schemas.microsoft.com/office/powerpoint/2010/main" val="409680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8"/>
            <a:ext cx="11701221" cy="16558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여러 사람에 의해 공유되어 사용될 목적으로 통합하여 관리되는 </a:t>
            </a:r>
            <a:r>
              <a:rPr lang="ko-KR" altLang="en-US" b="1" dirty="0">
                <a:solidFill>
                  <a:srgbClr val="00B050"/>
                </a:solidFill>
              </a:rPr>
              <a:t>데이터의 집합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다량의 데이터를 효율적으로 저장</a:t>
            </a:r>
            <a:r>
              <a:rPr lang="en-US" altLang="ko-KR" dirty="0"/>
              <a:t>, </a:t>
            </a:r>
            <a:r>
              <a:rPr lang="ko-KR" altLang="en-US" dirty="0"/>
              <a:t>검색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삭제할 수 있도록 설계된 구조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0382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정의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502699"/>
            <a:ext cx="11701221" cy="3424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1️⃣ </a:t>
            </a:r>
            <a:r>
              <a:rPr lang="ko-KR" altLang="en-US" b="1" dirty="0"/>
              <a:t>통합된 데이터</a:t>
            </a:r>
            <a:r>
              <a:rPr lang="en-US" altLang="ko-KR" b="1" dirty="0"/>
              <a:t>(integrated data)</a:t>
            </a:r>
          </a:p>
          <a:p>
            <a:pPr lvl="1"/>
            <a:r>
              <a:rPr lang="ko-KR" altLang="en-US" dirty="0"/>
              <a:t>데이터베이스는 </a:t>
            </a:r>
            <a:r>
              <a:rPr lang="ko-KR" altLang="en-US" b="1" dirty="0"/>
              <a:t>중복을 최소화하고 정합성을 유지</a:t>
            </a:r>
            <a:r>
              <a:rPr lang="ko-KR" altLang="en-US" dirty="0"/>
              <a:t>하도록 데이터를 통합하여 저장함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2️⃣ </a:t>
            </a:r>
            <a:r>
              <a:rPr lang="ko-KR" altLang="en-US" b="1" dirty="0"/>
              <a:t>저장된 데이터</a:t>
            </a:r>
            <a:r>
              <a:rPr lang="en-US" altLang="ko-KR" b="1" dirty="0"/>
              <a:t>(stored data)</a:t>
            </a:r>
          </a:p>
          <a:p>
            <a:pPr lvl="1"/>
            <a:r>
              <a:rPr lang="ko-KR" altLang="en-US" dirty="0"/>
              <a:t>데이터베이스는 컴퓨터의 저장장치</a:t>
            </a:r>
            <a:r>
              <a:rPr lang="en-US" altLang="ko-KR" dirty="0"/>
              <a:t>(</a:t>
            </a:r>
            <a:r>
              <a:rPr lang="ko-KR" altLang="en-US" dirty="0"/>
              <a:t>디스크</a:t>
            </a:r>
            <a:r>
              <a:rPr lang="en-US" altLang="ko-KR" dirty="0"/>
              <a:t>, SSD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물리적으로 저장되는 데이터를 의미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3FB2F5-2863-5B33-1023-0E5A4D8EBC8C}"/>
              </a:ext>
            </a:extLst>
          </p:cNvPr>
          <p:cNvSpPr txBox="1"/>
          <p:nvPr/>
        </p:nvSpPr>
        <p:spPr>
          <a:xfrm>
            <a:off x="669925" y="2673028"/>
            <a:ext cx="6224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정합성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데이터가 논리적으로 일관성을 유지하고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신뢰할 수 있는 상태</a:t>
            </a:r>
            <a:endParaRPr lang="ko-KR" altLang="en-US" sz="16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13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정의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502702"/>
            <a:ext cx="11701221" cy="2916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3️⃣ </a:t>
            </a:r>
            <a:r>
              <a:rPr lang="ko-KR" altLang="en-US" b="1" dirty="0"/>
              <a:t>운영 데이터</a:t>
            </a:r>
            <a:r>
              <a:rPr lang="en-US" altLang="ko-KR" b="1" dirty="0"/>
              <a:t>(operational data)</a:t>
            </a:r>
          </a:p>
          <a:p>
            <a:pPr lvl="1"/>
            <a:r>
              <a:rPr lang="ko-KR" altLang="en-US" dirty="0"/>
              <a:t>기업이나 조직의 업무 수행을 위해 생성 및 사용되는 실시간 데이터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4️⃣ </a:t>
            </a:r>
            <a:r>
              <a:rPr lang="ko-KR" altLang="en-US" b="1" dirty="0"/>
              <a:t>공용 데이터</a:t>
            </a:r>
            <a:r>
              <a:rPr lang="en-US" altLang="ko-KR" b="1" dirty="0"/>
              <a:t>(shared data)</a:t>
            </a:r>
          </a:p>
          <a:p>
            <a:pPr lvl="1"/>
            <a:r>
              <a:rPr lang="ko-KR" altLang="en-US" dirty="0"/>
              <a:t>하나의 데이터베이스를 여러 사용자가 공유하여 사용할 수 있는 데이터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BC65E-3B64-B46A-EFFC-BEA7F137CF7E}"/>
              </a:ext>
            </a:extLst>
          </p:cNvPr>
          <p:cNvSpPr txBox="1"/>
          <p:nvPr/>
        </p:nvSpPr>
        <p:spPr>
          <a:xfrm>
            <a:off x="2817283" y="5005303"/>
            <a:ext cx="65574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🚀데이터베이스는 각 조직에서 사용하는</a:t>
            </a:r>
            <a:endParaRPr lang="en-US" altLang="ko-KR" sz="2800" b="1" dirty="0">
              <a:solidFill>
                <a:srgbClr val="00B050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marL="0" indent="0">
              <a:buNone/>
            </a:pPr>
            <a:r>
              <a:rPr lang="ko-KR" altLang="en-US" sz="2800" b="1" dirty="0">
                <a:solidFill>
                  <a:srgbClr val="00B05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     데이터를 통합하고 공유</a:t>
            </a:r>
            <a:r>
              <a:rPr lang="ko-KR" altLang="en-US" sz="2800" dirty="0">
                <a:solidFill>
                  <a:srgbClr val="00B05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할 목적</a:t>
            </a:r>
            <a:r>
              <a:rPr lang="ko-KR" altLang="en-US" sz="2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으로 구축</a:t>
            </a:r>
            <a:r>
              <a:rPr lang="en-US" altLang="ko-KR" sz="2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4543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특징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3424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1️⃣ </a:t>
            </a:r>
            <a:r>
              <a:rPr lang="ko-KR" altLang="en-US" b="1" dirty="0"/>
              <a:t>실시간 접근성</a:t>
            </a:r>
            <a:r>
              <a:rPr lang="en-US" altLang="ko-KR" b="1" dirty="0"/>
              <a:t>(real time accessibility)</a:t>
            </a:r>
          </a:p>
          <a:p>
            <a:pPr lvl="1"/>
            <a:r>
              <a:rPr lang="ko-KR" altLang="en-US" dirty="0"/>
              <a:t>데이터는 사용자가 필요할 때 즉시 접근하여 사용할 수 있어야 함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2️⃣ </a:t>
            </a:r>
            <a:r>
              <a:rPr lang="ko-KR" altLang="en-US" b="1" dirty="0"/>
              <a:t>계속적인 변화</a:t>
            </a:r>
            <a:r>
              <a:rPr lang="en-US" altLang="ko-KR" b="1" dirty="0"/>
              <a:t>(continuous change)</a:t>
            </a:r>
          </a:p>
          <a:p>
            <a:pPr lvl="1"/>
            <a:r>
              <a:rPr lang="ko-KR" altLang="en-US" dirty="0"/>
              <a:t>데이터는 지속적으로 변경되고 갱신되며</a:t>
            </a:r>
            <a:r>
              <a:rPr lang="en-US" altLang="ko-KR" dirty="0"/>
              <a:t>, </a:t>
            </a:r>
            <a:r>
              <a:rPr lang="ko-KR" altLang="en-US" dirty="0"/>
              <a:t>최신 상태를 유지해야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1750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특징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2874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3️⃣ </a:t>
            </a:r>
            <a:r>
              <a:rPr lang="ko-KR" altLang="en-US" b="1" dirty="0"/>
              <a:t>동시 공유</a:t>
            </a:r>
            <a:r>
              <a:rPr lang="en-US" altLang="ko-KR" b="1" dirty="0"/>
              <a:t>(concurrent sharing)</a:t>
            </a:r>
          </a:p>
          <a:p>
            <a:pPr lvl="1"/>
            <a:r>
              <a:rPr lang="ko-KR" altLang="en-US" dirty="0"/>
              <a:t>데이터베이스는 여러 사용자가 동시에 같은 데이터를 공유하고 사용할 수 있어야 함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4️⃣ </a:t>
            </a:r>
            <a:r>
              <a:rPr lang="ko-KR" altLang="en-US" b="1" dirty="0"/>
              <a:t>내용에 따른 참조</a:t>
            </a:r>
            <a:r>
              <a:rPr lang="en-US" altLang="ko-KR" b="1" dirty="0"/>
              <a:t>(reference by content)</a:t>
            </a:r>
          </a:p>
          <a:p>
            <a:pPr lvl="1"/>
            <a:r>
              <a:rPr lang="ko-KR" altLang="en-US" dirty="0"/>
              <a:t>데이터는 고유한 값</a:t>
            </a:r>
            <a:r>
              <a:rPr lang="en-US" altLang="ko-KR" dirty="0"/>
              <a:t>(</a:t>
            </a:r>
            <a:r>
              <a:rPr lang="ko-KR" altLang="en-US" dirty="0"/>
              <a:t>내용</a:t>
            </a:r>
            <a:r>
              <a:rPr lang="en-US" altLang="ko-KR" dirty="0"/>
              <a:t>)</a:t>
            </a:r>
            <a:r>
              <a:rPr lang="ko-KR" altLang="en-US" dirty="0"/>
              <a:t>으로 식별되며</a:t>
            </a:r>
            <a:r>
              <a:rPr lang="en-US" altLang="ko-KR" dirty="0"/>
              <a:t>, </a:t>
            </a:r>
            <a:r>
              <a:rPr lang="ko-KR" altLang="en-US" dirty="0"/>
              <a:t>위치가 아닌 값에 따라 참조됨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307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63733BA1-D64D-E2C6-F1A3-FBA2665DC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47" y="4173009"/>
            <a:ext cx="1905000" cy="1905000"/>
          </a:xfrm>
          <a:prstGeom prst="rect">
            <a:avLst/>
          </a:prstGeom>
        </p:spPr>
      </p:pic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B594F7DA-C328-4889-9E81-D91F9463FBE5}"/>
              </a:ext>
            </a:extLst>
          </p:cNvPr>
          <p:cNvSpPr/>
          <p:nvPr/>
        </p:nvSpPr>
        <p:spPr>
          <a:xfrm>
            <a:off x="2514599" y="1168399"/>
            <a:ext cx="6377237" cy="3176515"/>
          </a:xfrm>
          <a:prstGeom prst="wedgeRoundRectCallout">
            <a:avLst>
              <a:gd name="adj1" fmla="val 55628"/>
              <a:gd name="adj2" fmla="val 73312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 데이터를 저장하면 되는데</a:t>
            </a:r>
            <a:endParaRPr lang="en-US" altLang="ko-KR" sz="28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왜 데이터베이스를 사용할까</a:t>
            </a:r>
            <a:r>
              <a:rPr lang="en-US" altLang="ko-KR" sz="28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  <a:endParaRPr lang="ko-KR" altLang="en-US" sz="28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244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</a:t>
            </a:r>
            <a:r>
              <a:rPr lang="en-US" altLang="ko-KR" dirty="0"/>
              <a:t>vs </a:t>
            </a:r>
            <a:r>
              <a:rPr lang="ko-KR" altLang="en-US" dirty="0"/>
              <a:t>데이터베이스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735" y="2043497"/>
            <a:ext cx="6920341" cy="3475701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b="1" dirty="0"/>
              <a:t>파일 시스템</a:t>
            </a:r>
            <a:endParaRPr lang="en-US" altLang="ko-KR" b="1" dirty="0"/>
          </a:p>
          <a:p>
            <a:pPr lvl="1"/>
            <a:r>
              <a:rPr lang="ko-KR" altLang="en-US" dirty="0"/>
              <a:t>데이터를 기록하고 여러 사람이 공유하여 사용 가능</a:t>
            </a:r>
            <a:endParaRPr lang="en-US" altLang="ko-KR" dirty="0"/>
          </a:p>
          <a:p>
            <a:pPr lvl="1"/>
            <a:r>
              <a:rPr lang="en-US" altLang="ko-KR" dirty="0"/>
              <a:t>ex. Microsoft Excel </a:t>
            </a:r>
            <a:r>
              <a:rPr lang="ko-KR" altLang="en-US" dirty="0"/>
              <a:t>프로그램으로 데이터 관리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b="1" dirty="0"/>
              <a:t>데이터베이스</a:t>
            </a:r>
            <a:endParaRPr lang="en-US" altLang="ko-KR" b="1" dirty="0"/>
          </a:p>
          <a:p>
            <a:pPr lvl="1"/>
            <a:r>
              <a:rPr lang="ko-KR" altLang="en-US" dirty="0"/>
              <a:t>파일 시스템의 단점을 개선하기 위해 등장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948C9FC-13BA-4170-56C9-A45EBD1A4677}"/>
              </a:ext>
            </a:extLst>
          </p:cNvPr>
          <p:cNvGrpSpPr/>
          <p:nvPr/>
        </p:nvGrpSpPr>
        <p:grpSpPr>
          <a:xfrm>
            <a:off x="343301" y="2692023"/>
            <a:ext cx="4228758" cy="1774386"/>
            <a:chOff x="404271" y="2692023"/>
            <a:chExt cx="4228758" cy="177438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B142949-FE37-C639-C81D-FFE490D5E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271" y="2692023"/>
              <a:ext cx="1774386" cy="1774386"/>
            </a:xfrm>
            <a:prstGeom prst="rect">
              <a:avLst/>
            </a:prstGeom>
          </p:spPr>
        </p:pic>
        <p:pic>
          <p:nvPicPr>
            <p:cNvPr id="6" name="그림 5" descr="텍스트이(가) 표시된 사진&#10;&#10;자동 생성된 설명">
              <a:extLst>
                <a:ext uri="{FF2B5EF4-FFF2-40B4-BE49-F238E27FC236}">
                  <a16:creationId xmlns:a16="http://schemas.microsoft.com/office/drawing/2014/main" id="{8A256B9D-71C9-7C58-BBE0-046C4BE9A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1589" y="2848496"/>
              <a:ext cx="1461440" cy="14614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C9C665-8440-AB22-5254-65DF54B4260D}"/>
                </a:ext>
              </a:extLst>
            </p:cNvPr>
            <p:cNvSpPr txBox="1"/>
            <p:nvPr/>
          </p:nvSpPr>
          <p:spPr>
            <a:xfrm>
              <a:off x="2276846" y="3225273"/>
              <a:ext cx="79655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dirty="0">
                  <a:latin typeface="+mj-lt"/>
                </a:rPr>
                <a:t>vs</a:t>
              </a:r>
              <a:endParaRPr lang="ko-KR" altLang="en-US" sz="40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803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특징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34458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데이터를 기록하고 여러 사람이 공유하여 사용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파일 시스템의 단점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단점</a:t>
            </a:r>
            <a:r>
              <a:rPr lang="en-US" altLang="ko-KR" dirty="0"/>
              <a:t>1. </a:t>
            </a:r>
            <a:r>
              <a:rPr lang="ko-KR" altLang="en-US" dirty="0"/>
              <a:t>데이터 </a:t>
            </a:r>
            <a:r>
              <a:rPr lang="ko-KR" altLang="en-US" b="1" dirty="0"/>
              <a:t>중복</a:t>
            </a:r>
            <a:r>
              <a:rPr lang="ko-KR" altLang="en-US" dirty="0"/>
              <a:t>이 생길 수 있다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단점</a:t>
            </a:r>
            <a:r>
              <a:rPr lang="en-US" altLang="ko-KR" dirty="0"/>
              <a:t>2. </a:t>
            </a:r>
            <a:r>
              <a:rPr lang="ko-KR" altLang="en-US" dirty="0"/>
              <a:t>데이터 </a:t>
            </a:r>
            <a:r>
              <a:rPr lang="ko-KR" altLang="en-US" b="1" dirty="0"/>
              <a:t>공유</a:t>
            </a:r>
            <a:r>
              <a:rPr lang="ko-KR" altLang="en-US" dirty="0"/>
              <a:t>에 있어서 </a:t>
            </a:r>
            <a:r>
              <a:rPr lang="ko-KR" altLang="en-US" b="1" dirty="0"/>
              <a:t>제한</a:t>
            </a:r>
            <a:r>
              <a:rPr lang="ko-KR" altLang="en-US" dirty="0"/>
              <a:t>이 존재한다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단점</a:t>
            </a:r>
            <a:r>
              <a:rPr lang="en-US" altLang="ko-KR" dirty="0"/>
              <a:t>3. </a:t>
            </a:r>
            <a:r>
              <a:rPr lang="ko-KR" altLang="en-US" dirty="0"/>
              <a:t>구현과 </a:t>
            </a:r>
            <a:r>
              <a:rPr lang="ko-KR" altLang="en-US" b="1" dirty="0"/>
              <a:t>유지보수</a:t>
            </a:r>
            <a:r>
              <a:rPr lang="ko-KR" altLang="en-US" dirty="0"/>
              <a:t>에 시간이 </a:t>
            </a:r>
            <a:r>
              <a:rPr lang="ko-KR" altLang="en-US" b="1" dirty="0"/>
              <a:t>오래</a:t>
            </a:r>
            <a:r>
              <a:rPr lang="ko-KR" altLang="en-US" dirty="0"/>
              <a:t> 걸린다</a:t>
            </a:r>
            <a:r>
              <a:rPr lang="en-US" altLang="ko-KR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094EA07-03B9-4382-4095-607EDC922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95" y="5119659"/>
            <a:ext cx="1774386" cy="177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683394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/>
              <a:t>고객 구매정보 </a:t>
            </a:r>
            <a:r>
              <a:rPr lang="ko-KR" altLang="en-US" dirty="0"/>
              <a:t>담긴 파일</a:t>
            </a:r>
            <a:r>
              <a:rPr lang="en-US" altLang="ko-KR" dirty="0"/>
              <a:t>, </a:t>
            </a:r>
            <a:r>
              <a:rPr lang="ko-KR" altLang="en-US" b="1" dirty="0"/>
              <a:t>고객의 정보</a:t>
            </a:r>
            <a:r>
              <a:rPr lang="ko-KR" altLang="en-US" dirty="0"/>
              <a:t>가 담긴 파일이 존재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C5EFFA5-EC2A-C04E-B9C6-3680ADD978C1}"/>
              </a:ext>
            </a:extLst>
          </p:cNvPr>
          <p:cNvGrpSpPr/>
          <p:nvPr/>
        </p:nvGrpSpPr>
        <p:grpSpPr>
          <a:xfrm>
            <a:off x="2858888" y="2604146"/>
            <a:ext cx="1991251" cy="2095956"/>
            <a:chOff x="3337508" y="3075781"/>
            <a:chExt cx="1991251" cy="209595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9DA5626-ADE3-C55B-EE72-70A50E8B6B2D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7FA88B24-83DC-CE2F-CBB7-E6ECA733A2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A7EE03-8BCE-DFE5-4F87-CB90603FAECA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1122E2-40DA-38C6-A6A6-34D44FA9ADD9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3CC254-DC54-5394-D960-7071655D6EDB}"/>
              </a:ext>
            </a:extLst>
          </p:cNvPr>
          <p:cNvGrpSpPr/>
          <p:nvPr/>
        </p:nvGrpSpPr>
        <p:grpSpPr>
          <a:xfrm>
            <a:off x="7501596" y="2604146"/>
            <a:ext cx="1588897" cy="2095956"/>
            <a:chOff x="7264080" y="3075781"/>
            <a:chExt cx="1588897" cy="2095956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690D470-BD49-4DFB-70E9-7ABD99505F5B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910458C0-1818-4B22-BE34-BE700D6DF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88CAC8-4EDD-3B6E-F93A-18158D58B834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984345-A164-949F-2DDC-7F62AC8D8055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909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9761"/>
            <a:ext cx="11701221" cy="631529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A </a:t>
            </a:r>
            <a:r>
              <a:rPr lang="ko-KR" altLang="en-US" dirty="0"/>
              <a:t>고객이 </a:t>
            </a:r>
            <a:r>
              <a:rPr lang="en-US" altLang="ko-KR" dirty="0"/>
              <a:t>A’</a:t>
            </a:r>
            <a:r>
              <a:rPr lang="ko-KR" altLang="en-US" dirty="0"/>
              <a:t>로 개명하여 </a:t>
            </a:r>
            <a:r>
              <a:rPr lang="en-US" altLang="ko-KR" dirty="0"/>
              <a:t>CS </a:t>
            </a:r>
            <a:r>
              <a:rPr lang="ko-KR" altLang="en-US" dirty="0"/>
              <a:t>팀에서 고객 정보를 변경함</a:t>
            </a:r>
            <a:endParaRPr lang="en-US" altLang="ko-KR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6CDEBF3-1DCE-C796-19AE-E52A6F5AC8F3}"/>
              </a:ext>
            </a:extLst>
          </p:cNvPr>
          <p:cNvGrpSpPr/>
          <p:nvPr/>
        </p:nvGrpSpPr>
        <p:grpSpPr>
          <a:xfrm>
            <a:off x="7061970" y="5184087"/>
            <a:ext cx="2499348" cy="682565"/>
            <a:chOff x="7110095" y="5655728"/>
            <a:chExt cx="2499348" cy="682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5D8159-2C19-4FC5-7170-DFAF4F883E91}"/>
                </a:ext>
              </a:extLst>
            </p:cNvPr>
            <p:cNvSpPr txBox="1"/>
            <p:nvPr/>
          </p:nvSpPr>
          <p:spPr>
            <a:xfrm>
              <a:off x="7741624" y="5691962"/>
              <a:ext cx="18678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고객 이름 변경</a:t>
              </a:r>
              <a:r>
                <a:rPr lang="en-US" altLang="ko-KR" dirty="0"/>
                <a:t>!!</a:t>
              </a:r>
            </a:p>
            <a:p>
              <a:pPr algn="ctr"/>
              <a:r>
                <a:rPr lang="en-US" altLang="ko-KR" b="1" dirty="0"/>
                <a:t>A </a:t>
              </a:r>
              <a:r>
                <a:rPr lang="ko-KR" altLang="en-US" b="1" dirty="0"/>
                <a:t>→</a:t>
              </a:r>
              <a:r>
                <a:rPr lang="en-US" altLang="ko-KR" b="1" dirty="0"/>
                <a:t> A’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ABA6CEF-5E07-C2D4-4C43-6F28773E7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0095" y="5655728"/>
              <a:ext cx="631529" cy="631529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57003AA-99EE-40DB-21F5-5055F66BB765}"/>
              </a:ext>
            </a:extLst>
          </p:cNvPr>
          <p:cNvGrpSpPr/>
          <p:nvPr/>
        </p:nvGrpSpPr>
        <p:grpSpPr>
          <a:xfrm>
            <a:off x="5329514" y="4146098"/>
            <a:ext cx="1219200" cy="369332"/>
            <a:chOff x="5663474" y="4863106"/>
            <a:chExt cx="1219200" cy="369332"/>
          </a:xfrm>
        </p:grpSpPr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DC3E88B1-8364-ACE4-5E6B-494102CF4860}"/>
                </a:ext>
              </a:extLst>
            </p:cNvPr>
            <p:cNvSpPr/>
            <p:nvPr/>
          </p:nvSpPr>
          <p:spPr>
            <a:xfrm rot="7464554">
              <a:off x="6151789" y="4432530"/>
              <a:ext cx="242570" cy="1219200"/>
            </a:xfrm>
            <a:prstGeom prst="down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E7FCED-E1A9-8969-D921-1EC556EE2768}"/>
                </a:ext>
              </a:extLst>
            </p:cNvPr>
            <p:cNvSpPr txBox="1"/>
            <p:nvPr/>
          </p:nvSpPr>
          <p:spPr>
            <a:xfrm>
              <a:off x="5791211" y="4863106"/>
              <a:ext cx="963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전달❌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5F8CC8F-B22A-8880-023B-968AF0617C2D}"/>
              </a:ext>
            </a:extLst>
          </p:cNvPr>
          <p:cNvGrpSpPr/>
          <p:nvPr/>
        </p:nvGrpSpPr>
        <p:grpSpPr>
          <a:xfrm>
            <a:off x="2858890" y="2604140"/>
            <a:ext cx="1991251" cy="2095956"/>
            <a:chOff x="3337508" y="3075781"/>
            <a:chExt cx="1991251" cy="209595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1B459D0-D574-06EA-0513-B7E3D785FA24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D0F6AB42-4FFB-9DCA-6706-565AA4745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B41E87-259D-A3B2-BABE-BCC34BE2810C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315E85-29C3-30A7-8F4F-B0936495C771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091846A-BE5E-72BE-0C4B-58631E145B2D}"/>
              </a:ext>
            </a:extLst>
          </p:cNvPr>
          <p:cNvGrpSpPr/>
          <p:nvPr/>
        </p:nvGrpSpPr>
        <p:grpSpPr>
          <a:xfrm>
            <a:off x="7501598" y="2604140"/>
            <a:ext cx="1588897" cy="2095956"/>
            <a:chOff x="7264080" y="3075781"/>
            <a:chExt cx="1588897" cy="2095956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DFEAAD3-8E14-1BFD-AC53-29B935AED8BB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91A5EF37-C604-322B-5390-844B403B0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05D80B-F81A-56B8-45B1-4840AF80D336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A535AA-43F5-B451-130F-963B2DCDD7D7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3698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F040BC1-303D-9556-4DED-81EBD784918E}"/>
              </a:ext>
            </a:extLst>
          </p:cNvPr>
          <p:cNvSpPr/>
          <p:nvPr/>
        </p:nvSpPr>
        <p:spPr>
          <a:xfrm>
            <a:off x="1912972" y="4836407"/>
            <a:ext cx="3886200" cy="1130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3363"/>
            <a:ext cx="11701221" cy="1145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시간이 흘러 </a:t>
            </a:r>
            <a:r>
              <a:rPr lang="ko-KR" altLang="en-US" dirty="0" err="1"/>
              <a:t>재무팀</a:t>
            </a:r>
            <a:r>
              <a:rPr lang="ko-KR" altLang="en-US" dirty="0"/>
              <a:t> 파일에는 동일인에 대해서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A’ </a:t>
            </a:r>
            <a:r>
              <a:rPr lang="ko-KR" altLang="en-US" dirty="0"/>
              <a:t>라는 별도의</a:t>
            </a:r>
            <a:r>
              <a:rPr lang="en-US" altLang="ko-KR" dirty="0"/>
              <a:t> </a:t>
            </a:r>
            <a:r>
              <a:rPr lang="ko-KR" altLang="en-US" dirty="0"/>
              <a:t>고객으로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관리하게 됨</a:t>
            </a:r>
            <a:r>
              <a:rPr lang="en-US" altLang="ko-KR" dirty="0"/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6CDEBF3-1DCE-C796-19AE-E52A6F5AC8F3}"/>
              </a:ext>
            </a:extLst>
          </p:cNvPr>
          <p:cNvGrpSpPr/>
          <p:nvPr/>
        </p:nvGrpSpPr>
        <p:grpSpPr>
          <a:xfrm>
            <a:off x="7063528" y="5185251"/>
            <a:ext cx="2499348" cy="682565"/>
            <a:chOff x="7110095" y="5655728"/>
            <a:chExt cx="2499348" cy="682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5D8159-2C19-4FC5-7170-DFAF4F883E91}"/>
                </a:ext>
              </a:extLst>
            </p:cNvPr>
            <p:cNvSpPr txBox="1"/>
            <p:nvPr/>
          </p:nvSpPr>
          <p:spPr>
            <a:xfrm>
              <a:off x="7741624" y="5691962"/>
              <a:ext cx="18678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고객 이름 변경</a:t>
              </a:r>
              <a:r>
                <a:rPr lang="en-US" altLang="ko-KR" dirty="0"/>
                <a:t>!!</a:t>
              </a:r>
            </a:p>
            <a:p>
              <a:pPr algn="ctr"/>
              <a:r>
                <a:rPr lang="en-US" altLang="ko-KR" b="1" dirty="0"/>
                <a:t>A </a:t>
              </a:r>
              <a:r>
                <a:rPr lang="ko-KR" altLang="en-US" b="1" dirty="0"/>
                <a:t>→</a:t>
              </a:r>
              <a:r>
                <a:rPr lang="en-US" altLang="ko-KR" b="1" dirty="0"/>
                <a:t> A’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ABA6CEF-5E07-C2D4-4C43-6F28773E7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0095" y="5655728"/>
              <a:ext cx="631529" cy="631529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57003AA-99EE-40DB-21F5-5055F66BB765}"/>
              </a:ext>
            </a:extLst>
          </p:cNvPr>
          <p:cNvGrpSpPr/>
          <p:nvPr/>
        </p:nvGrpSpPr>
        <p:grpSpPr>
          <a:xfrm>
            <a:off x="5331072" y="4147262"/>
            <a:ext cx="1219200" cy="369332"/>
            <a:chOff x="5663474" y="4863106"/>
            <a:chExt cx="1219200" cy="369332"/>
          </a:xfrm>
        </p:grpSpPr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DC3E88B1-8364-ACE4-5E6B-494102CF4860}"/>
                </a:ext>
              </a:extLst>
            </p:cNvPr>
            <p:cNvSpPr/>
            <p:nvPr/>
          </p:nvSpPr>
          <p:spPr>
            <a:xfrm rot="7464554">
              <a:off x="6151789" y="4432530"/>
              <a:ext cx="242570" cy="1219200"/>
            </a:xfrm>
            <a:prstGeom prst="down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E7FCED-E1A9-8969-D921-1EC556EE2768}"/>
                </a:ext>
              </a:extLst>
            </p:cNvPr>
            <p:cNvSpPr txBox="1"/>
            <p:nvPr/>
          </p:nvSpPr>
          <p:spPr>
            <a:xfrm>
              <a:off x="5791211" y="4863106"/>
              <a:ext cx="963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전달❌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5F8CC8F-B22A-8880-023B-968AF0617C2D}"/>
              </a:ext>
            </a:extLst>
          </p:cNvPr>
          <p:cNvGrpSpPr/>
          <p:nvPr/>
        </p:nvGrpSpPr>
        <p:grpSpPr>
          <a:xfrm>
            <a:off x="2860448" y="2605304"/>
            <a:ext cx="1991251" cy="2095956"/>
            <a:chOff x="3337508" y="3075781"/>
            <a:chExt cx="1991251" cy="209595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1B459D0-D574-06EA-0513-B7E3D785FA24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D0F6AB42-4FFB-9DCA-6706-565AA4745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B41E87-259D-A3B2-BABE-BCC34BE2810C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315E85-29C3-30A7-8F4F-B0936495C771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091846A-BE5E-72BE-0C4B-58631E145B2D}"/>
              </a:ext>
            </a:extLst>
          </p:cNvPr>
          <p:cNvGrpSpPr/>
          <p:nvPr/>
        </p:nvGrpSpPr>
        <p:grpSpPr>
          <a:xfrm>
            <a:off x="7503156" y="2605304"/>
            <a:ext cx="1588897" cy="2095956"/>
            <a:chOff x="7264080" y="3075781"/>
            <a:chExt cx="1588897" cy="2095956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DFEAAD3-8E14-1BFD-AC53-29B935AED8BB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91A5EF37-C604-322B-5390-844B403B0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05D80B-F81A-56B8-45B1-4840AF80D336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A535AA-43F5-B451-130F-963B2DCDD7D7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4634B2E-D9FF-1CB0-4726-1DBB47EE72A1}"/>
              </a:ext>
            </a:extLst>
          </p:cNvPr>
          <p:cNvSpPr txBox="1"/>
          <p:nvPr/>
        </p:nvSpPr>
        <p:spPr>
          <a:xfrm>
            <a:off x="2134388" y="4928240"/>
            <a:ext cx="1513556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A</a:t>
            </a:r>
            <a:r>
              <a:rPr lang="ko-KR" altLang="en-US" sz="1400" dirty="0"/>
              <a:t> 고객 구매내역</a:t>
            </a:r>
            <a:endParaRPr lang="en-US" altLang="ko-KR" sz="1400" dirty="0"/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1F6DF-0420-E3EF-B56C-2F9380AD62FD}"/>
              </a:ext>
            </a:extLst>
          </p:cNvPr>
          <p:cNvSpPr txBox="1"/>
          <p:nvPr/>
        </p:nvSpPr>
        <p:spPr>
          <a:xfrm>
            <a:off x="4078827" y="4928240"/>
            <a:ext cx="1545743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A’</a:t>
            </a:r>
            <a:r>
              <a:rPr lang="ko-KR" altLang="en-US" sz="1400" dirty="0"/>
              <a:t> 고객 구매내역</a:t>
            </a:r>
            <a:endParaRPr lang="en-US" altLang="ko-KR" sz="1400" dirty="0"/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부등호 5">
            <a:extLst>
              <a:ext uri="{FF2B5EF4-FFF2-40B4-BE49-F238E27FC236}">
                <a16:creationId xmlns:a16="http://schemas.microsoft.com/office/drawing/2014/main" id="{D379DF16-4B24-33BA-4312-06281D325547}"/>
              </a:ext>
            </a:extLst>
          </p:cNvPr>
          <p:cNvSpPr/>
          <p:nvPr/>
        </p:nvSpPr>
        <p:spPr>
          <a:xfrm>
            <a:off x="3627648" y="5221485"/>
            <a:ext cx="456849" cy="456849"/>
          </a:xfrm>
          <a:prstGeom prst="mathNotEqual">
            <a:avLst>
              <a:gd name="adj1" fmla="val 13996"/>
              <a:gd name="adj2" fmla="val 6600000"/>
              <a:gd name="adj3" fmla="val 858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3D419C-75B9-4D34-FB72-7A46DD7B4719}"/>
              </a:ext>
            </a:extLst>
          </p:cNvPr>
          <p:cNvSpPr txBox="1"/>
          <p:nvPr/>
        </p:nvSpPr>
        <p:spPr>
          <a:xfrm>
            <a:off x="3093684" y="5974180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동일인의 구매 내역</a:t>
            </a:r>
          </a:p>
        </p:txBody>
      </p:sp>
    </p:spTree>
    <p:extLst>
      <p:ext uri="{BB962C8B-B14F-4D97-AF65-F5344CB8AC3E}">
        <p14:creationId xmlns:p14="http://schemas.microsoft.com/office/powerpoint/2010/main" val="3569172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9347"/>
            <a:ext cx="11701221" cy="1384434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관리자 실수로 데이터 중복이 발생한다면</a:t>
            </a:r>
            <a:r>
              <a:rPr lang="en-US" altLang="ko-KR" dirty="0"/>
              <a:t> </a:t>
            </a:r>
            <a:r>
              <a:rPr lang="ko-KR" altLang="en-US" b="1" dirty="0"/>
              <a:t>저장공간 낭비 </a:t>
            </a:r>
            <a:endParaRPr lang="en-US" altLang="ko-KR" b="1" dirty="0"/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CS </a:t>
            </a:r>
            <a:r>
              <a:rPr lang="ko-KR" altLang="en-US" dirty="0"/>
              <a:t>팀에서 고객 정보 </a:t>
            </a:r>
            <a:r>
              <a:rPr lang="ko-KR" altLang="en-US" dirty="0" err="1"/>
              <a:t>변경시</a:t>
            </a:r>
            <a:r>
              <a:rPr lang="ko-KR" altLang="en-US" dirty="0"/>
              <a:t> 매번 타 부서에게 공유해야 한다면</a:t>
            </a:r>
            <a:r>
              <a:rPr lang="en-US" altLang="ko-KR" dirty="0"/>
              <a:t> </a:t>
            </a:r>
            <a:r>
              <a:rPr lang="ko-KR" altLang="en-US" b="1" dirty="0"/>
              <a:t>자원 낭비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605D18D-4D71-7DE3-9111-1E0B7E6830CF}"/>
              </a:ext>
            </a:extLst>
          </p:cNvPr>
          <p:cNvGrpSpPr/>
          <p:nvPr/>
        </p:nvGrpSpPr>
        <p:grpSpPr>
          <a:xfrm>
            <a:off x="2860448" y="2605304"/>
            <a:ext cx="1991251" cy="2095956"/>
            <a:chOff x="3337508" y="3075781"/>
            <a:chExt cx="1991251" cy="209595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C7E14BF-3EAF-7CDA-E70B-3F88499F7B4B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02D76655-EA6F-51F4-34D2-4E0F1B90B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999E12-9B19-5A01-D826-80D05E891F7C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DF71B2-23C4-C19F-351A-8A7130930DB5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B46F1-6C6A-03A1-8DAD-021F99805441}"/>
              </a:ext>
            </a:extLst>
          </p:cNvPr>
          <p:cNvGrpSpPr/>
          <p:nvPr/>
        </p:nvGrpSpPr>
        <p:grpSpPr>
          <a:xfrm>
            <a:off x="7503156" y="2605304"/>
            <a:ext cx="1588897" cy="2095956"/>
            <a:chOff x="7264080" y="3075781"/>
            <a:chExt cx="1588897" cy="2095956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22898AF-8248-7AA4-8CAC-11CA474045D8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BC9BBDDB-7555-5962-BADC-4F328F94D0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62497E-95CF-08A6-BD37-BD9FCD693C28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2B28D2-8A99-12DA-8E4D-2D1305B7EFC3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3151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특징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120" y="1145407"/>
            <a:ext cx="11701221" cy="273357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📌 데이터 베이스의 장점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1. </a:t>
            </a:r>
            <a:r>
              <a:rPr lang="ko-KR" altLang="en-US" dirty="0"/>
              <a:t>데이터 </a:t>
            </a:r>
            <a:r>
              <a:rPr lang="ko-KR" altLang="en-US" b="1" dirty="0" err="1"/>
              <a:t>일치성</a:t>
            </a:r>
            <a:r>
              <a:rPr lang="ko-KR" altLang="en-US" dirty="0"/>
              <a:t> 증가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2. </a:t>
            </a:r>
            <a:r>
              <a:rPr lang="ko-KR" altLang="en-US" dirty="0"/>
              <a:t>데이터 </a:t>
            </a:r>
            <a:r>
              <a:rPr lang="ko-KR" altLang="en-US" b="1" dirty="0"/>
              <a:t>공유</a:t>
            </a:r>
            <a:r>
              <a:rPr lang="ko-KR" altLang="en-US" dirty="0"/>
              <a:t> 원활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3. </a:t>
            </a:r>
            <a:r>
              <a:rPr lang="ko-KR" altLang="en-US" dirty="0"/>
              <a:t>의도치 않은 데이터 </a:t>
            </a:r>
            <a:r>
              <a:rPr lang="ko-KR" altLang="en-US" b="1" dirty="0"/>
              <a:t>중복 없음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4. </a:t>
            </a:r>
            <a:r>
              <a:rPr lang="ko-KR" altLang="en-US" dirty="0"/>
              <a:t>데이터 </a:t>
            </a:r>
            <a:r>
              <a:rPr lang="ko-KR" altLang="en-US" b="1" dirty="0"/>
              <a:t>보안 향상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83DE9062-937C-EEF1-3574-79C43740C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901" y="5223941"/>
            <a:ext cx="1461440" cy="14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24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B973C-C4AF-0843-4A20-99A9E02E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9373A9-8815-A8B4-6DB1-058F66474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701221" cy="2283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dirty="0"/>
              <a:t>DBMS(</a:t>
            </a:r>
            <a:r>
              <a:rPr lang="ko-KR" altLang="en-US" dirty="0"/>
              <a:t>데이터베이스 관리 시스템</a:t>
            </a:r>
            <a:r>
              <a:rPr lang="en-US" altLang="ko-KR" dirty="0"/>
              <a:t>, Database Management System) </a:t>
            </a:r>
          </a:p>
          <a:p>
            <a:pPr lvl="1"/>
            <a:r>
              <a:rPr lang="ko-KR" altLang="en-US" b="1" dirty="0"/>
              <a:t>데이터베이스</a:t>
            </a:r>
            <a:r>
              <a:rPr lang="ko-KR" altLang="en-US" dirty="0"/>
              <a:t>를 </a:t>
            </a:r>
            <a:r>
              <a:rPr lang="ko-KR" altLang="en-US" b="1" dirty="0"/>
              <a:t>생성</a:t>
            </a:r>
            <a:r>
              <a:rPr lang="en-US" altLang="ko-KR" b="1" dirty="0"/>
              <a:t>, </a:t>
            </a:r>
            <a:r>
              <a:rPr lang="ko-KR" altLang="en-US" b="1" dirty="0"/>
              <a:t>관리</a:t>
            </a:r>
            <a:r>
              <a:rPr lang="en-US" altLang="ko-KR" b="1" dirty="0"/>
              <a:t>, </a:t>
            </a:r>
            <a:r>
              <a:rPr lang="ko-KR" altLang="en-US" b="1" dirty="0"/>
              <a:t>조작 및 공유</a:t>
            </a:r>
            <a:r>
              <a:rPr lang="ko-KR" altLang="en-US" dirty="0"/>
              <a:t>할 수 있도록 해주는 소프트웨어 시스템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📌 대표적인 </a:t>
            </a:r>
            <a:r>
              <a:rPr lang="en-US" altLang="ko-KR" dirty="0"/>
              <a:t>DBMS </a:t>
            </a:r>
            <a:r>
              <a:rPr lang="ko-KR" altLang="en-US" dirty="0"/>
              <a:t>종류</a:t>
            </a:r>
            <a:endParaRPr lang="en-US" altLang="ko-KR" dirty="0"/>
          </a:p>
          <a:p>
            <a:pPr lvl="1"/>
            <a:r>
              <a:rPr lang="ko-KR" altLang="en-US" dirty="0"/>
              <a:t>관계형 </a:t>
            </a:r>
            <a:r>
              <a:rPr lang="en-US" altLang="ko-KR" dirty="0"/>
              <a:t>DBMS(RDBMS), NoSQL DBMS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0CD8E31-9027-8E05-08A8-5B49C74F28AC}"/>
              </a:ext>
            </a:extLst>
          </p:cNvPr>
          <p:cNvGrpSpPr/>
          <p:nvPr/>
        </p:nvGrpSpPr>
        <p:grpSpPr>
          <a:xfrm>
            <a:off x="1973461" y="4069460"/>
            <a:ext cx="8257873" cy="1823227"/>
            <a:chOff x="1973461" y="4069460"/>
            <a:chExt cx="8257873" cy="1823227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C9E24FF0-F75C-FE5D-0B36-70A982F238D8}"/>
                </a:ext>
              </a:extLst>
            </p:cNvPr>
            <p:cNvCxnSpPr>
              <a:cxnSpLocks/>
            </p:cNvCxnSpPr>
            <p:nvPr/>
          </p:nvCxnSpPr>
          <p:spPr>
            <a:xfrm>
              <a:off x="3538219" y="4764925"/>
              <a:ext cx="5018640" cy="0"/>
            </a:xfrm>
            <a:prstGeom prst="straightConnector1">
              <a:avLst/>
            </a:prstGeom>
            <a:ln w="7302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ADF5059-20BF-6FE1-BC10-AE75285A4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3461" y="4069460"/>
              <a:ext cx="1302226" cy="1302226"/>
            </a:xfrm>
            <a:prstGeom prst="rect">
              <a:avLst/>
            </a:prstGeom>
          </p:spPr>
        </p:pic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0FB6AFFD-4372-CC9E-E40A-38D46CEF7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5391" y="4069460"/>
              <a:ext cx="1302226" cy="1302226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C374F5E-FD1A-63B3-1D7B-C511EA11E5CD}"/>
                </a:ext>
              </a:extLst>
            </p:cNvPr>
            <p:cNvSpPr/>
            <p:nvPr/>
          </p:nvSpPr>
          <p:spPr>
            <a:xfrm>
              <a:off x="5042744" y="4168796"/>
              <a:ext cx="1985590" cy="119225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/>
                <a:t>DBMS</a:t>
              </a:r>
              <a:endParaRPr lang="ko-KR" alt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9CDD22-4977-9BA7-4820-FFDF08B6854F}"/>
                </a:ext>
              </a:extLst>
            </p:cNvPr>
            <p:cNvSpPr txBox="1"/>
            <p:nvPr/>
          </p:nvSpPr>
          <p:spPr>
            <a:xfrm>
              <a:off x="2154236" y="552335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사용자</a:t>
              </a:r>
              <a:endParaRPr lang="en-US" altLang="ko-KR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8BD6D5-500A-9013-6501-6E283043D6B6}"/>
                </a:ext>
              </a:extLst>
            </p:cNvPr>
            <p:cNvSpPr txBox="1"/>
            <p:nvPr/>
          </p:nvSpPr>
          <p:spPr>
            <a:xfrm>
              <a:off x="8661674" y="5523355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데이터베이스</a:t>
              </a:r>
              <a:endParaRPr lang="en-US" altLang="ko-KR" dirty="0"/>
            </a:p>
          </p:txBody>
        </p:sp>
      </p:grpSp>
    </p:spTree>
    <p:extLst>
      <p:ext uri="{BB962C8B-B14F-4D97-AF65-F5344CB8AC3E}">
        <p14:creationId xmlns:p14="http://schemas.microsoft.com/office/powerpoint/2010/main" val="1999523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A4078B-FBD2-59B1-48CD-AADC85DB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8069263" algn="l"/>
              </a:tabLst>
            </a:pPr>
            <a:r>
              <a:rPr lang="en-US" altLang="ko-KR" dirty="0"/>
              <a:t>DBMS</a:t>
            </a:r>
            <a:r>
              <a:rPr lang="ko-KR" altLang="en-US" dirty="0"/>
              <a:t> 언어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F1A40-776D-3F97-687A-DD9842A3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05" y="1042585"/>
            <a:ext cx="11701221" cy="5298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dirty="0"/>
              <a:t>SQL(Structured Query Language)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관계형 데이터베이스</a:t>
            </a:r>
            <a:r>
              <a:rPr lang="en-US" altLang="ko-KR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(RDBMS)</a:t>
            </a: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데이터를 정의</a:t>
            </a:r>
            <a:r>
              <a:rPr lang="en-US" altLang="ko-KR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조작</a:t>
            </a:r>
            <a:r>
              <a:rPr lang="en-US" altLang="ko-KR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제어하기 위한 표준 언어</a:t>
            </a:r>
            <a:endParaRPr lang="en-US" altLang="ko-KR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표준 </a:t>
            </a:r>
            <a:r>
              <a:rPr lang="en-US" altLang="ko-KR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SQL(Standard SQL):</a:t>
            </a:r>
            <a:r>
              <a:rPr lang="ko-KR" altLang="en-US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/>
              <a:t>모든 </a:t>
            </a:r>
            <a:r>
              <a:rPr lang="en-US" altLang="ko-KR" sz="2000" dirty="0"/>
              <a:t>RDBMS</a:t>
            </a:r>
            <a:r>
              <a:rPr lang="ko-KR" altLang="en-US" sz="2000" dirty="0"/>
              <a:t>에서 공통적으로 사용할 수 있도록 정해진 </a:t>
            </a:r>
            <a:r>
              <a:rPr lang="en-US" altLang="ko-KR" sz="2000" dirty="0"/>
              <a:t>SQL </a:t>
            </a:r>
            <a:r>
              <a:rPr lang="ko-KR" altLang="en-US" sz="2000" dirty="0"/>
              <a:t>표준 규격</a:t>
            </a:r>
            <a:r>
              <a:rPr lang="ko-KR" altLang="en-US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en-US" altLang="ko-KR" sz="20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SQL</a:t>
            </a:r>
            <a:r>
              <a:rPr lang="ko-KR" altLang="en-US" dirty="0"/>
              <a:t>의 주요 구성 요소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0" dirty="0"/>
              <a:t>데이터 </a:t>
            </a:r>
            <a:r>
              <a:rPr lang="ko-KR" altLang="en-US" b="0" dirty="0" err="1"/>
              <a:t>정의어</a:t>
            </a:r>
            <a:r>
              <a:rPr lang="ko-KR" altLang="en-US" b="0" dirty="0"/>
              <a:t> </a:t>
            </a:r>
            <a:r>
              <a:rPr lang="en-US" altLang="ko-KR" dirty="0"/>
              <a:t>(DDL) : </a:t>
            </a:r>
            <a:r>
              <a:rPr lang="ko-KR" altLang="en-US" dirty="0"/>
              <a:t>데이터베이스의 구조</a:t>
            </a:r>
            <a:r>
              <a:rPr lang="en-US" altLang="ko-KR" dirty="0"/>
              <a:t>(</a:t>
            </a:r>
            <a:r>
              <a:rPr lang="ko-KR" altLang="en-US" dirty="0"/>
              <a:t>스키마</a:t>
            </a:r>
            <a:r>
              <a:rPr lang="en-US" altLang="ko-KR" dirty="0"/>
              <a:t>)</a:t>
            </a:r>
            <a:r>
              <a:rPr lang="ko-KR" altLang="en-US" dirty="0"/>
              <a:t>를 정의하는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ko-KR" altLang="en-US" dirty="0"/>
              <a:t> </a:t>
            </a:r>
            <a:r>
              <a:rPr lang="en-US" altLang="ko-KR" dirty="0"/>
              <a:t>(DML) : </a:t>
            </a:r>
            <a:r>
              <a:rPr lang="ko-KR" altLang="en-US" dirty="0"/>
              <a:t>테이블의 데이터를 조작하는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ko-KR" altLang="en-US" dirty="0"/>
              <a:t> </a:t>
            </a:r>
            <a:r>
              <a:rPr lang="en-US" altLang="ko-KR" dirty="0"/>
              <a:t>(DCL) : </a:t>
            </a:r>
            <a:r>
              <a:rPr lang="ko-KR" altLang="en-US" dirty="0"/>
              <a:t>데이터베이스의 접근 권한을 관리하는 명령어</a:t>
            </a:r>
          </a:p>
        </p:txBody>
      </p:sp>
    </p:spTree>
    <p:extLst>
      <p:ext uri="{BB962C8B-B14F-4D97-AF65-F5344CB8AC3E}">
        <p14:creationId xmlns:p14="http://schemas.microsoft.com/office/powerpoint/2010/main" val="3940344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D863-C09B-8B21-1508-43217D12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71CAC-7F0D-EF81-DD92-B5B64749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7B470-469F-BEC0-0168-5F45DA7BD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770166" cy="2283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관계형 데이터베이스</a:t>
            </a:r>
            <a:r>
              <a:rPr lang="en-US" altLang="ko-KR" dirty="0"/>
              <a:t>(Relational Database Management System)</a:t>
            </a:r>
          </a:p>
          <a:p>
            <a:pPr lvl="1"/>
            <a:r>
              <a:rPr lang="ko-KR" altLang="en-US" dirty="0"/>
              <a:t> 테이블</a:t>
            </a:r>
            <a:r>
              <a:rPr lang="en-US" altLang="ko-KR" dirty="0"/>
              <a:t>(Table) </a:t>
            </a:r>
            <a:r>
              <a:rPr lang="ko-KR" altLang="en-US" dirty="0"/>
              <a:t>기반의 데이터 저장 구조를 사용하는 데이터베이스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📌 </a:t>
            </a:r>
            <a:r>
              <a:rPr lang="en-US" altLang="ko-KR" dirty="0"/>
              <a:t>RDBMS</a:t>
            </a:r>
            <a:r>
              <a:rPr lang="ko-KR" altLang="en-US" dirty="0"/>
              <a:t>의 대표적인 시스템</a:t>
            </a:r>
            <a:endParaRPr lang="en-US" altLang="ko-KR" dirty="0"/>
          </a:p>
          <a:p>
            <a:pPr lvl="1"/>
            <a:r>
              <a:rPr lang="en-US" altLang="ko-KR" dirty="0"/>
              <a:t> MySQL, PostgreSQL, Oracle Database, Microsoft SQL Server, SQLite 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08AD8A-FEC7-7CD0-7006-AF9434EEB155}"/>
              </a:ext>
            </a:extLst>
          </p:cNvPr>
          <p:cNvGrpSpPr/>
          <p:nvPr/>
        </p:nvGrpSpPr>
        <p:grpSpPr>
          <a:xfrm>
            <a:off x="3075718" y="3534878"/>
            <a:ext cx="5809558" cy="2638475"/>
            <a:chOff x="2217910" y="3407469"/>
            <a:chExt cx="7044563" cy="319936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70943C5-7A74-20F3-6EEB-E380F9571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0084" y="4987255"/>
              <a:ext cx="2630528" cy="161958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116A55A-0FBD-C352-468B-8FFB892C2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7910" y="3565688"/>
              <a:ext cx="2080319" cy="107349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C1988B9-31DF-563E-8244-8E0F35E25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0306" y="3705581"/>
              <a:ext cx="1992167" cy="1120594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FA1152C-5E31-DD57-1C1E-F5AF091BD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6283" y="3407469"/>
              <a:ext cx="1660917" cy="1846666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295B3CD-6954-800C-DEFF-91EDA1B10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389" y="5403099"/>
              <a:ext cx="2150356" cy="1018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2948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70C5-0A5E-BF70-352B-F86F1FB3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FBF9D-0AD7-0B3F-AA6E-914B60D7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48D6F-DF3D-C6BF-A6D7-04CA07B87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7194041" cy="46751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RDBMS</a:t>
            </a:r>
            <a:r>
              <a:rPr lang="ko-KR" altLang="en-US" dirty="0"/>
              <a:t>의 주요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테이블 기반 저장 </a:t>
            </a:r>
            <a:r>
              <a:rPr lang="en-US" altLang="ko-KR" sz="2000" dirty="0"/>
              <a:t>:</a:t>
            </a:r>
            <a:r>
              <a:rPr lang="ko-KR" altLang="en-US" sz="2000" dirty="0"/>
              <a:t> 데이터를 행</a:t>
            </a:r>
            <a:r>
              <a:rPr lang="en-US" altLang="ko-KR" sz="2000" dirty="0"/>
              <a:t>(Row)</a:t>
            </a:r>
            <a:r>
              <a:rPr lang="ko-KR" altLang="en-US" sz="2000" dirty="0"/>
              <a:t>과 열</a:t>
            </a:r>
            <a:r>
              <a:rPr lang="en-US" altLang="ko-KR" sz="2000" dirty="0"/>
              <a:t>(Column)</a:t>
            </a:r>
            <a:r>
              <a:rPr lang="ko-KR" altLang="en-US" sz="2000" dirty="0"/>
              <a:t>로 구성된 테이블에 저장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/>
              <a:t>SQL </a:t>
            </a:r>
            <a:r>
              <a:rPr lang="ko-KR" altLang="en-US" sz="2000" b="1" dirty="0"/>
              <a:t>사용 </a:t>
            </a:r>
            <a:r>
              <a:rPr lang="en-US" altLang="ko-KR" sz="2000" dirty="0"/>
              <a:t>:</a:t>
            </a:r>
            <a:r>
              <a:rPr lang="ko-KR" altLang="en-US" sz="2000" dirty="0"/>
              <a:t> 표준화된 </a:t>
            </a:r>
            <a:r>
              <a:rPr lang="en-US" altLang="ko-KR" sz="2000" dirty="0"/>
              <a:t>SQL</a:t>
            </a:r>
            <a:r>
              <a:rPr lang="ko-KR" altLang="en-US" sz="2000" dirty="0"/>
              <a:t>로 데이터 조작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관계</a:t>
            </a:r>
            <a:r>
              <a:rPr lang="en-US" altLang="ko-KR" sz="2000" b="1" dirty="0"/>
              <a:t>(Relation) </a:t>
            </a:r>
            <a:r>
              <a:rPr lang="ko-KR" altLang="en-US" sz="2000" b="1" dirty="0"/>
              <a:t>지원 </a:t>
            </a:r>
            <a:r>
              <a:rPr lang="en-US" altLang="ko-KR" sz="2000" dirty="0"/>
              <a:t>:</a:t>
            </a:r>
            <a:r>
              <a:rPr lang="ko-KR" altLang="en-US" sz="2000" dirty="0"/>
              <a:t> 여러 테이블 간의 관계를 통해 데이터 조회 가능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b="1" dirty="0"/>
              <a:t>ACID </a:t>
            </a:r>
            <a:r>
              <a:rPr lang="ko-KR" altLang="en-US" sz="2000" b="1" dirty="0"/>
              <a:t>원칙 준수 </a:t>
            </a:r>
            <a:r>
              <a:rPr lang="en-US" altLang="ko-KR" sz="2000" dirty="0"/>
              <a:t>:</a:t>
            </a:r>
            <a:r>
              <a:rPr lang="ko-KR" altLang="en-US" sz="2000" dirty="0"/>
              <a:t> 트랜잭션의 안정성과 데이터 정합성을 유지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정해진 스키마 필요 </a:t>
            </a:r>
            <a:r>
              <a:rPr lang="en-US" altLang="ko-KR" sz="2000" dirty="0"/>
              <a:t>:</a:t>
            </a:r>
            <a:r>
              <a:rPr lang="ko-KR" altLang="en-US" sz="2000" dirty="0"/>
              <a:t> 데이터 구조를 사전에 정의해야 함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0F77009-A982-385B-8527-052621071168}"/>
              </a:ext>
            </a:extLst>
          </p:cNvPr>
          <p:cNvGrpSpPr/>
          <p:nvPr/>
        </p:nvGrpSpPr>
        <p:grpSpPr>
          <a:xfrm>
            <a:off x="7161779" y="1207093"/>
            <a:ext cx="5156200" cy="4592702"/>
            <a:chOff x="7248865" y="1240371"/>
            <a:chExt cx="5156200" cy="4592702"/>
          </a:xfrm>
        </p:grpSpPr>
        <p:pic>
          <p:nvPicPr>
            <p:cNvPr id="1026" name="Picture 2" descr="General | Database | Relational Database | Codecademy">
              <a:extLst>
                <a:ext uri="{FF2B5EF4-FFF2-40B4-BE49-F238E27FC236}">
                  <a16:creationId xmlns:a16="http://schemas.microsoft.com/office/drawing/2014/main" id="{46C3B5FA-1DC2-39C2-1632-B764C9DC8F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6114" y="1240371"/>
              <a:ext cx="4181702" cy="4377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D907D8-D26C-77EB-24A0-DE2F6CCD369E}"/>
                </a:ext>
              </a:extLst>
            </p:cNvPr>
            <p:cNvSpPr txBox="1"/>
            <p:nvPr/>
          </p:nvSpPr>
          <p:spPr>
            <a:xfrm>
              <a:off x="7248865" y="5617629"/>
              <a:ext cx="515620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https://www.codecademy.com/resources/docs/general/database/relational-database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FC4B0DC-A5F8-8979-89E0-365ACC1D5798}"/>
              </a:ext>
            </a:extLst>
          </p:cNvPr>
          <p:cNvSpPr txBox="1"/>
          <p:nvPr/>
        </p:nvSpPr>
        <p:spPr>
          <a:xfrm>
            <a:off x="367901" y="6073340"/>
            <a:ext cx="109677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ACID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트랜잭션의 신뢰성을 보장하기 위한 원칙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원자성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(Atomicity),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일관성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(Consistency),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고립성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(Isolation),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지속성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(Durability)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1628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5564-F205-EBB2-E6DD-101BC820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18C1C-42B9-4FFC-7E0F-1D07A491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4388B-216D-D521-8832-C3617D871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28062"/>
            <a:ext cx="11770166" cy="42639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RDBMS</a:t>
            </a:r>
            <a:r>
              <a:rPr lang="ko-KR" altLang="en-US" dirty="0"/>
              <a:t>의 장단점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장점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dirty="0"/>
              <a:t>데이터 무결성과 정합성이 뛰어남</a:t>
            </a:r>
            <a:endParaRPr lang="en-US" altLang="ko-KR" dirty="0"/>
          </a:p>
          <a:p>
            <a:pPr lvl="2">
              <a:buFontTx/>
              <a:buChar char="-"/>
            </a:pPr>
            <a:r>
              <a:rPr lang="ko-KR" altLang="en-US" dirty="0"/>
              <a:t>표준 </a:t>
            </a:r>
            <a:r>
              <a:rPr lang="en-US" altLang="ko-KR" dirty="0"/>
              <a:t>SQL</a:t>
            </a:r>
            <a:r>
              <a:rPr lang="ko-KR" altLang="en-US" dirty="0"/>
              <a:t>을 사용하여 데이터 관리가 용이</a:t>
            </a:r>
          </a:p>
          <a:p>
            <a:pPr lvl="2">
              <a:buFontTx/>
              <a:buChar char="-"/>
            </a:pPr>
            <a:r>
              <a:rPr lang="ko-KR" altLang="en-US" dirty="0"/>
              <a:t>관계형 모델로 데이터 간 참조가 쉬움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단점</a:t>
            </a:r>
            <a:endParaRPr lang="en-US" altLang="ko-KR" b="1" dirty="0"/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대용량 데이터 처리에서 성능이 저하될 수 있음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확장성이 제한적 </a:t>
            </a:r>
            <a:r>
              <a:rPr lang="en-US" altLang="ko-KR" dirty="0"/>
              <a:t>(</a:t>
            </a:r>
            <a:r>
              <a:rPr lang="ko-KR" altLang="en-US" dirty="0"/>
              <a:t>수직 확장 중심</a:t>
            </a:r>
            <a:r>
              <a:rPr lang="en-US" altLang="ko-KR" dirty="0"/>
              <a:t>)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사전 정의된 스키마가 필요하여 유연성이 떨어짐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B35F2-69EA-ADDA-4780-4980A923BFA2}"/>
              </a:ext>
            </a:extLst>
          </p:cNvPr>
          <p:cNvSpPr txBox="1"/>
          <p:nvPr/>
        </p:nvSpPr>
        <p:spPr>
          <a:xfrm>
            <a:off x="251788" y="6002880"/>
            <a:ext cx="10852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무결성</a:t>
            </a:r>
            <a:r>
              <a:rPr lang="en-US" altLang="ko-KR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(Data Integrity)</a:t>
            </a:r>
            <a:r>
              <a:rPr lang="en-US" altLang="ko-KR" sz="1600" b="1" dirty="0">
                <a:solidFill>
                  <a:srgbClr val="202124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정확성</a:t>
            </a:r>
            <a:r>
              <a:rPr lang="en-US" altLang="ko-KR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일관성</a:t>
            </a:r>
            <a:r>
              <a:rPr lang="en-US" altLang="ko-KR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신뢰성을 유지하여 원래의 의미와 상태가 훼손되지 않도록 보장하는 원칙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934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4EC1-1D38-CD19-F959-27A58DED6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C9450-F2B1-23B5-0887-75B03010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NoSQL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E4EC6C-8A74-D341-1080-B877B283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85750"/>
            <a:ext cx="11770166" cy="52118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비관계형 데이터베이스 </a:t>
            </a:r>
            <a:r>
              <a:rPr lang="en-US" altLang="ko-KR" dirty="0"/>
              <a:t>NoSQL(Not Only SQL)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비정형 또는 반정형 데이터를 저장하기 위해 설계된 데이터베이스 시스템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NoSQL</a:t>
            </a:r>
            <a:r>
              <a:rPr lang="ko-KR" altLang="en-US" dirty="0"/>
              <a:t>의 주요 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스키마가 없음</a:t>
            </a:r>
            <a:r>
              <a:rPr lang="en-US" altLang="ko-KR" dirty="0"/>
              <a:t>→ </a:t>
            </a:r>
            <a:r>
              <a:rPr lang="ko-KR" altLang="en-US" dirty="0"/>
              <a:t>데이터 구조가 유연하며</a:t>
            </a:r>
            <a:r>
              <a:rPr lang="en-US" altLang="ko-KR" dirty="0"/>
              <a:t>, </a:t>
            </a:r>
            <a:r>
              <a:rPr lang="ko-KR" altLang="en-US" dirty="0"/>
              <a:t>동적으로 변경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수평 확장</a:t>
            </a:r>
            <a:r>
              <a:rPr lang="en-US" altLang="ko-KR" b="1" dirty="0"/>
              <a:t>(Scale-out) </a:t>
            </a:r>
            <a:r>
              <a:rPr lang="ko-KR" altLang="en-US" b="1" dirty="0"/>
              <a:t>가능 </a:t>
            </a:r>
            <a:r>
              <a:rPr lang="ko-KR" altLang="en-US" dirty="0"/>
              <a:t>→ 서버를 추가하여 성능 확장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다양한 데이터 모델 지원 </a:t>
            </a:r>
            <a:r>
              <a:rPr lang="ko-KR" altLang="en-US" dirty="0"/>
              <a:t>→ 문서</a:t>
            </a:r>
            <a:r>
              <a:rPr lang="en-US" altLang="ko-KR" dirty="0"/>
              <a:t>(Document), </a:t>
            </a: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</a:t>
            </a:r>
            <a:r>
              <a:rPr lang="en-US" altLang="ko-KR" dirty="0"/>
              <a:t>(Key-Value), </a:t>
            </a:r>
            <a:r>
              <a:rPr lang="ko-KR" altLang="en-US" dirty="0"/>
              <a:t>그래프</a:t>
            </a:r>
            <a:r>
              <a:rPr lang="en-US" altLang="ko-KR" dirty="0"/>
              <a:t>(Graph) </a:t>
            </a:r>
            <a:r>
              <a:rPr lang="ko-KR" altLang="en-US" dirty="0"/>
              <a:t>등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트랜잭션 지원이 제한적 </a:t>
            </a:r>
            <a:r>
              <a:rPr lang="ko-KR" altLang="en-US" dirty="0"/>
              <a:t>→ 일부 </a:t>
            </a:r>
            <a:r>
              <a:rPr lang="en-US" altLang="ko-KR" dirty="0"/>
              <a:t>NoSQL </a:t>
            </a:r>
            <a:r>
              <a:rPr lang="ko-KR" altLang="en-US" dirty="0"/>
              <a:t>시스템은 </a:t>
            </a:r>
            <a:r>
              <a:rPr lang="en-US" altLang="ko-KR" dirty="0"/>
              <a:t>ACID</a:t>
            </a:r>
            <a:r>
              <a:rPr lang="ko-KR" altLang="en-US" dirty="0"/>
              <a:t>를 완벽히 지원하지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빅데이터 및 실시간 처리에 최적화 </a:t>
            </a:r>
            <a:r>
              <a:rPr lang="ko-KR" altLang="en-US" dirty="0"/>
              <a:t>→ 빠른 데이터 삽입 및 검색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1445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8CC3-0180-6BED-2FA3-F47C6D20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F770929-FC58-A699-F745-75878564E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8" b="6455"/>
          <a:stretch/>
        </p:blipFill>
        <p:spPr>
          <a:xfrm>
            <a:off x="2730366" y="1532110"/>
            <a:ext cx="6731268" cy="18465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BE75F7E-8216-D05C-FE9D-AC523362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NoSQL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5282E8B-156C-96F7-9760-4C64F11C2D69}"/>
              </a:ext>
            </a:extLst>
          </p:cNvPr>
          <p:cNvGraphicFramePr>
            <a:graphicFrameLocks noGrp="1"/>
          </p:cNvGraphicFramePr>
          <p:nvPr/>
        </p:nvGraphicFramePr>
        <p:xfrm>
          <a:off x="421573" y="3609474"/>
          <a:ext cx="11348854" cy="2653807"/>
        </p:xfrm>
        <a:graphic>
          <a:graphicData uri="http://schemas.openxmlformats.org/drawingml/2006/table">
            <a:tbl>
              <a:tblPr/>
              <a:tblGrid>
                <a:gridCol w="2987596">
                  <a:extLst>
                    <a:ext uri="{9D8B030D-6E8A-4147-A177-3AD203B41FA5}">
                      <a16:colId xmlns:a16="http://schemas.microsoft.com/office/drawing/2014/main" val="2304727336"/>
                    </a:ext>
                  </a:extLst>
                </a:gridCol>
                <a:gridCol w="5634325">
                  <a:extLst>
                    <a:ext uri="{9D8B030D-6E8A-4147-A177-3AD203B41FA5}">
                      <a16:colId xmlns:a16="http://schemas.microsoft.com/office/drawing/2014/main" val="1081687494"/>
                    </a:ext>
                  </a:extLst>
                </a:gridCol>
                <a:gridCol w="2726933">
                  <a:extLst>
                    <a:ext uri="{9D8B030D-6E8A-4147-A177-3AD203B41FA5}">
                      <a16:colId xmlns:a16="http://schemas.microsoft.com/office/drawing/2014/main" val="2258190223"/>
                    </a:ext>
                  </a:extLst>
                </a:gridCol>
              </a:tblGrid>
              <a:tr h="4239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대표적인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NoSQL DB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052835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Key-Value)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간단한 키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(Key)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와 값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(Value)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쌍으로 데이터를 저장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Redis, DynamoDB, Riak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555050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문서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Document)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JSON, BSON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 문서 형식으로 데이터 저장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MongoDB, CouchDB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961649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Column-Family)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컬럼 단위로 데이터를 저장하여 빠른 검색 지원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Cassandra, HBase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252850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(Graph)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노드와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엣지의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관계를 기반으로 데이터 저장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Neo4j,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ArangoDB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5456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686DB65-2EB4-527E-4090-1836B0958333}"/>
              </a:ext>
            </a:extLst>
          </p:cNvPr>
          <p:cNvSpPr txBox="1"/>
          <p:nvPr/>
        </p:nvSpPr>
        <p:spPr>
          <a:xfrm>
            <a:off x="255725" y="914574"/>
            <a:ext cx="6116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NoSQL</a:t>
            </a:r>
            <a:r>
              <a:rPr lang="ko-KR" altLang="en-US" sz="2400" dirty="0"/>
              <a:t>의 주요 유형 및 데이터베이스 시스템</a:t>
            </a:r>
          </a:p>
        </p:txBody>
      </p:sp>
    </p:spTree>
    <p:extLst>
      <p:ext uri="{BB962C8B-B14F-4D97-AF65-F5344CB8AC3E}">
        <p14:creationId xmlns:p14="http://schemas.microsoft.com/office/powerpoint/2010/main" val="3560131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80269-A1F5-6A64-C972-8E4DC0FA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58889-E0B1-D25F-1B16-F72A4995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NoSQL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A254A-4851-2D48-677E-EF733C674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770166" cy="487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NoSQL</a:t>
            </a:r>
            <a:r>
              <a:rPr lang="ko-KR" altLang="en-US" dirty="0"/>
              <a:t>의 장단점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장점</a:t>
            </a:r>
            <a:endParaRPr lang="en-US" altLang="ko-KR" b="1" dirty="0"/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 구조가 유연하여 변경이 쉬움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수평 확장</a:t>
            </a:r>
            <a:r>
              <a:rPr lang="en-US" altLang="ko-KR" dirty="0"/>
              <a:t>(Scale-out)</a:t>
            </a:r>
            <a:r>
              <a:rPr lang="ko-KR" altLang="en-US" dirty="0"/>
              <a:t>이 가능하여 대량의 데이터를 효과적으로 처리</a:t>
            </a:r>
          </a:p>
          <a:p>
            <a:pPr lvl="2">
              <a:buFontTx/>
              <a:buChar char="-"/>
            </a:pPr>
            <a:r>
              <a:rPr lang="ko-KR" altLang="en-US" dirty="0"/>
              <a:t>특정한 사용 사례</a:t>
            </a:r>
            <a:r>
              <a:rPr lang="en-US" altLang="ko-KR" dirty="0"/>
              <a:t>(</a:t>
            </a:r>
            <a:r>
              <a:rPr lang="ko-KR" altLang="en-US" dirty="0"/>
              <a:t>빅데이터</a:t>
            </a:r>
            <a:r>
              <a:rPr lang="en-US" altLang="ko-KR" dirty="0"/>
              <a:t>, </a:t>
            </a:r>
            <a:r>
              <a:rPr lang="ko-KR" altLang="en-US" dirty="0"/>
              <a:t>실시간 데이터 처리</a:t>
            </a:r>
            <a:r>
              <a:rPr lang="en-US" altLang="ko-KR" dirty="0"/>
              <a:t>)</a:t>
            </a:r>
            <a:r>
              <a:rPr lang="ko-KR" altLang="en-US" dirty="0"/>
              <a:t>에 강점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단점</a:t>
            </a:r>
            <a:endParaRPr lang="en-US" altLang="ko-KR" b="1" dirty="0"/>
          </a:p>
          <a:p>
            <a:pPr marL="914400" lvl="2" indent="0">
              <a:buNone/>
            </a:pPr>
            <a:r>
              <a:rPr lang="en-US" altLang="ko-KR" dirty="0"/>
              <a:t>- SQL</a:t>
            </a:r>
            <a:r>
              <a:rPr lang="ko-KR" altLang="en-US" dirty="0"/>
              <a:t>과 같은 표준화된 쿼리 언어가 없음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 무결성</a:t>
            </a:r>
            <a:r>
              <a:rPr lang="en-US" altLang="ko-KR" dirty="0"/>
              <a:t>(Integrity)</a:t>
            </a:r>
            <a:r>
              <a:rPr lang="ko-KR" altLang="en-US" dirty="0"/>
              <a:t>을 보장하는 기능이 부족할 수 있음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관계형 데이터베이스처럼 정형화된 데이터 처리에는 부적합</a:t>
            </a:r>
            <a:endParaRPr lang="en-US" altLang="ko-KR" b="1" dirty="0"/>
          </a:p>
          <a:p>
            <a:pPr marL="457200" lvl="1" indent="0">
              <a:buNone/>
            </a:pPr>
            <a:endParaRPr lang="en-US" altLang="ko-KR" b="1" dirty="0"/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3293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85EA-8104-9821-2D67-D5A52DA4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D0532-3035-1B31-ECBD-965A65C7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 vs NoSQL </a:t>
            </a:r>
            <a:r>
              <a:rPr lang="ko-KR" altLang="en-US" dirty="0"/>
              <a:t>비교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E322FC-6D56-E180-EA47-A033A3B39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820090"/>
              </p:ext>
            </p:extLst>
          </p:nvPr>
        </p:nvGraphicFramePr>
        <p:xfrm>
          <a:off x="350620" y="1145406"/>
          <a:ext cx="11490760" cy="3349592"/>
        </p:xfrm>
        <a:graphic>
          <a:graphicData uri="http://schemas.openxmlformats.org/drawingml/2006/table">
            <a:tbl>
              <a:tblPr/>
              <a:tblGrid>
                <a:gridCol w="1495936">
                  <a:extLst>
                    <a:ext uri="{9D8B030D-6E8A-4147-A177-3AD203B41FA5}">
                      <a16:colId xmlns:a16="http://schemas.microsoft.com/office/drawing/2014/main" val="579485326"/>
                    </a:ext>
                  </a:extLst>
                </a:gridCol>
                <a:gridCol w="4997412">
                  <a:extLst>
                    <a:ext uri="{9D8B030D-6E8A-4147-A177-3AD203B41FA5}">
                      <a16:colId xmlns:a16="http://schemas.microsoft.com/office/drawing/2014/main" val="435524223"/>
                    </a:ext>
                  </a:extLst>
                </a:gridCol>
                <a:gridCol w="4997412">
                  <a:extLst>
                    <a:ext uri="{9D8B030D-6E8A-4147-A177-3AD203B41FA5}">
                      <a16:colId xmlns:a16="http://schemas.microsoft.com/office/drawing/2014/main" val="3683705726"/>
                    </a:ext>
                  </a:extLst>
                </a:gridCol>
              </a:tblGrid>
              <a:tr h="4186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 항목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RDBMS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관계형 데이터베이스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NoSQL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데이터베이스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638095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모델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테이블 기반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 구조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다양한 구조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컬럼 기반 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66260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확장성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수직 확장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Scale-up)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수평 확장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Scale-out)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765437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스키마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사전 정의된 스키마 필요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스키마가 유연하며 동적 변경 가능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39983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쿼리 언어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SQL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SQL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아닌 다양한 쿼리 방식 사용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12524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트랜잭션 지원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ACID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원칙 완벽 지원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일부만 지원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(CAP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이론 기반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95558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성능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정형 데이터에서 뛰어남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비정형 데이터 및 대규모 데이터 처리에 강함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661765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사례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금융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ERP,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전자상거래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전통적인 비즈니스 애플리케이션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빅데이터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IoT, SNS,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실시간 데이터 분석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4542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4199660-7681-B7A4-2DBC-B392963A15D8}"/>
              </a:ext>
            </a:extLst>
          </p:cNvPr>
          <p:cNvSpPr txBox="1"/>
          <p:nvPr/>
        </p:nvSpPr>
        <p:spPr>
          <a:xfrm>
            <a:off x="350620" y="4613124"/>
            <a:ext cx="10515600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🚀 프로젝트 특성에 따른 적절한 데이터베이스 선택이 중요함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RDBMS는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정형 데이터와 높은 정합성이 필요한 경우에 적합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NoSQL은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대량의 비정형 데이터를 빠르게 처리하고 확장성이 필요한 경우에 적합</a:t>
            </a:r>
          </a:p>
        </p:txBody>
      </p:sp>
    </p:spTree>
    <p:extLst>
      <p:ext uri="{BB962C8B-B14F-4D97-AF65-F5344CB8AC3E}">
        <p14:creationId xmlns:p14="http://schemas.microsoft.com/office/powerpoint/2010/main" val="2087371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0AA0C32-3EC1-4559-DE36-C9B90CAD093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용어 정리하기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610AE-35EE-3DA4-BC76-955C54BBED8C}"/>
              </a:ext>
            </a:extLst>
          </p:cNvPr>
          <p:cNvSpPr txBox="1"/>
          <p:nvPr/>
        </p:nvSpPr>
        <p:spPr>
          <a:xfrm>
            <a:off x="890087" y="2649681"/>
            <a:ext cx="10411825" cy="2031325"/>
          </a:xfrm>
          <a:prstGeom prst="rect">
            <a:avLst/>
          </a:prstGeom>
          <a:solidFill>
            <a:srgbClr val="F5F5F2"/>
          </a:solidFill>
        </p:spPr>
        <p:txBody>
          <a:bodyPr wrap="none" rtlCol="0">
            <a:spAutoFit/>
          </a:bodyPr>
          <a:lstStyle/>
          <a:p>
            <a:endParaRPr lang="en-US" altLang="ko-KR" b="1" dirty="0"/>
          </a:p>
          <a:p>
            <a:r>
              <a:rPr lang="en-US" altLang="ko-KR" b="1" dirty="0"/>
              <a:t> (    )</a:t>
            </a:r>
            <a:r>
              <a:rPr lang="ko-KR" altLang="en-US" b="1" dirty="0"/>
              <a:t>은</a:t>
            </a:r>
            <a:r>
              <a:rPr lang="en-US" altLang="ko-KR" b="1" dirty="0"/>
              <a:t>(</a:t>
            </a:r>
            <a:r>
              <a:rPr lang="ko-KR" altLang="en-US" b="1" dirty="0"/>
              <a:t>는</a:t>
            </a:r>
            <a:r>
              <a:rPr lang="en-US" altLang="ko-KR" b="1" dirty="0"/>
              <a:t>) </a:t>
            </a:r>
            <a:r>
              <a:rPr lang="ko-KR" altLang="en-US" b="1" dirty="0"/>
              <a:t>데이터를 입력하기 위해 </a:t>
            </a:r>
            <a:r>
              <a:rPr lang="en-US" altLang="ko-KR" b="1" dirty="0"/>
              <a:t>2</a:t>
            </a:r>
            <a:r>
              <a:rPr lang="ko-KR" altLang="en-US" b="1" dirty="0"/>
              <a:t>차원 표 형태로 표현한 것으로 가로와 세로로 구성되어 있다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 </a:t>
            </a:r>
          </a:p>
          <a:p>
            <a:r>
              <a:rPr lang="en-US" altLang="ko-KR" b="1" dirty="0"/>
              <a:t> (    )</a:t>
            </a:r>
            <a:r>
              <a:rPr lang="ko-KR" altLang="en-US" b="1" dirty="0"/>
              <a:t>은</a:t>
            </a:r>
            <a:r>
              <a:rPr lang="en-US" altLang="ko-KR" b="1" dirty="0"/>
              <a:t>(</a:t>
            </a:r>
            <a:r>
              <a:rPr lang="ko-KR" altLang="en-US" b="1" dirty="0"/>
              <a:t>는</a:t>
            </a:r>
            <a:r>
              <a:rPr lang="en-US" altLang="ko-KR" b="1" dirty="0"/>
              <a:t>) </a:t>
            </a:r>
            <a:r>
              <a:rPr lang="ko-KR" altLang="en-US" b="1" dirty="0"/>
              <a:t>데이터베이스를 관리하는 소프트웨어를 의미한다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 (    )</a:t>
            </a:r>
            <a:r>
              <a:rPr lang="ko-KR" altLang="en-US" b="1" dirty="0"/>
              <a:t>은</a:t>
            </a:r>
            <a:r>
              <a:rPr lang="en-US" altLang="ko-KR" b="1" dirty="0"/>
              <a:t>(</a:t>
            </a:r>
            <a:r>
              <a:rPr lang="ko-KR" altLang="en-US" b="1" dirty="0"/>
              <a:t>는</a:t>
            </a:r>
            <a:r>
              <a:rPr lang="en-US" altLang="ko-KR" b="1" dirty="0"/>
              <a:t>) </a:t>
            </a:r>
            <a:r>
              <a:rPr lang="ko-KR" altLang="en-US" b="1" dirty="0"/>
              <a:t>사람과 </a:t>
            </a:r>
            <a:r>
              <a:rPr lang="en-US" altLang="ko-KR" b="1" dirty="0"/>
              <a:t>DBMS</a:t>
            </a:r>
            <a:r>
              <a:rPr lang="ko-KR" altLang="en-US" b="1" dirty="0"/>
              <a:t>가 서로 소통하기 위한 언어이다</a:t>
            </a:r>
            <a:r>
              <a:rPr lang="en-US" altLang="ko-KR" b="1" dirty="0"/>
              <a:t>.</a:t>
            </a:r>
          </a:p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63018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ACID</a:t>
            </a:r>
            <a:endParaRPr lang="ko-KR" altLang="en-US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716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284-862F-A3B0-EEB4-E3D89F60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0058F-919F-F47A-3B34-5E595CBE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트랜잭션</a:t>
            </a:r>
            <a:r>
              <a:rPr lang="en-US" altLang="ko-KR" dirty="0"/>
              <a:t>(Transaction)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09919-75CA-5282-1B52-8566D606B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228359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데이터베이스에서 하나의 작업 단위를 구성하는 연산들의 집합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모든 작업들이 성공적으로 수행되어야 트랜잭션이 성공 된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중간에 하나라도 실패하게 되면 트랜잭션도 실패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8709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284-862F-A3B0-EEB4-E3D89F60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0058F-919F-F47A-3B34-5E595CBE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ACID </a:t>
            </a:r>
            <a:r>
              <a:rPr lang="ko-KR" altLang="en-US" dirty="0"/>
              <a:t>원칙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09919-75CA-5282-1B52-8566D606B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272785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b="1" dirty="0" err="1"/>
              <a:t>원자성</a:t>
            </a:r>
            <a:r>
              <a:rPr lang="en-US" altLang="ko-KR" b="1" dirty="0"/>
              <a:t>(Atomicity)</a:t>
            </a:r>
            <a:r>
              <a:rPr lang="en-US" altLang="ko-KR" dirty="0"/>
              <a:t>: </a:t>
            </a:r>
            <a:r>
              <a:rPr lang="ko-KR" altLang="en-US" dirty="0"/>
              <a:t>전부 수행되거나 전혀 수행되지 않아야 함</a:t>
            </a:r>
            <a:br>
              <a:rPr lang="ko-KR" altLang="en-US" dirty="0"/>
            </a:br>
            <a:r>
              <a:rPr lang="en-US" altLang="ko-KR" dirty="0"/>
              <a:t>2️⃣ </a:t>
            </a:r>
            <a:r>
              <a:rPr lang="ko-KR" altLang="en-US" b="1" dirty="0"/>
              <a:t>일관성</a:t>
            </a:r>
            <a:r>
              <a:rPr lang="en-US" altLang="ko-KR" b="1" dirty="0"/>
              <a:t>(Consistency)</a:t>
            </a:r>
            <a:r>
              <a:rPr lang="en-US" altLang="ko-KR" dirty="0"/>
              <a:t>: </a:t>
            </a:r>
            <a:r>
              <a:rPr lang="ko-KR" altLang="en-US" dirty="0"/>
              <a:t>트랜잭션 전후의 데이터가 일관된 상태 유지</a:t>
            </a:r>
            <a:br>
              <a:rPr lang="ko-KR" altLang="en-US" dirty="0"/>
            </a:br>
            <a:r>
              <a:rPr lang="en-US" altLang="ko-KR" dirty="0"/>
              <a:t>3️⃣ </a:t>
            </a:r>
            <a:r>
              <a:rPr lang="ko-KR" altLang="en-US" b="1" dirty="0" err="1"/>
              <a:t>격리성</a:t>
            </a:r>
            <a:r>
              <a:rPr lang="en-US" altLang="ko-KR" b="1" dirty="0"/>
              <a:t>(Isolation)</a:t>
            </a:r>
            <a:r>
              <a:rPr lang="en-US" altLang="ko-KR" dirty="0"/>
              <a:t>: </a:t>
            </a:r>
            <a:r>
              <a:rPr lang="ko-KR" altLang="en-US" dirty="0"/>
              <a:t>다른 트랜잭션 간 간섭 없이 독립적으로 실행</a:t>
            </a:r>
            <a:br>
              <a:rPr lang="ko-KR" altLang="en-US" dirty="0"/>
            </a:br>
            <a:r>
              <a:rPr lang="en-US" altLang="ko-KR" dirty="0"/>
              <a:t>4️⃣ </a:t>
            </a:r>
            <a:r>
              <a:rPr lang="ko-KR" altLang="en-US" b="1" dirty="0"/>
              <a:t>지속성</a:t>
            </a:r>
            <a:r>
              <a:rPr lang="en-US" altLang="ko-KR" b="1" dirty="0"/>
              <a:t>(Durability)</a:t>
            </a:r>
            <a:r>
              <a:rPr lang="en-US" altLang="ko-KR" dirty="0"/>
              <a:t>: </a:t>
            </a:r>
            <a:r>
              <a:rPr lang="ko-KR" altLang="en-US" dirty="0"/>
              <a:t>완료된 트랜잭션의 결과는 영구히 저장됨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1629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284-862F-A3B0-EEB4-E3D89F60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0058F-919F-F47A-3B34-5E595CBE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ACID </a:t>
            </a:r>
            <a:r>
              <a:rPr lang="ko-KR" altLang="en-US" dirty="0"/>
              <a:t>원칙</a:t>
            </a:r>
          </a:p>
        </p:txBody>
      </p:sp>
      <p:pic>
        <p:nvPicPr>
          <p:cNvPr id="1026" name="Picture 2" descr="C:\Users\LMH\Downloads\ChatGPT Image 2025년 3월 27일 오후 11_51_35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1" t="19608" r="11855" b="36835"/>
          <a:stretch/>
        </p:blipFill>
        <p:spPr bwMode="auto">
          <a:xfrm>
            <a:off x="3263128" y="1959858"/>
            <a:ext cx="5675132" cy="195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98884" y="1004054"/>
            <a:ext cx="72090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/>
              <a:t>✅</a:t>
            </a:r>
            <a:r>
              <a:rPr lang="en-US" altLang="ko-KR" sz="2400" dirty="0">
                <a:latin typeface="+mn-ea"/>
              </a:rPr>
              <a:t>A </a:t>
            </a:r>
            <a:r>
              <a:rPr lang="ko-KR" altLang="en-US" sz="2400" dirty="0">
                <a:latin typeface="+mn-ea"/>
              </a:rPr>
              <a:t>계좌에서 </a:t>
            </a:r>
            <a:r>
              <a:rPr lang="en-US" altLang="ko-KR" sz="2400" dirty="0">
                <a:latin typeface="+mn-ea"/>
              </a:rPr>
              <a:t>B </a:t>
            </a:r>
            <a:r>
              <a:rPr lang="ko-KR" altLang="en-US" sz="2400" dirty="0">
                <a:latin typeface="+mn-ea"/>
              </a:rPr>
              <a:t>계좌로 </a:t>
            </a:r>
            <a:r>
              <a:rPr lang="en-US" altLang="ko-KR" sz="2400" b="1" dirty="0">
                <a:latin typeface="+mn-ea"/>
              </a:rPr>
              <a:t>10</a:t>
            </a:r>
            <a:r>
              <a:rPr lang="ko-KR" altLang="en-US" sz="2400" b="1" dirty="0">
                <a:latin typeface="+mn-ea"/>
              </a:rPr>
              <a:t>만 원 이체</a:t>
            </a:r>
            <a:r>
              <a:rPr lang="ko-KR" altLang="en-US" sz="2400" dirty="0">
                <a:latin typeface="+mn-ea"/>
              </a:rPr>
              <a:t>하는 트랜잭션을 가정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905874" y="1663524"/>
            <a:ext cx="2727960" cy="714447"/>
            <a:chOff x="6624320" y="1658641"/>
            <a:chExt cx="2727960" cy="1515619"/>
          </a:xfrm>
        </p:grpSpPr>
        <p:sp>
          <p:nvSpPr>
            <p:cNvPr id="7" name="직사각형 6"/>
            <p:cNvSpPr/>
            <p:nvPr/>
          </p:nvSpPr>
          <p:spPr>
            <a:xfrm>
              <a:off x="6624320" y="1658641"/>
              <a:ext cx="2727960" cy="1074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260466" y="2099862"/>
              <a:ext cx="792480" cy="10743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979810" y="4034693"/>
            <a:ext cx="42417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📌트랜잭션</a:t>
            </a:r>
            <a:r>
              <a:rPr lang="en-US" altLang="ko-KR" sz="2000" dirty="0"/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A </a:t>
            </a:r>
            <a:r>
              <a:rPr lang="ko-KR" altLang="en-US" sz="2000" dirty="0"/>
              <a:t>계좌에서 </a:t>
            </a:r>
            <a:r>
              <a:rPr lang="en-US" altLang="ko-KR" sz="2000" dirty="0"/>
              <a:t>10</a:t>
            </a:r>
            <a:r>
              <a:rPr lang="ko-KR" altLang="en-US" sz="2000" dirty="0"/>
              <a:t>만 원을 </a:t>
            </a:r>
            <a:r>
              <a:rPr lang="ko-KR" altLang="en-US" sz="2000" b="1" dirty="0"/>
              <a:t>차감 </a:t>
            </a:r>
            <a:r>
              <a:rPr lang="ko-KR" altLang="en-US" sz="2000" b="1" dirty="0">
                <a:solidFill>
                  <a:srgbClr val="00B050"/>
                </a:solidFill>
              </a:rPr>
              <a:t>→ 성공</a:t>
            </a:r>
            <a:endParaRPr lang="ko-KR" altLang="en-US" sz="2000" dirty="0">
              <a:solidFill>
                <a:srgbClr val="00B050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B </a:t>
            </a:r>
            <a:r>
              <a:rPr lang="ko-KR" altLang="en-US" sz="2000" dirty="0"/>
              <a:t>계좌에 </a:t>
            </a:r>
            <a:r>
              <a:rPr lang="en-US" altLang="ko-KR" sz="2000" dirty="0"/>
              <a:t>10</a:t>
            </a:r>
            <a:r>
              <a:rPr lang="ko-KR" altLang="en-US" sz="2000" dirty="0"/>
              <a:t>만 원을 </a:t>
            </a:r>
            <a:r>
              <a:rPr lang="ko-KR" altLang="en-US" sz="2000" b="1" dirty="0"/>
              <a:t>추가     </a:t>
            </a:r>
            <a:r>
              <a:rPr lang="ko-KR" altLang="en-US" sz="2000" b="1" dirty="0">
                <a:solidFill>
                  <a:srgbClr val="FF5050"/>
                </a:solidFill>
              </a:rPr>
              <a:t>→ 실패</a:t>
            </a:r>
            <a:endParaRPr lang="ko-KR" altLang="en-US" sz="2000" dirty="0">
              <a:solidFill>
                <a:srgbClr val="FF505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399473" y="5775880"/>
            <a:ext cx="5402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/>
              <a:t>👉 </a:t>
            </a:r>
            <a:r>
              <a:rPr lang="en-US" altLang="ko-KR" sz="2000" dirty="0"/>
              <a:t>A</a:t>
            </a:r>
            <a:r>
              <a:rPr lang="ko-KR" altLang="en-US" sz="2000" dirty="0"/>
              <a:t>는 돈을 잃고</a:t>
            </a:r>
            <a:r>
              <a:rPr lang="en-US" altLang="ko-KR" sz="2000" dirty="0"/>
              <a:t>, B</a:t>
            </a:r>
            <a:r>
              <a:rPr lang="ko-KR" altLang="en-US" sz="2000" dirty="0"/>
              <a:t>는 돈을 못 받음 → </a:t>
            </a:r>
            <a:r>
              <a:rPr lang="ko-KR" altLang="en-US" sz="2000" b="1" dirty="0"/>
              <a:t>돈이 사라진다</a:t>
            </a:r>
            <a:r>
              <a:rPr lang="en-US" altLang="ko-KR" sz="2000" b="1" dirty="0"/>
              <a:t>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53332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2765</TotalTime>
  <Words>1744</Words>
  <Application>Microsoft Office PowerPoint</Application>
  <PresentationFormat>와이드스크린</PresentationFormat>
  <Paragraphs>303</Paragraphs>
  <Slides>36</Slides>
  <Notes>26</Notes>
  <HiddenSlides>1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G마켓 산스 TTF Bold</vt:lpstr>
      <vt:lpstr>G마켓 산스 TTF Medium</vt:lpstr>
      <vt:lpstr>Kim jung chul Gothic Regular</vt:lpstr>
      <vt:lpstr>Pretendard Black</vt:lpstr>
      <vt:lpstr>Pretendard ExtraBold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학습목표🎓</vt:lpstr>
      <vt:lpstr>커리큘럼</vt:lpstr>
      <vt:lpstr>PowerPoint 프레젠테이션</vt:lpstr>
      <vt:lpstr>데이터, 정보, 지식</vt:lpstr>
      <vt:lpstr>데이터, 정보, 지식</vt:lpstr>
      <vt:lpstr>데이터베이스</vt:lpstr>
      <vt:lpstr>데이터베이스 정의</vt:lpstr>
      <vt:lpstr>데이터베이스 정의  </vt:lpstr>
      <vt:lpstr>데이터베이스 특징  </vt:lpstr>
      <vt:lpstr>데이터베이스 특징  </vt:lpstr>
      <vt:lpstr>PowerPoint 프레젠테이션</vt:lpstr>
      <vt:lpstr>파일 시스템 vs 데이터베이스</vt:lpstr>
      <vt:lpstr>파일 시스템 특징</vt:lpstr>
      <vt:lpstr>파일 시스템 사례</vt:lpstr>
      <vt:lpstr>파일 시스템 사례</vt:lpstr>
      <vt:lpstr>파일 시스템 사례</vt:lpstr>
      <vt:lpstr>파일 시스템 사례</vt:lpstr>
      <vt:lpstr>데이터베이스 특징</vt:lpstr>
      <vt:lpstr>DBMS</vt:lpstr>
      <vt:lpstr>DBMS 언어</vt:lpstr>
      <vt:lpstr>RDBMS</vt:lpstr>
      <vt:lpstr>RDBMS</vt:lpstr>
      <vt:lpstr>RDBMS</vt:lpstr>
      <vt:lpstr>NoSQL</vt:lpstr>
      <vt:lpstr>NoSQL</vt:lpstr>
      <vt:lpstr>NoSQL</vt:lpstr>
      <vt:lpstr>RDBMS vs NoSQL 비교</vt:lpstr>
      <vt:lpstr>PowerPoint 프레젠테이션</vt:lpstr>
      <vt:lpstr>PowerPoint 프레젠테이션</vt:lpstr>
      <vt:lpstr>트랜잭션(Transaction)</vt:lpstr>
      <vt:lpstr>ACID 원칙</vt:lpstr>
      <vt:lpstr>ACID 원칙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281</cp:revision>
  <dcterms:created xsi:type="dcterms:W3CDTF">2023-01-31T04:26:23Z</dcterms:created>
  <dcterms:modified xsi:type="dcterms:W3CDTF">2026-03-05T07:48:15Z</dcterms:modified>
</cp:coreProperties>
</file>