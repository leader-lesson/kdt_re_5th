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48"/>
  </p:notesMasterIdLst>
  <p:sldIdLst>
    <p:sldId id="1004" r:id="rId2"/>
    <p:sldId id="1447" r:id="rId3"/>
    <p:sldId id="1448" r:id="rId4"/>
    <p:sldId id="257" r:id="rId5"/>
    <p:sldId id="672" r:id="rId6"/>
    <p:sldId id="1444" r:id="rId7"/>
    <p:sldId id="1436" r:id="rId8"/>
    <p:sldId id="1434" r:id="rId9"/>
    <p:sldId id="1435" r:id="rId10"/>
    <p:sldId id="1437" r:id="rId11"/>
    <p:sldId id="1438" r:id="rId12"/>
    <p:sldId id="1439" r:id="rId13"/>
    <p:sldId id="1443" r:id="rId14"/>
    <p:sldId id="1440" r:id="rId15"/>
    <p:sldId id="1441" r:id="rId16"/>
    <p:sldId id="1442" r:id="rId17"/>
    <p:sldId id="1446" r:id="rId18"/>
    <p:sldId id="769" r:id="rId19"/>
    <p:sldId id="770" r:id="rId20"/>
    <p:sldId id="771" r:id="rId21"/>
    <p:sldId id="772" r:id="rId22"/>
    <p:sldId id="776" r:id="rId23"/>
    <p:sldId id="777" r:id="rId24"/>
    <p:sldId id="773" r:id="rId25"/>
    <p:sldId id="774" r:id="rId26"/>
    <p:sldId id="775" r:id="rId27"/>
    <p:sldId id="1445" r:id="rId28"/>
    <p:sldId id="336" r:id="rId29"/>
    <p:sldId id="287" r:id="rId30"/>
    <p:sldId id="289" r:id="rId31"/>
    <p:sldId id="291" r:id="rId32"/>
    <p:sldId id="294" r:id="rId33"/>
    <p:sldId id="333" r:id="rId34"/>
    <p:sldId id="295" r:id="rId35"/>
    <p:sldId id="334" r:id="rId36"/>
    <p:sldId id="337" r:id="rId37"/>
    <p:sldId id="338" r:id="rId38"/>
    <p:sldId id="339" r:id="rId39"/>
    <p:sldId id="340" r:id="rId40"/>
    <p:sldId id="335" r:id="rId41"/>
    <p:sldId id="303" r:id="rId42"/>
    <p:sldId id="420" r:id="rId43"/>
    <p:sldId id="765" r:id="rId44"/>
    <p:sldId id="766" r:id="rId45"/>
    <p:sldId id="767" r:id="rId46"/>
    <p:sldId id="813" r:id="rId47"/>
  </p:sldIdLst>
  <p:sldSz cx="12192000" cy="6858000"/>
  <p:notesSz cx="6858000" cy="9144000"/>
  <p:embeddedFontLst>
    <p:embeddedFont>
      <p:font typeface="Kim jung chul Gothic Regular" panose="020B0600000101010101" charset="-127"/>
      <p:regular r:id="rId49"/>
    </p:embeddedFont>
    <p:embeddedFont>
      <p:font typeface="메이플스토리" panose="020B0600000101010101" charset="-127"/>
      <p:regular r:id="rId50"/>
      <p:bold r:id="rId51"/>
    </p:embeddedFont>
    <p:embeddedFont>
      <p:font typeface="세방고딕 Bold" panose="020B0600000101010101" charset="-127"/>
      <p:bold r:id="rId52"/>
    </p:embeddedFont>
    <p:embeddedFont>
      <p:font typeface="세방고딕 Regular" panose="00000500000000000000" charset="-127"/>
      <p:regular r:id="rId53"/>
    </p:embeddedFont>
    <p:embeddedFont>
      <p:font typeface="G마켓 산스 TTF Bold" panose="02000000000000000000" pitchFamily="2" charset="-127"/>
      <p:bold r:id="rId54"/>
    </p:embeddedFont>
    <p:embeddedFont>
      <p:font typeface="Noto Sans KR" panose="020B0200000000000000" pitchFamily="50" charset="-127"/>
      <p:regular r:id="rId55"/>
      <p:bold r:id="rId56"/>
    </p:embeddedFont>
    <p:embeddedFont>
      <p:font typeface="Pretendard Black" panose="02000A03000000020004" pitchFamily="50" charset="-127"/>
      <p:bold r:id="rId57"/>
    </p:embeddedFont>
    <p:embeddedFont>
      <p:font typeface="Pretendard ExtraBold" panose="02000903000000020004" pitchFamily="50" charset="-127"/>
      <p:bold r:id="rId58"/>
    </p:embeddedFont>
    <p:embeddedFont>
      <p:font typeface="Pretendard Light" panose="02000403000000020004" pitchFamily="50" charset="-127"/>
      <p:regular r:id="rId59"/>
    </p:embeddedFont>
    <p:embeddedFont>
      <p:font typeface="Pretendard Medium" panose="02000603000000020004" pitchFamily="50" charset="-127"/>
      <p:regular r:id="rId60"/>
    </p:embeddedFont>
    <p:embeddedFont>
      <p:font typeface="맑은 고딕" panose="020B0503020000020004" pitchFamily="50" charset="-127"/>
      <p:regular r:id="rId61"/>
      <p:bold r:id="rId62"/>
    </p:embeddedFont>
    <p:embeddedFont>
      <p:font typeface="맑은 고딕 Semilight" panose="020B0502040204020203" pitchFamily="50" charset="-127"/>
      <p:regular r:id="rId63"/>
    </p:embeddedFont>
    <p:embeddedFont>
      <p:font typeface="휴먼둥근헤드라인" panose="02030504000101010101" pitchFamily="18" charset="-127"/>
      <p:regular r:id="rId6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ED7D31"/>
    <a:srgbClr val="00FF99"/>
    <a:srgbClr val="FF7C80"/>
    <a:srgbClr val="2B2B2B"/>
    <a:srgbClr val="00B050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20" autoAdjust="0"/>
    <p:restoredTop sz="91676" autoAdjust="0"/>
  </p:normalViewPr>
  <p:slideViewPr>
    <p:cSldViewPr snapToGrid="0">
      <p:cViewPr varScale="1">
        <p:scale>
          <a:sx n="93" d="100"/>
          <a:sy n="93" d="100"/>
        </p:scale>
        <p:origin x="72" y="2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63" Type="http://schemas.openxmlformats.org/officeDocument/2006/relationships/font" Target="fonts/font15.fntdata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font" Target="fonts/font10.fntdata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font" Target="fonts/font13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64" Type="http://schemas.openxmlformats.org/officeDocument/2006/relationships/font" Target="fonts/font16.fntdata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1.fntdata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62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font" Target="fonts/font9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font" Target="fonts/font12.fntdata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A712F0-DC1E-4333-9A3A-DD7C88366680}" type="doc">
      <dgm:prSet loTypeId="urn:microsoft.com/office/officeart/2005/8/layout/process1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pPr latinLnBrk="1"/>
          <a:endParaRPr lang="ko-KR" altLang="en-US"/>
        </a:p>
      </dgm:t>
    </dgm:pt>
    <dgm:pt modelId="{B9050E21-A48E-4B49-AC8D-5FE02A8103B7}">
      <dgm:prSet phldrT="[텍스트]"/>
      <dgm:spPr/>
      <dgm:t>
        <a:bodyPr/>
        <a:lstStyle/>
        <a:p>
          <a:pPr latinLnBrk="1"/>
          <a:r>
            <a:rPr lang="ko-KR" altLang="en-US" dirty="0">
              <a:latin typeface="+mn-ea"/>
              <a:ea typeface="+mn-ea"/>
            </a:rPr>
            <a:t>문제 정의</a:t>
          </a:r>
        </a:p>
      </dgm:t>
    </dgm:pt>
    <dgm:pt modelId="{A617EC8D-8517-4871-8CD7-3DDB89DA6BC9}" type="parTrans" cxnId="{0C5FAF80-C896-4A32-84A6-D7C87CC3917F}">
      <dgm:prSet/>
      <dgm:spPr/>
      <dgm:t>
        <a:bodyPr/>
        <a:lstStyle/>
        <a:p>
          <a:pPr latinLnBrk="1"/>
          <a:endParaRPr lang="ko-KR" altLang="en-US"/>
        </a:p>
      </dgm:t>
    </dgm:pt>
    <dgm:pt modelId="{0FB8F6D7-8F15-459D-BCFB-ADF254150D80}" type="sibTrans" cxnId="{0C5FAF80-C896-4A32-84A6-D7C87CC3917F}">
      <dgm:prSet/>
      <dgm:spPr/>
      <dgm:t>
        <a:bodyPr/>
        <a:lstStyle/>
        <a:p>
          <a:pPr latinLnBrk="1"/>
          <a:endParaRPr lang="ko-KR" altLang="en-US"/>
        </a:p>
      </dgm:t>
    </dgm:pt>
    <dgm:pt modelId="{E58ECD22-C1B2-4A08-B2AF-2AFA3CF04514}">
      <dgm:prSet phldrT="[텍스트]"/>
      <dgm:spPr/>
      <dgm:t>
        <a:bodyPr/>
        <a:lstStyle/>
        <a:p>
          <a:pPr latinLnBrk="1"/>
          <a:r>
            <a:rPr lang="ko-KR" altLang="en-US" dirty="0">
              <a:latin typeface="+mn-ea"/>
              <a:ea typeface="+mn-ea"/>
            </a:rPr>
            <a:t>데이터 수집</a:t>
          </a:r>
        </a:p>
      </dgm:t>
    </dgm:pt>
    <dgm:pt modelId="{C91EBFE9-7D59-4947-94D9-447C38510F4F}" type="parTrans" cxnId="{217EE7AB-BDF3-4BBB-99C6-E68AFF82F6AB}">
      <dgm:prSet/>
      <dgm:spPr/>
      <dgm:t>
        <a:bodyPr/>
        <a:lstStyle/>
        <a:p>
          <a:pPr latinLnBrk="1"/>
          <a:endParaRPr lang="ko-KR" altLang="en-US"/>
        </a:p>
      </dgm:t>
    </dgm:pt>
    <dgm:pt modelId="{A0A2719A-F105-4322-AF0A-67A752329B00}" type="sibTrans" cxnId="{217EE7AB-BDF3-4BBB-99C6-E68AFF82F6AB}">
      <dgm:prSet/>
      <dgm:spPr/>
      <dgm:t>
        <a:bodyPr/>
        <a:lstStyle/>
        <a:p>
          <a:pPr latinLnBrk="1"/>
          <a:endParaRPr lang="ko-KR" altLang="en-US"/>
        </a:p>
      </dgm:t>
    </dgm:pt>
    <dgm:pt modelId="{8E1EB8D7-D5F6-4EA7-9326-ABA7A7AE9468}">
      <dgm:prSet phldrT="[텍스트]"/>
      <dgm:spPr/>
      <dgm:t>
        <a:bodyPr/>
        <a:lstStyle/>
        <a:p>
          <a:pPr latinLnBrk="1"/>
          <a:r>
            <a:rPr lang="ko-KR" altLang="en-US" dirty="0" err="1">
              <a:latin typeface="+mn-ea"/>
              <a:ea typeface="+mn-ea"/>
            </a:rPr>
            <a:t>전처리</a:t>
          </a:r>
          <a:r>
            <a:rPr lang="ko-KR" altLang="en-US" dirty="0">
              <a:latin typeface="+mn-ea"/>
              <a:ea typeface="+mn-ea"/>
            </a:rPr>
            <a:t> </a:t>
          </a:r>
        </a:p>
      </dgm:t>
    </dgm:pt>
    <dgm:pt modelId="{8B410C0F-CD85-4DF8-A0F4-25FAC7B991F7}" type="parTrans" cxnId="{080AF892-05F6-4484-AD87-BE4D7BC7641C}">
      <dgm:prSet/>
      <dgm:spPr/>
      <dgm:t>
        <a:bodyPr/>
        <a:lstStyle/>
        <a:p>
          <a:pPr latinLnBrk="1"/>
          <a:endParaRPr lang="ko-KR" altLang="en-US"/>
        </a:p>
      </dgm:t>
    </dgm:pt>
    <dgm:pt modelId="{5B03E8BD-E7CF-490E-9100-77933F49CD24}" type="sibTrans" cxnId="{080AF892-05F6-4484-AD87-BE4D7BC7641C}">
      <dgm:prSet/>
      <dgm:spPr/>
      <dgm:t>
        <a:bodyPr/>
        <a:lstStyle/>
        <a:p>
          <a:pPr latinLnBrk="1"/>
          <a:endParaRPr lang="ko-KR" altLang="en-US"/>
        </a:p>
      </dgm:t>
    </dgm:pt>
    <dgm:pt modelId="{7C685B0D-96B0-45B4-95B4-05FD41A6295B}">
      <dgm:prSet/>
      <dgm:spPr/>
      <dgm:t>
        <a:bodyPr/>
        <a:lstStyle/>
        <a:p>
          <a:pPr latinLnBrk="1"/>
          <a:r>
            <a:rPr lang="ko-KR" altLang="en-US" dirty="0">
              <a:latin typeface="+mn-ea"/>
              <a:ea typeface="+mn-ea"/>
            </a:rPr>
            <a:t>모델링</a:t>
          </a:r>
          <a:r>
            <a:rPr lang="en-US" altLang="en-US" dirty="0">
              <a:latin typeface="+mn-ea"/>
              <a:ea typeface="+mn-ea"/>
            </a:rPr>
            <a:t>/</a:t>
          </a:r>
          <a:r>
            <a:rPr lang="ko-KR" altLang="en-US" dirty="0">
              <a:latin typeface="+mn-ea"/>
              <a:ea typeface="+mn-ea"/>
            </a:rPr>
            <a:t>분석</a:t>
          </a:r>
        </a:p>
      </dgm:t>
    </dgm:pt>
    <dgm:pt modelId="{F46F0882-F0A7-4A19-A6F5-CB4CBA6CDDC1}" type="parTrans" cxnId="{1D25DD92-A79D-4963-BC9C-24ECF0828C46}">
      <dgm:prSet/>
      <dgm:spPr/>
      <dgm:t>
        <a:bodyPr/>
        <a:lstStyle/>
        <a:p>
          <a:pPr latinLnBrk="1"/>
          <a:endParaRPr lang="ko-KR" altLang="en-US"/>
        </a:p>
      </dgm:t>
    </dgm:pt>
    <dgm:pt modelId="{67AB4181-AD5E-4E29-8858-1CD348FAA618}" type="sibTrans" cxnId="{1D25DD92-A79D-4963-BC9C-24ECF0828C46}">
      <dgm:prSet/>
      <dgm:spPr/>
      <dgm:t>
        <a:bodyPr/>
        <a:lstStyle/>
        <a:p>
          <a:pPr latinLnBrk="1"/>
          <a:endParaRPr lang="ko-KR" altLang="en-US"/>
        </a:p>
      </dgm:t>
    </dgm:pt>
    <dgm:pt modelId="{7417F226-2836-4372-8024-EAEB62A8C986}">
      <dgm:prSet/>
      <dgm:spPr/>
      <dgm:t>
        <a:bodyPr/>
        <a:lstStyle/>
        <a:p>
          <a:pPr latinLnBrk="1"/>
          <a:r>
            <a:rPr lang="ko-KR" altLang="en-US" dirty="0">
              <a:latin typeface="+mn-ea"/>
              <a:ea typeface="+mn-ea"/>
            </a:rPr>
            <a:t>시각화</a:t>
          </a:r>
          <a:endParaRPr lang="en-US" altLang="ko-KR" dirty="0">
            <a:latin typeface="+mn-ea"/>
            <a:ea typeface="+mn-ea"/>
          </a:endParaRPr>
        </a:p>
        <a:p>
          <a:pPr latinLnBrk="1"/>
          <a:r>
            <a:rPr lang="ko-KR" altLang="en-US" dirty="0">
              <a:latin typeface="+mn-ea"/>
              <a:ea typeface="+mn-ea"/>
            </a:rPr>
            <a:t>및 보고</a:t>
          </a:r>
        </a:p>
      </dgm:t>
    </dgm:pt>
    <dgm:pt modelId="{C5C96437-6B41-4966-B21E-ACCBFDBC6B22}" type="parTrans" cxnId="{DD835AE1-9362-485F-8607-44B01C565423}">
      <dgm:prSet/>
      <dgm:spPr/>
      <dgm:t>
        <a:bodyPr/>
        <a:lstStyle/>
        <a:p>
          <a:pPr latinLnBrk="1"/>
          <a:endParaRPr lang="ko-KR" altLang="en-US"/>
        </a:p>
      </dgm:t>
    </dgm:pt>
    <dgm:pt modelId="{4A1E0B67-11B3-4B4F-9EA8-B432B41ED8EA}" type="sibTrans" cxnId="{DD835AE1-9362-485F-8607-44B01C565423}">
      <dgm:prSet/>
      <dgm:spPr/>
      <dgm:t>
        <a:bodyPr/>
        <a:lstStyle/>
        <a:p>
          <a:pPr latinLnBrk="1"/>
          <a:endParaRPr lang="ko-KR" altLang="en-US"/>
        </a:p>
      </dgm:t>
    </dgm:pt>
    <dgm:pt modelId="{5178C779-295B-4C99-B377-B6054D3F772F}" type="pres">
      <dgm:prSet presAssocID="{60A712F0-DC1E-4333-9A3A-DD7C88366680}" presName="Name0" presStyleCnt="0">
        <dgm:presLayoutVars>
          <dgm:dir/>
          <dgm:resizeHandles val="exact"/>
        </dgm:presLayoutVars>
      </dgm:prSet>
      <dgm:spPr/>
    </dgm:pt>
    <dgm:pt modelId="{F9E51460-B3BB-439E-8DE0-DAB2362D70CD}" type="pres">
      <dgm:prSet presAssocID="{B9050E21-A48E-4B49-AC8D-5FE02A8103B7}" presName="node" presStyleLbl="node1" presStyleIdx="0" presStyleCnt="5">
        <dgm:presLayoutVars>
          <dgm:bulletEnabled val="1"/>
        </dgm:presLayoutVars>
      </dgm:prSet>
      <dgm:spPr/>
    </dgm:pt>
    <dgm:pt modelId="{080BD357-A9CE-4399-8CAC-9815C57E88F8}" type="pres">
      <dgm:prSet presAssocID="{0FB8F6D7-8F15-459D-BCFB-ADF254150D80}" presName="sibTrans" presStyleLbl="sibTrans2D1" presStyleIdx="0" presStyleCnt="4"/>
      <dgm:spPr/>
    </dgm:pt>
    <dgm:pt modelId="{7B21B825-FC30-449E-9C23-8F1BFB28E4B1}" type="pres">
      <dgm:prSet presAssocID="{0FB8F6D7-8F15-459D-BCFB-ADF254150D80}" presName="connectorText" presStyleLbl="sibTrans2D1" presStyleIdx="0" presStyleCnt="4"/>
      <dgm:spPr/>
    </dgm:pt>
    <dgm:pt modelId="{EE68C0D9-A9B6-443B-8BF6-254B696D7393}" type="pres">
      <dgm:prSet presAssocID="{E58ECD22-C1B2-4A08-B2AF-2AFA3CF04514}" presName="node" presStyleLbl="node1" presStyleIdx="1" presStyleCnt="5">
        <dgm:presLayoutVars>
          <dgm:bulletEnabled val="1"/>
        </dgm:presLayoutVars>
      </dgm:prSet>
      <dgm:spPr/>
    </dgm:pt>
    <dgm:pt modelId="{74982E38-909B-4C54-9F70-08AF778C0711}" type="pres">
      <dgm:prSet presAssocID="{A0A2719A-F105-4322-AF0A-67A752329B00}" presName="sibTrans" presStyleLbl="sibTrans2D1" presStyleIdx="1" presStyleCnt="4"/>
      <dgm:spPr/>
    </dgm:pt>
    <dgm:pt modelId="{D7C3D678-8F13-45CF-B14D-689011250C29}" type="pres">
      <dgm:prSet presAssocID="{A0A2719A-F105-4322-AF0A-67A752329B00}" presName="connectorText" presStyleLbl="sibTrans2D1" presStyleIdx="1" presStyleCnt="4"/>
      <dgm:spPr/>
    </dgm:pt>
    <dgm:pt modelId="{FD75F6C4-A110-404F-B201-FC5C30FB748D}" type="pres">
      <dgm:prSet presAssocID="{8E1EB8D7-D5F6-4EA7-9326-ABA7A7AE9468}" presName="node" presStyleLbl="node1" presStyleIdx="2" presStyleCnt="5">
        <dgm:presLayoutVars>
          <dgm:bulletEnabled val="1"/>
        </dgm:presLayoutVars>
      </dgm:prSet>
      <dgm:spPr/>
    </dgm:pt>
    <dgm:pt modelId="{FAC3A917-E296-48FF-B6B5-FCAE33F5B45F}" type="pres">
      <dgm:prSet presAssocID="{5B03E8BD-E7CF-490E-9100-77933F49CD24}" presName="sibTrans" presStyleLbl="sibTrans2D1" presStyleIdx="2" presStyleCnt="4"/>
      <dgm:spPr/>
    </dgm:pt>
    <dgm:pt modelId="{36560895-8680-43F8-A961-21EFA2A362EE}" type="pres">
      <dgm:prSet presAssocID="{5B03E8BD-E7CF-490E-9100-77933F49CD24}" presName="connectorText" presStyleLbl="sibTrans2D1" presStyleIdx="2" presStyleCnt="4"/>
      <dgm:spPr/>
    </dgm:pt>
    <dgm:pt modelId="{65F36F7D-6CE6-4CCD-B60D-765DC67F88CC}" type="pres">
      <dgm:prSet presAssocID="{7C685B0D-96B0-45B4-95B4-05FD41A6295B}" presName="node" presStyleLbl="node1" presStyleIdx="3" presStyleCnt="5">
        <dgm:presLayoutVars>
          <dgm:bulletEnabled val="1"/>
        </dgm:presLayoutVars>
      </dgm:prSet>
      <dgm:spPr/>
    </dgm:pt>
    <dgm:pt modelId="{B32A2BAC-0E98-4055-B9D8-873659077D84}" type="pres">
      <dgm:prSet presAssocID="{67AB4181-AD5E-4E29-8858-1CD348FAA618}" presName="sibTrans" presStyleLbl="sibTrans2D1" presStyleIdx="3" presStyleCnt="4"/>
      <dgm:spPr/>
    </dgm:pt>
    <dgm:pt modelId="{BCF0D1E6-6944-4D75-B7E8-1695A19227FC}" type="pres">
      <dgm:prSet presAssocID="{67AB4181-AD5E-4E29-8858-1CD348FAA618}" presName="connectorText" presStyleLbl="sibTrans2D1" presStyleIdx="3" presStyleCnt="4"/>
      <dgm:spPr/>
    </dgm:pt>
    <dgm:pt modelId="{90F165FB-F1F2-43BB-B80A-29A2A1600349}" type="pres">
      <dgm:prSet presAssocID="{7417F226-2836-4372-8024-EAEB62A8C986}" presName="node" presStyleLbl="node1" presStyleIdx="4" presStyleCnt="5">
        <dgm:presLayoutVars>
          <dgm:bulletEnabled val="1"/>
        </dgm:presLayoutVars>
      </dgm:prSet>
      <dgm:spPr/>
    </dgm:pt>
  </dgm:ptLst>
  <dgm:cxnLst>
    <dgm:cxn modelId="{CCA5F811-28B2-4A92-94D2-813773B130FC}" type="presOf" srcId="{A0A2719A-F105-4322-AF0A-67A752329B00}" destId="{74982E38-909B-4C54-9F70-08AF778C0711}" srcOrd="0" destOrd="0" presId="urn:microsoft.com/office/officeart/2005/8/layout/process1"/>
    <dgm:cxn modelId="{0209EE35-0D16-4B1C-B57E-47B2784CB22A}" type="presOf" srcId="{7417F226-2836-4372-8024-EAEB62A8C986}" destId="{90F165FB-F1F2-43BB-B80A-29A2A1600349}" srcOrd="0" destOrd="0" presId="urn:microsoft.com/office/officeart/2005/8/layout/process1"/>
    <dgm:cxn modelId="{BB82FC3A-20F3-443F-96D6-06B3084EB66D}" type="presOf" srcId="{E58ECD22-C1B2-4A08-B2AF-2AFA3CF04514}" destId="{EE68C0D9-A9B6-443B-8BF6-254B696D7393}" srcOrd="0" destOrd="0" presId="urn:microsoft.com/office/officeart/2005/8/layout/process1"/>
    <dgm:cxn modelId="{58FEBF5F-2A5A-49BA-A274-91950A9FE552}" type="presOf" srcId="{67AB4181-AD5E-4E29-8858-1CD348FAA618}" destId="{BCF0D1E6-6944-4D75-B7E8-1695A19227FC}" srcOrd="1" destOrd="0" presId="urn:microsoft.com/office/officeart/2005/8/layout/process1"/>
    <dgm:cxn modelId="{56F47D6F-F056-408F-89CF-3C9E1F7C8E4F}" type="presOf" srcId="{5B03E8BD-E7CF-490E-9100-77933F49CD24}" destId="{36560895-8680-43F8-A961-21EFA2A362EE}" srcOrd="1" destOrd="0" presId="urn:microsoft.com/office/officeart/2005/8/layout/process1"/>
    <dgm:cxn modelId="{E2800273-6BA5-4EC6-B77D-4AD7781D48C4}" type="presOf" srcId="{B9050E21-A48E-4B49-AC8D-5FE02A8103B7}" destId="{F9E51460-B3BB-439E-8DE0-DAB2362D70CD}" srcOrd="0" destOrd="0" presId="urn:microsoft.com/office/officeart/2005/8/layout/process1"/>
    <dgm:cxn modelId="{5EACD955-093C-4198-9F0F-724B37E38501}" type="presOf" srcId="{A0A2719A-F105-4322-AF0A-67A752329B00}" destId="{D7C3D678-8F13-45CF-B14D-689011250C29}" srcOrd="1" destOrd="0" presId="urn:microsoft.com/office/officeart/2005/8/layout/process1"/>
    <dgm:cxn modelId="{C524E37F-BE34-4E38-9531-6D6241B9B254}" type="presOf" srcId="{0FB8F6D7-8F15-459D-BCFB-ADF254150D80}" destId="{080BD357-A9CE-4399-8CAC-9815C57E88F8}" srcOrd="0" destOrd="0" presId="urn:microsoft.com/office/officeart/2005/8/layout/process1"/>
    <dgm:cxn modelId="{0C5FAF80-C896-4A32-84A6-D7C87CC3917F}" srcId="{60A712F0-DC1E-4333-9A3A-DD7C88366680}" destId="{B9050E21-A48E-4B49-AC8D-5FE02A8103B7}" srcOrd="0" destOrd="0" parTransId="{A617EC8D-8517-4871-8CD7-3DDB89DA6BC9}" sibTransId="{0FB8F6D7-8F15-459D-BCFB-ADF254150D80}"/>
    <dgm:cxn modelId="{1D25DD92-A79D-4963-BC9C-24ECF0828C46}" srcId="{60A712F0-DC1E-4333-9A3A-DD7C88366680}" destId="{7C685B0D-96B0-45B4-95B4-05FD41A6295B}" srcOrd="3" destOrd="0" parTransId="{F46F0882-F0A7-4A19-A6F5-CB4CBA6CDDC1}" sibTransId="{67AB4181-AD5E-4E29-8858-1CD348FAA618}"/>
    <dgm:cxn modelId="{080AF892-05F6-4484-AD87-BE4D7BC7641C}" srcId="{60A712F0-DC1E-4333-9A3A-DD7C88366680}" destId="{8E1EB8D7-D5F6-4EA7-9326-ABA7A7AE9468}" srcOrd="2" destOrd="0" parTransId="{8B410C0F-CD85-4DF8-A0F4-25FAC7B991F7}" sibTransId="{5B03E8BD-E7CF-490E-9100-77933F49CD24}"/>
    <dgm:cxn modelId="{7BAAC198-22A2-46E2-AAC5-B56E8BE2F27D}" type="presOf" srcId="{8E1EB8D7-D5F6-4EA7-9326-ABA7A7AE9468}" destId="{FD75F6C4-A110-404F-B201-FC5C30FB748D}" srcOrd="0" destOrd="0" presId="urn:microsoft.com/office/officeart/2005/8/layout/process1"/>
    <dgm:cxn modelId="{B7B55699-1A27-4101-BC9F-A091D7D8C942}" type="presOf" srcId="{0FB8F6D7-8F15-459D-BCFB-ADF254150D80}" destId="{7B21B825-FC30-449E-9C23-8F1BFB28E4B1}" srcOrd="1" destOrd="0" presId="urn:microsoft.com/office/officeart/2005/8/layout/process1"/>
    <dgm:cxn modelId="{CFF3A69F-6A9F-4BA7-B321-0D5100561523}" type="presOf" srcId="{60A712F0-DC1E-4333-9A3A-DD7C88366680}" destId="{5178C779-295B-4C99-B377-B6054D3F772F}" srcOrd="0" destOrd="0" presId="urn:microsoft.com/office/officeart/2005/8/layout/process1"/>
    <dgm:cxn modelId="{217EE7AB-BDF3-4BBB-99C6-E68AFF82F6AB}" srcId="{60A712F0-DC1E-4333-9A3A-DD7C88366680}" destId="{E58ECD22-C1B2-4A08-B2AF-2AFA3CF04514}" srcOrd="1" destOrd="0" parTransId="{C91EBFE9-7D59-4947-94D9-447C38510F4F}" sibTransId="{A0A2719A-F105-4322-AF0A-67A752329B00}"/>
    <dgm:cxn modelId="{00BA33DD-8411-4CC5-A75E-515D7E445B88}" type="presOf" srcId="{5B03E8BD-E7CF-490E-9100-77933F49CD24}" destId="{FAC3A917-E296-48FF-B6B5-FCAE33F5B45F}" srcOrd="0" destOrd="0" presId="urn:microsoft.com/office/officeart/2005/8/layout/process1"/>
    <dgm:cxn modelId="{DD835AE1-9362-485F-8607-44B01C565423}" srcId="{60A712F0-DC1E-4333-9A3A-DD7C88366680}" destId="{7417F226-2836-4372-8024-EAEB62A8C986}" srcOrd="4" destOrd="0" parTransId="{C5C96437-6B41-4966-B21E-ACCBFDBC6B22}" sibTransId="{4A1E0B67-11B3-4B4F-9EA8-B432B41ED8EA}"/>
    <dgm:cxn modelId="{54B3E6F4-6782-4BBC-9438-B87934019F52}" type="presOf" srcId="{7C685B0D-96B0-45B4-95B4-05FD41A6295B}" destId="{65F36F7D-6CE6-4CCD-B60D-765DC67F88CC}" srcOrd="0" destOrd="0" presId="urn:microsoft.com/office/officeart/2005/8/layout/process1"/>
    <dgm:cxn modelId="{C0A925F5-3865-4279-89C9-023EDA9C92CD}" type="presOf" srcId="{67AB4181-AD5E-4E29-8858-1CD348FAA618}" destId="{B32A2BAC-0E98-4055-B9D8-873659077D84}" srcOrd="0" destOrd="0" presId="urn:microsoft.com/office/officeart/2005/8/layout/process1"/>
    <dgm:cxn modelId="{DE324B53-80C3-4F75-A507-7136F0B7CB4C}" type="presParOf" srcId="{5178C779-295B-4C99-B377-B6054D3F772F}" destId="{F9E51460-B3BB-439E-8DE0-DAB2362D70CD}" srcOrd="0" destOrd="0" presId="urn:microsoft.com/office/officeart/2005/8/layout/process1"/>
    <dgm:cxn modelId="{FFF542E9-FF99-4D4D-B19D-F4C56BB04F3F}" type="presParOf" srcId="{5178C779-295B-4C99-B377-B6054D3F772F}" destId="{080BD357-A9CE-4399-8CAC-9815C57E88F8}" srcOrd="1" destOrd="0" presId="urn:microsoft.com/office/officeart/2005/8/layout/process1"/>
    <dgm:cxn modelId="{A7DB4C64-4269-4235-B4DA-9C7931A3E143}" type="presParOf" srcId="{080BD357-A9CE-4399-8CAC-9815C57E88F8}" destId="{7B21B825-FC30-449E-9C23-8F1BFB28E4B1}" srcOrd="0" destOrd="0" presId="urn:microsoft.com/office/officeart/2005/8/layout/process1"/>
    <dgm:cxn modelId="{F94FCC78-9909-4A28-8D44-70B34C761578}" type="presParOf" srcId="{5178C779-295B-4C99-B377-B6054D3F772F}" destId="{EE68C0D9-A9B6-443B-8BF6-254B696D7393}" srcOrd="2" destOrd="0" presId="urn:microsoft.com/office/officeart/2005/8/layout/process1"/>
    <dgm:cxn modelId="{2133C779-5998-4196-B61A-49356D01154C}" type="presParOf" srcId="{5178C779-295B-4C99-B377-B6054D3F772F}" destId="{74982E38-909B-4C54-9F70-08AF778C0711}" srcOrd="3" destOrd="0" presId="urn:microsoft.com/office/officeart/2005/8/layout/process1"/>
    <dgm:cxn modelId="{A6ACBAA9-C468-481D-B9B3-7EE3F26FF655}" type="presParOf" srcId="{74982E38-909B-4C54-9F70-08AF778C0711}" destId="{D7C3D678-8F13-45CF-B14D-689011250C29}" srcOrd="0" destOrd="0" presId="urn:microsoft.com/office/officeart/2005/8/layout/process1"/>
    <dgm:cxn modelId="{C9DC5983-B658-4165-8C85-36F2CA8E4582}" type="presParOf" srcId="{5178C779-295B-4C99-B377-B6054D3F772F}" destId="{FD75F6C4-A110-404F-B201-FC5C30FB748D}" srcOrd="4" destOrd="0" presId="urn:microsoft.com/office/officeart/2005/8/layout/process1"/>
    <dgm:cxn modelId="{94677E4E-7F1E-4A4E-BFB1-F90665BDBA22}" type="presParOf" srcId="{5178C779-295B-4C99-B377-B6054D3F772F}" destId="{FAC3A917-E296-48FF-B6B5-FCAE33F5B45F}" srcOrd="5" destOrd="0" presId="urn:microsoft.com/office/officeart/2005/8/layout/process1"/>
    <dgm:cxn modelId="{83CA9946-C559-4056-9600-2282E80265E1}" type="presParOf" srcId="{FAC3A917-E296-48FF-B6B5-FCAE33F5B45F}" destId="{36560895-8680-43F8-A961-21EFA2A362EE}" srcOrd="0" destOrd="0" presId="urn:microsoft.com/office/officeart/2005/8/layout/process1"/>
    <dgm:cxn modelId="{16EC9ED2-3417-4BB7-9AEC-0578647A29E2}" type="presParOf" srcId="{5178C779-295B-4C99-B377-B6054D3F772F}" destId="{65F36F7D-6CE6-4CCD-B60D-765DC67F88CC}" srcOrd="6" destOrd="0" presId="urn:microsoft.com/office/officeart/2005/8/layout/process1"/>
    <dgm:cxn modelId="{D014F9C6-BF78-4C13-86C4-673808D1D034}" type="presParOf" srcId="{5178C779-295B-4C99-B377-B6054D3F772F}" destId="{B32A2BAC-0E98-4055-B9D8-873659077D84}" srcOrd="7" destOrd="0" presId="urn:microsoft.com/office/officeart/2005/8/layout/process1"/>
    <dgm:cxn modelId="{5B96166F-8680-4A53-8028-53A87E0689A1}" type="presParOf" srcId="{B32A2BAC-0E98-4055-B9D8-873659077D84}" destId="{BCF0D1E6-6944-4D75-B7E8-1695A19227FC}" srcOrd="0" destOrd="0" presId="urn:microsoft.com/office/officeart/2005/8/layout/process1"/>
    <dgm:cxn modelId="{854276FE-8F1B-43F3-A05F-CD6FE9F2F9D4}" type="presParOf" srcId="{5178C779-295B-4C99-B377-B6054D3F772F}" destId="{90F165FB-F1F2-43BB-B80A-29A2A1600349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E51460-B3BB-439E-8DE0-DAB2362D70CD}">
      <dsp:nvSpPr>
        <dsp:cNvPr id="0" name=""/>
        <dsp:cNvSpPr/>
      </dsp:nvSpPr>
      <dsp:spPr>
        <a:xfrm>
          <a:off x="5532" y="2173606"/>
          <a:ext cx="1715200" cy="1029120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900" kern="1200" dirty="0">
              <a:latin typeface="+mn-ea"/>
              <a:ea typeface="+mn-ea"/>
            </a:rPr>
            <a:t>문제 정의</a:t>
          </a:r>
        </a:p>
      </dsp:txBody>
      <dsp:txXfrm>
        <a:off x="35674" y="2203748"/>
        <a:ext cx="1654916" cy="968836"/>
      </dsp:txXfrm>
    </dsp:sp>
    <dsp:sp modelId="{080BD357-A9CE-4399-8CAC-9815C57E88F8}">
      <dsp:nvSpPr>
        <dsp:cNvPr id="0" name=""/>
        <dsp:cNvSpPr/>
      </dsp:nvSpPr>
      <dsp:spPr>
        <a:xfrm>
          <a:off x="1892253" y="2475481"/>
          <a:ext cx="363622" cy="425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400" kern="1200"/>
        </a:p>
      </dsp:txBody>
      <dsp:txXfrm>
        <a:off x="1892253" y="2560555"/>
        <a:ext cx="254535" cy="255221"/>
      </dsp:txXfrm>
    </dsp:sp>
    <dsp:sp modelId="{EE68C0D9-A9B6-443B-8BF6-254B696D7393}">
      <dsp:nvSpPr>
        <dsp:cNvPr id="0" name=""/>
        <dsp:cNvSpPr/>
      </dsp:nvSpPr>
      <dsp:spPr>
        <a:xfrm>
          <a:off x="2406813" y="2173606"/>
          <a:ext cx="1715200" cy="1029120"/>
        </a:xfrm>
        <a:prstGeom prst="roundRect">
          <a:avLst>
            <a:gd name="adj" fmla="val 10000"/>
          </a:avLst>
        </a:prstGeom>
        <a:solidFill>
          <a:schemeClr val="accent5">
            <a:hueOff val="-1689636"/>
            <a:satOff val="-4355"/>
            <a:lumOff val="-294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900" kern="1200" dirty="0">
              <a:latin typeface="+mn-ea"/>
              <a:ea typeface="+mn-ea"/>
            </a:rPr>
            <a:t>데이터 수집</a:t>
          </a:r>
        </a:p>
      </dsp:txBody>
      <dsp:txXfrm>
        <a:off x="2436955" y="2203748"/>
        <a:ext cx="1654916" cy="968836"/>
      </dsp:txXfrm>
    </dsp:sp>
    <dsp:sp modelId="{74982E38-909B-4C54-9F70-08AF778C0711}">
      <dsp:nvSpPr>
        <dsp:cNvPr id="0" name=""/>
        <dsp:cNvSpPr/>
      </dsp:nvSpPr>
      <dsp:spPr>
        <a:xfrm>
          <a:off x="4293533" y="2475481"/>
          <a:ext cx="363622" cy="425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2252848"/>
            <a:satOff val="-5806"/>
            <a:lumOff val="-392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400" kern="1200"/>
        </a:p>
      </dsp:txBody>
      <dsp:txXfrm>
        <a:off x="4293533" y="2560555"/>
        <a:ext cx="254535" cy="255221"/>
      </dsp:txXfrm>
    </dsp:sp>
    <dsp:sp modelId="{FD75F6C4-A110-404F-B201-FC5C30FB748D}">
      <dsp:nvSpPr>
        <dsp:cNvPr id="0" name=""/>
        <dsp:cNvSpPr/>
      </dsp:nvSpPr>
      <dsp:spPr>
        <a:xfrm>
          <a:off x="4808093" y="2173606"/>
          <a:ext cx="1715200" cy="1029120"/>
        </a:xfrm>
        <a:prstGeom prst="roundRect">
          <a:avLst>
            <a:gd name="adj" fmla="val 10000"/>
          </a:avLst>
        </a:prstGeom>
        <a:solidFill>
          <a:schemeClr val="accent5">
            <a:hueOff val="-3379271"/>
            <a:satOff val="-8710"/>
            <a:lumOff val="-588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900" kern="1200" dirty="0" err="1">
              <a:latin typeface="+mn-ea"/>
              <a:ea typeface="+mn-ea"/>
            </a:rPr>
            <a:t>전처리</a:t>
          </a:r>
          <a:r>
            <a:rPr lang="ko-KR" altLang="en-US" sz="1900" kern="1200" dirty="0">
              <a:latin typeface="+mn-ea"/>
              <a:ea typeface="+mn-ea"/>
            </a:rPr>
            <a:t> </a:t>
          </a:r>
        </a:p>
      </dsp:txBody>
      <dsp:txXfrm>
        <a:off x="4838235" y="2203748"/>
        <a:ext cx="1654916" cy="968836"/>
      </dsp:txXfrm>
    </dsp:sp>
    <dsp:sp modelId="{FAC3A917-E296-48FF-B6B5-FCAE33F5B45F}">
      <dsp:nvSpPr>
        <dsp:cNvPr id="0" name=""/>
        <dsp:cNvSpPr/>
      </dsp:nvSpPr>
      <dsp:spPr>
        <a:xfrm>
          <a:off x="6694814" y="2475481"/>
          <a:ext cx="363622" cy="425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4505695"/>
            <a:satOff val="-11613"/>
            <a:lumOff val="-7843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400" kern="1200"/>
        </a:p>
      </dsp:txBody>
      <dsp:txXfrm>
        <a:off x="6694814" y="2560555"/>
        <a:ext cx="254535" cy="255221"/>
      </dsp:txXfrm>
    </dsp:sp>
    <dsp:sp modelId="{65F36F7D-6CE6-4CCD-B60D-765DC67F88CC}">
      <dsp:nvSpPr>
        <dsp:cNvPr id="0" name=""/>
        <dsp:cNvSpPr/>
      </dsp:nvSpPr>
      <dsp:spPr>
        <a:xfrm>
          <a:off x="7209374" y="2173606"/>
          <a:ext cx="1715200" cy="1029120"/>
        </a:xfrm>
        <a:prstGeom prst="roundRect">
          <a:avLst>
            <a:gd name="adj" fmla="val 10000"/>
          </a:avLst>
        </a:prstGeom>
        <a:solidFill>
          <a:schemeClr val="accent5">
            <a:hueOff val="-5068907"/>
            <a:satOff val="-13064"/>
            <a:lumOff val="-882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900" kern="1200" dirty="0">
              <a:latin typeface="+mn-ea"/>
              <a:ea typeface="+mn-ea"/>
            </a:rPr>
            <a:t>모델링</a:t>
          </a:r>
          <a:r>
            <a:rPr lang="en-US" altLang="en-US" sz="1900" kern="1200" dirty="0">
              <a:latin typeface="+mn-ea"/>
              <a:ea typeface="+mn-ea"/>
            </a:rPr>
            <a:t>/</a:t>
          </a:r>
          <a:r>
            <a:rPr lang="ko-KR" altLang="en-US" sz="1900" kern="1200" dirty="0">
              <a:latin typeface="+mn-ea"/>
              <a:ea typeface="+mn-ea"/>
            </a:rPr>
            <a:t>분석</a:t>
          </a:r>
        </a:p>
      </dsp:txBody>
      <dsp:txXfrm>
        <a:off x="7239516" y="2203748"/>
        <a:ext cx="1654916" cy="968836"/>
      </dsp:txXfrm>
    </dsp:sp>
    <dsp:sp modelId="{B32A2BAC-0E98-4055-B9D8-873659077D84}">
      <dsp:nvSpPr>
        <dsp:cNvPr id="0" name=""/>
        <dsp:cNvSpPr/>
      </dsp:nvSpPr>
      <dsp:spPr>
        <a:xfrm>
          <a:off x="9096094" y="2475481"/>
          <a:ext cx="363622" cy="425369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400" kern="1200"/>
        </a:p>
      </dsp:txBody>
      <dsp:txXfrm>
        <a:off x="9096094" y="2560555"/>
        <a:ext cx="254535" cy="255221"/>
      </dsp:txXfrm>
    </dsp:sp>
    <dsp:sp modelId="{90F165FB-F1F2-43BB-B80A-29A2A1600349}">
      <dsp:nvSpPr>
        <dsp:cNvPr id="0" name=""/>
        <dsp:cNvSpPr/>
      </dsp:nvSpPr>
      <dsp:spPr>
        <a:xfrm>
          <a:off x="9610654" y="2173606"/>
          <a:ext cx="1715200" cy="1029120"/>
        </a:xfrm>
        <a:prstGeom prst="roundRect">
          <a:avLst>
            <a:gd name="adj" fmla="val 10000"/>
          </a:avLst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900" kern="1200" dirty="0">
              <a:latin typeface="+mn-ea"/>
              <a:ea typeface="+mn-ea"/>
            </a:rPr>
            <a:t>시각화</a:t>
          </a:r>
          <a:endParaRPr lang="en-US" altLang="ko-KR" sz="1900" kern="1200" dirty="0">
            <a:latin typeface="+mn-ea"/>
            <a:ea typeface="+mn-ea"/>
          </a:endParaRPr>
        </a:p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900" kern="1200" dirty="0">
              <a:latin typeface="+mn-ea"/>
              <a:ea typeface="+mn-ea"/>
            </a:rPr>
            <a:t>및 보고</a:t>
          </a:r>
        </a:p>
      </dsp:txBody>
      <dsp:txXfrm>
        <a:off x="9640796" y="2203748"/>
        <a:ext cx="1654916" cy="9688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2025-12-15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3521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45098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06621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79C8F-73A5-B4E6-CC99-1D479C14B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8770559-AB11-AC90-7E50-52F2801E9E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8DA2ED-400D-1F7B-EBED-18D86167F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78C7D1-F0C8-2A4B-CE19-5AEF54B93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93011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2639B-48F9-441F-3367-E71DF98A3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3BFEBC-39DA-C926-756D-A939DD66C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7D80D3-B02B-EAEE-97AA-CC29DF63B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A3935D-2A54-B41E-E6BC-3E697E575C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21945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C5FEB5-5F88-4F49-9108-1795E314F09F}" type="datetime1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0293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5009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C9B500-2C20-2E20-BCCA-C065E5EFCB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 anchor="ctr">
            <a:normAutofit/>
          </a:bodyPr>
          <a:lstStyle>
            <a:lvl1pPr algn="ctr">
              <a:defRPr sz="8000">
                <a:solidFill>
                  <a:srgbClr val="2F5597"/>
                </a:solidFill>
              </a:defRPr>
            </a:lvl1pPr>
          </a:lstStyle>
          <a:p>
            <a:r>
              <a:rPr lang="ko-KR" altLang="en-US" dirty="0"/>
              <a:t>마스터 제목 스타일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B0E78A-BA2B-B66C-15B0-9F59EAACE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F2426-F011-4048-96E6-328581C59A1B}" type="datetimeFigureOut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7833B2-537B-197A-F661-700C9B768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C143F0-023C-627A-F2CB-AF224F78A4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E089B3-387A-415A-B004-61FFB39DEC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4933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2025-12-15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ikidocs.net/book/14021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kosis.kr/index/index.do" TargetMode="External"/><Relationship Id="rId2" Type="http://schemas.openxmlformats.org/officeDocument/2006/relationships/hyperlink" Target="https://data.seoul.go.kr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data.go.kr/index.do" TargetMode="External"/><Relationship Id="rId4" Type="http://schemas.openxmlformats.org/officeDocument/2006/relationships/hyperlink" Target="https://www.kaggle.com/datasets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miro.com/ko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pp.diagrams.net/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svg"/><Relationship Id="rId18" Type="http://schemas.openxmlformats.org/officeDocument/2006/relationships/image" Target="../media/image22.png"/><Relationship Id="rId26" Type="http://schemas.openxmlformats.org/officeDocument/2006/relationships/hyperlink" Target="https://youtu.be/AzQ6RnzUnpE" TargetMode="External"/><Relationship Id="rId3" Type="http://schemas.openxmlformats.org/officeDocument/2006/relationships/image" Target="../media/image7.png"/><Relationship Id="rId21" Type="http://schemas.openxmlformats.org/officeDocument/2006/relationships/image" Target="../media/image25.sv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17" Type="http://schemas.openxmlformats.org/officeDocument/2006/relationships/image" Target="../media/image21.svg"/><Relationship Id="rId25" Type="http://schemas.openxmlformats.org/officeDocument/2006/relationships/image" Target="../media/image29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0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svg"/><Relationship Id="rId11" Type="http://schemas.openxmlformats.org/officeDocument/2006/relationships/image" Target="../media/image15.svg"/><Relationship Id="rId24" Type="http://schemas.openxmlformats.org/officeDocument/2006/relationships/image" Target="../media/image28.png"/><Relationship Id="rId5" Type="http://schemas.openxmlformats.org/officeDocument/2006/relationships/image" Target="../media/image9.png"/><Relationship Id="rId15" Type="http://schemas.openxmlformats.org/officeDocument/2006/relationships/image" Target="../media/image19.svg"/><Relationship Id="rId23" Type="http://schemas.openxmlformats.org/officeDocument/2006/relationships/image" Target="../media/image27.svg"/><Relationship Id="rId10" Type="http://schemas.openxmlformats.org/officeDocument/2006/relationships/image" Target="../media/image14.png"/><Relationship Id="rId19" Type="http://schemas.openxmlformats.org/officeDocument/2006/relationships/image" Target="../media/image23.svg"/><Relationship Id="rId4" Type="http://schemas.openxmlformats.org/officeDocument/2006/relationships/image" Target="../media/image8.svg"/><Relationship Id="rId9" Type="http://schemas.openxmlformats.org/officeDocument/2006/relationships/image" Target="../media/image13.svg"/><Relationship Id="rId14" Type="http://schemas.openxmlformats.org/officeDocument/2006/relationships/image" Target="../media/image18.png"/><Relationship Id="rId22" Type="http://schemas.openxmlformats.org/officeDocument/2006/relationships/image" Target="../media/image2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sv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13" Type="http://schemas.openxmlformats.org/officeDocument/2006/relationships/image" Target="../media/image48.png"/><Relationship Id="rId18" Type="http://schemas.openxmlformats.org/officeDocument/2006/relationships/image" Target="../media/image53.svg"/><Relationship Id="rId3" Type="http://schemas.openxmlformats.org/officeDocument/2006/relationships/image" Target="../media/image38.svg"/><Relationship Id="rId7" Type="http://schemas.openxmlformats.org/officeDocument/2006/relationships/image" Target="../media/image42.png"/><Relationship Id="rId12" Type="http://schemas.openxmlformats.org/officeDocument/2006/relationships/image" Target="../media/image47.svg"/><Relationship Id="rId17" Type="http://schemas.openxmlformats.org/officeDocument/2006/relationships/image" Target="../media/image52.png"/><Relationship Id="rId2" Type="http://schemas.openxmlformats.org/officeDocument/2006/relationships/image" Target="../media/image37.png"/><Relationship Id="rId16" Type="http://schemas.openxmlformats.org/officeDocument/2006/relationships/image" Target="../media/image51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svg"/><Relationship Id="rId15" Type="http://schemas.openxmlformats.org/officeDocument/2006/relationships/image" Target="../media/image50.png"/><Relationship Id="rId10" Type="http://schemas.openxmlformats.org/officeDocument/2006/relationships/image" Target="../media/image45.sv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13" Type="http://schemas.openxmlformats.org/officeDocument/2006/relationships/image" Target="../media/image63.svg"/><Relationship Id="rId18" Type="http://schemas.openxmlformats.org/officeDocument/2006/relationships/image" Target="../media/image18.png"/><Relationship Id="rId3" Type="http://schemas.openxmlformats.org/officeDocument/2006/relationships/image" Target="../media/image38.svg"/><Relationship Id="rId21" Type="http://schemas.openxmlformats.org/officeDocument/2006/relationships/image" Target="../media/image65.svg"/><Relationship Id="rId7" Type="http://schemas.openxmlformats.org/officeDocument/2006/relationships/image" Target="../media/image57.svg"/><Relationship Id="rId12" Type="http://schemas.openxmlformats.org/officeDocument/2006/relationships/image" Target="../media/image62.png"/><Relationship Id="rId17" Type="http://schemas.openxmlformats.org/officeDocument/2006/relationships/image" Target="../media/image17.svg"/><Relationship Id="rId2" Type="http://schemas.openxmlformats.org/officeDocument/2006/relationships/image" Target="../media/image37.png"/><Relationship Id="rId16" Type="http://schemas.openxmlformats.org/officeDocument/2006/relationships/image" Target="../media/image16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6.png"/><Relationship Id="rId11" Type="http://schemas.openxmlformats.org/officeDocument/2006/relationships/image" Target="../media/image61.svg"/><Relationship Id="rId5" Type="http://schemas.openxmlformats.org/officeDocument/2006/relationships/image" Target="../media/image55.svg"/><Relationship Id="rId15" Type="http://schemas.openxmlformats.org/officeDocument/2006/relationships/image" Target="../media/image15.svg"/><Relationship Id="rId10" Type="http://schemas.openxmlformats.org/officeDocument/2006/relationships/image" Target="../media/image60.png"/><Relationship Id="rId19" Type="http://schemas.openxmlformats.org/officeDocument/2006/relationships/image" Target="../media/image19.svg"/><Relationship Id="rId4" Type="http://schemas.openxmlformats.org/officeDocument/2006/relationships/image" Target="../media/image54.png"/><Relationship Id="rId9" Type="http://schemas.openxmlformats.org/officeDocument/2006/relationships/image" Target="../media/image59.svg"/><Relationship Id="rId14" Type="http://schemas.openxmlformats.org/officeDocument/2006/relationships/image" Target="../media/image14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svg"/><Relationship Id="rId13" Type="http://schemas.openxmlformats.org/officeDocument/2006/relationships/image" Target="../media/image77.png"/><Relationship Id="rId18" Type="http://schemas.openxmlformats.org/officeDocument/2006/relationships/image" Target="../media/image38.svg"/><Relationship Id="rId3" Type="http://schemas.openxmlformats.org/officeDocument/2006/relationships/image" Target="../media/image67.svg"/><Relationship Id="rId21" Type="http://schemas.openxmlformats.org/officeDocument/2006/relationships/image" Target="../media/image83.png"/><Relationship Id="rId7" Type="http://schemas.openxmlformats.org/officeDocument/2006/relationships/image" Target="../media/image71.png"/><Relationship Id="rId12" Type="http://schemas.openxmlformats.org/officeDocument/2006/relationships/image" Target="../media/image76.svg"/><Relationship Id="rId17" Type="http://schemas.openxmlformats.org/officeDocument/2006/relationships/image" Target="../media/image37.png"/><Relationship Id="rId2" Type="http://schemas.openxmlformats.org/officeDocument/2006/relationships/image" Target="../media/image66.png"/><Relationship Id="rId16" Type="http://schemas.openxmlformats.org/officeDocument/2006/relationships/image" Target="../media/image80.svg"/><Relationship Id="rId20" Type="http://schemas.openxmlformats.org/officeDocument/2006/relationships/image" Target="../media/image82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0.svg"/><Relationship Id="rId11" Type="http://schemas.openxmlformats.org/officeDocument/2006/relationships/image" Target="../media/image75.png"/><Relationship Id="rId5" Type="http://schemas.openxmlformats.org/officeDocument/2006/relationships/image" Target="../media/image69.png"/><Relationship Id="rId15" Type="http://schemas.openxmlformats.org/officeDocument/2006/relationships/image" Target="../media/image79.png"/><Relationship Id="rId23" Type="http://schemas.openxmlformats.org/officeDocument/2006/relationships/image" Target="../media/image43.svg"/><Relationship Id="rId10" Type="http://schemas.openxmlformats.org/officeDocument/2006/relationships/image" Target="../media/image74.svg"/><Relationship Id="rId19" Type="http://schemas.openxmlformats.org/officeDocument/2006/relationships/image" Target="../media/image81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Relationship Id="rId14" Type="http://schemas.openxmlformats.org/officeDocument/2006/relationships/image" Target="../media/image78.svg"/><Relationship Id="rId22" Type="http://schemas.openxmlformats.org/officeDocument/2006/relationships/image" Target="../media/image42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svg"/><Relationship Id="rId13" Type="http://schemas.openxmlformats.org/officeDocument/2006/relationships/image" Target="../media/image90.png"/><Relationship Id="rId18" Type="http://schemas.openxmlformats.org/officeDocument/2006/relationships/image" Target="../media/image95.svg"/><Relationship Id="rId26" Type="http://schemas.openxmlformats.org/officeDocument/2006/relationships/image" Target="../media/image71.png"/><Relationship Id="rId3" Type="http://schemas.openxmlformats.org/officeDocument/2006/relationships/image" Target="../media/image67.svg"/><Relationship Id="rId21" Type="http://schemas.openxmlformats.org/officeDocument/2006/relationships/image" Target="../media/image98.png"/><Relationship Id="rId7" Type="http://schemas.openxmlformats.org/officeDocument/2006/relationships/image" Target="../media/image84.png"/><Relationship Id="rId12" Type="http://schemas.openxmlformats.org/officeDocument/2006/relationships/image" Target="../media/image89.svg"/><Relationship Id="rId17" Type="http://schemas.openxmlformats.org/officeDocument/2006/relationships/image" Target="../media/image94.png"/><Relationship Id="rId25" Type="http://schemas.openxmlformats.org/officeDocument/2006/relationships/image" Target="../media/image43.svg"/><Relationship Id="rId2" Type="http://schemas.openxmlformats.org/officeDocument/2006/relationships/image" Target="../media/image66.png"/><Relationship Id="rId16" Type="http://schemas.openxmlformats.org/officeDocument/2006/relationships/image" Target="../media/image93.svg"/><Relationship Id="rId20" Type="http://schemas.openxmlformats.org/officeDocument/2006/relationships/image" Target="../media/image97.svg"/><Relationship Id="rId29" Type="http://schemas.openxmlformats.org/officeDocument/2006/relationships/image" Target="../media/image101.sv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0.svg"/><Relationship Id="rId11" Type="http://schemas.openxmlformats.org/officeDocument/2006/relationships/image" Target="../media/image88.png"/><Relationship Id="rId24" Type="http://schemas.openxmlformats.org/officeDocument/2006/relationships/image" Target="../media/image42.png"/><Relationship Id="rId5" Type="http://schemas.openxmlformats.org/officeDocument/2006/relationships/image" Target="../media/image69.png"/><Relationship Id="rId15" Type="http://schemas.openxmlformats.org/officeDocument/2006/relationships/image" Target="../media/image92.png"/><Relationship Id="rId23" Type="http://schemas.openxmlformats.org/officeDocument/2006/relationships/image" Target="../media/image83.png"/><Relationship Id="rId28" Type="http://schemas.openxmlformats.org/officeDocument/2006/relationships/image" Target="../media/image100.png"/><Relationship Id="rId10" Type="http://schemas.openxmlformats.org/officeDocument/2006/relationships/image" Target="../media/image87.svg"/><Relationship Id="rId19" Type="http://schemas.openxmlformats.org/officeDocument/2006/relationships/image" Target="../media/image96.png"/><Relationship Id="rId4" Type="http://schemas.openxmlformats.org/officeDocument/2006/relationships/image" Target="../media/image68.png"/><Relationship Id="rId9" Type="http://schemas.openxmlformats.org/officeDocument/2006/relationships/image" Target="../media/image86.png"/><Relationship Id="rId14" Type="http://schemas.openxmlformats.org/officeDocument/2006/relationships/image" Target="../media/image91.svg"/><Relationship Id="rId22" Type="http://schemas.openxmlformats.org/officeDocument/2006/relationships/image" Target="../media/image99.svg"/><Relationship Id="rId27" Type="http://schemas.openxmlformats.org/officeDocument/2006/relationships/image" Target="../media/image72.sv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106.svg"/><Relationship Id="rId3" Type="http://schemas.openxmlformats.org/officeDocument/2006/relationships/image" Target="../media/image67.svg"/><Relationship Id="rId7" Type="http://schemas.openxmlformats.org/officeDocument/2006/relationships/image" Target="../media/image104.svg"/><Relationship Id="rId12" Type="http://schemas.openxmlformats.org/officeDocument/2006/relationships/image" Target="../media/image10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9.png"/><Relationship Id="rId11" Type="http://schemas.openxmlformats.org/officeDocument/2006/relationships/image" Target="../media/image43.svg"/><Relationship Id="rId5" Type="http://schemas.openxmlformats.org/officeDocument/2006/relationships/image" Target="../media/image103.svg"/><Relationship Id="rId15" Type="http://schemas.openxmlformats.org/officeDocument/2006/relationships/image" Target="../media/image108.svg"/><Relationship Id="rId10" Type="http://schemas.openxmlformats.org/officeDocument/2006/relationships/image" Target="../media/image42.png"/><Relationship Id="rId4" Type="http://schemas.openxmlformats.org/officeDocument/2006/relationships/image" Target="../media/image102.png"/><Relationship Id="rId9" Type="http://schemas.openxmlformats.org/officeDocument/2006/relationships/image" Target="../media/image83.png"/><Relationship Id="rId14" Type="http://schemas.openxmlformats.org/officeDocument/2006/relationships/image" Target="../media/image10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svg"/><Relationship Id="rId13" Type="http://schemas.openxmlformats.org/officeDocument/2006/relationships/image" Target="../media/image114.png"/><Relationship Id="rId3" Type="http://schemas.openxmlformats.org/officeDocument/2006/relationships/image" Target="../media/image67.svg"/><Relationship Id="rId7" Type="http://schemas.openxmlformats.org/officeDocument/2006/relationships/image" Target="../media/image69.png"/><Relationship Id="rId12" Type="http://schemas.openxmlformats.org/officeDocument/2006/relationships/image" Target="../media/image19.svg"/><Relationship Id="rId17" Type="http://schemas.openxmlformats.org/officeDocument/2006/relationships/image" Target="../media/image43.svg"/><Relationship Id="rId2" Type="http://schemas.openxmlformats.org/officeDocument/2006/relationships/image" Target="../media/image66.png"/><Relationship Id="rId16" Type="http://schemas.openxmlformats.org/officeDocument/2006/relationships/image" Target="../media/image4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8.png"/><Relationship Id="rId11" Type="http://schemas.openxmlformats.org/officeDocument/2006/relationships/image" Target="../media/image18.png"/><Relationship Id="rId5" Type="http://schemas.openxmlformats.org/officeDocument/2006/relationships/image" Target="../media/image110.svg"/><Relationship Id="rId15" Type="http://schemas.openxmlformats.org/officeDocument/2006/relationships/image" Target="../media/image83.png"/><Relationship Id="rId10" Type="http://schemas.openxmlformats.org/officeDocument/2006/relationships/image" Target="../media/image113.svg"/><Relationship Id="rId4" Type="http://schemas.openxmlformats.org/officeDocument/2006/relationships/image" Target="../media/image109.png"/><Relationship Id="rId9" Type="http://schemas.openxmlformats.org/officeDocument/2006/relationships/image" Target="../media/image112.png"/><Relationship Id="rId14" Type="http://schemas.openxmlformats.org/officeDocument/2006/relationships/image" Target="../media/image115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7" Type="http://schemas.openxmlformats.org/officeDocument/2006/relationships/image" Target="../media/image116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3.svg"/><Relationship Id="rId5" Type="http://schemas.openxmlformats.org/officeDocument/2006/relationships/image" Target="../media/image42.png"/><Relationship Id="rId4" Type="http://schemas.openxmlformats.org/officeDocument/2006/relationships/image" Target="../media/image83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67.svg"/><Relationship Id="rId7" Type="http://schemas.openxmlformats.org/officeDocument/2006/relationships/image" Target="../media/image43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2.png"/><Relationship Id="rId5" Type="http://schemas.openxmlformats.org/officeDocument/2006/relationships/image" Target="../media/image83.png"/><Relationship Id="rId4" Type="http://schemas.openxmlformats.org/officeDocument/2006/relationships/image" Target="../media/image68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67.svg"/><Relationship Id="rId7" Type="http://schemas.openxmlformats.org/officeDocument/2006/relationships/image" Target="../media/image43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2.png"/><Relationship Id="rId5" Type="http://schemas.openxmlformats.org/officeDocument/2006/relationships/image" Target="../media/image83.png"/><Relationship Id="rId4" Type="http://schemas.openxmlformats.org/officeDocument/2006/relationships/image" Target="../media/image68.png"/><Relationship Id="rId9" Type="http://schemas.openxmlformats.org/officeDocument/2006/relationships/image" Target="../media/image119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3" Type="http://schemas.openxmlformats.org/officeDocument/2006/relationships/image" Target="../media/image66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3.png"/><Relationship Id="rId5" Type="http://schemas.openxmlformats.org/officeDocument/2006/relationships/image" Target="../media/image68.png"/><Relationship Id="rId10" Type="http://schemas.openxmlformats.org/officeDocument/2006/relationships/image" Target="../media/image121.png"/><Relationship Id="rId4" Type="http://schemas.openxmlformats.org/officeDocument/2006/relationships/image" Target="../media/image67.svg"/><Relationship Id="rId9" Type="http://schemas.openxmlformats.org/officeDocument/2006/relationships/image" Target="../media/image12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svg"/><Relationship Id="rId7" Type="http://schemas.openxmlformats.org/officeDocument/2006/relationships/image" Target="../media/image43.sv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2.png"/><Relationship Id="rId5" Type="http://schemas.openxmlformats.org/officeDocument/2006/relationships/image" Target="../media/image83.png"/><Relationship Id="rId4" Type="http://schemas.openxmlformats.org/officeDocument/2006/relationships/image" Target="../media/image68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43.svg"/><Relationship Id="rId3" Type="http://schemas.openxmlformats.org/officeDocument/2006/relationships/image" Target="../media/image67.svg"/><Relationship Id="rId7" Type="http://schemas.openxmlformats.org/officeDocument/2006/relationships/image" Target="../media/image125.svg"/><Relationship Id="rId12" Type="http://schemas.openxmlformats.org/officeDocument/2006/relationships/image" Target="../media/image42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4.png"/><Relationship Id="rId11" Type="http://schemas.openxmlformats.org/officeDocument/2006/relationships/image" Target="../media/image83.png"/><Relationship Id="rId5" Type="http://schemas.openxmlformats.org/officeDocument/2006/relationships/image" Target="../media/image123.svg"/><Relationship Id="rId10" Type="http://schemas.openxmlformats.org/officeDocument/2006/relationships/image" Target="../media/image127.svg"/><Relationship Id="rId4" Type="http://schemas.openxmlformats.org/officeDocument/2006/relationships/image" Target="../media/image122.png"/><Relationship Id="rId9" Type="http://schemas.openxmlformats.org/officeDocument/2006/relationships/image" Target="../media/image126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BE3EC809-2FFC-CE2E-08C2-9A114096B5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부제목 10">
            <a:extLst>
              <a:ext uri="{FF2B5EF4-FFF2-40B4-BE49-F238E27FC236}">
                <a16:creationId xmlns:a16="http://schemas.microsoft.com/office/drawing/2014/main" id="{C004B737-914B-24E8-D1EA-808A456FA6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21B0929-75EF-96C0-3F26-778ECA4403F6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7FB522ED-99B0-9EF7-4B12-4896F4B99997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FA7C5602-AAE7-96A9-CB16-832E61D44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5" name="그림 14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2C667FB2-8064-8905-8DE9-5AC0919B8A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6" name="부제목 2">
            <a:extLst>
              <a:ext uri="{FF2B5EF4-FFF2-40B4-BE49-F238E27FC236}">
                <a16:creationId xmlns:a16="http://schemas.microsoft.com/office/drawing/2014/main" id="{9F8A141F-7BF0-6C32-02FC-DB3800F5251C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BA0F0D6D-7BB3-7534-467F-9CFCBB3117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데이터 분석 프로젝트 개요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DA1457AD-9C54-164C-1CD7-091B5AA62F0E}"/>
              </a:ext>
            </a:extLst>
          </p:cNvPr>
          <p:cNvSpPr txBox="1">
            <a:spLocks/>
          </p:cNvSpPr>
          <p:nvPr/>
        </p:nvSpPr>
        <p:spPr>
          <a:xfrm>
            <a:off x="285750" y="1041943"/>
            <a:ext cx="11654462" cy="51084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대주제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: 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재생에너지 관련 데이터 분석 </a:t>
            </a:r>
            <a:endParaRPr lang="en-US" altLang="ko-KR" sz="3200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 marL="514350" indent="-514350">
              <a:lnSpc>
                <a:spcPct val="160000"/>
              </a:lnSpc>
              <a:buFont typeface="+mj-lt"/>
              <a:buAutoNum type="arabicPeriod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세부 주제 선정</a:t>
            </a:r>
            <a:r>
              <a:rPr lang="ko-KR" altLang="en-US" sz="32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32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3200" b="1" dirty="0">
                <a:solidFill>
                  <a:srgbClr val="FF3399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자유 주제</a:t>
            </a:r>
            <a:endParaRPr lang="en-US" altLang="ko-KR" sz="3200" b="1" dirty="0">
              <a:solidFill>
                <a:srgbClr val="FF3399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914400" lvl="1" indent="-457200">
              <a:lnSpc>
                <a:spcPct val="160000"/>
              </a:lnSpc>
              <a:buAutoNum type="arabicParenR"/>
            </a:pPr>
            <a:r>
              <a:rPr lang="ko-KR" altLang="en-US" b="1" dirty="0">
                <a:solidFill>
                  <a:srgbClr val="FF3399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일조량에 따른 전력 생산량 예측</a:t>
            </a:r>
            <a:endParaRPr lang="en-US" altLang="ko-KR" b="1" dirty="0">
              <a:solidFill>
                <a:srgbClr val="FF3399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914400" lvl="1" indent="-457200">
              <a:lnSpc>
                <a:spcPct val="160000"/>
              </a:lnSpc>
              <a:buAutoNum type="arabicParenR"/>
            </a:pPr>
            <a:r>
              <a:rPr lang="ko-KR" altLang="en-US" b="1" dirty="0">
                <a:solidFill>
                  <a:srgbClr val="FF3399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강우량에 따른 전력 생산량 예측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목적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: 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데이터 분석 기술 숙련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, 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데이터 분석 프로젝트 경험</a:t>
            </a:r>
            <a:endParaRPr lang="en-US" altLang="ko-KR" sz="3200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 marL="514350" indent="-51435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팀 구성 </a:t>
            </a:r>
            <a:r>
              <a:rPr lang="en-US" altLang="ko-KR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: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2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–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2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-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58705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40B02-DB4D-DF75-7878-491516C19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FC85F5-35B5-29DE-59AC-5035A4A7D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ED7D31"/>
                </a:solidFill>
              </a:rPr>
              <a:t>데이터 분석 프로젝트 개요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E256F04-B1E1-A8DE-41A9-CACC01AFCDE7}"/>
              </a:ext>
            </a:extLst>
          </p:cNvPr>
          <p:cNvSpPr txBox="1">
            <a:spLocks/>
          </p:cNvSpPr>
          <p:nvPr/>
        </p:nvSpPr>
        <p:spPr>
          <a:xfrm>
            <a:off x="285750" y="973931"/>
            <a:ext cx="11654462" cy="563006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프로젝트 기간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: 12/15(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월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) ~ 1/13(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화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), n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일</a:t>
            </a:r>
            <a:endParaRPr lang="en-US" altLang="ko-KR" sz="3200" dirty="0"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프로젝트 계획서 보고 </a:t>
            </a:r>
            <a:r>
              <a:rPr lang="en-US" altLang="ko-KR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: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12/17(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수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) 14:00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프로젝트 발표 </a:t>
            </a:r>
            <a:r>
              <a:rPr lang="en-US" altLang="ko-KR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: 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1/13(</a:t>
            </a:r>
            <a:r>
              <a:rPr lang="ko-KR" altLang="en-US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화</a:t>
            </a:r>
            <a:r>
              <a:rPr lang="en-US" altLang="ko-KR" sz="3200" dirty="0">
                <a:latin typeface="Pretendard Light" pitchFamily="2" charset="-127"/>
                <a:ea typeface="Pretendard Light" pitchFamily="2" charset="-127"/>
                <a:cs typeface="Pretendard Light" pitchFamily="2" charset="-127"/>
              </a:rPr>
              <a:t>) 00:00</a:t>
            </a:r>
            <a:endParaRPr lang="en-US" altLang="ko-KR" sz="3200" b="1" dirty="0">
              <a:solidFill>
                <a:srgbClr val="FF5050"/>
              </a:solidFill>
              <a:latin typeface="Pretendard Light" pitchFamily="2" charset="-127"/>
              <a:ea typeface="Pretendard Light" pitchFamily="2" charset="-127"/>
              <a:cs typeface="Pretendard Light" pitchFamily="2" charset="-127"/>
            </a:endParaRPr>
          </a:p>
          <a:p>
            <a:pPr marL="514350" indent="-514350">
              <a:lnSpc>
                <a:spcPct val="160000"/>
              </a:lnSpc>
              <a:buFont typeface="+mj-lt"/>
              <a:buAutoNum type="arabicPeriod" startAt="5"/>
            </a:pPr>
            <a:r>
              <a:rPr lang="ko-KR" altLang="en-US" sz="3200" dirty="0">
                <a:latin typeface="Pretendard ExtraBold" panose="02000903000000020004" pitchFamily="2" charset="-127"/>
                <a:ea typeface="Pretendard ExtraBold" panose="02000903000000020004" pitchFamily="2" charset="-127"/>
                <a:cs typeface="Pretendard ExtraBold" panose="02000903000000020004" pitchFamily="2" charset="-127"/>
              </a:rPr>
              <a:t>필수 제출 사항</a:t>
            </a:r>
            <a:endParaRPr lang="en-US" altLang="ko-KR" sz="3200" dirty="0">
              <a:latin typeface="Pretendard ExtraBold" panose="02000903000000020004" pitchFamily="2" charset="-127"/>
              <a:ea typeface="Pretendard ExtraBold" panose="02000903000000020004" pitchFamily="2" charset="-127"/>
              <a:cs typeface="Pretendard ExtraBold" panose="02000903000000020004" pitchFamily="2" charset="-127"/>
            </a:endParaRPr>
          </a:p>
          <a:p>
            <a:pPr lvl="1">
              <a:lnSpc>
                <a:spcPct val="160000"/>
              </a:lnSpc>
            </a:pPr>
            <a:r>
              <a:rPr lang="en-US" altLang="ko-KR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github</a:t>
            </a: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레포지토리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lvl="1">
              <a:lnSpc>
                <a:spcPct val="160000"/>
              </a:lnSpc>
            </a:pPr>
            <a:r>
              <a:rPr lang="en-US" altLang="ko-KR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PPT </a:t>
            </a:r>
            <a:r>
              <a:rPr lang="ko-KR" altLang="en-US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발표 자료</a:t>
            </a:r>
            <a:endParaRPr lang="en-US" altLang="ko-KR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2816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2563651" y="2147339"/>
            <a:ext cx="706475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데이터분석 프로젝트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준비하기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9791C9EB-5BE7-C22D-A6A1-302B1EA0B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분석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A8A7A0A-0402-BC79-5E10-792D70CB6570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4867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데이터 분석이란</a:t>
            </a:r>
            <a:r>
              <a:rPr lang="en-US" altLang="ko-KR" dirty="0"/>
              <a:t>, </a:t>
            </a:r>
            <a:r>
              <a:rPr lang="ko-KR" altLang="en-US" dirty="0"/>
              <a:t>유용한 정보를 발견하고 의사결정을 지원하기 위해 데이터를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수집</a:t>
            </a:r>
            <a:r>
              <a:rPr lang="en-US" altLang="ko-KR" dirty="0"/>
              <a:t>·</a:t>
            </a:r>
            <a:r>
              <a:rPr lang="ko-KR" altLang="en-US" dirty="0"/>
              <a:t>정제</a:t>
            </a:r>
            <a:r>
              <a:rPr lang="en-US" altLang="ko-KR" dirty="0"/>
              <a:t>·</a:t>
            </a:r>
            <a:r>
              <a:rPr lang="ko-KR" altLang="en-US" dirty="0"/>
              <a:t>가공</a:t>
            </a:r>
            <a:r>
              <a:rPr lang="en-US" altLang="ko-KR" dirty="0"/>
              <a:t>·</a:t>
            </a:r>
            <a:r>
              <a:rPr lang="ko-KR" altLang="en-US" dirty="0"/>
              <a:t>해석하는 과정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지금까지 배운 기술의 위치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NumPy → </a:t>
            </a:r>
            <a:r>
              <a:rPr lang="ko-KR" altLang="en-US" dirty="0"/>
              <a:t>데이터 연산</a:t>
            </a:r>
            <a:r>
              <a:rPr lang="en-US" altLang="ko-KR" dirty="0"/>
              <a:t>, </a:t>
            </a:r>
            <a:r>
              <a:rPr lang="ko-KR" altLang="en-US" dirty="0"/>
              <a:t>수치 계산 </a:t>
            </a:r>
            <a:r>
              <a:rPr lang="en-US" altLang="ko-KR" dirty="0"/>
              <a:t>(</a:t>
            </a:r>
            <a:r>
              <a:rPr lang="ko-KR" altLang="en-US" dirty="0"/>
              <a:t>데이터 전처리의 기초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Pandas → </a:t>
            </a:r>
            <a:r>
              <a:rPr lang="ko-KR" altLang="en-US" dirty="0"/>
              <a:t>데이터 구조화</a:t>
            </a:r>
            <a:r>
              <a:rPr lang="en-US" altLang="ko-KR" dirty="0"/>
              <a:t>, </a:t>
            </a:r>
            <a:r>
              <a:rPr lang="ko-KR" altLang="en-US" dirty="0"/>
              <a:t>필터링</a:t>
            </a:r>
            <a:r>
              <a:rPr lang="en-US" altLang="ko-KR" dirty="0"/>
              <a:t>, </a:t>
            </a:r>
            <a:r>
              <a:rPr lang="ko-KR" altLang="en-US" dirty="0"/>
              <a:t>집계 </a:t>
            </a:r>
            <a:r>
              <a:rPr lang="en-US" altLang="ko-KR" dirty="0"/>
              <a:t>(</a:t>
            </a:r>
            <a:r>
              <a:rPr lang="ko-KR" altLang="en-US" dirty="0"/>
              <a:t>데이터 가공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Matplotlib / Seaborn → </a:t>
            </a:r>
            <a:r>
              <a:rPr lang="ko-KR" altLang="en-US" dirty="0"/>
              <a:t>시각화</a:t>
            </a:r>
            <a:r>
              <a:rPr lang="en-US" altLang="ko-KR" dirty="0"/>
              <a:t>, </a:t>
            </a:r>
            <a:r>
              <a:rPr lang="ko-KR" altLang="en-US" dirty="0"/>
              <a:t>패턴 탐색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19316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8527A-C22B-0177-E4C9-1D329FE4A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D2C396E9-C3F6-7D66-7FC7-279D54E6F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분석 기본 통계 용어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EED2523F-5A03-7098-879D-44C5D341C7AC}"/>
              </a:ext>
            </a:extLst>
          </p:cNvPr>
          <p:cNvSpPr txBox="1">
            <a:spLocks/>
          </p:cNvSpPr>
          <p:nvPr/>
        </p:nvSpPr>
        <p:spPr>
          <a:xfrm>
            <a:off x="251788" y="1145407"/>
            <a:ext cx="11701221" cy="490271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평균</a:t>
            </a:r>
            <a:r>
              <a:rPr lang="en-US" altLang="ko-KR" sz="2400" dirty="0"/>
              <a:t>(Mean) : </a:t>
            </a:r>
            <a:r>
              <a:rPr lang="ko-KR" altLang="en-US" sz="2400" dirty="0"/>
              <a:t>모든 값을 더한 뒤 개수로 나눈 값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중앙값</a:t>
            </a:r>
            <a:r>
              <a:rPr lang="en-US" altLang="ko-KR" sz="2400" dirty="0"/>
              <a:t>(Median) : </a:t>
            </a:r>
            <a:r>
              <a:rPr lang="ko-KR" altLang="en-US" sz="2400" dirty="0"/>
              <a:t>데이터를 크기순으로 정렬했을 때 정중앙에 위치한 값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</a:t>
            </a:r>
            <a:r>
              <a:rPr lang="ko-KR" altLang="en-US" sz="2400" dirty="0" err="1"/>
              <a:t>최빈값</a:t>
            </a:r>
            <a:r>
              <a:rPr lang="en-US" altLang="ko-KR" sz="2400" dirty="0"/>
              <a:t>(Mode) : </a:t>
            </a:r>
            <a:r>
              <a:rPr lang="ko-KR" altLang="en-US" sz="2400" dirty="0"/>
              <a:t>가장 많이 등장하는 값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분산</a:t>
            </a:r>
            <a:r>
              <a:rPr lang="en-US" altLang="ko-KR" sz="2400" dirty="0"/>
              <a:t>: </a:t>
            </a:r>
            <a:r>
              <a:rPr lang="ko-KR" altLang="en-US" sz="2400" dirty="0"/>
              <a:t>데이터가 평균에서 얼마나 떨어져 있는지의 제곱 평균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표준편차</a:t>
            </a:r>
            <a:r>
              <a:rPr lang="en-US" altLang="ko-KR" sz="2400" dirty="0"/>
              <a:t>: </a:t>
            </a:r>
            <a:r>
              <a:rPr lang="ko-KR" altLang="en-US" sz="2400" dirty="0"/>
              <a:t>분산의 제곱근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사분위수</a:t>
            </a:r>
            <a:r>
              <a:rPr lang="en-US" altLang="ko-KR" sz="2400" dirty="0"/>
              <a:t>(Quartile) : </a:t>
            </a:r>
            <a:r>
              <a:rPr lang="ko-KR" altLang="en-US" sz="2400" dirty="0"/>
              <a:t>데이터를 </a:t>
            </a:r>
            <a:r>
              <a:rPr lang="en-US" altLang="ko-KR" sz="2400" dirty="0"/>
              <a:t>4</a:t>
            </a:r>
            <a:r>
              <a:rPr lang="ko-KR" altLang="en-US" sz="2400" dirty="0"/>
              <a:t>등분한 값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상관계수</a:t>
            </a:r>
            <a:r>
              <a:rPr lang="en-US" altLang="ko-KR" sz="2400" dirty="0"/>
              <a:t>(Correlation Coefficient) : </a:t>
            </a:r>
            <a:r>
              <a:rPr lang="ko-KR" altLang="en-US" sz="2400" dirty="0"/>
              <a:t>두 변수 간 선형 관계 정도 </a:t>
            </a:r>
            <a:r>
              <a:rPr lang="en-US" altLang="ko-KR" sz="2400" dirty="0"/>
              <a:t>(–1 ~ 1)</a:t>
            </a:r>
          </a:p>
        </p:txBody>
      </p:sp>
    </p:spTree>
    <p:extLst>
      <p:ext uri="{BB962C8B-B14F-4D97-AF65-F5344CB8AC3E}">
        <p14:creationId xmlns:p14="http://schemas.microsoft.com/office/powerpoint/2010/main" val="1481716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1014-7128-B5D9-D072-A17A9B2C0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E623C85-D79E-47D6-3C19-BFAE3B792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프로젝트 수행 절차</a:t>
            </a:r>
          </a:p>
        </p:txBody>
      </p:sp>
      <p:graphicFrame>
        <p:nvGraphicFramePr>
          <p:cNvPr id="2" name="다이어그램 1">
            <a:extLst>
              <a:ext uri="{FF2B5EF4-FFF2-40B4-BE49-F238E27FC236}">
                <a16:creationId xmlns:a16="http://schemas.microsoft.com/office/drawing/2014/main" id="{BB92D256-CBA6-04CC-78A7-02721723D7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6005920"/>
              </p:ext>
            </p:extLst>
          </p:nvPr>
        </p:nvGraphicFramePr>
        <p:xfrm>
          <a:off x="349624" y="762000"/>
          <a:ext cx="11331388" cy="537633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87137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B6F65-E47F-F85D-D8E1-6551CDA6B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6D1D1BA-5DE6-2702-A06A-401322BCE8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프로젝트 설계 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ADCB6EAE-47BE-AB72-7B57-E910B0F9FBEC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4867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1️⃣ </a:t>
            </a:r>
            <a:r>
              <a:rPr lang="ko-KR" altLang="en-US" dirty="0"/>
              <a:t>문제 정의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분석 목표를 구체적으로 설정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📌 예</a:t>
            </a:r>
            <a:r>
              <a:rPr lang="en-US" altLang="ko-KR" dirty="0"/>
              <a:t>:</a:t>
            </a:r>
          </a:p>
          <a:p>
            <a:pPr marL="914400" lvl="2" indent="0">
              <a:lnSpc>
                <a:spcPct val="150000"/>
              </a:lnSpc>
              <a:buNone/>
            </a:pPr>
            <a:r>
              <a:rPr lang="en-US" altLang="ko-KR" dirty="0"/>
              <a:t>❌ "</a:t>
            </a:r>
            <a:r>
              <a:rPr lang="ko-KR" altLang="en-US" dirty="0"/>
              <a:t>매출 늘리기</a:t>
            </a:r>
            <a:r>
              <a:rPr lang="en-US" altLang="ko-KR" dirty="0"/>
              <a:t>"</a:t>
            </a:r>
          </a:p>
          <a:p>
            <a:pPr marL="914400" lvl="2" indent="0">
              <a:lnSpc>
                <a:spcPct val="150000"/>
              </a:lnSpc>
              <a:buNone/>
            </a:pPr>
            <a:r>
              <a:rPr lang="en-US" altLang="ko-KR" dirty="0"/>
              <a:t>✅ "</a:t>
            </a:r>
            <a:r>
              <a:rPr lang="ko-KR" altLang="en-US" dirty="0"/>
              <a:t>지난 </a:t>
            </a:r>
            <a:r>
              <a:rPr lang="en-US" altLang="ko-KR" dirty="0"/>
              <a:t>6</a:t>
            </a:r>
            <a:r>
              <a:rPr lang="ko-KR" altLang="en-US" dirty="0"/>
              <a:t>개월간 월 매출 감소 원인을 파악하고</a:t>
            </a:r>
            <a:r>
              <a:rPr lang="en-US" altLang="ko-KR" dirty="0"/>
              <a:t>, </a:t>
            </a:r>
            <a:r>
              <a:rPr lang="ko-KR" altLang="en-US" dirty="0"/>
              <a:t>매출 하락폭을 </a:t>
            </a:r>
            <a:r>
              <a:rPr lang="en-US" altLang="ko-KR" dirty="0"/>
              <a:t>10% </a:t>
            </a:r>
            <a:r>
              <a:rPr lang="ko-KR" altLang="en-US" dirty="0"/>
              <a:t>이상 줄일 방법 제안</a:t>
            </a:r>
            <a:r>
              <a:rPr lang="en-US" altLang="ko-KR" dirty="0"/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1329748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A0866B-E6BB-0219-B351-67DA3F6C7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B6B1B852-5373-84CE-D4DE-AE72FAAE3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프로젝트 설계 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E0264231-318A-5E3D-0C89-BF6E39E0A2A5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4867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2️⃣ </a:t>
            </a:r>
            <a:r>
              <a:rPr lang="ko-KR" altLang="en-US" dirty="0"/>
              <a:t>분석 질문 만들기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“어떤 고객이 이탈하는가</a:t>
            </a:r>
            <a:r>
              <a:rPr lang="en-US" altLang="ko-KR" dirty="0"/>
              <a:t>?”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“</a:t>
            </a:r>
            <a:r>
              <a:rPr lang="ko-KR" altLang="en-US" dirty="0"/>
              <a:t>어떤 제품군이 매출에 가장 큰 영향을 주는가</a:t>
            </a:r>
            <a:r>
              <a:rPr lang="en-US" altLang="ko-KR" dirty="0"/>
              <a:t>?”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3️⃣ </a:t>
            </a:r>
            <a:r>
              <a:rPr lang="ko-KR" altLang="en-US" dirty="0"/>
              <a:t>데이터 범위 설정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기간</a:t>
            </a:r>
            <a:r>
              <a:rPr lang="en-US" altLang="ko-KR" dirty="0"/>
              <a:t>, </a:t>
            </a:r>
            <a:r>
              <a:rPr lang="ko-KR" altLang="en-US" dirty="0"/>
              <a:t>변수</a:t>
            </a:r>
            <a:r>
              <a:rPr lang="en-US" altLang="ko-KR" dirty="0"/>
              <a:t>, </a:t>
            </a:r>
            <a:r>
              <a:rPr lang="ko-KR" altLang="en-US" dirty="0"/>
              <a:t>데이터 출처</a:t>
            </a:r>
            <a:r>
              <a:rPr lang="en-US" altLang="ko-KR" dirty="0"/>
              <a:t> </a:t>
            </a:r>
            <a:r>
              <a:rPr lang="ko-KR" altLang="en-US" dirty="0"/>
              <a:t>등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4️⃣ </a:t>
            </a:r>
            <a:r>
              <a:rPr lang="ko-KR" altLang="en-US" dirty="0"/>
              <a:t>활용 도구 탐색 및 결정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>
                <a:hlinkClick r:id="rId2"/>
              </a:rPr>
              <a:t>https://wikidocs.net/book</a:t>
            </a:r>
            <a:r>
              <a:rPr lang="en-US" altLang="ko-KR">
                <a:hlinkClick r:id="rId2"/>
              </a:rPr>
              <a:t>/14021</a:t>
            </a:r>
            <a:r>
              <a:rPr lang="en-US" altLang="ko-KR"/>
              <a:t>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6160480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B7D1E-4520-D3BD-EAD8-386FAF829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01C32208-4018-F772-C830-2DC87CA8B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수집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B6B9164-872E-5D8C-0922-2239C0833A68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1591622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</a:t>
            </a:r>
            <a:r>
              <a:rPr lang="en-US" altLang="ko-KR" dirty="0"/>
              <a:t> CSV, Excel, API, </a:t>
            </a:r>
            <a:r>
              <a:rPr lang="ko-KR" altLang="en-US" dirty="0"/>
              <a:t>오픈데이터</a:t>
            </a:r>
            <a:r>
              <a:rPr lang="en-US" altLang="ko-KR" dirty="0"/>
              <a:t>, </a:t>
            </a:r>
            <a:r>
              <a:rPr lang="ko-KR" altLang="en-US" dirty="0" err="1"/>
              <a:t>크롤링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</a:t>
            </a:r>
            <a:r>
              <a:rPr lang="ko-KR" altLang="en-US" dirty="0">
                <a:latin typeface="+mn-ea"/>
              </a:rPr>
              <a:t>꼭 하나의 데이터 파일만 사용하지 않아도 됨</a:t>
            </a:r>
            <a:endParaRPr lang="en-US" altLang="ko-KR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CABF6D-2958-2396-3E84-34587C3CE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89206" y="2672370"/>
            <a:ext cx="5257800" cy="3372296"/>
          </a:xfrm>
        </p:spPr>
        <p:txBody>
          <a:bodyPr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altLang="ko-KR" sz="2400" dirty="0">
                <a:latin typeface="+mn-ea"/>
              </a:rPr>
              <a:t>[</a:t>
            </a:r>
            <a:r>
              <a:rPr lang="ko-KR" altLang="en-US" sz="2400" dirty="0">
                <a:latin typeface="+mn-ea"/>
              </a:rPr>
              <a:t>서울 </a:t>
            </a:r>
            <a:r>
              <a:rPr lang="ko-KR" altLang="en-US" sz="2400" dirty="0" err="1">
                <a:latin typeface="+mn-ea"/>
              </a:rPr>
              <a:t>열린데이터</a:t>
            </a:r>
            <a:r>
              <a:rPr lang="ko-KR" altLang="en-US" sz="2400" dirty="0">
                <a:latin typeface="+mn-ea"/>
              </a:rPr>
              <a:t> 광장</a:t>
            </a:r>
            <a:r>
              <a:rPr lang="en-US" altLang="ko-KR" sz="2400" dirty="0">
                <a:latin typeface="+mn-ea"/>
              </a:rPr>
              <a:t>]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altLang="ko-KR" sz="2400" dirty="0">
                <a:latin typeface="+mn-ea"/>
                <a:hlinkClick r:id="rId2"/>
              </a:rPr>
              <a:t>https://data.seoul.go.kr/</a:t>
            </a:r>
            <a:endParaRPr lang="en-US" altLang="ko-KR" sz="2400" dirty="0">
              <a:latin typeface="+mn-ea"/>
            </a:endParaRPr>
          </a:p>
          <a:p>
            <a:pPr marL="0" indent="0" algn="l">
              <a:lnSpc>
                <a:spcPct val="150000"/>
              </a:lnSpc>
              <a:buNone/>
            </a:pPr>
            <a:endParaRPr lang="en-US" altLang="ko-KR" sz="2400" dirty="0">
              <a:latin typeface="+mn-ea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altLang="ko-KR" sz="2400" dirty="0">
                <a:latin typeface="+mn-ea"/>
              </a:rPr>
              <a:t>[</a:t>
            </a:r>
            <a:r>
              <a:rPr lang="ko-KR" altLang="en-US" sz="2400" dirty="0">
                <a:latin typeface="+mn-ea"/>
              </a:rPr>
              <a:t>국가 통계 포털</a:t>
            </a:r>
            <a:r>
              <a:rPr lang="en-US" altLang="ko-KR" sz="2400" dirty="0">
                <a:latin typeface="+mn-ea"/>
              </a:rPr>
              <a:t>]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altLang="ko-KR" sz="2400" dirty="0">
                <a:latin typeface="+mn-ea"/>
                <a:hlinkClick r:id="rId3"/>
              </a:rPr>
              <a:t>https://kosis.kr/index/index.do</a:t>
            </a:r>
            <a:endParaRPr lang="en-US" altLang="ko-KR" sz="2400" dirty="0">
              <a:latin typeface="+mn-ea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DA1457AD-9C54-164C-1CD7-091B5AA62F0E}"/>
              </a:ext>
            </a:extLst>
          </p:cNvPr>
          <p:cNvSpPr txBox="1">
            <a:spLocks/>
          </p:cNvSpPr>
          <p:nvPr/>
        </p:nvSpPr>
        <p:spPr>
          <a:xfrm>
            <a:off x="838200" y="2672370"/>
            <a:ext cx="5257800" cy="337229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</a:rPr>
              <a:t>[</a:t>
            </a:r>
            <a:r>
              <a:rPr lang="en-US" altLang="ko-KR" sz="2400" dirty="0" err="1">
                <a:latin typeface="+mn-ea"/>
              </a:rPr>
              <a:t>kaggle</a:t>
            </a:r>
            <a:r>
              <a:rPr lang="ko-KR" altLang="en-US" sz="2400" dirty="0">
                <a:latin typeface="+mn-ea"/>
              </a:rPr>
              <a:t>데이터 셋</a:t>
            </a:r>
            <a:r>
              <a:rPr lang="en-US" altLang="ko-KR" sz="2400" dirty="0">
                <a:latin typeface="+mn-ea"/>
              </a:rPr>
              <a:t>]</a:t>
            </a:r>
            <a:endParaRPr lang="en-US" altLang="ko-KR" sz="2400" dirty="0">
              <a:latin typeface="+mn-ea"/>
              <a:hlinkClick r:id="rId4"/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  <a:hlinkClick r:id="rId4"/>
              </a:rPr>
              <a:t>https://www.kaggle.com/datasets</a:t>
            </a:r>
            <a:endParaRPr lang="en-US" altLang="ko-KR" sz="2400" dirty="0">
              <a:latin typeface="+mn-ea"/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altLang="ko-KR" sz="2400" dirty="0">
              <a:latin typeface="+mn-ea"/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</a:rPr>
              <a:t>[</a:t>
            </a:r>
            <a:r>
              <a:rPr lang="ko-KR" altLang="en-US" sz="2400" dirty="0">
                <a:latin typeface="+mn-ea"/>
              </a:rPr>
              <a:t>공공데이터 포털</a:t>
            </a:r>
            <a:r>
              <a:rPr lang="en-US" altLang="ko-KR" sz="2400" dirty="0">
                <a:latin typeface="+mn-ea"/>
              </a:rPr>
              <a:t>]</a:t>
            </a: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ko-KR" sz="2400" dirty="0">
                <a:latin typeface="+mn-ea"/>
                <a:hlinkClick r:id="rId5"/>
              </a:rPr>
              <a:t>https://www.data.go.kr/index.do</a:t>
            </a:r>
            <a:endParaRPr lang="en-US" altLang="ko-KR" sz="24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99657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E3172-0487-C719-7555-60488406A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F14E1E5E-BF9D-7E31-C616-5A98908AE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데이터 </a:t>
            </a:r>
            <a:r>
              <a:rPr lang="ko-KR" altLang="en-US" dirty="0" err="1"/>
              <a:t>전처리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92601308-9780-EAB1-1901-9BEC5C4B4C14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4867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</a:t>
            </a:r>
            <a:r>
              <a:rPr lang="en-US" altLang="ko-KR" dirty="0"/>
              <a:t> </a:t>
            </a:r>
            <a:r>
              <a:rPr lang="ko-KR" altLang="en-US" dirty="0"/>
              <a:t>분석이나 모델링에 적합하도록 데이터를 정리</a:t>
            </a:r>
            <a:r>
              <a:rPr lang="en-US" altLang="ko-KR" dirty="0"/>
              <a:t>·</a:t>
            </a:r>
            <a:r>
              <a:rPr lang="ko-KR" altLang="en-US" dirty="0"/>
              <a:t>변환</a:t>
            </a:r>
            <a:r>
              <a:rPr lang="en-US" altLang="ko-KR" dirty="0"/>
              <a:t>·</a:t>
            </a:r>
            <a:r>
              <a:rPr lang="ko-KR" altLang="en-US" dirty="0"/>
              <a:t>가공하는 과정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 err="1"/>
              <a:t>결측치</a:t>
            </a:r>
            <a:r>
              <a:rPr lang="ko-KR" altLang="en-US" dirty="0"/>
              <a:t> 처리</a:t>
            </a:r>
            <a:r>
              <a:rPr lang="en-US" altLang="ko-KR" dirty="0"/>
              <a:t>: </a:t>
            </a:r>
            <a:r>
              <a:rPr lang="en-US" altLang="ko-KR" dirty="0" err="1"/>
              <a:t>df.dropna</a:t>
            </a:r>
            <a:r>
              <a:rPr lang="en-US" altLang="ko-KR" dirty="0"/>
              <a:t>(), </a:t>
            </a:r>
            <a:r>
              <a:rPr lang="en-US" altLang="ko-KR" dirty="0" err="1"/>
              <a:t>df.fillna</a:t>
            </a:r>
            <a:r>
              <a:rPr lang="en-US" altLang="ko-KR" dirty="0"/>
              <a:t>()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이상치 탐색</a:t>
            </a:r>
            <a:r>
              <a:rPr lang="en-US" altLang="ko-KR" dirty="0"/>
              <a:t>: </a:t>
            </a:r>
            <a:r>
              <a:rPr lang="en-US" altLang="ko-KR" dirty="0" err="1"/>
              <a:t>df.describe</a:t>
            </a:r>
            <a:r>
              <a:rPr lang="en-US" altLang="ko-KR" dirty="0"/>
              <a:t>(), boxplot </a:t>
            </a:r>
            <a:r>
              <a:rPr lang="ko-KR" altLang="en-US" dirty="0"/>
              <a:t>시각화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데이터 변환</a:t>
            </a:r>
            <a:r>
              <a:rPr lang="en-US" altLang="ko-KR" dirty="0"/>
              <a:t>: </a:t>
            </a:r>
            <a:r>
              <a:rPr lang="en-US" altLang="ko-KR" dirty="0" err="1"/>
              <a:t>astype</a:t>
            </a:r>
            <a:r>
              <a:rPr lang="en-US" altLang="ko-KR" dirty="0"/>
              <a:t>, apply </a:t>
            </a:r>
            <a:r>
              <a:rPr lang="ko-KR" altLang="en-US" dirty="0"/>
              <a:t>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321499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71568-FFF6-D2E4-7FD7-2047E4906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826EA832-32F5-8BF5-11C3-D4262578A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분석 및 모델링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446ED31F-5A8F-7E75-2E5D-3555F9614F5F}"/>
              </a:ext>
            </a:extLst>
          </p:cNvPr>
          <p:cNvSpPr txBox="1">
            <a:spLocks/>
          </p:cNvSpPr>
          <p:nvPr/>
        </p:nvSpPr>
        <p:spPr>
          <a:xfrm>
            <a:off x="238991" y="968697"/>
            <a:ext cx="11701221" cy="526847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💡</a:t>
            </a:r>
            <a:r>
              <a:rPr lang="en-US" altLang="ko-KR" sz="2400" dirty="0"/>
              <a:t> </a:t>
            </a:r>
            <a:r>
              <a:rPr lang="ko-KR" altLang="en-US" sz="2400" b="1" dirty="0"/>
              <a:t>데이터 속 규칙과 패턴을 찾는 것</a:t>
            </a:r>
            <a:r>
              <a:rPr lang="ko-KR" altLang="en-US" sz="2400" dirty="0"/>
              <a:t>이 핵심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EDA(Exploratory Data Analysis) :</a:t>
            </a:r>
            <a:r>
              <a:rPr lang="ko-KR" altLang="en-US" sz="2400" dirty="0"/>
              <a:t> 탐색적 데이터 분석</a:t>
            </a:r>
            <a:endParaRPr lang="en-US" altLang="ko-KR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➡️ 데이터의 특징과 패턴</a:t>
            </a:r>
            <a:r>
              <a:rPr lang="en-US" altLang="ko-KR" sz="2000" dirty="0"/>
              <a:t>, </a:t>
            </a:r>
            <a:r>
              <a:rPr lang="ko-KR" altLang="en-US" sz="2000" dirty="0"/>
              <a:t>관계</a:t>
            </a:r>
            <a:r>
              <a:rPr lang="en-US" altLang="ko-KR" sz="2000" dirty="0"/>
              <a:t>, </a:t>
            </a:r>
            <a:r>
              <a:rPr lang="ko-KR" altLang="en-US" sz="2000" dirty="0"/>
              <a:t>이상치를 발견하기 위해 데이터를 다양한 시각화와 통계 기법으로 탐색하는 과정</a:t>
            </a:r>
            <a:endParaRPr lang="en-US" altLang="ko-KR" sz="2000" dirty="0"/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000" dirty="0"/>
              <a:t>기본 구조 확인 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en-US" altLang="ko-KR" sz="2000" dirty="0"/>
              <a:t>.info(), .head(), .describe()</a:t>
            </a:r>
            <a:r>
              <a:rPr lang="ko-KR" altLang="en-US" sz="2000" dirty="0"/>
              <a:t>로 데이터 전반 파악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000" dirty="0"/>
              <a:t>기술 통계량 계산 </a:t>
            </a:r>
            <a:r>
              <a:rPr lang="en-US" altLang="ko-KR" sz="2000" dirty="0"/>
              <a:t>: </a:t>
            </a:r>
            <a:r>
              <a:rPr lang="ko-KR" altLang="en-US" sz="2000" dirty="0"/>
              <a:t>평균</a:t>
            </a:r>
            <a:r>
              <a:rPr lang="en-US" altLang="ko-KR" sz="2000" dirty="0"/>
              <a:t>, </a:t>
            </a:r>
            <a:r>
              <a:rPr lang="ko-KR" altLang="en-US" sz="2000" dirty="0"/>
              <a:t>중앙값</a:t>
            </a:r>
            <a:r>
              <a:rPr lang="en-US" altLang="ko-KR" sz="2000" dirty="0"/>
              <a:t>, </a:t>
            </a:r>
            <a:r>
              <a:rPr lang="ko-KR" altLang="en-US" sz="2000" dirty="0"/>
              <a:t>표준편차</a:t>
            </a:r>
            <a:r>
              <a:rPr lang="en-US" altLang="ko-KR" sz="2000" dirty="0"/>
              <a:t>, </a:t>
            </a:r>
            <a:r>
              <a:rPr lang="ko-KR" altLang="en-US" sz="2000" dirty="0"/>
              <a:t>사분위수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000" dirty="0" err="1"/>
              <a:t>단변량</a:t>
            </a:r>
            <a:r>
              <a:rPr lang="ko-KR" altLang="en-US" sz="2000" dirty="0"/>
              <a:t> 분석 </a:t>
            </a:r>
            <a:r>
              <a:rPr lang="en-US" altLang="ko-KR" sz="2000" dirty="0"/>
              <a:t>(</a:t>
            </a:r>
            <a:r>
              <a:rPr lang="ko-KR" altLang="en-US" sz="2000" dirty="0"/>
              <a:t>변수 하나씩 보기</a:t>
            </a:r>
            <a:r>
              <a:rPr lang="en-US" altLang="ko-KR" sz="2000" dirty="0"/>
              <a:t>) : </a:t>
            </a:r>
          </a:p>
          <a:p>
            <a:pPr lvl="2">
              <a:lnSpc>
                <a:spcPct val="150000"/>
              </a:lnSpc>
            </a:pPr>
            <a:r>
              <a:rPr lang="ko-KR" altLang="en-US" sz="1600" dirty="0"/>
              <a:t>수치형</a:t>
            </a:r>
            <a:r>
              <a:rPr lang="en-US" altLang="ko-KR" sz="1600" dirty="0"/>
              <a:t>: </a:t>
            </a:r>
            <a:r>
              <a:rPr lang="ko-KR" altLang="en-US" sz="1600" dirty="0"/>
              <a:t>히스토그램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박스플롯</a:t>
            </a:r>
            <a:endParaRPr lang="ko-KR" altLang="en-US" sz="1600" dirty="0"/>
          </a:p>
          <a:p>
            <a:pPr lvl="2">
              <a:lnSpc>
                <a:spcPct val="150000"/>
              </a:lnSpc>
            </a:pPr>
            <a:r>
              <a:rPr lang="ko-KR" altLang="en-US" sz="1600" dirty="0"/>
              <a:t>범주형</a:t>
            </a:r>
            <a:r>
              <a:rPr lang="en-US" altLang="ko-KR" sz="1600" dirty="0"/>
              <a:t>: </a:t>
            </a:r>
            <a:r>
              <a:rPr lang="ko-KR" altLang="en-US" sz="1600" dirty="0"/>
              <a:t>막대그래프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000" dirty="0" err="1"/>
              <a:t>이변량</a:t>
            </a:r>
            <a:r>
              <a:rPr lang="en-US" altLang="ko-KR" sz="2000" dirty="0"/>
              <a:t>/</a:t>
            </a:r>
            <a:r>
              <a:rPr lang="ko-KR" altLang="en-US" sz="2000" dirty="0" err="1"/>
              <a:t>다변량</a:t>
            </a:r>
            <a:r>
              <a:rPr lang="ko-KR" altLang="en-US" sz="2000" dirty="0"/>
              <a:t> 분석 </a:t>
            </a:r>
            <a:r>
              <a:rPr lang="en-US" altLang="ko-KR" sz="2000" dirty="0"/>
              <a:t>(</a:t>
            </a:r>
            <a:r>
              <a:rPr lang="ko-KR" altLang="en-US" sz="2000" dirty="0"/>
              <a:t>변수 간 관계 보기</a:t>
            </a:r>
            <a:r>
              <a:rPr lang="en-US" altLang="ko-KR" sz="2000" dirty="0"/>
              <a:t>) : </a:t>
            </a:r>
            <a:r>
              <a:rPr lang="ko-KR" altLang="en-US" sz="2000" dirty="0" err="1"/>
              <a:t>산점도</a:t>
            </a:r>
            <a:r>
              <a:rPr lang="en-US" altLang="ko-KR" sz="2000" dirty="0"/>
              <a:t>, </a:t>
            </a:r>
            <a:r>
              <a:rPr lang="ko-KR" altLang="en-US" sz="2000" dirty="0"/>
              <a:t>상관계수 </a:t>
            </a:r>
            <a:r>
              <a:rPr lang="ko-KR" altLang="en-US" sz="2000" dirty="0" err="1"/>
              <a:t>히트맵</a:t>
            </a:r>
            <a:r>
              <a:rPr lang="en-US" altLang="ko-KR" sz="2000" dirty="0"/>
              <a:t>, </a:t>
            </a:r>
            <a:r>
              <a:rPr lang="ko-KR" altLang="en-US" sz="2000" dirty="0"/>
              <a:t>그룹 비교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2000" dirty="0"/>
              <a:t>이상치 탐지 </a:t>
            </a:r>
            <a:r>
              <a:rPr lang="en-US" altLang="ko-KR" sz="2000" dirty="0"/>
              <a:t>:</a:t>
            </a:r>
            <a:r>
              <a:rPr lang="ko-KR" altLang="en-US" sz="2000" dirty="0"/>
              <a:t> </a:t>
            </a:r>
            <a:r>
              <a:rPr lang="en-US" altLang="ko-KR" sz="2000" dirty="0"/>
              <a:t>Boxplot, </a:t>
            </a:r>
            <a:r>
              <a:rPr lang="ko-KR" altLang="en-US" sz="2000" dirty="0"/>
              <a:t>분포 확인으로 비정상 값 식별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37026947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9214FD-AA16-B8FB-9C34-51FB744F76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1A83CAB8-6E0D-A20A-D2ED-ECCFF4FFF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분석 및 모델링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7ABEB8C7-C587-7461-5D41-78F3139EC32C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4867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1️⃣ </a:t>
            </a:r>
            <a:r>
              <a:rPr lang="ko-KR" altLang="en-US" dirty="0"/>
              <a:t>상관관계 분석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개념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두 변수 간 선형 관계를 수치로 표현한 값 </a:t>
            </a:r>
            <a:r>
              <a:rPr lang="en-US" altLang="ko-KR" dirty="0"/>
              <a:t>(–1 ~ 1 </a:t>
            </a:r>
            <a:r>
              <a:rPr lang="ko-KR" altLang="en-US" dirty="0"/>
              <a:t>범위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1: </a:t>
            </a:r>
            <a:r>
              <a:rPr lang="ko-KR" altLang="en-US" dirty="0"/>
              <a:t>완전 양의 상관</a:t>
            </a:r>
            <a:r>
              <a:rPr lang="en-US" altLang="ko-KR" dirty="0"/>
              <a:t>, –1: </a:t>
            </a:r>
            <a:r>
              <a:rPr lang="ko-KR" altLang="en-US" dirty="0"/>
              <a:t>완전 음의 상관</a:t>
            </a:r>
            <a:r>
              <a:rPr lang="en-US" altLang="ko-KR" dirty="0"/>
              <a:t>, 0: </a:t>
            </a:r>
            <a:r>
              <a:rPr lang="ko-KR" altLang="en-US" dirty="0"/>
              <a:t>선형 관계 없음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주의</a:t>
            </a:r>
            <a:r>
              <a:rPr lang="en-US" altLang="ko-KR" dirty="0"/>
              <a:t>: </a:t>
            </a:r>
            <a:r>
              <a:rPr lang="ko-KR" altLang="en-US" dirty="0"/>
              <a:t>상관관계 ≠ 인과관계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7107139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9A12B-657C-9D4E-0D00-282D0FB21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E1C6DC5-E334-077B-A604-9AFA029AC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분석 및 모델링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0A5A1D20-DB18-EEB5-09D3-33FF9E6D3430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4867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2️⃣ </a:t>
            </a:r>
            <a:r>
              <a:rPr lang="ko-KR" altLang="en-US" dirty="0"/>
              <a:t>그룹별 평균 비교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개념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범주형 변수에 따라 다른 그룹의 평균</a:t>
            </a:r>
            <a:r>
              <a:rPr lang="en-US" altLang="ko-KR" dirty="0"/>
              <a:t>·</a:t>
            </a:r>
            <a:r>
              <a:rPr lang="ko-KR" altLang="en-US" dirty="0"/>
              <a:t>분포 비교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Pandas</a:t>
            </a:r>
            <a:r>
              <a:rPr lang="ko-KR" altLang="en-US" dirty="0"/>
              <a:t>의 </a:t>
            </a:r>
            <a:r>
              <a:rPr lang="en-US" altLang="ko-KR" dirty="0" err="1"/>
              <a:t>groupby</a:t>
            </a:r>
            <a:r>
              <a:rPr lang="en-US" altLang="ko-KR" dirty="0"/>
              <a:t>()</a:t>
            </a:r>
            <a:r>
              <a:rPr lang="ko-KR" altLang="en-US" dirty="0"/>
              <a:t>와 시각화를 조합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2266652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C244B-1EBF-092E-79BF-0B78CEAF1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2E358BA9-A0A6-A9D5-FE78-78C7C8BD71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분석 및 모델링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E149E2CA-4BDB-271B-D2C9-629989B4FB60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4867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3️⃣ </a:t>
            </a:r>
            <a:r>
              <a:rPr lang="ko-KR" altLang="en-US" dirty="0"/>
              <a:t>추세 분석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개념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시간에 따른 변화 패턴 확인 </a:t>
            </a:r>
            <a:r>
              <a:rPr lang="en-US" altLang="ko-KR" dirty="0"/>
              <a:t>(</a:t>
            </a:r>
            <a:r>
              <a:rPr lang="ko-KR" altLang="en-US" dirty="0"/>
              <a:t>계절성</a:t>
            </a:r>
            <a:r>
              <a:rPr lang="en-US" altLang="ko-KR" dirty="0"/>
              <a:t>, </a:t>
            </a:r>
            <a:r>
              <a:rPr lang="ko-KR" altLang="en-US" dirty="0"/>
              <a:t>상승</a:t>
            </a:r>
            <a:r>
              <a:rPr lang="en-US" altLang="ko-KR" dirty="0"/>
              <a:t>/</a:t>
            </a:r>
            <a:r>
              <a:rPr lang="ko-KR" altLang="en-US" dirty="0"/>
              <a:t>하락 추세 등</a:t>
            </a:r>
            <a:r>
              <a:rPr lang="en-US" altLang="ko-KR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시계열 데이터에서 패턴 찾기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4306778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B5F7C-B60C-0950-E0CC-C2A18C92C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47B123FC-1EE5-98AF-47A0-DB0ECB36B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b="1" dirty="0"/>
              <a:t>시각화 및 결과 보고</a:t>
            </a:r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C5E1A8F1-E576-81A6-F4D8-629B950536DC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4867326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분석에 따른 결론이 논리적 흐름에 부합하도록 결론을 도출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어떤 과정을 따라 결론이 도출되었는지를 충실하게 기록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시각화</a:t>
            </a:r>
            <a:r>
              <a:rPr lang="en-US" altLang="ko-KR" dirty="0"/>
              <a:t>/</a:t>
            </a:r>
            <a:r>
              <a:rPr lang="ko-KR" altLang="en-US" dirty="0"/>
              <a:t>결과 </a:t>
            </a:r>
            <a:r>
              <a:rPr lang="ko-KR" altLang="en-US" dirty="0" err="1"/>
              <a:t>보고시</a:t>
            </a:r>
            <a:r>
              <a:rPr lang="ko-KR" altLang="en-US" dirty="0"/>
              <a:t> 스토리텔링 구조 활용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ko-KR" altLang="en-US" dirty="0"/>
              <a:t>문제 → 데이터 → 분석 → 결과 → 의미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시각화 사용도구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Seaborn: </a:t>
            </a:r>
            <a:r>
              <a:rPr lang="ko-KR" altLang="en-US" dirty="0"/>
              <a:t>데이터 분석 시각화</a:t>
            </a:r>
            <a:endParaRPr lang="en-US" altLang="ko-KR" dirty="0"/>
          </a:p>
          <a:p>
            <a:pPr lvl="1">
              <a:lnSpc>
                <a:spcPct val="150000"/>
              </a:lnSpc>
            </a:pPr>
            <a:r>
              <a:rPr lang="en-US" altLang="ko-KR" dirty="0"/>
              <a:t>Matplotlib: </a:t>
            </a:r>
            <a:r>
              <a:rPr lang="ko-KR" altLang="en-US" dirty="0"/>
              <a:t>세부 커스터마이징</a:t>
            </a:r>
          </a:p>
        </p:txBody>
      </p:sp>
    </p:spTree>
    <p:extLst>
      <p:ext uri="{BB962C8B-B14F-4D97-AF65-F5344CB8AC3E}">
        <p14:creationId xmlns:p14="http://schemas.microsoft.com/office/powerpoint/2010/main" val="1352550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AC9AE-44BF-A9B4-8B66-4BC619C3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83AC0A6-99C1-1F4D-E6D5-96EDCE93C1A7}"/>
              </a:ext>
            </a:extLst>
          </p:cNvPr>
          <p:cNvSpPr txBox="1"/>
          <p:nvPr/>
        </p:nvSpPr>
        <p:spPr>
          <a:xfrm>
            <a:off x="3304245" y="2600493"/>
            <a:ext cx="558358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프로젝트 계획서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49486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F32AC-D062-F74F-BE36-1F2AF426F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FCADF1-77FB-5BBF-AE7C-EA2ABE5F2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877FBA2-0D0E-95A1-99CD-47F73202926B}"/>
              </a:ext>
            </a:extLst>
          </p:cNvPr>
          <p:cNvSpPr txBox="1"/>
          <p:nvPr/>
        </p:nvSpPr>
        <p:spPr>
          <a:xfrm>
            <a:off x="251788" y="909496"/>
            <a:ext cx="11635412" cy="50390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>
              <a:lnSpc>
                <a:spcPct val="200000"/>
              </a:lnSpc>
              <a:buNone/>
            </a:pPr>
            <a:r>
              <a:rPr lang="ko-KR" altLang="en-US" sz="3200" b="1" dirty="0"/>
              <a:t>💡 프로젝트 계획서 작성의 이유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200" b="1" dirty="0"/>
              <a:t>명확한 목표 설정 </a:t>
            </a:r>
            <a:r>
              <a:rPr lang="en-US" altLang="ko-KR" sz="2200" b="1" dirty="0"/>
              <a:t>:</a:t>
            </a:r>
            <a:r>
              <a:rPr lang="ko-KR" altLang="en-US" sz="2200" b="1" dirty="0"/>
              <a:t> </a:t>
            </a:r>
            <a:r>
              <a:rPr lang="ko-KR" altLang="en-US" sz="2200" dirty="0"/>
              <a:t>프로젝트의 목적</a:t>
            </a:r>
            <a:r>
              <a:rPr lang="en-US" altLang="ko-KR" sz="2200" dirty="0"/>
              <a:t>, </a:t>
            </a:r>
            <a:r>
              <a:rPr lang="ko-KR" altLang="en-US" sz="2200" dirty="0"/>
              <a:t>범위</a:t>
            </a:r>
            <a:r>
              <a:rPr lang="en-US" altLang="ko-KR" sz="2200" dirty="0"/>
              <a:t>, </a:t>
            </a:r>
            <a:r>
              <a:rPr lang="ko-KR" altLang="en-US" sz="2200" dirty="0"/>
              <a:t>목표를 명확히 정의하여 방향성을 확립</a:t>
            </a:r>
            <a:r>
              <a:rPr lang="en-US" altLang="ko-KR" sz="2200" dirty="0"/>
              <a:t>.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200" b="1" dirty="0"/>
              <a:t>효율적인 자원 관리 </a:t>
            </a:r>
            <a:r>
              <a:rPr lang="en-US" altLang="ko-KR" sz="2200" b="1" dirty="0"/>
              <a:t>: </a:t>
            </a:r>
            <a:r>
              <a:rPr lang="ko-KR" altLang="en-US" sz="2200" dirty="0"/>
              <a:t>시간</a:t>
            </a:r>
            <a:r>
              <a:rPr lang="en-US" altLang="ko-KR" sz="2200" dirty="0"/>
              <a:t>, </a:t>
            </a:r>
            <a:r>
              <a:rPr lang="ko-KR" altLang="en-US" sz="2200" dirty="0"/>
              <a:t>인력</a:t>
            </a:r>
            <a:r>
              <a:rPr lang="en-US" altLang="ko-KR" sz="2200" dirty="0"/>
              <a:t>, </a:t>
            </a:r>
            <a:r>
              <a:rPr lang="ko-KR" altLang="en-US" sz="2200" dirty="0"/>
              <a:t>비용 등 필요한 자원을 체계적으로 관리</a:t>
            </a:r>
            <a:r>
              <a:rPr lang="en-US" altLang="ko-KR" sz="2200" dirty="0"/>
              <a:t>.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200" b="1" dirty="0"/>
              <a:t>리스크 관리 </a:t>
            </a:r>
            <a:r>
              <a:rPr lang="en-US" altLang="ko-KR" sz="2200" b="1" dirty="0"/>
              <a:t>: </a:t>
            </a:r>
            <a:r>
              <a:rPr lang="ko-KR" altLang="en-US" sz="2200" dirty="0"/>
              <a:t>잠재적인 문제점을 사전에 예측하고 대응 전략 마련</a:t>
            </a:r>
            <a:r>
              <a:rPr lang="en-US" altLang="ko-KR" sz="2200" dirty="0"/>
              <a:t>.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200" b="1" dirty="0"/>
              <a:t>팀원 간 커뮤니케이션 </a:t>
            </a:r>
            <a:r>
              <a:rPr lang="en-US" altLang="ko-KR" sz="2200" b="1" dirty="0"/>
              <a:t>: </a:t>
            </a:r>
            <a:r>
              <a:rPr lang="ko-KR" altLang="en-US" sz="2200" dirty="0"/>
              <a:t>역할 분담 및 일정 공유를 통해 협업 강화</a:t>
            </a:r>
            <a:r>
              <a:rPr lang="en-US" altLang="ko-KR" sz="2200" dirty="0"/>
              <a:t>.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200" b="1" dirty="0"/>
              <a:t>성과 측정 및 피드백 </a:t>
            </a:r>
            <a:r>
              <a:rPr lang="en-US" altLang="ko-KR" sz="2200" b="1" dirty="0"/>
              <a:t>: </a:t>
            </a:r>
            <a:r>
              <a:rPr lang="ko-KR" altLang="en-US" sz="2200" dirty="0"/>
              <a:t>프로젝트 진행 상태를 체계적으로 모니터링하고 성과를 평가 가능</a:t>
            </a:r>
            <a:r>
              <a:rPr lang="en-US" altLang="ko-KR" sz="2200" dirty="0"/>
              <a:t>.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200" b="1" dirty="0"/>
              <a:t>문서화 및 참고 자료 활용 </a:t>
            </a:r>
            <a:r>
              <a:rPr lang="en-US" altLang="ko-KR" sz="2200" b="1" dirty="0"/>
              <a:t>: </a:t>
            </a:r>
            <a:r>
              <a:rPr lang="ko-KR" altLang="en-US" sz="2200" dirty="0"/>
              <a:t>프로젝트 완료 후 다른 프로젝트에 활용 가능한 기준 및 참고 자료 제공</a:t>
            </a:r>
            <a:r>
              <a:rPr lang="en-US" altLang="ko-KR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488860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23301-E37F-440C-253A-F2E6EEB70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056FCC-7E64-FD97-F250-13632D994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CC94EA-C7FC-44CF-5524-DD3EA4304B10}"/>
              </a:ext>
            </a:extLst>
          </p:cNvPr>
          <p:cNvSpPr txBox="1"/>
          <p:nvPr/>
        </p:nvSpPr>
        <p:spPr>
          <a:xfrm>
            <a:off x="399143" y="1325563"/>
            <a:ext cx="11393714" cy="4565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/>
              <a:t>1. </a:t>
            </a:r>
            <a:r>
              <a:rPr lang="ko-KR" altLang="en-US" sz="2800" b="1" dirty="0"/>
              <a:t>프로젝트 개요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1.1 </a:t>
            </a:r>
            <a:r>
              <a:rPr lang="ko-KR" altLang="en-US" sz="2400" b="1" dirty="0"/>
              <a:t>프로젝트 이름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프로젝트의 이름을 명확히 적어주세요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1.2 </a:t>
            </a:r>
            <a:r>
              <a:rPr lang="ko-KR" altLang="en-US" sz="2400" b="1" dirty="0"/>
              <a:t>프로젝트 설명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프로젝트의 목적과 주요 기능</a:t>
            </a:r>
            <a:r>
              <a:rPr lang="en-US" altLang="ko-KR" sz="2400" dirty="0"/>
              <a:t>, </a:t>
            </a:r>
            <a:r>
              <a:rPr lang="ko-KR" altLang="en-US" sz="2400" dirty="0"/>
              <a:t>해결하고자 하는 문제에 대해 간단히 설명해주세요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1.3 </a:t>
            </a:r>
            <a:r>
              <a:rPr lang="ko-KR" altLang="en-US" sz="2400" b="1" dirty="0"/>
              <a:t>주요 기술 스택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프로젝트에서 사용할 언어</a:t>
            </a:r>
            <a:r>
              <a:rPr lang="en-US" altLang="ko-KR" sz="2400" dirty="0"/>
              <a:t>, </a:t>
            </a:r>
            <a:r>
              <a:rPr lang="ko-KR" altLang="en-US" sz="2400" dirty="0"/>
              <a:t>프레임워크</a:t>
            </a:r>
            <a:r>
              <a:rPr lang="en-US" altLang="ko-KR" sz="2400" dirty="0"/>
              <a:t>, </a:t>
            </a:r>
            <a:r>
              <a:rPr lang="ko-KR" altLang="en-US" sz="2400" dirty="0"/>
              <a:t>라이브러리</a:t>
            </a:r>
            <a:r>
              <a:rPr lang="en-US" altLang="ko-KR" sz="2400" dirty="0"/>
              <a:t>, </a:t>
            </a:r>
            <a:r>
              <a:rPr lang="ko-KR" altLang="en-US" sz="2400" dirty="0"/>
              <a:t>데이터베이스 등을 명시해주세요</a:t>
            </a:r>
            <a:r>
              <a:rPr lang="en-US" altLang="ko-KR" sz="2400" dirty="0"/>
              <a:t>.(</a:t>
            </a:r>
            <a:r>
              <a:rPr lang="ko-KR" altLang="en-US" sz="2400" dirty="0"/>
              <a:t>사용 버전 포함</a:t>
            </a:r>
            <a:r>
              <a:rPr lang="en-US" altLang="ko-KR" sz="24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323147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E3E07-50D6-56B5-03AC-FA5509B87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1520B-E237-636A-81B9-E12D44075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58EA8C-1C45-FFEA-762F-EE9FB27E3498}"/>
              </a:ext>
            </a:extLst>
          </p:cNvPr>
          <p:cNvSpPr txBox="1"/>
          <p:nvPr/>
        </p:nvSpPr>
        <p:spPr>
          <a:xfrm>
            <a:off x="399143" y="1151392"/>
            <a:ext cx="11393714" cy="290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/>
              <a:t>2. </a:t>
            </a:r>
            <a:r>
              <a:rPr lang="ko-KR" altLang="en-US" sz="2800" b="1" dirty="0"/>
              <a:t>팀 구성 및 역할 분담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2.1 </a:t>
            </a:r>
            <a:r>
              <a:rPr lang="ko-KR" altLang="en-US" sz="2400" b="1" dirty="0"/>
              <a:t>팀 소개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팀 이름 및 팀에 관한 간단한 소개를 적어주세요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2.2 </a:t>
            </a:r>
            <a:r>
              <a:rPr lang="ko-KR" altLang="en-US" sz="2400" b="1" dirty="0"/>
              <a:t>역할 분담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팀 내 각 개인의 역할과 책임을 명시하세요</a:t>
            </a:r>
            <a:r>
              <a:rPr lang="en-US" altLang="ko-KR" sz="2400" dirty="0"/>
              <a:t>.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31D2E12-4BDA-6388-81BF-AFE44CA94EB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4338040"/>
          <a:ext cx="10515600" cy="17373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52797035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1148372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88598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역할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주요 업무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825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ko-KR" altLang="en-US"/>
                        <a:t>홍길동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팀장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전체 일정 관리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진행 상황 점검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08183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ko-KR" altLang="en-US"/>
                        <a:t>김철수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 err="1"/>
                        <a:t>프론트엔드</a:t>
                      </a:r>
                      <a:r>
                        <a:rPr lang="ko-KR" altLang="en-US" dirty="0"/>
                        <a:t> 개발자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/>
                        <a:t>UI/UX </a:t>
                      </a:r>
                      <a:r>
                        <a:rPr lang="ko-KR" altLang="en-US"/>
                        <a:t>설계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프론트엔드 기능 구현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606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ko-KR" altLang="en-US"/>
                        <a:t>이영희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백엔드 개발자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API </a:t>
                      </a:r>
                      <a:r>
                        <a:rPr lang="ko-KR" altLang="en-US" dirty="0"/>
                        <a:t>설계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서버 구축 및 데이터베이스 관리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09347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71446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C33C2-5426-C813-DC45-FFD0729BC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6A2085-8F26-F63F-91F7-E0A0C3356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B76CDB-2C59-F402-B483-3B96DC0CB1E9}"/>
              </a:ext>
            </a:extLst>
          </p:cNvPr>
          <p:cNvSpPr txBox="1"/>
          <p:nvPr/>
        </p:nvSpPr>
        <p:spPr>
          <a:xfrm>
            <a:off x="399143" y="917681"/>
            <a:ext cx="11393714" cy="1879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/>
              <a:t>3. </a:t>
            </a:r>
            <a:r>
              <a:rPr lang="ko-KR" altLang="en-US" sz="2800" b="1" dirty="0"/>
              <a:t>프로젝트 세부 계획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3.1 </a:t>
            </a:r>
            <a:r>
              <a:rPr lang="ko-KR" altLang="en-US" sz="2400" b="1" dirty="0"/>
              <a:t>일정 및 마일스톤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주요 일정과 마일스톤을 작성하세요</a:t>
            </a:r>
            <a:r>
              <a:rPr lang="en-US" altLang="ko-KR" sz="2800" dirty="0"/>
              <a:t>.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7172C3B-2ADF-66A9-C301-BD7438939857}"/>
              </a:ext>
            </a:extLst>
          </p:cNvPr>
          <p:cNvGraphicFramePr>
            <a:graphicFrameLocks noGrp="1"/>
          </p:cNvGraphicFramePr>
          <p:nvPr/>
        </p:nvGraphicFramePr>
        <p:xfrm>
          <a:off x="460828" y="2815322"/>
          <a:ext cx="11270343" cy="187980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756781">
                  <a:extLst>
                    <a:ext uri="{9D8B030D-6E8A-4147-A177-3AD203B41FA5}">
                      <a16:colId xmlns:a16="http://schemas.microsoft.com/office/drawing/2014/main" val="2123945151"/>
                    </a:ext>
                  </a:extLst>
                </a:gridCol>
                <a:gridCol w="3756781">
                  <a:extLst>
                    <a:ext uri="{9D8B030D-6E8A-4147-A177-3AD203B41FA5}">
                      <a16:colId xmlns:a16="http://schemas.microsoft.com/office/drawing/2014/main" val="3855385467"/>
                    </a:ext>
                  </a:extLst>
                </a:gridCol>
                <a:gridCol w="3756781">
                  <a:extLst>
                    <a:ext uri="{9D8B030D-6E8A-4147-A177-3AD203B41FA5}">
                      <a16:colId xmlns:a16="http://schemas.microsoft.com/office/drawing/2014/main" val="3322725072"/>
                    </a:ext>
                  </a:extLst>
                </a:gridCol>
              </a:tblGrid>
              <a:tr h="469952">
                <a:tc>
                  <a:txBody>
                    <a:bodyPr/>
                    <a:lstStyle/>
                    <a:p>
                      <a:r>
                        <a:rPr lang="ko-KR" altLang="en-US"/>
                        <a:t>마일스톤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목표 날짜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세부 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6580736"/>
                  </a:ext>
                </a:extLst>
              </a:tr>
              <a:tr h="469952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ko-KR" altLang="en-US"/>
                        <a:t>기획 완료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2025-01-15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기능 명세서 작성 및 기술 스택 확정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9669567"/>
                  </a:ext>
                </a:extLst>
              </a:tr>
              <a:tr h="469952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en-US"/>
                        <a:t>MVP </a:t>
                      </a:r>
                      <a:r>
                        <a:rPr lang="ko-KR" altLang="en-US"/>
                        <a:t>개발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2025-02-01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핵심 기능이 포함된 최소 제품 개발 완료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55861539"/>
                  </a:ext>
                </a:extLst>
              </a:tr>
              <a:tr h="469952">
                <a:tc>
                  <a:txBody>
                    <a:bodyPr/>
                    <a:lstStyle/>
                    <a:p>
                      <a:r>
                        <a:rPr lang="ko-KR" altLang="en-US" dirty="0"/>
                        <a:t>예</a:t>
                      </a:r>
                      <a:r>
                        <a:rPr lang="en-US" altLang="ko-KR" dirty="0"/>
                        <a:t>: </a:t>
                      </a:r>
                      <a:r>
                        <a:rPr lang="ko-KR" altLang="en-US" dirty="0"/>
                        <a:t>최종 발표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2025-02-15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모든 기능 구현 및 발표 자료 준비 완료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53302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69565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FBD6A-4A94-7570-39EF-647F7C866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3164A-01B2-E962-CC3D-296BD0542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154F8-059B-AFFA-97A3-C02CE01E73C5}"/>
              </a:ext>
            </a:extLst>
          </p:cNvPr>
          <p:cNvSpPr txBox="1"/>
          <p:nvPr/>
        </p:nvSpPr>
        <p:spPr>
          <a:xfrm>
            <a:off x="399143" y="1035351"/>
            <a:ext cx="11393714" cy="1795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/>
              <a:t>3.2 </a:t>
            </a:r>
            <a:r>
              <a:rPr lang="ko-KR" altLang="en-US" sz="2800" b="1" dirty="0"/>
              <a:t>개발 프로세스 및 팀 룰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개발 방식</a:t>
            </a:r>
            <a:r>
              <a:rPr lang="en-US" altLang="ko-KR" sz="2400" dirty="0"/>
              <a:t>(</a:t>
            </a:r>
            <a:r>
              <a:rPr lang="ko-KR" altLang="en-US" sz="2400" dirty="0"/>
              <a:t>예</a:t>
            </a:r>
            <a:r>
              <a:rPr lang="en-US" altLang="ko-KR" sz="2400" dirty="0"/>
              <a:t>: Agile, Scrum)</a:t>
            </a:r>
            <a:r>
              <a:rPr lang="ko-KR" altLang="en-US" sz="2400" dirty="0"/>
              <a:t>과 주요 협업 툴</a:t>
            </a:r>
            <a:r>
              <a:rPr lang="en-US" altLang="ko-KR" sz="2400" dirty="0"/>
              <a:t>(</a:t>
            </a:r>
            <a:r>
              <a:rPr lang="ko-KR" altLang="en-US" sz="2400" dirty="0"/>
              <a:t>예</a:t>
            </a:r>
            <a:r>
              <a:rPr lang="en-US" altLang="ko-KR" sz="2400" dirty="0"/>
              <a:t>: </a:t>
            </a:r>
            <a:r>
              <a:rPr lang="en-US" altLang="ko-KR" sz="2400" dirty="0" err="1"/>
              <a:t>Github</a:t>
            </a:r>
            <a:r>
              <a:rPr lang="en-US" altLang="ko-KR" sz="2400" dirty="0"/>
              <a:t>, Notion, Figma </a:t>
            </a:r>
            <a:r>
              <a:rPr lang="ko-KR" altLang="en-US" sz="2400" dirty="0"/>
              <a:t>등</a:t>
            </a:r>
            <a:r>
              <a:rPr lang="en-US" altLang="ko-KR" sz="2400" dirty="0"/>
              <a:t>)</a:t>
            </a:r>
            <a:r>
              <a:rPr lang="ko-KR" altLang="en-US" sz="2400" dirty="0"/>
              <a:t>을 작성하세요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사전에 합의된 팀 룰이 있다면 적어주세요</a:t>
            </a:r>
            <a:r>
              <a:rPr lang="en-US" altLang="ko-KR" sz="2400" dirty="0"/>
              <a:t>.(Lint </a:t>
            </a:r>
            <a:r>
              <a:rPr lang="ko-KR" altLang="en-US" sz="2400" dirty="0"/>
              <a:t>규칙</a:t>
            </a:r>
            <a:r>
              <a:rPr lang="en-US" altLang="ko-KR" sz="2400" dirty="0"/>
              <a:t>, Commit </a:t>
            </a:r>
            <a:r>
              <a:rPr lang="ko-KR" altLang="en-US" sz="2400" dirty="0"/>
              <a:t>규칙 등</a:t>
            </a:r>
            <a:r>
              <a:rPr lang="en-US" altLang="ko-KR" sz="2400" dirty="0"/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70BE8D-8E83-727E-C2B0-3D2DEC60EDE3}"/>
              </a:ext>
            </a:extLst>
          </p:cNvPr>
          <p:cNvSpPr txBox="1"/>
          <p:nvPr/>
        </p:nvSpPr>
        <p:spPr>
          <a:xfrm>
            <a:off x="399143" y="2968672"/>
            <a:ext cx="11393714" cy="19890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b="1" dirty="0"/>
              <a:t>Commit </a:t>
            </a:r>
            <a:r>
              <a:rPr lang="ko-KR" altLang="en-US" sz="2400" b="1" dirty="0"/>
              <a:t>규칙</a:t>
            </a:r>
            <a:r>
              <a:rPr lang="en-US" altLang="ko-KR" sz="2400" b="1" dirty="0"/>
              <a:t>?</a:t>
            </a:r>
            <a:endParaRPr lang="ko-KR" altLang="en-US" sz="24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/>
              <a:t>git </a:t>
            </a:r>
            <a:r>
              <a:rPr lang="en-US" altLang="ko-KR" sz="2000" dirty="0" err="1"/>
              <a:t>commt</a:t>
            </a:r>
            <a:r>
              <a:rPr lang="en-US" altLang="ko-KR" sz="2000" dirty="0"/>
              <a:t> -m</a:t>
            </a:r>
            <a:r>
              <a:rPr lang="ko-KR" altLang="en-US" sz="2000" dirty="0"/>
              <a:t>으로 변경사항을 설명하는 메시지를 작성할 때 일관된 형식과 내용을 따르는 규칙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/>
              <a:t>코드 변경 이력을 더 명확하고 효율적으로 관리할 수 있음</a:t>
            </a:r>
            <a:endParaRPr lang="en-US" altLang="ko-KR" sz="2000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2000" dirty="0"/>
              <a:t>팀원 간의 커뮤니케이션을 원활하게 하고</a:t>
            </a:r>
            <a:r>
              <a:rPr lang="en-US" altLang="ko-KR" sz="2000" dirty="0"/>
              <a:t>, </a:t>
            </a:r>
            <a:r>
              <a:rPr lang="ko-KR" altLang="en-US" sz="2000" dirty="0"/>
              <a:t>리뷰 과정에서 혼선을 줄여 줌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006501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0CFDA-C649-29DD-F91A-7E4DCB81C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D17818-B025-4C43-64A8-D7369F0CC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98CEFA-FAB2-C68C-075A-07555E7BFFEB}"/>
              </a:ext>
            </a:extLst>
          </p:cNvPr>
          <p:cNvSpPr txBox="1"/>
          <p:nvPr/>
        </p:nvSpPr>
        <p:spPr>
          <a:xfrm>
            <a:off x="251788" y="961751"/>
            <a:ext cx="4834561" cy="52711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b="1" dirty="0" err="1"/>
              <a:t>커밋</a:t>
            </a:r>
            <a:r>
              <a:rPr lang="ko-KR" altLang="en-US" sz="2800" b="1" dirty="0"/>
              <a:t> 메시지 작성 가이드</a:t>
            </a:r>
            <a:endParaRPr lang="en-US" altLang="ko-KR" sz="2800" b="1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50</a:t>
            </a:r>
            <a:r>
              <a:rPr lang="ko-KR" altLang="en-US" dirty="0"/>
              <a:t>자 이내로 간결하게 작성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명령문 형태 사용 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Add, Fix, Update </a:t>
            </a:r>
            <a:r>
              <a:rPr lang="ko-KR" altLang="en-US" dirty="0"/>
              <a:t>등</a:t>
            </a:r>
            <a:r>
              <a:rPr lang="en-US" altLang="ko-KR" dirty="0"/>
              <a:t>).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필요 시 본문에서 상세 내용을 서술</a:t>
            </a:r>
            <a:r>
              <a:rPr lang="en-US" altLang="ko-KR" dirty="0"/>
              <a:t>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/>
              <a:t>타입 예시</a:t>
            </a:r>
            <a:r>
              <a:rPr lang="en-US" altLang="ko-KR" dirty="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feat: </a:t>
            </a:r>
            <a:r>
              <a:rPr lang="ko-KR" altLang="en-US" dirty="0"/>
              <a:t>새로운 기능 추가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fix: </a:t>
            </a:r>
            <a:r>
              <a:rPr lang="ko-KR" altLang="en-US" dirty="0"/>
              <a:t>버그 수정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docs: </a:t>
            </a:r>
            <a:r>
              <a:rPr lang="ko-KR" altLang="en-US" dirty="0"/>
              <a:t>문서 변경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style: </a:t>
            </a:r>
            <a:r>
              <a:rPr lang="ko-KR" altLang="en-US" dirty="0"/>
              <a:t>비즈니스 로직에 영향 없는 변경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refactor: </a:t>
            </a:r>
            <a:r>
              <a:rPr lang="ko-KR" altLang="en-US" dirty="0"/>
              <a:t>코드 </a:t>
            </a:r>
            <a:r>
              <a:rPr lang="ko-KR" altLang="en-US" dirty="0" err="1"/>
              <a:t>리팩토링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ko-KR" altLang="en-US" dirty="0"/>
              <a:t>기능 변경 없음</a:t>
            </a:r>
            <a:r>
              <a:rPr lang="en-US" altLang="ko-KR" dirty="0"/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test: </a:t>
            </a:r>
            <a:r>
              <a:rPr lang="ko-KR" altLang="en-US" dirty="0"/>
              <a:t>테스트 코드 추가</a:t>
            </a:r>
            <a:r>
              <a:rPr lang="en-US" altLang="ko-KR" dirty="0"/>
              <a:t>/</a:t>
            </a:r>
            <a:r>
              <a:rPr lang="ko-KR" altLang="en-US" dirty="0"/>
              <a:t>수정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chore: </a:t>
            </a:r>
            <a:r>
              <a:rPr lang="ko-KR" altLang="en-US" dirty="0"/>
              <a:t>기타 변경사항</a:t>
            </a:r>
            <a:endParaRPr lang="en-US" altLang="ko-KR" sz="1600" dirty="0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39CF43CE-4CA6-57D6-1185-8632C42B8EDE}"/>
              </a:ext>
            </a:extLst>
          </p:cNvPr>
          <p:cNvGrpSpPr/>
          <p:nvPr/>
        </p:nvGrpSpPr>
        <p:grpSpPr>
          <a:xfrm>
            <a:off x="5695949" y="1258888"/>
            <a:ext cx="6121173" cy="5201940"/>
            <a:chOff x="5683023" y="1258888"/>
            <a:chExt cx="6134100" cy="5212926"/>
          </a:xfrm>
        </p:grpSpPr>
        <p:pic>
          <p:nvPicPr>
            <p:cNvPr id="5127" name="Picture 7" descr="Make a meaningful git commit message with Semantic Commit Message | by  Martin David Valentino | Dev Genius">
              <a:extLst>
                <a:ext uri="{FF2B5EF4-FFF2-40B4-BE49-F238E27FC236}">
                  <a16:creationId xmlns:a16="http://schemas.microsoft.com/office/drawing/2014/main" id="{470296FF-BD3F-EC2C-2317-9702B01629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7769"/>
            <a:stretch/>
          </p:blipFill>
          <p:spPr bwMode="auto">
            <a:xfrm>
              <a:off x="5763532" y="1258888"/>
              <a:ext cx="5973082" cy="48128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A7B1F56-12F3-3985-B581-4394B303E72B}"/>
                </a:ext>
              </a:extLst>
            </p:cNvPr>
            <p:cNvSpPr txBox="1"/>
            <p:nvPr/>
          </p:nvSpPr>
          <p:spPr>
            <a:xfrm>
              <a:off x="5683023" y="6071704"/>
              <a:ext cx="613410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000" dirty="0"/>
                <a:t>[</a:t>
              </a:r>
              <a:r>
                <a:rPr lang="ko-KR" altLang="en-US" sz="1000" dirty="0"/>
                <a:t>출처</a:t>
              </a:r>
              <a:r>
                <a:rPr lang="en-US" altLang="ko-KR" sz="1000" dirty="0"/>
                <a:t>] </a:t>
              </a:r>
              <a:r>
                <a:rPr lang="ko-KR" altLang="en-US" sz="1000" dirty="0"/>
                <a:t>https://blog.devgenius.io/make-a-meaningful-git-commit-message-with-semantic-commit-message-b39a79b13aa3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16454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A9AB8-9B14-DF3A-49BC-80BE3BBDD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4FD2D1-3C6D-DF4F-4D23-C52FF5619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F87F97-3D78-ED31-5C5D-7DC27A71EA8F}"/>
              </a:ext>
            </a:extLst>
          </p:cNvPr>
          <p:cNvSpPr txBox="1"/>
          <p:nvPr/>
        </p:nvSpPr>
        <p:spPr>
          <a:xfrm>
            <a:off x="399143" y="917681"/>
            <a:ext cx="11393714" cy="1795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/>
              <a:t>4. </a:t>
            </a:r>
            <a:r>
              <a:rPr lang="ko-KR" altLang="en-US" sz="2800" b="1" dirty="0"/>
              <a:t>기능 명세서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4.1 </a:t>
            </a:r>
            <a:r>
              <a:rPr lang="ko-KR" altLang="en-US" sz="2400" b="1" dirty="0"/>
              <a:t>핵심 기능 리스트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프로젝트의 주요 기능들을 목록으로 작성하세요</a:t>
            </a:r>
            <a:r>
              <a:rPr lang="en-US" altLang="ko-KR" sz="2400" dirty="0"/>
              <a:t>.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C1ED4BE-5443-7F42-349A-293007613145}"/>
              </a:ext>
            </a:extLst>
          </p:cNvPr>
          <p:cNvGraphicFramePr>
            <a:graphicFrameLocks noGrp="1"/>
          </p:cNvGraphicFramePr>
          <p:nvPr/>
        </p:nvGraphicFramePr>
        <p:xfrm>
          <a:off x="537033" y="2864219"/>
          <a:ext cx="11255824" cy="2560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13956">
                  <a:extLst>
                    <a:ext uri="{9D8B030D-6E8A-4147-A177-3AD203B41FA5}">
                      <a16:colId xmlns:a16="http://schemas.microsoft.com/office/drawing/2014/main" val="2505894645"/>
                    </a:ext>
                  </a:extLst>
                </a:gridCol>
                <a:gridCol w="2813956">
                  <a:extLst>
                    <a:ext uri="{9D8B030D-6E8A-4147-A177-3AD203B41FA5}">
                      <a16:colId xmlns:a16="http://schemas.microsoft.com/office/drawing/2014/main" val="1404648023"/>
                    </a:ext>
                  </a:extLst>
                </a:gridCol>
                <a:gridCol w="2813956">
                  <a:extLst>
                    <a:ext uri="{9D8B030D-6E8A-4147-A177-3AD203B41FA5}">
                      <a16:colId xmlns:a16="http://schemas.microsoft.com/office/drawing/2014/main" val="477267660"/>
                    </a:ext>
                  </a:extLst>
                </a:gridCol>
                <a:gridCol w="2813956">
                  <a:extLst>
                    <a:ext uri="{9D8B030D-6E8A-4147-A177-3AD203B41FA5}">
                      <a16:colId xmlns:a16="http://schemas.microsoft.com/office/drawing/2014/main" val="17550399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기능 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우선순위 </a:t>
                      </a:r>
                      <a:r>
                        <a:rPr lang="en-US" altLang="ko-KR"/>
                        <a:t>(</a:t>
                      </a:r>
                      <a:r>
                        <a:rPr lang="en-US"/>
                        <a:t>High/Medium/Low)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담당자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946295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dirty="0"/>
                        <a:t>예</a:t>
                      </a:r>
                      <a:r>
                        <a:rPr lang="en-US" altLang="ko-KR" dirty="0"/>
                        <a:t>: </a:t>
                      </a:r>
                      <a:r>
                        <a:rPr lang="ko-KR" altLang="en-US" dirty="0"/>
                        <a:t>사용자 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사용자가 이메일과 비밀번호로 로그인할 수 있음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홍길동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6092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ko-KR" altLang="en-US"/>
                        <a:t>게시글 작성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사용자가 게시글을 작성하고 저장할 수 있음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김철수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5676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예</a:t>
                      </a:r>
                      <a:r>
                        <a:rPr lang="en-US" altLang="ko-KR"/>
                        <a:t>: </a:t>
                      </a:r>
                      <a:r>
                        <a:rPr lang="ko-KR" altLang="en-US"/>
                        <a:t>검색 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키워드로 콘텐츠를 검색할 수 있음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이영희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56305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97332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8F54E-0721-1AF4-6053-B5CC07BF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31A54F-2268-8496-B6E3-7A526276C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369ED6-8A6D-0E49-05F0-4D7594E7194A}"/>
              </a:ext>
            </a:extLst>
          </p:cNvPr>
          <p:cNvSpPr txBox="1"/>
          <p:nvPr/>
        </p:nvSpPr>
        <p:spPr>
          <a:xfrm>
            <a:off x="399143" y="1207967"/>
            <a:ext cx="1139371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800" b="1" dirty="0"/>
              <a:t>4.2 </a:t>
            </a:r>
            <a:r>
              <a:rPr lang="ko-KR" altLang="en-US" sz="2800" b="1" dirty="0"/>
              <a:t>플로우 차트</a:t>
            </a:r>
          </a:p>
          <a:p>
            <a:r>
              <a:rPr lang="ko-KR" altLang="en-US" sz="2400" dirty="0"/>
              <a:t>기능 간 데이터 흐름을 간략히 설명하거나 다이어그램으로 표현하세요</a:t>
            </a:r>
            <a:r>
              <a:rPr lang="en-US" altLang="ko-KR" sz="2400" dirty="0"/>
              <a:t>.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A28FBEE4-FEA4-5EDB-E862-75FFCBDDC051}"/>
              </a:ext>
            </a:extLst>
          </p:cNvPr>
          <p:cNvGrpSpPr/>
          <p:nvPr/>
        </p:nvGrpSpPr>
        <p:grpSpPr>
          <a:xfrm>
            <a:off x="399143" y="2420104"/>
            <a:ext cx="6139542" cy="3766206"/>
            <a:chOff x="428172" y="2289476"/>
            <a:chExt cx="6139542" cy="3766206"/>
          </a:xfrm>
        </p:grpSpPr>
        <p:pic>
          <p:nvPicPr>
            <p:cNvPr id="4098" name="Picture 2" descr="좀 더 발전한 '캠핏'의 Flow Chart">
              <a:extLst>
                <a:ext uri="{FF2B5EF4-FFF2-40B4-BE49-F238E27FC236}">
                  <a16:creationId xmlns:a16="http://schemas.microsoft.com/office/drawing/2014/main" id="{AB66E841-F90E-FBCF-5BF3-3F250D8E9F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7029" y="2289476"/>
              <a:ext cx="5921828" cy="333102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C0A2EA7-5565-F706-440F-05E5C891A8C4}"/>
                </a:ext>
              </a:extLst>
            </p:cNvPr>
            <p:cNvSpPr txBox="1"/>
            <p:nvPr/>
          </p:nvSpPr>
          <p:spPr>
            <a:xfrm>
              <a:off x="428172" y="5809461"/>
              <a:ext cx="6139542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00" dirty="0"/>
                <a:t>[</a:t>
              </a:r>
              <a:r>
                <a:rPr lang="ko-KR" altLang="en-US" sz="1000" dirty="0"/>
                <a:t>출처</a:t>
              </a:r>
              <a:r>
                <a:rPr lang="en-US" altLang="ko-KR" sz="1000" dirty="0"/>
                <a:t>] </a:t>
              </a:r>
              <a:r>
                <a:rPr lang="ko-KR" altLang="en-US" sz="1000" dirty="0"/>
                <a:t>https://brunch.co.kr/@hyunn2/36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2BD19C79-8E52-A46B-9075-AA87958A7B20}"/>
              </a:ext>
            </a:extLst>
          </p:cNvPr>
          <p:cNvSpPr txBox="1"/>
          <p:nvPr/>
        </p:nvSpPr>
        <p:spPr>
          <a:xfrm>
            <a:off x="6763657" y="3110318"/>
            <a:ext cx="5428343" cy="1789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b="1" dirty="0"/>
              <a:t>무료 제작 도구</a:t>
            </a:r>
            <a:endParaRPr lang="en-US" altLang="ko-KR" sz="2800" b="1" dirty="0"/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b="1" i="0" dirty="0">
                <a:solidFill>
                  <a:srgbClr val="000000"/>
                </a:solidFill>
                <a:effectLst/>
                <a:latin typeface="Noto Sans KR"/>
              </a:rPr>
              <a:t>Miro: 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Noto Sans KR"/>
                <a:hlinkClick r:id="rId3"/>
              </a:rPr>
              <a:t>https://miro.com/ko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Noto Sans KR"/>
              </a:rPr>
              <a:t>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400" b="1" i="0" dirty="0">
                <a:solidFill>
                  <a:srgbClr val="000000"/>
                </a:solidFill>
                <a:effectLst/>
                <a:latin typeface="Noto Sans KR"/>
              </a:rPr>
              <a:t>Draw.io: </a:t>
            </a:r>
            <a:r>
              <a:rPr lang="en-US" altLang="ko-KR" sz="2400" b="1" i="0" dirty="0">
                <a:solidFill>
                  <a:srgbClr val="000000"/>
                </a:solidFill>
                <a:effectLst/>
                <a:latin typeface="Noto Sans KR"/>
                <a:hlinkClick r:id="rId4"/>
              </a:rPr>
              <a:t>https://app.diagrams.net/</a:t>
            </a:r>
            <a:endParaRPr lang="en-US" altLang="ko-KR" sz="2400" b="1" i="0" dirty="0">
              <a:solidFill>
                <a:srgbClr val="000000"/>
              </a:solidFill>
              <a:effectLst/>
              <a:latin typeface="Noto Sans KR"/>
            </a:endParaRPr>
          </a:p>
        </p:txBody>
      </p:sp>
    </p:spTree>
    <p:extLst>
      <p:ext uri="{BB962C8B-B14F-4D97-AF65-F5344CB8AC3E}">
        <p14:creationId xmlns:p14="http://schemas.microsoft.com/office/powerpoint/2010/main" val="5375099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A8FB6-DEC6-F2FE-F20C-0069351E4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4064FA-BAD3-106B-8D86-A985326FC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계획서 작성</a:t>
            </a:r>
            <a:r>
              <a:rPr lang="en-US" altLang="ko-KR" dirty="0"/>
              <a:t>(</a:t>
            </a:r>
            <a:r>
              <a:rPr lang="ko-KR" altLang="en-US" dirty="0"/>
              <a:t>예시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347AD2-F43B-A913-ADA9-493DF65D07BB}"/>
              </a:ext>
            </a:extLst>
          </p:cNvPr>
          <p:cNvSpPr txBox="1"/>
          <p:nvPr/>
        </p:nvSpPr>
        <p:spPr>
          <a:xfrm>
            <a:off x="399143" y="1325563"/>
            <a:ext cx="11393714" cy="290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800" b="1" dirty="0"/>
              <a:t>5. </a:t>
            </a:r>
            <a:r>
              <a:rPr lang="ko-KR" altLang="en-US" sz="2800" b="1" dirty="0"/>
              <a:t>기타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5.1 </a:t>
            </a:r>
            <a:r>
              <a:rPr lang="ko-KR" altLang="en-US" sz="2400" b="1" dirty="0"/>
              <a:t>참고 자료 및 링크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참고한 자료</a:t>
            </a:r>
            <a:r>
              <a:rPr lang="en-US" altLang="ko-KR" sz="2400" dirty="0"/>
              <a:t>, </a:t>
            </a:r>
            <a:r>
              <a:rPr lang="ko-KR" altLang="en-US" sz="2400" dirty="0"/>
              <a:t>레퍼런스 링크</a:t>
            </a:r>
            <a:r>
              <a:rPr lang="en-US" altLang="ko-KR" sz="2400" dirty="0"/>
              <a:t>, API </a:t>
            </a:r>
            <a:r>
              <a:rPr lang="ko-KR" altLang="en-US" sz="2400" dirty="0"/>
              <a:t>문서 등을 작성하세요</a:t>
            </a:r>
            <a:r>
              <a:rPr lang="en-US" altLang="ko-KR" sz="24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2400" b="1" dirty="0"/>
              <a:t>5.2 </a:t>
            </a:r>
            <a:r>
              <a:rPr lang="ko-KR" altLang="en-US" sz="2400" b="1" dirty="0"/>
              <a:t>부가 정보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기타 필요한 정보 작성</a:t>
            </a:r>
          </a:p>
        </p:txBody>
      </p:sp>
    </p:spTree>
    <p:extLst>
      <p:ext uri="{BB962C8B-B14F-4D97-AF65-F5344CB8AC3E}">
        <p14:creationId xmlns:p14="http://schemas.microsoft.com/office/powerpoint/2010/main" val="41674902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ECF0-0546-0575-04D5-B82B7A86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0BC792C-9AD9-5444-708A-769514CF8558}"/>
              </a:ext>
            </a:extLst>
          </p:cNvPr>
          <p:cNvSpPr txBox="1"/>
          <p:nvPr/>
        </p:nvSpPr>
        <p:spPr>
          <a:xfrm>
            <a:off x="3674536" y="2600493"/>
            <a:ext cx="48429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발표자료 예시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8119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CE201531-E415-73FA-6C15-A093B272CF02}"/>
              </a:ext>
            </a:extLst>
          </p:cNvPr>
          <p:cNvGrpSpPr/>
          <p:nvPr/>
        </p:nvGrpSpPr>
        <p:grpSpPr>
          <a:xfrm>
            <a:off x="695399" y="305826"/>
            <a:ext cx="10729193" cy="6202052"/>
            <a:chOff x="586740" y="1910223"/>
            <a:chExt cx="3218444" cy="4947777"/>
          </a:xfrm>
        </p:grpSpPr>
        <p:sp>
          <p:nvSpPr>
            <p:cNvPr id="7" name="사각형: 둥근 위쪽 모서리 6">
              <a:extLst>
                <a:ext uri="{FF2B5EF4-FFF2-40B4-BE49-F238E27FC236}">
                  <a16:creationId xmlns:a16="http://schemas.microsoft.com/office/drawing/2014/main" id="{20CEB42D-27A7-01E0-8C72-1940C197DA31}"/>
                </a:ext>
              </a:extLst>
            </p:cNvPr>
            <p:cNvSpPr/>
            <p:nvPr/>
          </p:nvSpPr>
          <p:spPr>
            <a:xfrm>
              <a:off x="586740" y="2032000"/>
              <a:ext cx="3218444" cy="4826000"/>
            </a:xfrm>
            <a:prstGeom prst="round2SameRect">
              <a:avLst>
                <a:gd name="adj1" fmla="val 8239"/>
                <a:gd name="adj2" fmla="val 0"/>
              </a:avLst>
            </a:prstGeom>
            <a:gradFill>
              <a:gsLst>
                <a:gs pos="0">
                  <a:srgbClr val="F7FFFF"/>
                </a:gs>
                <a:gs pos="100000">
                  <a:srgbClr val="B9DAFF">
                    <a:alpha val="50000"/>
                  </a:srgbClr>
                </a:gs>
              </a:gsLst>
              <a:lin ang="16200000" scaled="1"/>
            </a:gradFill>
            <a:ln w="12261" cap="flat">
              <a:noFill/>
              <a:prstDash val="solid"/>
              <a:miter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2020429F-1416-5903-8511-22F8E7B515CA}"/>
                </a:ext>
              </a:extLst>
            </p:cNvPr>
            <p:cNvSpPr/>
            <p:nvPr/>
          </p:nvSpPr>
          <p:spPr>
            <a:xfrm>
              <a:off x="586740" y="6741981"/>
              <a:ext cx="3218444" cy="116019"/>
            </a:xfrm>
            <a:prstGeom prst="rect">
              <a:avLst/>
            </a:prstGeom>
            <a:solidFill>
              <a:srgbClr val="1A35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dirty="0"/>
            </a:p>
          </p:txBody>
        </p:sp>
        <p:pic>
          <p:nvPicPr>
            <p:cNvPr id="10" name="그래픽 39">
              <a:extLst>
                <a:ext uri="{FF2B5EF4-FFF2-40B4-BE49-F238E27FC236}">
                  <a16:creationId xmlns:a16="http://schemas.microsoft.com/office/drawing/2014/main" id="{941ADA50-64C2-37EE-C27F-C97C25EA3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286777" y="1910223"/>
              <a:ext cx="136552" cy="266700"/>
            </a:xfrm>
            <a:prstGeom prst="rect">
              <a:avLst/>
            </a:prstGeom>
          </p:spPr>
        </p:pic>
        <p:pic>
          <p:nvPicPr>
            <p:cNvPr id="16" name="그래픽 57">
              <a:extLst>
                <a:ext uri="{FF2B5EF4-FFF2-40B4-BE49-F238E27FC236}">
                  <a16:creationId xmlns:a16="http://schemas.microsoft.com/office/drawing/2014/main" id="{5776C62F-FC39-30A5-8C05-0EA4976C7D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78282" y="4699746"/>
              <a:ext cx="513759" cy="513759"/>
            </a:xfrm>
            <a:prstGeom prst="rect">
              <a:avLst/>
            </a:prstGeom>
          </p:spPr>
        </p:pic>
      </p:grpSp>
      <p:pic>
        <p:nvPicPr>
          <p:cNvPr id="5" name="그림 4" descr="노트북, 컴퓨터, 의류, 사람이(가) 표시된 사진&#10;&#10;자동 생성된 설명">
            <a:extLst>
              <a:ext uri="{FF2B5EF4-FFF2-40B4-BE49-F238E27FC236}">
                <a16:creationId xmlns:a16="http://schemas.microsoft.com/office/drawing/2014/main" id="{65866456-3A04-FF02-3B68-1DDA24DD41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343" y="2852936"/>
            <a:ext cx="6272386" cy="3816424"/>
          </a:xfrm>
          <a:prstGeom prst="rect">
            <a:avLst/>
          </a:prstGeom>
        </p:spPr>
      </p:pic>
      <p:pic>
        <p:nvPicPr>
          <p:cNvPr id="28" name="그래픽 67">
            <a:extLst>
              <a:ext uri="{FF2B5EF4-FFF2-40B4-BE49-F238E27FC236}">
                <a16:creationId xmlns:a16="http://schemas.microsoft.com/office/drawing/2014/main" id="{80C07BB0-31E5-6486-268B-B1E3D500D9A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32004" y="3739512"/>
            <a:ext cx="104775" cy="762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F7BE0201-4E19-4F17-880B-68EB902B69A3}"/>
              </a:ext>
            </a:extLst>
          </p:cNvPr>
          <p:cNvSpPr txBox="1"/>
          <p:nvPr/>
        </p:nvSpPr>
        <p:spPr>
          <a:xfrm>
            <a:off x="5356145" y="2227736"/>
            <a:ext cx="6008376" cy="219079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b="1" dirty="0"/>
              <a:t>(PPT </a:t>
            </a:r>
            <a:r>
              <a:rPr lang="ko-KR" altLang="en-US" sz="2400" b="1" dirty="0"/>
              <a:t>작성 시</a:t>
            </a:r>
            <a:r>
              <a:rPr lang="en-US" altLang="ko-KR" sz="2400" b="1" dirty="0"/>
              <a:t>)</a:t>
            </a:r>
            <a:r>
              <a:rPr lang="ko-KR" altLang="en-US" sz="2400" b="1" dirty="0"/>
              <a:t> 아래 경로에 등록된 </a:t>
            </a:r>
            <a:endParaRPr lang="en-US" altLang="ko-KR" sz="2400" b="1" dirty="0"/>
          </a:p>
          <a:p>
            <a:pPr>
              <a:lnSpc>
                <a:spcPct val="200000"/>
              </a:lnSpc>
            </a:pPr>
            <a:r>
              <a:rPr lang="en-US" altLang="ko-KR" sz="2400" dirty="0"/>
              <a:t>[</a:t>
            </a:r>
            <a:r>
              <a:rPr lang="ko-KR" altLang="en-US" sz="2400" b="1" dirty="0"/>
              <a:t>작성가이드 </a:t>
            </a:r>
            <a:r>
              <a:rPr lang="en-US" altLang="ko-KR" sz="2400" b="1" dirty="0"/>
              <a:t>2. </a:t>
            </a:r>
            <a:r>
              <a:rPr lang="ko-KR" altLang="en-US" sz="2400" b="1" dirty="0"/>
              <a:t>팀별 프로젝트 결과보고서</a:t>
            </a:r>
            <a:r>
              <a:rPr lang="en-US" altLang="ko-KR" sz="2400" b="1" dirty="0"/>
              <a:t>]</a:t>
            </a:r>
          </a:p>
          <a:p>
            <a:pPr>
              <a:lnSpc>
                <a:spcPct val="200000"/>
              </a:lnSpc>
            </a:pPr>
            <a:r>
              <a:rPr lang="ko-KR" altLang="en-US" sz="2400" b="1" dirty="0"/>
              <a:t>영상을 참고하여 작성하세요</a:t>
            </a:r>
            <a:r>
              <a:rPr lang="en-US" altLang="ko-KR" sz="2400" b="1" dirty="0"/>
              <a:t>!</a:t>
            </a:r>
            <a:r>
              <a:rPr lang="ko-KR" altLang="en-US" sz="2400" b="1" dirty="0"/>
              <a:t>     </a:t>
            </a:r>
            <a:endParaRPr lang="ko-KR" altLang="en-US" sz="2400" dirty="0"/>
          </a:p>
        </p:txBody>
      </p:sp>
      <p:pic>
        <p:nvPicPr>
          <p:cNvPr id="33" name="그래픽 32">
            <a:extLst>
              <a:ext uri="{FF2B5EF4-FFF2-40B4-BE49-F238E27FC236}">
                <a16:creationId xmlns:a16="http://schemas.microsoft.com/office/drawing/2014/main" id="{605BBCBF-7F86-424E-B6F1-1163FB3CA1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87575" y="1114901"/>
            <a:ext cx="231912" cy="231912"/>
          </a:xfrm>
          <a:prstGeom prst="rect">
            <a:avLst/>
          </a:prstGeom>
        </p:spPr>
      </p:pic>
      <p:pic>
        <p:nvPicPr>
          <p:cNvPr id="34" name="그래픽 33">
            <a:extLst>
              <a:ext uri="{FF2B5EF4-FFF2-40B4-BE49-F238E27FC236}">
                <a16:creationId xmlns:a16="http://schemas.microsoft.com/office/drawing/2014/main" id="{1ED7A898-AC55-42A7-BBAA-5FB146DCA9F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031472" y="5970452"/>
            <a:ext cx="106965" cy="106965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63769094-2B28-4CF3-87D3-E86DAFE87CB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70411" y="3333846"/>
            <a:ext cx="320555" cy="320555"/>
          </a:xfrm>
          <a:prstGeom prst="rect">
            <a:avLst/>
          </a:prstGeom>
        </p:spPr>
      </p:pic>
      <p:pic>
        <p:nvPicPr>
          <p:cNvPr id="36" name="그래픽 39">
            <a:extLst>
              <a:ext uri="{FF2B5EF4-FFF2-40B4-BE49-F238E27FC236}">
                <a16:creationId xmlns:a16="http://schemas.microsoft.com/office/drawing/2014/main" id="{941ADA50-64C2-37EE-C27F-C97C25EA3F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41657" y="3051749"/>
            <a:ext cx="190500" cy="266700"/>
          </a:xfrm>
          <a:prstGeom prst="rect">
            <a:avLst/>
          </a:prstGeom>
        </p:spPr>
      </p:pic>
      <p:pic>
        <p:nvPicPr>
          <p:cNvPr id="37" name="그래픽 41">
            <a:extLst>
              <a:ext uri="{FF2B5EF4-FFF2-40B4-BE49-F238E27FC236}">
                <a16:creationId xmlns:a16="http://schemas.microsoft.com/office/drawing/2014/main" id="{C059AD3E-9512-40E4-B4F1-8EC2B01947B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935731" y="4683554"/>
            <a:ext cx="459767" cy="437634"/>
          </a:xfrm>
          <a:prstGeom prst="rect">
            <a:avLst/>
          </a:prstGeom>
        </p:spPr>
      </p:pic>
      <p:pic>
        <p:nvPicPr>
          <p:cNvPr id="40" name="그래픽 296">
            <a:extLst>
              <a:ext uri="{FF2B5EF4-FFF2-40B4-BE49-F238E27FC236}">
                <a16:creationId xmlns:a16="http://schemas.microsoft.com/office/drawing/2014/main" id="{0D93E5BE-BF5F-A52F-20A6-B017D69DC82E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0151618" y="692696"/>
            <a:ext cx="955324" cy="955324"/>
          </a:xfrm>
          <a:prstGeom prst="rect">
            <a:avLst/>
          </a:prstGeom>
        </p:spPr>
      </p:pic>
      <p:pic>
        <p:nvPicPr>
          <p:cNvPr id="41" name="그래픽 298">
            <a:extLst>
              <a:ext uri="{FF2B5EF4-FFF2-40B4-BE49-F238E27FC236}">
                <a16:creationId xmlns:a16="http://schemas.microsoft.com/office/drawing/2014/main" id="{2D3ECE42-9946-304E-ADC9-553BD8A99CD1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4826450" y="2232252"/>
            <a:ext cx="361822" cy="361822"/>
          </a:xfrm>
          <a:prstGeom prst="rect">
            <a:avLst/>
          </a:prstGeom>
        </p:spPr>
      </p:pic>
      <p:pic>
        <p:nvPicPr>
          <p:cNvPr id="42" name="그래픽 125">
            <a:extLst>
              <a:ext uri="{FF2B5EF4-FFF2-40B4-BE49-F238E27FC236}">
                <a16:creationId xmlns:a16="http://schemas.microsoft.com/office/drawing/2014/main" id="{306708EC-43B1-1FD4-1B3C-80EAE2789232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 rot="12553974">
            <a:off x="10881716" y="4218190"/>
            <a:ext cx="190500" cy="428625"/>
          </a:xfrm>
          <a:prstGeom prst="rect">
            <a:avLst/>
          </a:prstGeom>
        </p:spPr>
      </p:pic>
      <p:pic>
        <p:nvPicPr>
          <p:cNvPr id="43" name="그래픽 121">
            <a:extLst>
              <a:ext uri="{FF2B5EF4-FFF2-40B4-BE49-F238E27FC236}">
                <a16:creationId xmlns:a16="http://schemas.microsoft.com/office/drawing/2014/main" id="{888286FF-25C9-3A48-568B-FEE0BC283D79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1069497" y="5648116"/>
            <a:ext cx="190500" cy="180975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6D18CFB-C137-406C-88BD-E6300970EA61}"/>
              </a:ext>
            </a:extLst>
          </p:cNvPr>
          <p:cNvSpPr txBox="1"/>
          <p:nvPr/>
        </p:nvSpPr>
        <p:spPr>
          <a:xfrm>
            <a:off x="6493773" y="4703560"/>
            <a:ext cx="40307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hlinkClick r:id="rId26"/>
              </a:rPr>
              <a:t>https://youtu.be/AzQ6RnzUnpE</a:t>
            </a:r>
            <a:endParaRPr lang="ko-KR" altLang="en-US" sz="20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90BCF08-13F5-457B-911B-0BDD2B874287}"/>
              </a:ext>
            </a:extLst>
          </p:cNvPr>
          <p:cNvSpPr txBox="1"/>
          <p:nvPr/>
        </p:nvSpPr>
        <p:spPr>
          <a:xfrm>
            <a:off x="6571163" y="5184640"/>
            <a:ext cx="3686254" cy="260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422910" fontAlgn="base" latinLnBrk="0">
              <a:lnSpc>
                <a:spcPct val="120000"/>
              </a:lnSpc>
              <a:spcBef>
                <a:spcPts val="300"/>
              </a:spcBef>
              <a:spcAft>
                <a:spcPts val="300"/>
              </a:spcAft>
            </a:pP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굴림체" panose="020B0609000101010101" pitchFamily="49" charset="-127"/>
                <a:ea typeface="굴림체" panose="020B0609000101010101" pitchFamily="49" charset="-127"/>
              </a:rPr>
              <a:t>* 링크를 따라가려면 </a:t>
            </a:r>
            <a:r>
              <a:rPr lang="en-US" altLang="ko-KR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굴림체" panose="020B0609000101010101" pitchFamily="49" charset="-127"/>
                <a:ea typeface="굴림체" panose="020B0609000101010101" pitchFamily="49" charset="-127"/>
              </a:rPr>
              <a:t>&lt;ctrl&gt;</a:t>
            </a:r>
            <a:r>
              <a:rPr lang="ko-KR" altLang="en-US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굴림체" panose="020B0609000101010101" pitchFamily="49" charset="-127"/>
                <a:ea typeface="굴림체" panose="020B0609000101010101" pitchFamily="49" charset="-127"/>
              </a:rPr>
              <a:t>키를 누른 채 클릭하세요</a:t>
            </a:r>
            <a:r>
              <a:rPr lang="en-US" altLang="ko-KR" sz="105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굴림체" panose="020B0609000101010101" pitchFamily="49" charset="-127"/>
                <a:ea typeface="굴림체" panose="020B0609000101010101" pitchFamily="49" charset="-127"/>
              </a:rPr>
              <a:t>.</a:t>
            </a:r>
            <a:endParaRPr lang="ko-KR" altLang="en-US" sz="1050" dirty="0">
              <a:ln>
                <a:solidFill>
                  <a:schemeClr val="accent1">
                    <a:alpha val="0"/>
                  </a:schemeClr>
                </a:solidFill>
              </a:ln>
              <a:latin typeface="굴림체" panose="020B0609000101010101" pitchFamily="49" charset="-127"/>
              <a:ea typeface="굴림체" panose="020B0609000101010101" pitchFamily="49" charset="-127"/>
            </a:endParaRPr>
          </a:p>
        </p:txBody>
      </p:sp>
      <p:sp>
        <p:nvSpPr>
          <p:cNvPr id="39" name="TextBox 11">
            <a:extLst>
              <a:ext uri="{FF2B5EF4-FFF2-40B4-BE49-F238E27FC236}">
                <a16:creationId xmlns:a16="http://schemas.microsoft.com/office/drawing/2014/main" id="{08D694D8-661B-F6D1-68E1-35769C5E2546}"/>
              </a:ext>
            </a:extLst>
          </p:cNvPr>
          <p:cNvSpPr txBox="1"/>
          <p:nvPr/>
        </p:nvSpPr>
        <p:spPr>
          <a:xfrm>
            <a:off x="5450290" y="1542854"/>
            <a:ext cx="593829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3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1A355C"/>
                </a:solidFill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PPT</a:t>
            </a:r>
            <a:r>
              <a:rPr lang="ko-KR" altLang="en-US" sz="3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1A355C"/>
                </a:solidFill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 작성 가이드 안내</a:t>
            </a:r>
          </a:p>
        </p:txBody>
      </p:sp>
      <p:sp>
        <p:nvSpPr>
          <p:cNvPr id="24" name="TextBox 5">
            <a:extLst>
              <a:ext uri="{FF2B5EF4-FFF2-40B4-BE49-F238E27FC236}">
                <a16:creationId xmlns:a16="http://schemas.microsoft.com/office/drawing/2014/main" id="{DDA2451D-BC49-446F-BB5A-BD4056A187BE}"/>
              </a:ext>
            </a:extLst>
          </p:cNvPr>
          <p:cNvSpPr txBox="1"/>
          <p:nvPr/>
        </p:nvSpPr>
        <p:spPr>
          <a:xfrm>
            <a:off x="7767650" y="6308108"/>
            <a:ext cx="4195379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>
            <a:defPPr>
              <a:defRPr lang="ko-K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5pPr>
            <a:lvl6pPr marL="22860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6pPr>
            <a:lvl7pPr marL="27432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7pPr>
            <a:lvl8pPr marL="32004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8pPr>
            <a:lvl9pPr marL="36576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9pPr>
          </a:lstStyle>
          <a:p>
            <a:r>
              <a:rPr lang="ko-KR" altLang="en-US" dirty="0">
                <a:solidFill>
                  <a:srgbClr val="FF0000"/>
                </a:solidFill>
              </a:rPr>
              <a:t>제출 시 본 페이지는 삭제 후 제출하세요</a:t>
            </a:r>
          </a:p>
        </p:txBody>
      </p:sp>
    </p:spTree>
    <p:extLst>
      <p:ext uri="{BB962C8B-B14F-4D97-AF65-F5344CB8AC3E}">
        <p14:creationId xmlns:p14="http://schemas.microsoft.com/office/powerpoint/2010/main" val="17413963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래픽 1">
            <a:extLst>
              <a:ext uri="{FF2B5EF4-FFF2-40B4-BE49-F238E27FC236}">
                <a16:creationId xmlns:a16="http://schemas.microsoft.com/office/drawing/2014/main" id="{AEF94F9A-BEE3-D4E0-C68F-5CC13F0CB77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2792"/>
          <a:stretch/>
        </p:blipFill>
        <p:spPr>
          <a:xfrm>
            <a:off x="8589747" y="1908557"/>
            <a:ext cx="3602254" cy="29606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BBD4645-05C1-2461-0CA1-7E8039FB2786}"/>
              </a:ext>
            </a:extLst>
          </p:cNvPr>
          <p:cNvSpPr txBox="1"/>
          <p:nvPr/>
        </p:nvSpPr>
        <p:spPr>
          <a:xfrm>
            <a:off x="577148" y="618674"/>
            <a:ext cx="4546744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49729E"/>
                </a:solidFill>
                <a:latin typeface="휴먼둥근헤드라인" panose="02030504000101010101" pitchFamily="18" charset="-127"/>
                <a:ea typeface="휴먼둥근헤드라인" panose="02030504000101010101" pitchFamily="18" charset="-127"/>
              </a:rPr>
              <a:t>작성요령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AAC1A773-1649-49F3-E681-8736AC33CFD8}"/>
              </a:ext>
            </a:extLst>
          </p:cNvPr>
          <p:cNvGrpSpPr/>
          <p:nvPr/>
        </p:nvGrpSpPr>
        <p:grpSpPr>
          <a:xfrm>
            <a:off x="569528" y="1244179"/>
            <a:ext cx="3759563" cy="337820"/>
            <a:chOff x="569528" y="1244179"/>
            <a:chExt cx="3759563" cy="337820"/>
          </a:xfrm>
        </p:grpSpPr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47263B6A-5B09-A94E-7305-B9E59D67F725}"/>
                </a:ext>
              </a:extLst>
            </p:cNvPr>
            <p:cNvGrpSpPr/>
            <p:nvPr/>
          </p:nvGrpSpPr>
          <p:grpSpPr>
            <a:xfrm>
              <a:off x="569528" y="1244179"/>
              <a:ext cx="337820" cy="337820"/>
              <a:chOff x="4775200" y="-1190171"/>
              <a:chExt cx="841828" cy="841828"/>
            </a:xfrm>
          </p:grpSpPr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1BB396F-A52A-BF9D-CF1F-8F67B1A4DA02}"/>
                  </a:ext>
                </a:extLst>
              </p:cNvPr>
              <p:cNvSpPr/>
              <p:nvPr/>
            </p:nvSpPr>
            <p:spPr>
              <a:xfrm>
                <a:off x="4775200" y="-1190171"/>
                <a:ext cx="841828" cy="841828"/>
              </a:xfrm>
              <a:prstGeom prst="ellipse">
                <a:avLst/>
              </a:prstGeom>
              <a:gradFill>
                <a:gsLst>
                  <a:gs pos="0">
                    <a:srgbClr val="49729E"/>
                  </a:gs>
                  <a:gs pos="88000">
                    <a:srgbClr val="1A355C"/>
                  </a:gs>
                </a:gsLst>
                <a:lin ang="27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+mj-lt"/>
                </a:endParaRPr>
              </a:p>
            </p:txBody>
          </p:sp>
          <p:sp>
            <p:nvSpPr>
              <p:cNvPr id="49" name="그래픽 27">
                <a:extLst>
                  <a:ext uri="{FF2B5EF4-FFF2-40B4-BE49-F238E27FC236}">
                    <a16:creationId xmlns:a16="http://schemas.microsoft.com/office/drawing/2014/main" id="{9F3FACB8-96F0-B588-4F0C-28013B1D5FF6}"/>
                  </a:ext>
                </a:extLst>
              </p:cNvPr>
              <p:cNvSpPr/>
              <p:nvPr/>
            </p:nvSpPr>
            <p:spPr>
              <a:xfrm>
                <a:off x="4918121" y="-985559"/>
                <a:ext cx="555986" cy="432604"/>
              </a:xfrm>
              <a:custGeom>
                <a:avLst/>
                <a:gdLst>
                  <a:gd name="connsiteX0" fmla="*/ 277636 w 733449"/>
                  <a:gd name="connsiteY0" fmla="*/ 570685 h 570685"/>
                  <a:gd name="connsiteX1" fmla="*/ 211152 w 733449"/>
                  <a:gd name="connsiteY1" fmla="*/ 542301 h 570685"/>
                  <a:gd name="connsiteX2" fmla="*/ 25700 w 733449"/>
                  <a:gd name="connsiteY2" fmla="*/ 349324 h 570685"/>
                  <a:gd name="connsiteX3" fmla="*/ 28272 w 733449"/>
                  <a:gd name="connsiteY3" fmla="*/ 218927 h 570685"/>
                  <a:gd name="connsiteX4" fmla="*/ 158669 w 733449"/>
                  <a:gd name="connsiteY4" fmla="*/ 221594 h 570685"/>
                  <a:gd name="connsiteX5" fmla="*/ 276874 w 733449"/>
                  <a:gd name="connsiteY5" fmla="*/ 344752 h 570685"/>
                  <a:gd name="connsiteX6" fmla="*/ 574149 w 733449"/>
                  <a:gd name="connsiteY6" fmla="*/ 28999 h 570685"/>
                  <a:gd name="connsiteX7" fmla="*/ 704451 w 733449"/>
                  <a:gd name="connsiteY7" fmla="*/ 25093 h 570685"/>
                  <a:gd name="connsiteX8" fmla="*/ 708357 w 733449"/>
                  <a:gd name="connsiteY8" fmla="*/ 155395 h 570685"/>
                  <a:gd name="connsiteX9" fmla="*/ 344692 w 733449"/>
                  <a:gd name="connsiteY9" fmla="*/ 541729 h 570685"/>
                  <a:gd name="connsiteX10" fmla="*/ 278017 w 733449"/>
                  <a:gd name="connsiteY10" fmla="*/ 570685 h 570685"/>
                  <a:gd name="connsiteX11" fmla="*/ 277541 w 733449"/>
                  <a:gd name="connsiteY11" fmla="*/ 570685 h 5706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33449" h="570685">
                    <a:moveTo>
                      <a:pt x="277636" y="570685"/>
                    </a:moveTo>
                    <a:cubicBezTo>
                      <a:pt x="252490" y="570685"/>
                      <a:pt x="228487" y="560398"/>
                      <a:pt x="211152" y="542301"/>
                    </a:cubicBezTo>
                    <a:lnTo>
                      <a:pt x="25700" y="349324"/>
                    </a:lnTo>
                    <a:cubicBezTo>
                      <a:pt x="-9543" y="312558"/>
                      <a:pt x="-8400" y="254265"/>
                      <a:pt x="28272" y="218927"/>
                    </a:cubicBezTo>
                    <a:cubicBezTo>
                      <a:pt x="65038" y="183685"/>
                      <a:pt x="123426" y="184828"/>
                      <a:pt x="158669" y="221594"/>
                    </a:cubicBezTo>
                    <a:lnTo>
                      <a:pt x="276874" y="344752"/>
                    </a:lnTo>
                    <a:lnTo>
                      <a:pt x="574149" y="28999"/>
                    </a:lnTo>
                    <a:cubicBezTo>
                      <a:pt x="609011" y="-8054"/>
                      <a:pt x="667399" y="-9863"/>
                      <a:pt x="704451" y="25093"/>
                    </a:cubicBezTo>
                    <a:cubicBezTo>
                      <a:pt x="741504" y="60050"/>
                      <a:pt x="743313" y="118343"/>
                      <a:pt x="708357" y="155395"/>
                    </a:cubicBezTo>
                    <a:lnTo>
                      <a:pt x="344692" y="541729"/>
                    </a:lnTo>
                    <a:cubicBezTo>
                      <a:pt x="327357" y="560113"/>
                      <a:pt x="303258" y="570590"/>
                      <a:pt x="278017" y="570685"/>
                    </a:cubicBezTo>
                    <a:lnTo>
                      <a:pt x="277541" y="570685"/>
                    </a:lnTo>
                    <a:close/>
                  </a:path>
                </a:pathLst>
              </a:custGeom>
              <a:solidFill>
                <a:schemeClr val="bg1"/>
              </a:solidFill>
              <a:ln w="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 dirty="0">
                  <a:latin typeface="+mj-lt"/>
                </a:endParaRP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CFCF935-8196-A185-816C-95D844ACA952}"/>
                </a:ext>
              </a:extLst>
            </p:cNvPr>
            <p:cNvSpPr txBox="1"/>
            <p:nvPr/>
          </p:nvSpPr>
          <p:spPr>
            <a:xfrm>
              <a:off x="1028906" y="1259201"/>
              <a:ext cx="3300185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작성요령</a:t>
              </a:r>
              <a:endParaRPr lang="en-US" altLang="ko-KR" sz="20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371AA92F-7E42-EDDF-C00D-43EF76A58DEB}"/>
              </a:ext>
            </a:extLst>
          </p:cNvPr>
          <p:cNvGrpSpPr/>
          <p:nvPr/>
        </p:nvGrpSpPr>
        <p:grpSpPr>
          <a:xfrm>
            <a:off x="555881" y="2537972"/>
            <a:ext cx="8372219" cy="796883"/>
            <a:chOff x="555881" y="2537972"/>
            <a:chExt cx="8372219" cy="796883"/>
          </a:xfrm>
        </p:grpSpPr>
        <p:pic>
          <p:nvPicPr>
            <p:cNvPr id="51" name="그림 50">
              <a:extLst>
                <a:ext uri="{FF2B5EF4-FFF2-40B4-BE49-F238E27FC236}">
                  <a16:creationId xmlns:a16="http://schemas.microsoft.com/office/drawing/2014/main" id="{254AE529-22EB-54D7-0976-B5EF4A4580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5881" y="3028924"/>
              <a:ext cx="1648614" cy="305931"/>
            </a:xfrm>
            <a:prstGeom prst="rect">
              <a:avLst/>
            </a:prstGeom>
          </p:spPr>
        </p:pic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994CD6DF-A047-4DF8-F9E5-E0C6CD064203}"/>
                </a:ext>
              </a:extLst>
            </p:cNvPr>
            <p:cNvSpPr/>
            <p:nvPr/>
          </p:nvSpPr>
          <p:spPr>
            <a:xfrm>
              <a:off x="626881" y="2537972"/>
              <a:ext cx="1519557" cy="490839"/>
            </a:xfrm>
            <a:prstGeom prst="roundRect">
              <a:avLst>
                <a:gd name="adj" fmla="val 5120"/>
              </a:avLst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lt"/>
              </a:endParaRPr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2AF8C27D-C8CD-BF6D-BC46-E2F8F4927CC5}"/>
                </a:ext>
              </a:extLst>
            </p:cNvPr>
            <p:cNvGrpSpPr/>
            <p:nvPr/>
          </p:nvGrpSpPr>
          <p:grpSpPr>
            <a:xfrm>
              <a:off x="723172" y="2665154"/>
              <a:ext cx="238823" cy="231978"/>
              <a:chOff x="5492108" y="1820209"/>
              <a:chExt cx="269676" cy="261946"/>
            </a:xfrm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A6690AB2-A08B-0BA0-316E-656B1C8791DA}"/>
                  </a:ext>
                </a:extLst>
              </p:cNvPr>
              <p:cNvSpPr/>
              <p:nvPr/>
            </p:nvSpPr>
            <p:spPr>
              <a:xfrm>
                <a:off x="5495973" y="1820209"/>
                <a:ext cx="261946" cy="261946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lt"/>
                  <a:ea typeface="세방고딕 Regular" panose="00000500000000000000" pitchFamily="2" charset="-127"/>
                </a:endParaRP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4B46D51-2159-3485-F56F-EE8687B19D31}"/>
                  </a:ext>
                </a:extLst>
              </p:cNvPr>
              <p:cNvSpPr txBox="1"/>
              <p:nvPr/>
            </p:nvSpPr>
            <p:spPr>
              <a:xfrm>
                <a:off x="5492108" y="1861209"/>
                <a:ext cx="269676" cy="208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>
                  <a:defRPr/>
                </a:pPr>
                <a:r>
                  <a:rPr lang="en-US" altLang="ko-KR" sz="12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3378C8"/>
                    </a:solidFill>
                    <a:latin typeface="+mj-lt"/>
                    <a:ea typeface="세방고딕 Bold" panose="00000800000000000000" pitchFamily="2" charset="-127"/>
                  </a:rPr>
                  <a:t>2</a:t>
                </a:r>
              </a:p>
            </p:txBody>
          </p:sp>
        </p:grp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CE62BF6-EB75-F122-7642-C178C95C921B}"/>
                </a:ext>
              </a:extLst>
            </p:cNvPr>
            <p:cNvSpPr txBox="1"/>
            <p:nvPr/>
          </p:nvSpPr>
          <p:spPr>
            <a:xfrm>
              <a:off x="1007422" y="2616629"/>
              <a:ext cx="106267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410210" fontAlgn="base">
                <a:spcBef>
                  <a:spcPts val="700"/>
                </a:spcBef>
              </a:pPr>
              <a:r>
                <a:rPr lang="ko-KR" altLang="en-US" sz="16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lt"/>
                  <a:ea typeface="맑은 고딕" panose="020B0503020000020004" pitchFamily="50" charset="-127"/>
                </a:rPr>
                <a:t>작성주체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79087C6-A385-FDBD-7FC4-8919D8D0053B}"/>
                </a:ext>
              </a:extLst>
            </p:cNvPr>
            <p:cNvSpPr txBox="1"/>
            <p:nvPr/>
          </p:nvSpPr>
          <p:spPr>
            <a:xfrm>
              <a:off x="2419351" y="2623749"/>
              <a:ext cx="6508749" cy="5839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 fontAlgn="base" latinLnBrk="0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훈련생이 직접 작성하고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, 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훈련기관 담당자가 임의로 삭제 혹은 수정하지 않아야 함</a:t>
              </a:r>
              <a:endParaRPr lang="en-US" altLang="ko-KR" sz="14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3378C8"/>
                </a:solidFill>
                <a:latin typeface="+mn-ea"/>
              </a:endParaRPr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CAFA98F-7B4A-201A-B8D7-1DDB2B5EDBF9}"/>
              </a:ext>
            </a:extLst>
          </p:cNvPr>
          <p:cNvGrpSpPr/>
          <p:nvPr/>
        </p:nvGrpSpPr>
        <p:grpSpPr>
          <a:xfrm>
            <a:off x="555881" y="1712400"/>
            <a:ext cx="8216795" cy="821208"/>
            <a:chOff x="555881" y="1712400"/>
            <a:chExt cx="8216795" cy="821208"/>
          </a:xfrm>
        </p:grpSpPr>
        <p:pic>
          <p:nvPicPr>
            <p:cNvPr id="59" name="그림 58">
              <a:extLst>
                <a:ext uri="{FF2B5EF4-FFF2-40B4-BE49-F238E27FC236}">
                  <a16:creationId xmlns:a16="http://schemas.microsoft.com/office/drawing/2014/main" id="{D65B55A5-50A9-0D43-E523-5E15AFFBB4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5881" y="2227677"/>
              <a:ext cx="1648614" cy="305931"/>
            </a:xfrm>
            <a:prstGeom prst="rect">
              <a:avLst/>
            </a:prstGeom>
          </p:spPr>
        </p:pic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194F574F-A0FD-9843-883B-ED65C07104C2}"/>
                </a:ext>
              </a:extLst>
            </p:cNvPr>
            <p:cNvSpPr/>
            <p:nvPr/>
          </p:nvSpPr>
          <p:spPr>
            <a:xfrm>
              <a:off x="626881" y="1736725"/>
              <a:ext cx="1519557" cy="490839"/>
            </a:xfrm>
            <a:prstGeom prst="roundRect">
              <a:avLst>
                <a:gd name="adj" fmla="val 5120"/>
              </a:avLst>
            </a:prstGeom>
            <a:solidFill>
              <a:srgbClr val="49729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lt"/>
              </a:endParaRPr>
            </a:p>
          </p:txBody>
        </p:sp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D00B70C8-0C51-F79C-681B-357513D2FC7E}"/>
                </a:ext>
              </a:extLst>
            </p:cNvPr>
            <p:cNvGrpSpPr/>
            <p:nvPr/>
          </p:nvGrpSpPr>
          <p:grpSpPr>
            <a:xfrm>
              <a:off x="723172" y="1863907"/>
              <a:ext cx="238823" cy="231978"/>
              <a:chOff x="5492108" y="1820209"/>
              <a:chExt cx="269676" cy="261946"/>
            </a:xfrm>
          </p:grpSpPr>
          <p:sp>
            <p:nvSpPr>
              <p:cNvPr id="87" name="사각형: 둥근 모서리 86">
                <a:extLst>
                  <a:ext uri="{FF2B5EF4-FFF2-40B4-BE49-F238E27FC236}">
                    <a16:creationId xmlns:a16="http://schemas.microsoft.com/office/drawing/2014/main" id="{816615A8-0428-2613-F44C-50FB5E8F1C4F}"/>
                  </a:ext>
                </a:extLst>
              </p:cNvPr>
              <p:cNvSpPr/>
              <p:nvPr/>
            </p:nvSpPr>
            <p:spPr>
              <a:xfrm>
                <a:off x="5495973" y="1820209"/>
                <a:ext cx="261946" cy="261946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lt"/>
                  <a:ea typeface="세방고딕 Regular" panose="00000500000000000000" pitchFamily="2" charset="-127"/>
                </a:endParaRPr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316F42B0-20BD-5545-1FFD-791E8DC7781D}"/>
                  </a:ext>
                </a:extLst>
              </p:cNvPr>
              <p:cNvSpPr txBox="1"/>
              <p:nvPr/>
            </p:nvSpPr>
            <p:spPr>
              <a:xfrm>
                <a:off x="5492108" y="1861209"/>
                <a:ext cx="269676" cy="208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>
                  <a:defRPr/>
                </a:pPr>
                <a:r>
                  <a:rPr lang="en-US" altLang="ko-KR" sz="12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49729E"/>
                    </a:solidFill>
                    <a:latin typeface="+mj-lt"/>
                    <a:ea typeface="세방고딕 Bold" panose="00000800000000000000" pitchFamily="2" charset="-127"/>
                  </a:rPr>
                  <a:t>1</a:t>
                </a:r>
              </a:p>
            </p:txBody>
          </p:sp>
        </p:grp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388280B-ED2E-E1BC-CBB8-411E48304EF7}"/>
                </a:ext>
              </a:extLst>
            </p:cNvPr>
            <p:cNvSpPr txBox="1"/>
            <p:nvPr/>
          </p:nvSpPr>
          <p:spPr>
            <a:xfrm>
              <a:off x="1007422" y="1815382"/>
              <a:ext cx="106267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410210" fontAlgn="base">
                <a:spcBef>
                  <a:spcPts val="700"/>
                </a:spcBef>
              </a:pPr>
              <a:r>
                <a:rPr lang="ko-KR" altLang="en-US" sz="16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lt"/>
                  <a:ea typeface="맑은 고딕" panose="020B0503020000020004" pitchFamily="50" charset="-127"/>
                </a:rPr>
                <a:t>제출형태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A0CF0C1-2A7D-3D19-BF69-1D080EC8F862}"/>
                </a:ext>
              </a:extLst>
            </p:cNvPr>
            <p:cNvSpPr txBox="1"/>
            <p:nvPr/>
          </p:nvSpPr>
          <p:spPr>
            <a:xfrm>
              <a:off x="2419351" y="1712400"/>
              <a:ext cx="6353325" cy="325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 fontAlgn="base" latinLnBrk="0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팀별 프로젝트 결과보고서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(PPT)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는 팀별로 각각 작성하여 제출해야 함</a:t>
              </a:r>
              <a:endParaRPr lang="en-US" altLang="ko-KR" sz="14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49729E"/>
                </a:solidFill>
                <a:latin typeface="+mn-ea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DC587D62-5C5B-8568-5550-1D6383C5DEE9}"/>
                </a:ext>
              </a:extLst>
            </p:cNvPr>
            <p:cNvSpPr txBox="1"/>
            <p:nvPr/>
          </p:nvSpPr>
          <p:spPr>
            <a:xfrm>
              <a:off x="2979134" y="2023983"/>
              <a:ext cx="346392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fontAlgn="base" latinLnBrk="0">
                <a:spcBef>
                  <a:spcPts val="300"/>
                </a:spcBef>
                <a:spcAft>
                  <a:spcPts val="300"/>
                </a:spcAft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단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, 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개별 진행된 경우 개별로 작성하여 제출</a:t>
              </a:r>
            </a:p>
          </p:txBody>
        </p:sp>
        <p:sp>
          <p:nvSpPr>
            <p:cNvPr id="72" name="자유형: 도형 71">
              <a:extLst>
                <a:ext uri="{FF2B5EF4-FFF2-40B4-BE49-F238E27FC236}">
                  <a16:creationId xmlns:a16="http://schemas.microsoft.com/office/drawing/2014/main" id="{FF652EE3-449C-BE36-9B21-DE9A986E9380}"/>
                </a:ext>
              </a:extLst>
            </p:cNvPr>
            <p:cNvSpPr/>
            <p:nvPr/>
          </p:nvSpPr>
          <p:spPr>
            <a:xfrm>
              <a:off x="2802691" y="2095552"/>
              <a:ext cx="151043" cy="117601"/>
            </a:xfrm>
            <a:custGeom>
              <a:avLst/>
              <a:gdLst>
                <a:gd name="connsiteX0" fmla="*/ 57208 w 151043"/>
                <a:gd name="connsiteY0" fmla="*/ 117601 h 117601"/>
                <a:gd name="connsiteX1" fmla="*/ 43492 w 151043"/>
                <a:gd name="connsiteY1" fmla="*/ 111743 h 117601"/>
                <a:gd name="connsiteX2" fmla="*/ 5296 w 151043"/>
                <a:gd name="connsiteY2" fmla="*/ 71976 h 117601"/>
                <a:gd name="connsiteX3" fmla="*/ 5820 w 151043"/>
                <a:gd name="connsiteY3" fmla="*/ 45116 h 117601"/>
                <a:gd name="connsiteX4" fmla="*/ 32681 w 151043"/>
                <a:gd name="connsiteY4" fmla="*/ 45640 h 117601"/>
                <a:gd name="connsiteX5" fmla="*/ 57017 w 151043"/>
                <a:gd name="connsiteY5" fmla="*/ 70976 h 117601"/>
                <a:gd name="connsiteX6" fmla="*/ 118215 w 151043"/>
                <a:gd name="connsiteY6" fmla="*/ 5968 h 117601"/>
                <a:gd name="connsiteX7" fmla="*/ 145076 w 151043"/>
                <a:gd name="connsiteY7" fmla="*/ 5158 h 117601"/>
                <a:gd name="connsiteX8" fmla="*/ 145885 w 151043"/>
                <a:gd name="connsiteY8" fmla="*/ 32019 h 117601"/>
                <a:gd name="connsiteX9" fmla="*/ 70971 w 151043"/>
                <a:gd name="connsiteY9" fmla="*/ 111600 h 117601"/>
                <a:gd name="connsiteX10" fmla="*/ 57255 w 151043"/>
                <a:gd name="connsiteY10" fmla="*/ 117553 h 117601"/>
                <a:gd name="connsiteX11" fmla="*/ 57160 w 151043"/>
                <a:gd name="connsiteY11" fmla="*/ 117553 h 117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043" h="117601">
                  <a:moveTo>
                    <a:pt x="57208" y="117601"/>
                  </a:moveTo>
                  <a:cubicBezTo>
                    <a:pt x="52017" y="117601"/>
                    <a:pt x="47111" y="115506"/>
                    <a:pt x="43492" y="111743"/>
                  </a:cubicBezTo>
                  <a:lnTo>
                    <a:pt x="5296" y="71976"/>
                  </a:lnTo>
                  <a:cubicBezTo>
                    <a:pt x="-1990" y="64404"/>
                    <a:pt x="-1704" y="52402"/>
                    <a:pt x="5820" y="45116"/>
                  </a:cubicBezTo>
                  <a:cubicBezTo>
                    <a:pt x="13393" y="37877"/>
                    <a:pt x="25394" y="38115"/>
                    <a:pt x="32681" y="45640"/>
                  </a:cubicBezTo>
                  <a:lnTo>
                    <a:pt x="57017" y="70976"/>
                  </a:lnTo>
                  <a:lnTo>
                    <a:pt x="118215" y="5968"/>
                  </a:lnTo>
                  <a:cubicBezTo>
                    <a:pt x="125407" y="-1652"/>
                    <a:pt x="137408" y="-2033"/>
                    <a:pt x="145076" y="5158"/>
                  </a:cubicBezTo>
                  <a:cubicBezTo>
                    <a:pt x="152696" y="12350"/>
                    <a:pt x="153077" y="24351"/>
                    <a:pt x="145885" y="32019"/>
                  </a:cubicBezTo>
                  <a:lnTo>
                    <a:pt x="70971" y="111600"/>
                  </a:lnTo>
                  <a:cubicBezTo>
                    <a:pt x="67399" y="115410"/>
                    <a:pt x="62446" y="117553"/>
                    <a:pt x="57255" y="117553"/>
                  </a:cubicBezTo>
                  <a:lnTo>
                    <a:pt x="57160" y="117553"/>
                  </a:lnTo>
                  <a:close/>
                </a:path>
              </a:pathLst>
            </a:custGeom>
            <a:solidFill>
              <a:srgbClr val="49729E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lt"/>
              </a:endParaRPr>
            </a:p>
          </p:txBody>
        </p:sp>
      </p:grp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DD54B0E7-C0BC-E4DB-D62F-AD05F23AF0A2}"/>
              </a:ext>
            </a:extLst>
          </p:cNvPr>
          <p:cNvGrpSpPr/>
          <p:nvPr/>
        </p:nvGrpSpPr>
        <p:grpSpPr>
          <a:xfrm>
            <a:off x="555881" y="3373826"/>
            <a:ext cx="6645019" cy="821208"/>
            <a:chOff x="555881" y="3373826"/>
            <a:chExt cx="6645019" cy="821208"/>
          </a:xfrm>
        </p:grpSpPr>
        <p:pic>
          <p:nvPicPr>
            <p:cNvPr id="94" name="그림 93">
              <a:extLst>
                <a:ext uri="{FF2B5EF4-FFF2-40B4-BE49-F238E27FC236}">
                  <a16:creationId xmlns:a16="http://schemas.microsoft.com/office/drawing/2014/main" id="{ECADC2AC-4A12-8D3C-1210-798C9F7CCB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5881" y="3889103"/>
              <a:ext cx="1648614" cy="305931"/>
            </a:xfrm>
            <a:prstGeom prst="rect">
              <a:avLst/>
            </a:prstGeom>
          </p:spPr>
        </p:pic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E2D13C13-1CD0-287D-6C1B-E5312AE095D6}"/>
                </a:ext>
              </a:extLst>
            </p:cNvPr>
            <p:cNvSpPr/>
            <p:nvPr/>
          </p:nvSpPr>
          <p:spPr>
            <a:xfrm>
              <a:off x="626881" y="3398151"/>
              <a:ext cx="1519557" cy="490839"/>
            </a:xfrm>
            <a:prstGeom prst="roundRect">
              <a:avLst>
                <a:gd name="adj" fmla="val 5120"/>
              </a:avLst>
            </a:prstGeom>
            <a:solidFill>
              <a:srgbClr val="49729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lt"/>
              </a:endParaRPr>
            </a:p>
          </p:txBody>
        </p:sp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27F5CCB-EFA8-D804-BF2E-597216790FBA}"/>
                </a:ext>
              </a:extLst>
            </p:cNvPr>
            <p:cNvGrpSpPr/>
            <p:nvPr/>
          </p:nvGrpSpPr>
          <p:grpSpPr>
            <a:xfrm>
              <a:off x="723172" y="3525333"/>
              <a:ext cx="238823" cy="231978"/>
              <a:chOff x="5492108" y="1820209"/>
              <a:chExt cx="269676" cy="261946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8D2C11B5-83E8-2470-9DED-9156C304B3D2}"/>
                  </a:ext>
                </a:extLst>
              </p:cNvPr>
              <p:cNvSpPr/>
              <p:nvPr/>
            </p:nvSpPr>
            <p:spPr>
              <a:xfrm>
                <a:off x="5495973" y="1820209"/>
                <a:ext cx="261946" cy="261946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lt"/>
                  <a:ea typeface="세방고딕 Regular" panose="00000500000000000000" pitchFamily="2" charset="-127"/>
                </a:endParaRPr>
              </a:p>
            </p:txBody>
          </p:sp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D3ABF101-0F85-B13F-E0D4-806F172542B9}"/>
                  </a:ext>
                </a:extLst>
              </p:cNvPr>
              <p:cNvSpPr txBox="1"/>
              <p:nvPr/>
            </p:nvSpPr>
            <p:spPr>
              <a:xfrm>
                <a:off x="5492108" y="1861209"/>
                <a:ext cx="269676" cy="208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>
                  <a:defRPr/>
                </a:pPr>
                <a:r>
                  <a:rPr lang="en-US" altLang="ko-KR" sz="12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49729E"/>
                    </a:solidFill>
                    <a:latin typeface="+mj-lt"/>
                    <a:ea typeface="세방고딕 Bold" panose="00000800000000000000" pitchFamily="2" charset="-127"/>
                  </a:rPr>
                  <a:t>3</a:t>
                </a:r>
              </a:p>
            </p:txBody>
          </p:sp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EFAA222C-4C3F-46C1-A9CC-60C84CEB096D}"/>
                </a:ext>
              </a:extLst>
            </p:cNvPr>
            <p:cNvSpPr txBox="1"/>
            <p:nvPr/>
          </p:nvSpPr>
          <p:spPr>
            <a:xfrm>
              <a:off x="1007422" y="3476808"/>
              <a:ext cx="106267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410210" fontAlgn="base">
                <a:spcBef>
                  <a:spcPts val="700"/>
                </a:spcBef>
              </a:pPr>
              <a:r>
                <a:rPr lang="ko-KR" altLang="en-US" sz="16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파 일 명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DC1CA84-CA24-4C7E-F412-14C7217BA48E}"/>
                </a:ext>
              </a:extLst>
            </p:cNvPr>
            <p:cNvSpPr txBox="1"/>
            <p:nvPr/>
          </p:nvSpPr>
          <p:spPr>
            <a:xfrm>
              <a:off x="2419351" y="3373826"/>
              <a:ext cx="4781549" cy="325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 fontAlgn="base" latinLnBrk="0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결과보고서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_</a:t>
              </a:r>
              <a:r>
                <a:rPr lang="ko-KR" altLang="en-US" sz="1400" b="1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팀명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(</a:t>
              </a:r>
              <a:r>
                <a:rPr lang="ko-KR" altLang="en-US" sz="1400" b="1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팀주제명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)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19B456EE-8C65-3985-7041-982FA9B622E3}"/>
                </a:ext>
              </a:extLst>
            </p:cNvPr>
            <p:cNvSpPr txBox="1"/>
            <p:nvPr/>
          </p:nvSpPr>
          <p:spPr>
            <a:xfrm>
              <a:off x="2979134" y="3685409"/>
              <a:ext cx="346392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fontAlgn="base" latinLnBrk="0">
                <a:spcBef>
                  <a:spcPts val="300"/>
                </a:spcBef>
                <a:spcAft>
                  <a:spcPts val="300"/>
                </a:spcAft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예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) 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결과보고서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_1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팀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(OOO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를 활용한 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OOOO)</a:t>
              </a:r>
            </a:p>
          </p:txBody>
        </p:sp>
        <p:sp>
          <p:nvSpPr>
            <p:cNvPr id="107" name="자유형: 도형 106">
              <a:extLst>
                <a:ext uri="{FF2B5EF4-FFF2-40B4-BE49-F238E27FC236}">
                  <a16:creationId xmlns:a16="http://schemas.microsoft.com/office/drawing/2014/main" id="{99F40289-4205-D43E-3A2D-4DFF14485379}"/>
                </a:ext>
              </a:extLst>
            </p:cNvPr>
            <p:cNvSpPr/>
            <p:nvPr/>
          </p:nvSpPr>
          <p:spPr>
            <a:xfrm>
              <a:off x="2802691" y="3756978"/>
              <a:ext cx="151043" cy="117601"/>
            </a:xfrm>
            <a:custGeom>
              <a:avLst/>
              <a:gdLst>
                <a:gd name="connsiteX0" fmla="*/ 57208 w 151043"/>
                <a:gd name="connsiteY0" fmla="*/ 117601 h 117601"/>
                <a:gd name="connsiteX1" fmla="*/ 43492 w 151043"/>
                <a:gd name="connsiteY1" fmla="*/ 111743 h 117601"/>
                <a:gd name="connsiteX2" fmla="*/ 5296 w 151043"/>
                <a:gd name="connsiteY2" fmla="*/ 71976 h 117601"/>
                <a:gd name="connsiteX3" fmla="*/ 5820 w 151043"/>
                <a:gd name="connsiteY3" fmla="*/ 45116 h 117601"/>
                <a:gd name="connsiteX4" fmla="*/ 32681 w 151043"/>
                <a:gd name="connsiteY4" fmla="*/ 45640 h 117601"/>
                <a:gd name="connsiteX5" fmla="*/ 57017 w 151043"/>
                <a:gd name="connsiteY5" fmla="*/ 70976 h 117601"/>
                <a:gd name="connsiteX6" fmla="*/ 118215 w 151043"/>
                <a:gd name="connsiteY6" fmla="*/ 5968 h 117601"/>
                <a:gd name="connsiteX7" fmla="*/ 145076 w 151043"/>
                <a:gd name="connsiteY7" fmla="*/ 5158 h 117601"/>
                <a:gd name="connsiteX8" fmla="*/ 145885 w 151043"/>
                <a:gd name="connsiteY8" fmla="*/ 32019 h 117601"/>
                <a:gd name="connsiteX9" fmla="*/ 70971 w 151043"/>
                <a:gd name="connsiteY9" fmla="*/ 111600 h 117601"/>
                <a:gd name="connsiteX10" fmla="*/ 57255 w 151043"/>
                <a:gd name="connsiteY10" fmla="*/ 117553 h 117601"/>
                <a:gd name="connsiteX11" fmla="*/ 57160 w 151043"/>
                <a:gd name="connsiteY11" fmla="*/ 117553 h 117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043" h="117601">
                  <a:moveTo>
                    <a:pt x="57208" y="117601"/>
                  </a:moveTo>
                  <a:cubicBezTo>
                    <a:pt x="52017" y="117601"/>
                    <a:pt x="47111" y="115506"/>
                    <a:pt x="43492" y="111743"/>
                  </a:cubicBezTo>
                  <a:lnTo>
                    <a:pt x="5296" y="71976"/>
                  </a:lnTo>
                  <a:cubicBezTo>
                    <a:pt x="-1990" y="64404"/>
                    <a:pt x="-1704" y="52402"/>
                    <a:pt x="5820" y="45116"/>
                  </a:cubicBezTo>
                  <a:cubicBezTo>
                    <a:pt x="13393" y="37877"/>
                    <a:pt x="25394" y="38115"/>
                    <a:pt x="32681" y="45640"/>
                  </a:cubicBezTo>
                  <a:lnTo>
                    <a:pt x="57017" y="70976"/>
                  </a:lnTo>
                  <a:lnTo>
                    <a:pt x="118215" y="5968"/>
                  </a:lnTo>
                  <a:cubicBezTo>
                    <a:pt x="125407" y="-1652"/>
                    <a:pt x="137408" y="-2033"/>
                    <a:pt x="145076" y="5158"/>
                  </a:cubicBezTo>
                  <a:cubicBezTo>
                    <a:pt x="152696" y="12350"/>
                    <a:pt x="153077" y="24351"/>
                    <a:pt x="145885" y="32019"/>
                  </a:cubicBezTo>
                  <a:lnTo>
                    <a:pt x="70971" y="111600"/>
                  </a:lnTo>
                  <a:cubicBezTo>
                    <a:pt x="67399" y="115410"/>
                    <a:pt x="62446" y="117553"/>
                    <a:pt x="57255" y="117553"/>
                  </a:cubicBezTo>
                  <a:lnTo>
                    <a:pt x="57160" y="117553"/>
                  </a:lnTo>
                  <a:close/>
                </a:path>
              </a:pathLst>
            </a:custGeom>
            <a:solidFill>
              <a:srgbClr val="49729E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lt"/>
              </a:endParaRPr>
            </a:p>
          </p:txBody>
        </p: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FB418381-C607-BD5A-B520-DA0CC9D7DBB8}"/>
              </a:ext>
            </a:extLst>
          </p:cNvPr>
          <p:cNvGrpSpPr/>
          <p:nvPr/>
        </p:nvGrpSpPr>
        <p:grpSpPr>
          <a:xfrm>
            <a:off x="555881" y="4293096"/>
            <a:ext cx="10711818" cy="796883"/>
            <a:chOff x="555881" y="4613155"/>
            <a:chExt cx="10711818" cy="796883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233CCD15-0A61-5088-FC70-133E66685F9A}"/>
                </a:ext>
              </a:extLst>
            </p:cNvPr>
            <p:cNvGrpSpPr/>
            <p:nvPr/>
          </p:nvGrpSpPr>
          <p:grpSpPr>
            <a:xfrm>
              <a:off x="555881" y="4613155"/>
              <a:ext cx="1648614" cy="796883"/>
              <a:chOff x="555881" y="4613155"/>
              <a:chExt cx="1648614" cy="796883"/>
            </a:xfrm>
          </p:grpSpPr>
          <p:pic>
            <p:nvPicPr>
              <p:cNvPr id="117" name="그림 116">
                <a:extLst>
                  <a:ext uri="{FF2B5EF4-FFF2-40B4-BE49-F238E27FC236}">
                    <a16:creationId xmlns:a16="http://schemas.microsoft.com/office/drawing/2014/main" id="{5518D2B0-5774-6D31-B75C-30F523692C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alphaModFix amt="60000"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5881" y="5104107"/>
                <a:ext cx="1648614" cy="305931"/>
              </a:xfrm>
              <a:prstGeom prst="rect">
                <a:avLst/>
              </a:prstGeom>
            </p:spPr>
          </p:pic>
          <p:sp>
            <p:nvSpPr>
              <p:cNvPr id="119" name="사각형: 둥근 모서리 118">
                <a:extLst>
                  <a:ext uri="{FF2B5EF4-FFF2-40B4-BE49-F238E27FC236}">
                    <a16:creationId xmlns:a16="http://schemas.microsoft.com/office/drawing/2014/main" id="{A0A71DDE-6F2C-71A5-A47E-26072A82EFEF}"/>
                  </a:ext>
                </a:extLst>
              </p:cNvPr>
              <p:cNvSpPr/>
              <p:nvPr/>
            </p:nvSpPr>
            <p:spPr>
              <a:xfrm>
                <a:off x="626881" y="4613155"/>
                <a:ext cx="1519557" cy="490839"/>
              </a:xfrm>
              <a:prstGeom prst="roundRect">
                <a:avLst>
                  <a:gd name="adj" fmla="val 5120"/>
                </a:avLst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+mj-lt"/>
                </a:endParaRPr>
              </a:p>
            </p:txBody>
          </p:sp>
          <p:grpSp>
            <p:nvGrpSpPr>
              <p:cNvPr id="120" name="그룹 119">
                <a:extLst>
                  <a:ext uri="{FF2B5EF4-FFF2-40B4-BE49-F238E27FC236}">
                    <a16:creationId xmlns:a16="http://schemas.microsoft.com/office/drawing/2014/main" id="{D407A655-D264-D4C2-BFA1-5D2D789B9C94}"/>
                  </a:ext>
                </a:extLst>
              </p:cNvPr>
              <p:cNvGrpSpPr/>
              <p:nvPr/>
            </p:nvGrpSpPr>
            <p:grpSpPr>
              <a:xfrm>
                <a:off x="723172" y="4740337"/>
                <a:ext cx="238823" cy="231978"/>
                <a:chOff x="5492108" y="1820209"/>
                <a:chExt cx="269676" cy="261946"/>
              </a:xfrm>
            </p:grpSpPr>
            <p:sp>
              <p:nvSpPr>
                <p:cNvPr id="123" name="사각형: 둥근 모서리 122">
                  <a:extLst>
                    <a:ext uri="{FF2B5EF4-FFF2-40B4-BE49-F238E27FC236}">
                      <a16:creationId xmlns:a16="http://schemas.microsoft.com/office/drawing/2014/main" id="{2683B883-37D7-CDC7-989E-B057FBC1D849}"/>
                    </a:ext>
                  </a:extLst>
                </p:cNvPr>
                <p:cNvSpPr/>
                <p:nvPr/>
              </p:nvSpPr>
              <p:spPr>
                <a:xfrm>
                  <a:off x="5495973" y="1820209"/>
                  <a:ext cx="261946" cy="26194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+mj-lt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1F52D926-F82F-43E6-09C7-C06240926BE1}"/>
                    </a:ext>
                  </a:extLst>
                </p:cNvPr>
                <p:cNvSpPr txBox="1"/>
                <p:nvPr/>
              </p:nvSpPr>
              <p:spPr>
                <a:xfrm>
                  <a:off x="5492108" y="1861209"/>
                  <a:ext cx="269676" cy="2085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 anchor="ctr" anchorCtr="0">
                  <a:spAutoFit/>
                </a:bodyPr>
                <a:lstStyle/>
                <a:p>
                  <a:pPr algn="ctr">
                    <a:defRPr/>
                  </a:pPr>
                  <a:r>
                    <a:rPr lang="en-US" altLang="ko-KR" sz="12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3378C8"/>
                      </a:solidFill>
                      <a:latin typeface="+mj-lt"/>
                      <a:ea typeface="세방고딕 Bold" panose="00000800000000000000" pitchFamily="2" charset="-127"/>
                    </a:rPr>
                    <a:t>4</a:t>
                  </a:r>
                </a:p>
              </p:txBody>
            </p:sp>
          </p:grp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2E56CAD0-0947-1BF9-F044-9D82701B5483}"/>
                  </a:ext>
                </a:extLst>
              </p:cNvPr>
              <p:cNvSpPr txBox="1"/>
              <p:nvPr/>
            </p:nvSpPr>
            <p:spPr>
              <a:xfrm>
                <a:off x="1007422" y="4691812"/>
                <a:ext cx="106267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410210" fontAlgn="base">
                  <a:spcBef>
                    <a:spcPts val="700"/>
                  </a:spcBef>
                </a:pPr>
                <a:r>
                  <a:rPr lang="ko-KR" altLang="en-US" sz="1600" b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구성내용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B74CBFD-AFCF-89B0-713D-A29A14725DDC}"/>
                </a:ext>
              </a:extLst>
            </p:cNvPr>
            <p:cNvSpPr txBox="1"/>
            <p:nvPr/>
          </p:nvSpPr>
          <p:spPr>
            <a:xfrm>
              <a:off x="2419351" y="4698932"/>
              <a:ext cx="8848348" cy="325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 fontAlgn="base" latinLnBrk="0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제공된 목차 항목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/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구성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/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세부내용이 모두 포함되어야 하며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, 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n-ea"/>
                </a:rPr>
                <a:t>페이지별 상세 안내 내용을 참고하여 작성</a:t>
              </a:r>
              <a:endParaRPr lang="en-US" altLang="ko-KR" sz="14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3378C8"/>
                </a:solidFill>
                <a:latin typeface="+mn-ea"/>
              </a:endParaRPr>
            </a:p>
          </p:txBody>
        </p: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3714EA25-4349-04B6-227F-14752927437C}"/>
              </a:ext>
            </a:extLst>
          </p:cNvPr>
          <p:cNvGrpSpPr/>
          <p:nvPr/>
        </p:nvGrpSpPr>
        <p:grpSpPr>
          <a:xfrm>
            <a:off x="555881" y="5090110"/>
            <a:ext cx="10711818" cy="845049"/>
            <a:chOff x="555881" y="5410169"/>
            <a:chExt cx="10711818" cy="845049"/>
          </a:xfrm>
        </p:grpSpPr>
        <p:pic>
          <p:nvPicPr>
            <p:cNvPr id="128" name="그림 127">
              <a:extLst>
                <a:ext uri="{FF2B5EF4-FFF2-40B4-BE49-F238E27FC236}">
                  <a16:creationId xmlns:a16="http://schemas.microsoft.com/office/drawing/2014/main" id="{E6C0944C-6B4A-649A-F52E-0DC2380C3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5881" y="5925446"/>
              <a:ext cx="1648614" cy="305931"/>
            </a:xfrm>
            <a:prstGeom prst="rect">
              <a:avLst/>
            </a:prstGeom>
          </p:spPr>
        </p:pic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C6D2C8FF-28D4-D182-1774-8238DD9B86E3}"/>
                </a:ext>
              </a:extLst>
            </p:cNvPr>
            <p:cNvSpPr/>
            <p:nvPr/>
          </p:nvSpPr>
          <p:spPr>
            <a:xfrm>
              <a:off x="626881" y="5434494"/>
              <a:ext cx="1519557" cy="490839"/>
            </a:xfrm>
            <a:prstGeom prst="roundRect">
              <a:avLst>
                <a:gd name="adj" fmla="val 5120"/>
              </a:avLst>
            </a:prstGeom>
            <a:solidFill>
              <a:srgbClr val="49729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+mj-lt"/>
              </a:endParaRPr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A33218E0-A3BB-81A3-CC73-F8BAF589C625}"/>
                </a:ext>
              </a:extLst>
            </p:cNvPr>
            <p:cNvGrpSpPr/>
            <p:nvPr/>
          </p:nvGrpSpPr>
          <p:grpSpPr>
            <a:xfrm>
              <a:off x="723172" y="5561676"/>
              <a:ext cx="238823" cy="231978"/>
              <a:chOff x="5492108" y="1820209"/>
              <a:chExt cx="269676" cy="261946"/>
            </a:xfrm>
          </p:grpSpPr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858CD352-4F65-6C35-CEFF-EA9433C8E51D}"/>
                  </a:ext>
                </a:extLst>
              </p:cNvPr>
              <p:cNvSpPr/>
              <p:nvPr/>
            </p:nvSpPr>
            <p:spPr>
              <a:xfrm>
                <a:off x="5495973" y="1820209"/>
                <a:ext cx="261946" cy="261946"/>
              </a:xfrm>
              <a:prstGeom prst="roundRect">
                <a:avLst>
                  <a:gd name="adj" fmla="val 50000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lt"/>
                  <a:ea typeface="세방고딕 Regular" panose="00000500000000000000" pitchFamily="2" charset="-127"/>
                </a:endParaRP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C205424B-638D-87F5-0B3A-473A4210093E}"/>
                  </a:ext>
                </a:extLst>
              </p:cNvPr>
              <p:cNvSpPr txBox="1"/>
              <p:nvPr/>
            </p:nvSpPr>
            <p:spPr>
              <a:xfrm>
                <a:off x="5492108" y="1861209"/>
                <a:ext cx="269676" cy="208522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 anchorCtr="0">
                <a:spAutoFit/>
              </a:bodyPr>
              <a:lstStyle/>
              <a:p>
                <a:pPr algn="ctr">
                  <a:defRPr/>
                </a:pPr>
                <a:r>
                  <a:rPr lang="en-US" altLang="ko-KR" sz="12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49729E"/>
                    </a:solidFill>
                    <a:latin typeface="+mj-lt"/>
                    <a:ea typeface="세방고딕 Bold" panose="00000800000000000000" pitchFamily="2" charset="-127"/>
                  </a:rPr>
                  <a:t>5</a:t>
                </a:r>
              </a:p>
            </p:txBody>
          </p:sp>
        </p:grp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C886A9A3-3071-02A4-7B5E-E4E3ED9E98AD}"/>
                </a:ext>
              </a:extLst>
            </p:cNvPr>
            <p:cNvSpPr txBox="1"/>
            <p:nvPr/>
          </p:nvSpPr>
          <p:spPr>
            <a:xfrm>
              <a:off x="1007422" y="5513151"/>
              <a:ext cx="106267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410210" fontAlgn="base">
                <a:spcBef>
                  <a:spcPts val="700"/>
                </a:spcBef>
              </a:pPr>
              <a:r>
                <a:rPr lang="ko-KR" altLang="en-US" sz="16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디 자 인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E663AE3-9AE9-210F-42B6-BFA57A295F83}"/>
                </a:ext>
              </a:extLst>
            </p:cNvPr>
            <p:cNvSpPr txBox="1"/>
            <p:nvPr/>
          </p:nvSpPr>
          <p:spPr>
            <a:xfrm>
              <a:off x="2419351" y="5410169"/>
              <a:ext cx="8848348" cy="325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 fontAlgn="base" latinLnBrk="0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참고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(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예시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) 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디자인이므로 자유롭게 변경 가능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, 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기본폰트를 사용하지 않은 경우 </a:t>
              </a:r>
              <a:r>
                <a:rPr lang="en-US" altLang="ko-KR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PDF</a:t>
              </a:r>
              <a:r>
                <a:rPr lang="ko-KR" altLang="en-US" sz="14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49729E"/>
                  </a:solidFill>
                  <a:latin typeface="+mn-ea"/>
                </a:rPr>
                <a:t>로 저장하여 제출</a:t>
              </a:r>
              <a:endParaRPr lang="en-US" altLang="ko-KR" sz="14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49729E"/>
                </a:solidFill>
                <a:latin typeface="+mn-ea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10ED1B30-E7C1-21BF-02E8-504CED4B5E33}"/>
                </a:ext>
              </a:extLst>
            </p:cNvPr>
            <p:cNvSpPr txBox="1"/>
            <p:nvPr/>
          </p:nvSpPr>
          <p:spPr>
            <a:xfrm>
              <a:off x="2979134" y="5730109"/>
              <a:ext cx="740946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fontAlgn="base" latinLnBrk="0">
                <a:spcBef>
                  <a:spcPts val="300"/>
                </a:spcBef>
                <a:spcAft>
                  <a:spcPts val="300"/>
                </a:spcAft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프로젝트 결과물의 우수성 및 완성도를 잘 나타낼 수 있는 형태로 작성</a:t>
              </a:r>
              <a:endParaRPr lang="en-US" altLang="ko-KR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endParaRPr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AC705F14-C0AF-6F3A-3A70-BC2CDAF6D854}"/>
                </a:ext>
              </a:extLst>
            </p:cNvPr>
            <p:cNvSpPr/>
            <p:nvPr/>
          </p:nvSpPr>
          <p:spPr>
            <a:xfrm>
              <a:off x="2802691" y="5801678"/>
              <a:ext cx="151043" cy="117601"/>
            </a:xfrm>
            <a:custGeom>
              <a:avLst/>
              <a:gdLst>
                <a:gd name="connsiteX0" fmla="*/ 57208 w 151043"/>
                <a:gd name="connsiteY0" fmla="*/ 117601 h 117601"/>
                <a:gd name="connsiteX1" fmla="*/ 43492 w 151043"/>
                <a:gd name="connsiteY1" fmla="*/ 111743 h 117601"/>
                <a:gd name="connsiteX2" fmla="*/ 5296 w 151043"/>
                <a:gd name="connsiteY2" fmla="*/ 71976 h 117601"/>
                <a:gd name="connsiteX3" fmla="*/ 5820 w 151043"/>
                <a:gd name="connsiteY3" fmla="*/ 45116 h 117601"/>
                <a:gd name="connsiteX4" fmla="*/ 32681 w 151043"/>
                <a:gd name="connsiteY4" fmla="*/ 45640 h 117601"/>
                <a:gd name="connsiteX5" fmla="*/ 57017 w 151043"/>
                <a:gd name="connsiteY5" fmla="*/ 70976 h 117601"/>
                <a:gd name="connsiteX6" fmla="*/ 118215 w 151043"/>
                <a:gd name="connsiteY6" fmla="*/ 5968 h 117601"/>
                <a:gd name="connsiteX7" fmla="*/ 145076 w 151043"/>
                <a:gd name="connsiteY7" fmla="*/ 5158 h 117601"/>
                <a:gd name="connsiteX8" fmla="*/ 145885 w 151043"/>
                <a:gd name="connsiteY8" fmla="*/ 32019 h 117601"/>
                <a:gd name="connsiteX9" fmla="*/ 70971 w 151043"/>
                <a:gd name="connsiteY9" fmla="*/ 111600 h 117601"/>
                <a:gd name="connsiteX10" fmla="*/ 57255 w 151043"/>
                <a:gd name="connsiteY10" fmla="*/ 117553 h 117601"/>
                <a:gd name="connsiteX11" fmla="*/ 57160 w 151043"/>
                <a:gd name="connsiteY11" fmla="*/ 117553 h 117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043" h="117601">
                  <a:moveTo>
                    <a:pt x="57208" y="117601"/>
                  </a:moveTo>
                  <a:cubicBezTo>
                    <a:pt x="52017" y="117601"/>
                    <a:pt x="47111" y="115506"/>
                    <a:pt x="43492" y="111743"/>
                  </a:cubicBezTo>
                  <a:lnTo>
                    <a:pt x="5296" y="71976"/>
                  </a:lnTo>
                  <a:cubicBezTo>
                    <a:pt x="-1990" y="64404"/>
                    <a:pt x="-1704" y="52402"/>
                    <a:pt x="5820" y="45116"/>
                  </a:cubicBezTo>
                  <a:cubicBezTo>
                    <a:pt x="13393" y="37877"/>
                    <a:pt x="25394" y="38115"/>
                    <a:pt x="32681" y="45640"/>
                  </a:cubicBezTo>
                  <a:lnTo>
                    <a:pt x="57017" y="70976"/>
                  </a:lnTo>
                  <a:lnTo>
                    <a:pt x="118215" y="5968"/>
                  </a:lnTo>
                  <a:cubicBezTo>
                    <a:pt x="125407" y="-1652"/>
                    <a:pt x="137408" y="-2033"/>
                    <a:pt x="145076" y="5158"/>
                  </a:cubicBezTo>
                  <a:cubicBezTo>
                    <a:pt x="152696" y="12350"/>
                    <a:pt x="153077" y="24351"/>
                    <a:pt x="145885" y="32019"/>
                  </a:cubicBezTo>
                  <a:lnTo>
                    <a:pt x="70971" y="111600"/>
                  </a:lnTo>
                  <a:cubicBezTo>
                    <a:pt x="67399" y="115410"/>
                    <a:pt x="62446" y="117553"/>
                    <a:pt x="57255" y="117553"/>
                  </a:cubicBezTo>
                  <a:lnTo>
                    <a:pt x="57160" y="117553"/>
                  </a:lnTo>
                  <a:close/>
                </a:path>
              </a:pathLst>
            </a:custGeom>
            <a:solidFill>
              <a:srgbClr val="49729E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lt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05729245-FB8A-8D13-9D3D-205BD3D7A7C0}"/>
                </a:ext>
              </a:extLst>
            </p:cNvPr>
            <p:cNvSpPr txBox="1"/>
            <p:nvPr/>
          </p:nvSpPr>
          <p:spPr>
            <a:xfrm>
              <a:off x="2979134" y="5978219"/>
              <a:ext cx="740946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 latinLnBrk="0">
                <a:spcBef>
                  <a:spcPts val="300"/>
                </a:spcBef>
                <a:spcAft>
                  <a:spcPts val="300"/>
                </a:spcAft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85000"/>
                      <a:lumOff val="15000"/>
                    </a:schemeClr>
                  </a:solidFill>
                  <a:latin typeface="+mn-ea"/>
                </a:rPr>
                <a:t>저작권 문제로 유료 폰트는 사용 금지</a:t>
              </a:r>
            </a:p>
          </p:txBody>
        </p:sp>
        <p:sp>
          <p:nvSpPr>
            <p:cNvPr id="136" name="자유형: 도형 135">
              <a:extLst>
                <a:ext uri="{FF2B5EF4-FFF2-40B4-BE49-F238E27FC236}">
                  <a16:creationId xmlns:a16="http://schemas.microsoft.com/office/drawing/2014/main" id="{9D805BEB-E360-8D72-2F27-E3284789514A}"/>
                </a:ext>
              </a:extLst>
            </p:cNvPr>
            <p:cNvSpPr/>
            <p:nvPr/>
          </p:nvSpPr>
          <p:spPr>
            <a:xfrm>
              <a:off x="2802691" y="6049788"/>
              <a:ext cx="151043" cy="117601"/>
            </a:xfrm>
            <a:custGeom>
              <a:avLst/>
              <a:gdLst>
                <a:gd name="connsiteX0" fmla="*/ 57208 w 151043"/>
                <a:gd name="connsiteY0" fmla="*/ 117601 h 117601"/>
                <a:gd name="connsiteX1" fmla="*/ 43492 w 151043"/>
                <a:gd name="connsiteY1" fmla="*/ 111743 h 117601"/>
                <a:gd name="connsiteX2" fmla="*/ 5296 w 151043"/>
                <a:gd name="connsiteY2" fmla="*/ 71976 h 117601"/>
                <a:gd name="connsiteX3" fmla="*/ 5820 w 151043"/>
                <a:gd name="connsiteY3" fmla="*/ 45116 h 117601"/>
                <a:gd name="connsiteX4" fmla="*/ 32681 w 151043"/>
                <a:gd name="connsiteY4" fmla="*/ 45640 h 117601"/>
                <a:gd name="connsiteX5" fmla="*/ 57017 w 151043"/>
                <a:gd name="connsiteY5" fmla="*/ 70976 h 117601"/>
                <a:gd name="connsiteX6" fmla="*/ 118215 w 151043"/>
                <a:gd name="connsiteY6" fmla="*/ 5968 h 117601"/>
                <a:gd name="connsiteX7" fmla="*/ 145076 w 151043"/>
                <a:gd name="connsiteY7" fmla="*/ 5158 h 117601"/>
                <a:gd name="connsiteX8" fmla="*/ 145885 w 151043"/>
                <a:gd name="connsiteY8" fmla="*/ 32019 h 117601"/>
                <a:gd name="connsiteX9" fmla="*/ 70971 w 151043"/>
                <a:gd name="connsiteY9" fmla="*/ 111600 h 117601"/>
                <a:gd name="connsiteX10" fmla="*/ 57255 w 151043"/>
                <a:gd name="connsiteY10" fmla="*/ 117553 h 117601"/>
                <a:gd name="connsiteX11" fmla="*/ 57160 w 151043"/>
                <a:gd name="connsiteY11" fmla="*/ 117553 h 117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1043" h="117601">
                  <a:moveTo>
                    <a:pt x="57208" y="117601"/>
                  </a:moveTo>
                  <a:cubicBezTo>
                    <a:pt x="52017" y="117601"/>
                    <a:pt x="47111" y="115506"/>
                    <a:pt x="43492" y="111743"/>
                  </a:cubicBezTo>
                  <a:lnTo>
                    <a:pt x="5296" y="71976"/>
                  </a:lnTo>
                  <a:cubicBezTo>
                    <a:pt x="-1990" y="64404"/>
                    <a:pt x="-1704" y="52402"/>
                    <a:pt x="5820" y="45116"/>
                  </a:cubicBezTo>
                  <a:cubicBezTo>
                    <a:pt x="13393" y="37877"/>
                    <a:pt x="25394" y="38115"/>
                    <a:pt x="32681" y="45640"/>
                  </a:cubicBezTo>
                  <a:lnTo>
                    <a:pt x="57017" y="70976"/>
                  </a:lnTo>
                  <a:lnTo>
                    <a:pt x="118215" y="5968"/>
                  </a:lnTo>
                  <a:cubicBezTo>
                    <a:pt x="125407" y="-1652"/>
                    <a:pt x="137408" y="-2033"/>
                    <a:pt x="145076" y="5158"/>
                  </a:cubicBezTo>
                  <a:cubicBezTo>
                    <a:pt x="152696" y="12350"/>
                    <a:pt x="153077" y="24351"/>
                    <a:pt x="145885" y="32019"/>
                  </a:cubicBezTo>
                  <a:lnTo>
                    <a:pt x="70971" y="111600"/>
                  </a:lnTo>
                  <a:cubicBezTo>
                    <a:pt x="67399" y="115410"/>
                    <a:pt x="62446" y="117553"/>
                    <a:pt x="57255" y="117553"/>
                  </a:cubicBezTo>
                  <a:lnTo>
                    <a:pt x="57160" y="117553"/>
                  </a:lnTo>
                  <a:close/>
                </a:path>
              </a:pathLst>
            </a:custGeom>
            <a:solidFill>
              <a:srgbClr val="49729E"/>
            </a:solidFill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+mj-lt"/>
              </a:endParaRPr>
            </a:p>
          </p:txBody>
        </p:sp>
      </p:grpSp>
      <p:pic>
        <p:nvPicPr>
          <p:cNvPr id="139" name="그래픽 138">
            <a:extLst>
              <a:ext uri="{FF2B5EF4-FFF2-40B4-BE49-F238E27FC236}">
                <a16:creationId xmlns:a16="http://schemas.microsoft.com/office/drawing/2014/main" id="{E5E8A66C-FD69-4A07-BAC1-67D5B50755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999" y="6146170"/>
            <a:ext cx="516028" cy="724897"/>
          </a:xfrm>
          <a:prstGeom prst="rect">
            <a:avLst/>
          </a:prstGeom>
        </p:spPr>
      </p:pic>
      <p:pic>
        <p:nvPicPr>
          <p:cNvPr id="140" name="그래픽 139">
            <a:extLst>
              <a:ext uri="{FF2B5EF4-FFF2-40B4-BE49-F238E27FC236}">
                <a16:creationId xmlns:a16="http://schemas.microsoft.com/office/drawing/2014/main" id="{784CF9DC-6F05-EF5B-B873-2894311E99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0953181">
            <a:off x="50218" y="5743137"/>
            <a:ext cx="342900" cy="428625"/>
          </a:xfrm>
          <a:prstGeom prst="rect">
            <a:avLst/>
          </a:prstGeom>
        </p:spPr>
      </p:pic>
      <p:sp>
        <p:nvSpPr>
          <p:cNvPr id="73" name="TextBox 5">
            <a:extLst>
              <a:ext uri="{FF2B5EF4-FFF2-40B4-BE49-F238E27FC236}">
                <a16:creationId xmlns:a16="http://schemas.microsoft.com/office/drawing/2014/main" id="{F827ABC8-3156-4505-8791-135D60E6E703}"/>
              </a:ext>
            </a:extLst>
          </p:cNvPr>
          <p:cNvSpPr txBox="1"/>
          <p:nvPr/>
        </p:nvSpPr>
        <p:spPr>
          <a:xfrm>
            <a:off x="7767650" y="6308108"/>
            <a:ext cx="4195379" cy="369332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spAutoFit/>
          </a:bodyPr>
          <a:lstStyle>
            <a:defPPr>
              <a:defRPr lang="ko-KR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5pPr>
            <a:lvl6pPr marL="22860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6pPr>
            <a:lvl7pPr marL="27432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7pPr>
            <a:lvl8pPr marL="32004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8pPr>
            <a:lvl9pPr marL="3657600" algn="l" defTabSz="914400" rtl="0" eaLnBrk="1" latinLnBrk="1" hangingPunct="1"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+mn-cs"/>
              </a:defRPr>
            </a:lvl9pPr>
          </a:lstStyle>
          <a:p>
            <a:r>
              <a:rPr lang="ko-KR" altLang="en-US" dirty="0">
                <a:solidFill>
                  <a:srgbClr val="FF0000"/>
                </a:solidFill>
              </a:rPr>
              <a:t>제출 시 본 페이지는 삭제 후 제출하세요</a:t>
            </a:r>
          </a:p>
        </p:txBody>
      </p:sp>
    </p:spTree>
    <p:extLst>
      <p:ext uri="{BB962C8B-B14F-4D97-AF65-F5344CB8AC3E}">
        <p14:creationId xmlns:p14="http://schemas.microsoft.com/office/powerpoint/2010/main" val="36185242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589" y="-1"/>
            <a:ext cx="1858411" cy="217029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4367809" y="1370504"/>
            <a:ext cx="7115886" cy="1793451"/>
            <a:chOff x="6747213" y="1370504"/>
            <a:chExt cx="4736481" cy="179345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188" y="1370504"/>
              <a:ext cx="29482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○○아카데미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훈련기관명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213" y="1809738"/>
              <a:ext cx="4736481" cy="135421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팀 프로젝트명</a:t>
              </a:r>
              <a:br>
                <a:rPr lang="en-US" altLang="ko-KR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</a:br>
              <a:r>
                <a:rPr lang="en-US" altLang="ko-KR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주제</a:t>
              </a:r>
              <a:r>
                <a:rPr lang="en-US" altLang="ko-KR" sz="4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4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0886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8757764" y="6027409"/>
            <a:ext cx="2680001" cy="375740"/>
            <a:chOff x="921102" y="6027409"/>
            <a:chExt cx="2680001" cy="375740"/>
          </a:xfrm>
        </p:grpSpPr>
        <p:pic>
          <p:nvPicPr>
            <p:cNvPr id="7" name="_x278651016" descr="EMB0000378c3f3d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-160030" y="3915155"/>
            <a:ext cx="7469973" cy="3682727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l="21662" t="1" b="17379"/>
          <a:stretch/>
        </p:blipFill>
        <p:spPr>
          <a:xfrm>
            <a:off x="0" y="1229667"/>
            <a:ext cx="6616357" cy="5641295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381" y="2177346"/>
            <a:ext cx="1047217" cy="1047469"/>
            <a:chOff x="251139" y="1723399"/>
            <a:chExt cx="1047217" cy="1047469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251139" y="1723399"/>
              <a:ext cx="1047217" cy="1047469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575650" y="2048162"/>
              <a:ext cx="397819" cy="397819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28896" y="5508981"/>
            <a:ext cx="335776" cy="335776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19990" y="5818556"/>
            <a:ext cx="321625" cy="3216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47213" y="3882051"/>
            <a:ext cx="5236249" cy="1641298"/>
            <a:chOff x="6768048" y="3882051"/>
            <a:chExt cx="5236249" cy="1641298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 flipV="1">
              <a:off x="6768048" y="3882051"/>
              <a:ext cx="1663769" cy="70499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831823" y="4028125"/>
              <a:ext cx="5158567" cy="956159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TEAM 1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</a:t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어벤져스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팀명</a:t>
              </a: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김○○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박○○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이○○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최○○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정○○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65ADEEF-A1EB-4A5E-B31D-2DD09939039D}"/>
                </a:ext>
              </a:extLst>
            </p:cNvPr>
            <p:cNvSpPr txBox="1"/>
            <p:nvPr/>
          </p:nvSpPr>
          <p:spPr>
            <a:xfrm>
              <a:off x="6845730" y="5121188"/>
              <a:ext cx="5158567" cy="402161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멘토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] 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</a:rPr>
                <a:t>○○○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래픽 21">
            <a:extLst>
              <a:ext uri="{FF2B5EF4-FFF2-40B4-BE49-F238E27FC236}">
                <a16:creationId xmlns:a16="http://schemas.microsoft.com/office/drawing/2014/main" id="{DA74FF4B-66B3-60E4-0B66-EA5252224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-1" r="27522" b="23907"/>
          <a:stretch/>
        </p:blipFill>
        <p:spPr>
          <a:xfrm flipV="1">
            <a:off x="7546066" y="-1"/>
            <a:ext cx="4645934" cy="329666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882" y="519237"/>
            <a:ext cx="2256700" cy="1269295"/>
            <a:chOff x="870882" y="519237"/>
            <a:chExt cx="2256700" cy="126929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75370" y="957535"/>
              <a:ext cx="22522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882" y="519237"/>
              <a:ext cx="22522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110" y="2376079"/>
            <a:ext cx="4444751" cy="584775"/>
            <a:chOff x="6242110" y="2376079"/>
            <a:chExt cx="4444751" cy="58477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013793" y="2514579"/>
              <a:ext cx="3673068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110" y="2376079"/>
              <a:ext cx="63170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109" y="3175385"/>
            <a:ext cx="3976700" cy="584775"/>
            <a:chOff x="6242109" y="3175385"/>
            <a:chExt cx="3976700" cy="5847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013793" y="3315668"/>
              <a:ext cx="3205016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109" y="3175385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109" y="3974691"/>
            <a:ext cx="4185695" cy="584775"/>
            <a:chOff x="6242109" y="3974691"/>
            <a:chExt cx="4185695" cy="58477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013793" y="4116757"/>
              <a:ext cx="3414011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절차 및 방법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109" y="3974691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109" y="4773997"/>
            <a:ext cx="3256573" cy="584775"/>
            <a:chOff x="6242109" y="4773997"/>
            <a:chExt cx="3256573" cy="58477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011022-0A21-498C-52F2-7DEE3D0CBE42}"/>
                </a:ext>
              </a:extLst>
            </p:cNvPr>
            <p:cNvSpPr txBox="1"/>
            <p:nvPr/>
          </p:nvSpPr>
          <p:spPr>
            <a:xfrm>
              <a:off x="7013793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C425D4-6E83-E94D-6C6B-194A0473AC84}"/>
              </a:ext>
            </a:extLst>
          </p:cNvPr>
          <p:cNvGrpSpPr/>
          <p:nvPr/>
        </p:nvGrpSpPr>
        <p:grpSpPr>
          <a:xfrm>
            <a:off x="6242109" y="5573304"/>
            <a:ext cx="3976700" cy="584775"/>
            <a:chOff x="6242109" y="5573304"/>
            <a:chExt cx="3976700" cy="584775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CFF09DF-8F34-A520-554E-5E8D5B8B64FC}"/>
                </a:ext>
              </a:extLst>
            </p:cNvPr>
            <p:cNvSpPr txBox="1"/>
            <p:nvPr/>
          </p:nvSpPr>
          <p:spPr>
            <a:xfrm>
              <a:off x="7013793" y="5718935"/>
              <a:ext cx="3205016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자체 평가 의견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F31F813-66E5-6D7E-A2E8-9D595F7C4B3C}"/>
                </a:ext>
              </a:extLst>
            </p:cNvPr>
            <p:cNvSpPr txBox="1"/>
            <p:nvPr/>
          </p:nvSpPr>
          <p:spPr>
            <a:xfrm>
              <a:off x="6242109" y="5573304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042684" y="4289182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073038" y="1555170"/>
            <a:ext cx="233362" cy="233362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700000">
            <a:off x="11933337" y="302760"/>
            <a:ext cx="343679" cy="34367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88" y="1043222"/>
            <a:ext cx="6161017" cy="4371570"/>
            <a:chOff x="296588" y="1043222"/>
            <a:chExt cx="6161017" cy="437157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6394" y="1043222"/>
              <a:ext cx="6111211" cy="3433995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709557" y="5176667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538270" y="4298532"/>
              <a:ext cx="106965" cy="106965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203634" y="2752292"/>
              <a:ext cx="320555" cy="32055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96588" y="1824462"/>
              <a:ext cx="320555" cy="3043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래픽 16">
            <a:extLst>
              <a:ext uri="{FF2B5EF4-FFF2-40B4-BE49-F238E27FC236}">
                <a16:creationId xmlns:a16="http://schemas.microsoft.com/office/drawing/2014/main" id="{5D7D92DC-AA5F-DB8A-4577-CE6DDC763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18F8096-D17C-15A7-34ED-DD08BC50AA49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168CD54-D633-5776-71CD-FD7897E3EC30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아래 내용이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반드시 포함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되도록 작성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  </a:t>
              </a:r>
            </a:p>
          </p:txBody>
        </p:sp>
        <p:sp>
          <p:nvSpPr>
            <p:cNvPr id="30" name="그래픽 43">
              <a:extLst>
                <a:ext uri="{FF2B5EF4-FFF2-40B4-BE49-F238E27FC236}">
                  <a16:creationId xmlns:a16="http://schemas.microsoft.com/office/drawing/2014/main" id="{3A85AD0A-F31C-CE36-E2E5-7C20DEA387EC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90202" y="3164584"/>
            <a:ext cx="178594" cy="178594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272352">
            <a:off x="386995" y="5443343"/>
            <a:ext cx="186904" cy="20767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4921"/>
          <a:stretch/>
        </p:blipFill>
        <p:spPr>
          <a:xfrm rot="10800000">
            <a:off x="11016343" y="4903197"/>
            <a:ext cx="1175656" cy="7799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45412"/>
          <a:stretch/>
        </p:blipFill>
        <p:spPr>
          <a:xfrm>
            <a:off x="0" y="3261891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72484" y="2240918"/>
            <a:ext cx="149373" cy="14937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6C06CAEA-D42C-8C82-E16B-734CD805394A}"/>
              </a:ext>
            </a:extLst>
          </p:cNvPr>
          <p:cNvGrpSpPr/>
          <p:nvPr/>
        </p:nvGrpSpPr>
        <p:grpSpPr>
          <a:xfrm>
            <a:off x="7339013" y="2373418"/>
            <a:ext cx="2122307" cy="3803725"/>
            <a:chOff x="7348911" y="2373418"/>
            <a:chExt cx="2122307" cy="380372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1E00A0C-E033-E8EB-4A85-EABC364FE2F4}"/>
                </a:ext>
              </a:extLst>
            </p:cNvPr>
            <p:cNvGrpSpPr/>
            <p:nvPr/>
          </p:nvGrpSpPr>
          <p:grpSpPr>
            <a:xfrm>
              <a:off x="7348911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35" name="사각형: 둥근 위쪽 모서리 34">
                <a:extLst>
                  <a:ext uri="{FF2B5EF4-FFF2-40B4-BE49-F238E27FC236}">
                    <a16:creationId xmlns:a16="http://schemas.microsoft.com/office/drawing/2014/main" id="{AD146179-C1F1-3711-0B2A-B9627695808E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4B042380-0F27-357E-BDB8-039E536A1A5F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BCA0D17-CB83-60D4-6F44-E62408BFE773}"/>
                </a:ext>
              </a:extLst>
            </p:cNvPr>
            <p:cNvGrpSpPr/>
            <p:nvPr/>
          </p:nvGrpSpPr>
          <p:grpSpPr>
            <a:xfrm>
              <a:off x="8203202" y="2373418"/>
              <a:ext cx="408282" cy="351966"/>
              <a:chOff x="450324" y="2128945"/>
              <a:chExt cx="889526" cy="766832"/>
            </a:xfrm>
          </p:grpSpPr>
          <p:sp>
            <p:nvSpPr>
              <p:cNvPr id="21" name="육각형 20">
                <a:extLst>
                  <a:ext uri="{FF2B5EF4-FFF2-40B4-BE49-F238E27FC236}">
                    <a16:creationId xmlns:a16="http://schemas.microsoft.com/office/drawing/2014/main" id="{88D704B2-061D-BCA3-26C9-FF5A1B078C7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CB1DB5E-57FA-B081-7842-479DE503647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5BD135-58A4-FB54-3A11-75A3487B65B0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547BD1-FC8C-AF26-C281-E98B0339386D}"/>
                </a:ext>
              </a:extLst>
            </p:cNvPr>
            <p:cNvSpPr txBox="1"/>
            <p:nvPr/>
          </p:nvSpPr>
          <p:spPr>
            <a:xfrm>
              <a:off x="7557944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구조</a:t>
              </a:r>
              <a:endParaRPr lang="en-US" altLang="ko-KR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E5BBE0F-3417-3F88-1387-99E3FB412ECD}"/>
              </a:ext>
            </a:extLst>
          </p:cNvPr>
          <p:cNvGrpSpPr/>
          <p:nvPr/>
        </p:nvGrpSpPr>
        <p:grpSpPr>
          <a:xfrm>
            <a:off x="491899" y="2373418"/>
            <a:ext cx="2122308" cy="3803725"/>
            <a:chOff x="501797" y="2373418"/>
            <a:chExt cx="2122308" cy="3803725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783ACD-1AA6-FF6B-495F-A59938EC7ED4}"/>
                </a:ext>
              </a:extLst>
            </p:cNvPr>
            <p:cNvGrpSpPr/>
            <p:nvPr/>
          </p:nvGrpSpPr>
          <p:grpSpPr>
            <a:xfrm>
              <a:off x="501798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89" name="사각형: 둥근 위쪽 모서리 88">
                <a:extLst>
                  <a:ext uri="{FF2B5EF4-FFF2-40B4-BE49-F238E27FC236}">
                    <a16:creationId xmlns:a16="http://schemas.microsoft.com/office/drawing/2014/main" id="{9487F184-B80E-E980-A76D-497489E39B5B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7533C0E5-37D4-666D-ED97-04FE66D8AA07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3F42FBE-711F-2AE5-DA50-EBCDB0265D7B}"/>
                </a:ext>
              </a:extLst>
            </p:cNvPr>
            <p:cNvSpPr txBox="1"/>
            <p:nvPr/>
          </p:nvSpPr>
          <p:spPr>
            <a:xfrm>
              <a:off x="710830" y="3060042"/>
              <a:ext cx="1704241" cy="9805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 및 선정 배경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기획의도</a:t>
              </a: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99B77B5-7708-F027-9821-B23D2CEEC13C}"/>
                </a:ext>
              </a:extLst>
            </p:cNvPr>
            <p:cNvGrpSpPr/>
            <p:nvPr/>
          </p:nvGrpSpPr>
          <p:grpSpPr>
            <a:xfrm>
              <a:off x="1398903" y="2373418"/>
              <a:ext cx="408282" cy="388045"/>
              <a:chOff x="450324" y="2128945"/>
              <a:chExt cx="889526" cy="845438"/>
            </a:xfrm>
          </p:grpSpPr>
          <p:sp>
            <p:nvSpPr>
              <p:cNvPr id="86" name="육각형 85">
                <a:extLst>
                  <a:ext uri="{FF2B5EF4-FFF2-40B4-BE49-F238E27FC236}">
                    <a16:creationId xmlns:a16="http://schemas.microsoft.com/office/drawing/2014/main" id="{F6936F92-A6DE-5ACE-9B7A-91588D13D8D9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7" name="자유형: 도형 86">
                <a:extLst>
                  <a:ext uri="{FF2B5EF4-FFF2-40B4-BE49-F238E27FC236}">
                    <a16:creationId xmlns:a16="http://schemas.microsoft.com/office/drawing/2014/main" id="{3A2FA4EF-8448-1B99-E95A-6C8D85E801EB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CFB97A8-0377-4583-43C1-B930793AB1B7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2D316C95-1060-3E2B-12CF-65A95B12E668}"/>
                </a:ext>
              </a:extLst>
            </p:cNvPr>
            <p:cNvSpPr txBox="1"/>
            <p:nvPr/>
          </p:nvSpPr>
          <p:spPr>
            <a:xfrm>
              <a:off x="501797" y="4453027"/>
              <a:ext cx="2122307" cy="9048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주제의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u="sng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특화 포인트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기존 유사 서비스와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u="sng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차별화된 내용</a:t>
              </a: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제시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311B0875-3DFC-7826-A161-D12F6A206631}"/>
                </a:ext>
              </a:extLst>
            </p:cNvPr>
            <p:cNvCxnSpPr>
              <a:cxnSpLocks/>
            </p:cNvCxnSpPr>
            <p:nvPr/>
          </p:nvCxnSpPr>
          <p:spPr>
            <a:xfrm>
              <a:off x="1458728" y="4260129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7EFC602-0655-EA65-32C1-E8D5294AECFB}"/>
              </a:ext>
            </a:extLst>
          </p:cNvPr>
          <p:cNvGrpSpPr/>
          <p:nvPr/>
        </p:nvGrpSpPr>
        <p:grpSpPr>
          <a:xfrm>
            <a:off x="2774271" y="2373418"/>
            <a:ext cx="2122307" cy="3803725"/>
            <a:chOff x="2784169" y="2373418"/>
            <a:chExt cx="2122307" cy="3803725"/>
          </a:xfrm>
        </p:grpSpPr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B865315C-A3ED-823F-9D27-0B0DB41EC7B2}"/>
                </a:ext>
              </a:extLst>
            </p:cNvPr>
            <p:cNvGrpSpPr/>
            <p:nvPr/>
          </p:nvGrpSpPr>
          <p:grpSpPr>
            <a:xfrm>
              <a:off x="2784169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100" name="사각형: 둥근 위쪽 모서리 99">
                <a:extLst>
                  <a:ext uri="{FF2B5EF4-FFF2-40B4-BE49-F238E27FC236}">
                    <a16:creationId xmlns:a16="http://schemas.microsoft.com/office/drawing/2014/main" id="{BBADC5C0-E325-0E29-F1CB-2BBDC807F88A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212270CE-CB89-13D3-2499-5C569A88DAEE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7AD5890-AF29-E0F7-5DF1-9DF4B1625828}"/>
                </a:ext>
              </a:extLst>
            </p:cNvPr>
            <p:cNvGrpSpPr/>
            <p:nvPr/>
          </p:nvGrpSpPr>
          <p:grpSpPr>
            <a:xfrm>
              <a:off x="3688352" y="2373418"/>
              <a:ext cx="408282" cy="351966"/>
              <a:chOff x="450324" y="2128945"/>
              <a:chExt cx="889526" cy="766832"/>
            </a:xfrm>
          </p:grpSpPr>
          <p:sp>
            <p:nvSpPr>
              <p:cNvPr id="97" name="육각형 96">
                <a:extLst>
                  <a:ext uri="{FF2B5EF4-FFF2-40B4-BE49-F238E27FC236}">
                    <a16:creationId xmlns:a16="http://schemas.microsoft.com/office/drawing/2014/main" id="{8AD1C042-8D07-9E58-1A73-AFEE6C2785C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8" name="자유형: 도형 97">
                <a:extLst>
                  <a:ext uri="{FF2B5EF4-FFF2-40B4-BE49-F238E27FC236}">
                    <a16:creationId xmlns:a16="http://schemas.microsoft.com/office/drawing/2014/main" id="{5C50914A-ADE3-6AA2-6754-C3EFBEB768D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1A6F98-920F-FD16-1543-468789EEEDEF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86D7F53-B19B-7B51-63AC-E8DAEA19E2B8}"/>
                </a:ext>
              </a:extLst>
            </p:cNvPr>
            <p:cNvSpPr txBox="1"/>
            <p:nvPr/>
          </p:nvSpPr>
          <p:spPr>
            <a:xfrm>
              <a:off x="2993202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내용</a:t>
              </a:r>
              <a: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5EAF9AB-4D7C-5465-0AF3-CD762D73A6DD}"/>
                </a:ext>
              </a:extLst>
            </p:cNvPr>
            <p:cNvSpPr txBox="1"/>
            <p:nvPr/>
          </p:nvSpPr>
          <p:spPr>
            <a:xfrm>
              <a:off x="2784169" y="4453027"/>
              <a:ext cx="2122307" cy="7017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구현 내용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컨셉</a:t>
              </a:r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훈련내용과의 연관성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등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포함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96" name="직선 연결선 95">
              <a:extLst>
                <a:ext uri="{FF2B5EF4-FFF2-40B4-BE49-F238E27FC236}">
                  <a16:creationId xmlns:a16="http://schemas.microsoft.com/office/drawing/2014/main" id="{73245428-5F16-23A3-826B-B1AC2BF87895}"/>
                </a:ext>
              </a:extLst>
            </p:cNvPr>
            <p:cNvCxnSpPr>
              <a:cxnSpLocks/>
            </p:cNvCxnSpPr>
            <p:nvPr/>
          </p:nvCxnSpPr>
          <p:spPr>
            <a:xfrm>
              <a:off x="3741100" y="4260129"/>
              <a:ext cx="208445" cy="0"/>
            </a:xfrm>
            <a:prstGeom prst="line">
              <a:avLst/>
            </a:prstGeom>
            <a:ln w="19050">
              <a:solidFill>
                <a:srgbClr val="FFD85C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1214E4F1-BB37-F167-4210-26A757521B0C}"/>
              </a:ext>
            </a:extLst>
          </p:cNvPr>
          <p:cNvGrpSpPr/>
          <p:nvPr/>
        </p:nvGrpSpPr>
        <p:grpSpPr>
          <a:xfrm>
            <a:off x="5054374" y="2373418"/>
            <a:ext cx="2124575" cy="3803725"/>
            <a:chOff x="5064272" y="2373418"/>
            <a:chExt cx="2124575" cy="3803725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78A4A06D-5101-B6C5-2F44-97F7FFB0E367}"/>
                </a:ext>
              </a:extLst>
            </p:cNvPr>
            <p:cNvGrpSpPr/>
            <p:nvPr/>
          </p:nvGrpSpPr>
          <p:grpSpPr>
            <a:xfrm>
              <a:off x="5066540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11" name="사각형: 둥근 위쪽 모서리 110">
                <a:extLst>
                  <a:ext uri="{FF2B5EF4-FFF2-40B4-BE49-F238E27FC236}">
                    <a16:creationId xmlns:a16="http://schemas.microsoft.com/office/drawing/2014/main" id="{F72DAD37-8C9C-A1D9-B260-16DAC4007425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FE7EC4F7-D4F8-F4A3-01C4-3E8C7714799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B410AAFA-ABAB-A573-8432-15C5B3A0C32F}"/>
                </a:ext>
              </a:extLst>
            </p:cNvPr>
            <p:cNvGrpSpPr/>
            <p:nvPr/>
          </p:nvGrpSpPr>
          <p:grpSpPr>
            <a:xfrm>
              <a:off x="5923552" y="2373418"/>
              <a:ext cx="408282" cy="351966"/>
              <a:chOff x="450324" y="2128945"/>
              <a:chExt cx="889526" cy="766832"/>
            </a:xfrm>
          </p:grpSpPr>
          <p:sp>
            <p:nvSpPr>
              <p:cNvPr id="108" name="육각형 107">
                <a:extLst>
                  <a:ext uri="{FF2B5EF4-FFF2-40B4-BE49-F238E27FC236}">
                    <a16:creationId xmlns:a16="http://schemas.microsoft.com/office/drawing/2014/main" id="{AE51D1FE-03C0-C049-C523-94B45875B5B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09" name="자유형: 도형 108">
                <a:extLst>
                  <a:ext uri="{FF2B5EF4-FFF2-40B4-BE49-F238E27FC236}">
                    <a16:creationId xmlns:a16="http://schemas.microsoft.com/office/drawing/2014/main" id="{364AFCE3-9443-9AA3-E7F4-393D5C3EC046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6BB7FA7-4265-9252-35CB-18E831EA9EE9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289313C-4C2B-5EE0-C9F0-90127689E2F1}"/>
                </a:ext>
              </a:extLst>
            </p:cNvPr>
            <p:cNvSpPr txBox="1"/>
            <p:nvPr/>
          </p:nvSpPr>
          <p:spPr>
            <a:xfrm>
              <a:off x="5275573" y="3060042"/>
              <a:ext cx="1704241" cy="6758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활용 장비 및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재료</a:t>
              </a:r>
              <a:endPara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B80E50D-4435-40D3-6132-B95A7BAC651C}"/>
                </a:ext>
              </a:extLst>
            </p:cNvPr>
            <p:cNvSpPr txBox="1"/>
            <p:nvPr/>
          </p:nvSpPr>
          <p:spPr>
            <a:xfrm>
              <a:off x="5064272" y="4453027"/>
              <a:ext cx="2122307" cy="2782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개발환경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등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F374B2A9-7830-9D16-5469-6D770935621E}"/>
                </a:ext>
              </a:extLst>
            </p:cNvPr>
            <p:cNvCxnSpPr>
              <a:cxnSpLocks/>
            </p:cNvCxnSpPr>
            <p:nvPr/>
          </p:nvCxnSpPr>
          <p:spPr>
            <a:xfrm>
              <a:off x="6021203" y="4260129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A784CCE-E54B-C0F2-3979-277593F62A92}"/>
              </a:ext>
            </a:extLst>
          </p:cNvPr>
          <p:cNvGrpSpPr/>
          <p:nvPr/>
        </p:nvGrpSpPr>
        <p:grpSpPr>
          <a:xfrm>
            <a:off x="9616850" y="2373418"/>
            <a:ext cx="2126842" cy="3803725"/>
            <a:chOff x="9626748" y="2373418"/>
            <a:chExt cx="2126842" cy="380372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9A6EBD5C-A4FC-1FDE-C45A-C129D11A7773}"/>
                </a:ext>
              </a:extLst>
            </p:cNvPr>
            <p:cNvGrpSpPr/>
            <p:nvPr/>
          </p:nvGrpSpPr>
          <p:grpSpPr>
            <a:xfrm>
              <a:off x="9631283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22" name="사각형: 둥근 위쪽 모서리 121">
                <a:extLst>
                  <a:ext uri="{FF2B5EF4-FFF2-40B4-BE49-F238E27FC236}">
                    <a16:creationId xmlns:a16="http://schemas.microsoft.com/office/drawing/2014/main" id="{9F1D2BA5-A67E-8CA8-68CC-CC5DD3253E8D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43722B3-BD0E-2ECA-6689-6A2C0563E3C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C64B61DA-1255-6FB8-B1A7-48CDA752882F}"/>
                </a:ext>
              </a:extLst>
            </p:cNvPr>
            <p:cNvGrpSpPr/>
            <p:nvPr/>
          </p:nvGrpSpPr>
          <p:grpSpPr>
            <a:xfrm>
              <a:off x="10488295" y="2373418"/>
              <a:ext cx="408282" cy="351966"/>
              <a:chOff x="450324" y="2128945"/>
              <a:chExt cx="889526" cy="766832"/>
            </a:xfrm>
          </p:grpSpPr>
          <p:sp>
            <p:nvSpPr>
              <p:cNvPr id="119" name="육각형 118">
                <a:extLst>
                  <a:ext uri="{FF2B5EF4-FFF2-40B4-BE49-F238E27FC236}">
                    <a16:creationId xmlns:a16="http://schemas.microsoft.com/office/drawing/2014/main" id="{0F2F5C11-84D6-40F6-58B4-4FE0F40AE182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0" name="자유형: 도형 119">
                <a:extLst>
                  <a:ext uri="{FF2B5EF4-FFF2-40B4-BE49-F238E27FC236}">
                    <a16:creationId xmlns:a16="http://schemas.microsoft.com/office/drawing/2014/main" id="{2446D4A2-DACF-C677-5F03-56CE8A2EFC7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B19A7F1C-BDCB-C77C-081D-155B7A2BD92B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5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6350446-6771-1509-1C33-D986D90321A6}"/>
                </a:ext>
              </a:extLst>
            </p:cNvPr>
            <p:cNvSpPr txBox="1"/>
            <p:nvPr/>
          </p:nvSpPr>
          <p:spPr>
            <a:xfrm>
              <a:off x="9833059" y="3060042"/>
              <a:ext cx="1704241" cy="6758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활용방안 및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기대 효과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87F30DB-0C46-D738-9EDC-BA98CB38FF11}"/>
                </a:ext>
              </a:extLst>
            </p:cNvPr>
            <p:cNvSpPr txBox="1"/>
            <p:nvPr/>
          </p:nvSpPr>
          <p:spPr>
            <a:xfrm>
              <a:off x="9626748" y="4453027"/>
              <a:ext cx="2122307" cy="7017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산출물의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기대 효용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효과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)/</a:t>
              </a:r>
              <a:b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비즈니스 실무 활용성 제시</a:t>
              </a:r>
              <a:endParaRPr lang="en-US" altLang="ko-KR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cxnSp>
          <p:nvCxnSpPr>
            <p:cNvPr id="118" name="직선 연결선 117">
              <a:extLst>
                <a:ext uri="{FF2B5EF4-FFF2-40B4-BE49-F238E27FC236}">
                  <a16:creationId xmlns:a16="http://schemas.microsoft.com/office/drawing/2014/main" id="{FC2AFA84-BAD4-C827-E0E3-CE251C052D01}"/>
                </a:ext>
              </a:extLst>
            </p:cNvPr>
            <p:cNvCxnSpPr>
              <a:cxnSpLocks/>
            </p:cNvCxnSpPr>
            <p:nvPr/>
          </p:nvCxnSpPr>
          <p:spPr>
            <a:xfrm>
              <a:off x="10583679" y="4260129"/>
              <a:ext cx="208445" cy="0"/>
            </a:xfrm>
            <a:prstGeom prst="line">
              <a:avLst/>
            </a:prstGeom>
            <a:ln w="19050">
              <a:solidFill>
                <a:srgbClr val="3378C8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77140A24-4427-2901-0E48-56E8102BC738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28" name="_x278651016" descr="EMB0000378c3f3d">
              <a:extLst>
                <a:ext uri="{FF2B5EF4-FFF2-40B4-BE49-F238E27FC236}">
                  <a16:creationId xmlns:a16="http://schemas.microsoft.com/office/drawing/2014/main" id="{63145737-FAD3-C459-34E2-FEA7EE5FED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9" name="그래픽 23">
              <a:extLst>
                <a:ext uri="{FF2B5EF4-FFF2-40B4-BE49-F238E27FC236}">
                  <a16:creationId xmlns:a16="http://schemas.microsoft.com/office/drawing/2014/main" id="{7C23C462-5B92-8099-5E84-F4F6B2B97D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E247BE64-85B5-7C04-D551-43D7EA2D00D1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해당 프로젝트를 진행하면서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훈련생 별로 주도적으로 참여한 부분을 중심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으로 작성한다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BDFBBF1-E84A-9DDF-73E2-960C99C4BAB5}"/>
              </a:ext>
            </a:extLst>
          </p:cNvPr>
          <p:cNvGrpSpPr/>
          <p:nvPr/>
        </p:nvGrpSpPr>
        <p:grpSpPr>
          <a:xfrm>
            <a:off x="515380" y="2097591"/>
            <a:ext cx="11218265" cy="378909"/>
            <a:chOff x="541891" y="2097591"/>
            <a:chExt cx="11218265" cy="378909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DE5DD20A-D98D-477C-D6C5-F50C33B663C9}"/>
                </a:ext>
              </a:extLst>
            </p:cNvPr>
            <p:cNvSpPr/>
            <p:nvPr/>
          </p:nvSpPr>
          <p:spPr>
            <a:xfrm>
              <a:off x="541891" y="2097591"/>
              <a:ext cx="11218265" cy="378909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67EBB8-F256-651E-8870-1A2D77D8249A}"/>
                </a:ext>
              </a:extLst>
            </p:cNvPr>
            <p:cNvSpPr txBox="1"/>
            <p:nvPr/>
          </p:nvSpPr>
          <p:spPr>
            <a:xfrm>
              <a:off x="760387" y="2136129"/>
              <a:ext cx="547013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*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운영 중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FF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멘토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의 지원내역도 간략하게 작성</a:t>
              </a:r>
              <a:r>
                <a:rPr lang="en-US" altLang="ko-KR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endPara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/>
        </p:nvGraphicFramePr>
        <p:xfrm>
          <a:off x="524528" y="2721878"/>
          <a:ext cx="11218265" cy="3666223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2440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475593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617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훈련생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역할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담당 업무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김○○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팀장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박○○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  <a:endParaRPr lang="en-US" altLang="ko-KR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정○○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이○○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멘토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804453" y="6126651"/>
            <a:ext cx="109959" cy="109959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525872" y="3492488"/>
            <a:ext cx="2713128" cy="358635"/>
            <a:chOff x="4525872" y="3492488"/>
            <a:chExt cx="2713128" cy="358635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872" y="3492488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5023036" y="3519045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indent="0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데이터 정제 및 정규화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7579407" y="3492488"/>
            <a:ext cx="2713128" cy="358635"/>
            <a:chOff x="7579407" y="3492488"/>
            <a:chExt cx="2713128" cy="358635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407" y="3492488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407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8133721" y="3519045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모바일 서비스 테스팅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53" name="그래픽 152">
              <a:extLst>
                <a:ext uri="{FF2B5EF4-FFF2-40B4-BE49-F238E27FC236}">
                  <a16:creationId xmlns:a16="http://schemas.microsoft.com/office/drawing/2014/main" id="{174C7E6C-425A-20A4-A214-6EC75734B3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684515" y="3567030"/>
              <a:ext cx="191121" cy="203862"/>
            </a:xfrm>
            <a:prstGeom prst="rect">
              <a:avLst/>
            </a:prstGeom>
          </p:spPr>
        </p:pic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525872" y="4251550"/>
            <a:ext cx="2713128" cy="358635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525872" y="4251550"/>
            <a:ext cx="358635" cy="358635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227B33D-FA37-7FD5-4D04-ACA8DC6D3ADC}"/>
              </a:ext>
            </a:extLst>
          </p:cNvPr>
          <p:cNvSpPr txBox="1"/>
          <p:nvPr/>
        </p:nvSpPr>
        <p:spPr>
          <a:xfrm>
            <a:off x="5023036" y="4278107"/>
            <a:ext cx="18665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모바일 플랫폼 구현</a:t>
            </a:r>
            <a:endParaRPr lang="en-US" altLang="ko-KR" sz="1200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593097" y="4335700"/>
            <a:ext cx="216867" cy="193294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525872" y="5045671"/>
            <a:ext cx="2713128" cy="358635"/>
            <a:chOff x="4525872" y="5045671"/>
            <a:chExt cx="2713128" cy="358635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872" y="5045671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5023036" y="5072228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서비스 시스템 설계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2" name="그래픽 181">
              <a:extLst>
                <a:ext uri="{FF2B5EF4-FFF2-40B4-BE49-F238E27FC236}">
                  <a16:creationId xmlns:a16="http://schemas.microsoft.com/office/drawing/2014/main" id="{868BBF98-12BA-9238-1643-BF7C1BA2E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4602565" y="5120407"/>
              <a:ext cx="219805" cy="201488"/>
            </a:xfrm>
            <a:prstGeom prst="rect">
              <a:avLst/>
            </a:prstGeom>
          </p:spPr>
        </p:pic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9D315D2B-355C-1615-E050-9A778001B89F}"/>
              </a:ext>
            </a:extLst>
          </p:cNvPr>
          <p:cNvGrpSpPr/>
          <p:nvPr/>
        </p:nvGrpSpPr>
        <p:grpSpPr>
          <a:xfrm>
            <a:off x="7579407" y="5045671"/>
            <a:ext cx="2713128" cy="358635"/>
            <a:chOff x="7579407" y="5045671"/>
            <a:chExt cx="2713128" cy="358635"/>
          </a:xfrm>
        </p:grpSpPr>
        <p:sp>
          <p:nvSpPr>
            <p:cNvPr id="166" name="사각형: 둥근 모서리 165">
              <a:extLst>
                <a:ext uri="{FF2B5EF4-FFF2-40B4-BE49-F238E27FC236}">
                  <a16:creationId xmlns:a16="http://schemas.microsoft.com/office/drawing/2014/main" id="{C9D6C950-8B41-2D76-50B6-0D646375AB0D}"/>
                </a:ext>
              </a:extLst>
            </p:cNvPr>
            <p:cNvSpPr/>
            <p:nvPr/>
          </p:nvSpPr>
          <p:spPr>
            <a:xfrm>
              <a:off x="7579407" y="5045671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7" name="타원 166">
              <a:extLst>
                <a:ext uri="{FF2B5EF4-FFF2-40B4-BE49-F238E27FC236}">
                  <a16:creationId xmlns:a16="http://schemas.microsoft.com/office/drawing/2014/main" id="{B587C0B1-E8A6-C24D-7642-E82E3112FECD}"/>
                </a:ext>
              </a:extLst>
            </p:cNvPr>
            <p:cNvSpPr/>
            <p:nvPr/>
          </p:nvSpPr>
          <p:spPr>
            <a:xfrm>
              <a:off x="7579407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24B626D-98A1-99BA-C6BF-9429BF93797D}"/>
                </a:ext>
              </a:extLst>
            </p:cNvPr>
            <p:cNvSpPr txBox="1"/>
            <p:nvPr/>
          </p:nvSpPr>
          <p:spPr>
            <a:xfrm>
              <a:off x="8133721" y="5072228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텍스트 마이닝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4" name="그래픽 183">
              <a:extLst>
                <a:ext uri="{FF2B5EF4-FFF2-40B4-BE49-F238E27FC236}">
                  <a16:creationId xmlns:a16="http://schemas.microsoft.com/office/drawing/2014/main" id="{A974807F-F190-B444-17DF-2D7DAC1BAF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7638343" y="5153798"/>
              <a:ext cx="240516" cy="150322"/>
            </a:xfrm>
            <a:prstGeom prst="rect">
              <a:avLst/>
            </a:prstGeom>
          </p:spPr>
        </p:pic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A4D67248-D905-9E52-5F24-7FF8A07814EF}"/>
              </a:ext>
            </a:extLst>
          </p:cNvPr>
          <p:cNvGrpSpPr/>
          <p:nvPr/>
        </p:nvGrpSpPr>
        <p:grpSpPr>
          <a:xfrm>
            <a:off x="7579407" y="4251550"/>
            <a:ext cx="2713128" cy="358635"/>
            <a:chOff x="7579407" y="4251550"/>
            <a:chExt cx="2713128" cy="358635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FEA7CFED-846E-5236-EA65-8F066B703370}"/>
                </a:ext>
              </a:extLst>
            </p:cNvPr>
            <p:cNvSpPr/>
            <p:nvPr/>
          </p:nvSpPr>
          <p:spPr>
            <a:xfrm>
              <a:off x="7579407" y="4251550"/>
              <a:ext cx="2713128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9" name="타원 158">
              <a:extLst>
                <a:ext uri="{FF2B5EF4-FFF2-40B4-BE49-F238E27FC236}">
                  <a16:creationId xmlns:a16="http://schemas.microsoft.com/office/drawing/2014/main" id="{0F6B7CC6-DD9D-E65B-295A-7E37D0E9510A}"/>
                </a:ext>
              </a:extLst>
            </p:cNvPr>
            <p:cNvSpPr/>
            <p:nvPr/>
          </p:nvSpPr>
          <p:spPr>
            <a:xfrm>
              <a:off x="7579407" y="4251550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1E9FBEB-C5FB-ED00-2326-8673D24E284C}"/>
                </a:ext>
              </a:extLst>
            </p:cNvPr>
            <p:cNvSpPr txBox="1"/>
            <p:nvPr/>
          </p:nvSpPr>
          <p:spPr>
            <a:xfrm>
              <a:off x="8133721" y="4278107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외부 데이터 수집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6" name="그래픽 185">
              <a:extLst>
                <a:ext uri="{FF2B5EF4-FFF2-40B4-BE49-F238E27FC236}">
                  <a16:creationId xmlns:a16="http://schemas.microsoft.com/office/drawing/2014/main" id="{F0589C36-6558-DE35-D2A0-47812F4991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7650477" y="4316867"/>
              <a:ext cx="228600" cy="219075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0C0E3E7-9FDB-37CF-3936-26B9B88D8B94}"/>
              </a:ext>
            </a:extLst>
          </p:cNvPr>
          <p:cNvGrpSpPr/>
          <p:nvPr/>
        </p:nvGrpSpPr>
        <p:grpSpPr>
          <a:xfrm>
            <a:off x="4525872" y="5811259"/>
            <a:ext cx="4350872" cy="358635"/>
            <a:chOff x="4525872" y="5811259"/>
            <a:chExt cx="4350872" cy="358635"/>
          </a:xfrm>
        </p:grpSpPr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19D2DE3A-159C-0678-7722-8165D6D67C45}"/>
                </a:ext>
              </a:extLst>
            </p:cNvPr>
            <p:cNvSpPr/>
            <p:nvPr/>
          </p:nvSpPr>
          <p:spPr>
            <a:xfrm>
              <a:off x="4525872" y="5811259"/>
              <a:ext cx="3749754" cy="358635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2" name="타원 171">
              <a:extLst>
                <a:ext uri="{FF2B5EF4-FFF2-40B4-BE49-F238E27FC236}">
                  <a16:creationId xmlns:a16="http://schemas.microsoft.com/office/drawing/2014/main" id="{61E2BFB1-E502-EFDF-F184-F6517E943CFC}"/>
                </a:ext>
              </a:extLst>
            </p:cNvPr>
            <p:cNvSpPr/>
            <p:nvPr/>
          </p:nvSpPr>
          <p:spPr>
            <a:xfrm>
              <a:off x="4525872" y="5811259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9317FFBC-1EEA-B2D2-BB82-A575356B1646}"/>
                </a:ext>
              </a:extLst>
            </p:cNvPr>
            <p:cNvSpPr txBox="1"/>
            <p:nvPr/>
          </p:nvSpPr>
          <p:spPr>
            <a:xfrm>
              <a:off x="5023036" y="5837816"/>
              <a:ext cx="385370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주제 선정 피드백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 질의응답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8" name="그래픽 187">
              <a:extLst>
                <a:ext uri="{FF2B5EF4-FFF2-40B4-BE49-F238E27FC236}">
                  <a16:creationId xmlns:a16="http://schemas.microsoft.com/office/drawing/2014/main" id="{0B218DBD-C891-ACA9-3D98-24305179C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4606764" y="5897394"/>
              <a:ext cx="186838" cy="182946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5F92146-B07B-C311-EF22-FCD8E1FE76C5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5" name="_x278651016" descr="EMB0000378c3f3d">
              <a:extLst>
                <a:ext uri="{FF2B5EF4-FFF2-40B4-BE49-F238E27FC236}">
                  <a16:creationId xmlns:a16="http://schemas.microsoft.com/office/drawing/2014/main" id="{717B51EC-2096-2458-0684-EA2B4FBCF1E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6" name="그래픽 23">
              <a:extLst>
                <a:ext uri="{FF2B5EF4-FFF2-40B4-BE49-F238E27FC236}">
                  <a16:creationId xmlns:a16="http://schemas.microsoft.com/office/drawing/2014/main" id="{EA73D950-A5AF-E7B2-A931-ED4DC12A7A91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8987" y="5013787"/>
            <a:ext cx="1693012" cy="1372939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 rot="2700000">
            <a:off x="11833039" y="5062495"/>
            <a:ext cx="154011" cy="154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그래픽 118">
            <a:extLst>
              <a:ext uri="{FF2B5EF4-FFF2-40B4-BE49-F238E27FC236}">
                <a16:creationId xmlns:a16="http://schemas.microsoft.com/office/drawing/2014/main" id="{3B28FD1B-8CAB-173B-64DC-E4F111CEE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2" name="그래픽 101">
            <a:extLst>
              <a:ext uri="{FF2B5EF4-FFF2-40B4-BE49-F238E27FC236}">
                <a16:creationId xmlns:a16="http://schemas.microsoft.com/office/drawing/2014/main" id="{2CE23C52-A318-2938-C4FB-99E2929F1D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365" r="36132"/>
          <a:stretch/>
        </p:blipFill>
        <p:spPr>
          <a:xfrm rot="16200000" flipH="1">
            <a:off x="-70596" y="5743970"/>
            <a:ext cx="1184627" cy="1043434"/>
          </a:xfrm>
          <a:prstGeom prst="rect">
            <a:avLst/>
          </a:prstGeom>
        </p:spPr>
      </p:pic>
      <p:pic>
        <p:nvPicPr>
          <p:cNvPr id="100" name="그래픽 99">
            <a:extLst>
              <a:ext uri="{FF2B5EF4-FFF2-40B4-BE49-F238E27FC236}">
                <a16:creationId xmlns:a16="http://schemas.microsoft.com/office/drawing/2014/main" id="{7C74291E-3267-32F0-7B23-8F0B95B0AFF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r="16078" b="36588"/>
          <a:stretch/>
        </p:blipFill>
        <p:spPr>
          <a:xfrm rot="16200000">
            <a:off x="8716891" y="2969799"/>
            <a:ext cx="4528064" cy="2422157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47EEA120-670B-DBF5-A1A9-F8E6683304B4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절차 및 방법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985117FB-7436-83E8-CACF-9CC7B72D9274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프로젝트의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사전 기획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과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프로젝트 수행 및 완료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과정으로 나누어서 작성한다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 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7676DE3-7328-57E8-8B39-BD8F02E8E18B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7" name="_x278651016" descr="EMB0000378c3f3d">
              <a:extLst>
                <a:ext uri="{FF2B5EF4-FFF2-40B4-BE49-F238E27FC236}">
                  <a16:creationId xmlns:a16="http://schemas.microsoft.com/office/drawing/2014/main" id="{4DCE3619-3918-2F61-1012-6E0DDFBCE9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6" name="그래픽 23">
              <a:extLst>
                <a:ext uri="{FF2B5EF4-FFF2-40B4-BE49-F238E27FC236}">
                  <a16:creationId xmlns:a16="http://schemas.microsoft.com/office/drawing/2014/main" id="{020FDD6C-3DBB-FB83-FA79-DA13219A18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1F776B-9A28-263D-E9C4-5AC5D2B67486}"/>
              </a:ext>
            </a:extLst>
          </p:cNvPr>
          <p:cNvSpPr txBox="1"/>
          <p:nvPr/>
        </p:nvSpPr>
        <p:spPr>
          <a:xfrm>
            <a:off x="467002" y="2109348"/>
            <a:ext cx="98866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285750">
              <a:spcAft>
                <a:spcPts val="600"/>
              </a:spcAft>
              <a:buFontTx/>
              <a:buChar char="-"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프로젝트 수행 절차를 </a:t>
            </a:r>
            <a:r>
              <a:rPr lang="ko-KR" altLang="en-US" sz="1400" dirty="0" err="1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도식화하여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제시하거나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더 효과적으로 전달하는 방법 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등이 있다면</a:t>
            </a:r>
            <a:r>
              <a:rPr lang="en-US" altLang="ko-KR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수정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하여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작성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가능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  <a:p>
            <a:pPr indent="-285750">
              <a:spcAft>
                <a:spcPts val="600"/>
              </a:spcAft>
              <a:buFontTx/>
              <a:buChar char="-"/>
              <a:defRPr/>
            </a:pP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기획 단계에서 도출된 주제와 아이디어를 기반으로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실제 프로젝트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를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수행한 세부적인 기간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과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 활동 </a:t>
            </a:r>
            <a:r>
              <a:rPr lang="ko-KR" altLang="en-US" sz="14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내용 작성</a:t>
            </a:r>
            <a:endParaRPr lang="en-US" altLang="ko-KR" sz="14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BEE369A2-7FC3-B36D-85AB-2C2AFAC93AE4}"/>
              </a:ext>
            </a:extLst>
          </p:cNvPr>
          <p:cNvGraphicFramePr>
            <a:graphicFrameLocks noGrp="1"/>
          </p:cNvGraphicFramePr>
          <p:nvPr/>
        </p:nvGraphicFramePr>
        <p:xfrm>
          <a:off x="524528" y="2832100"/>
          <a:ext cx="11218265" cy="3556000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14947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2324100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5153025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  <a:gridCol w="2246368">
                  <a:extLst>
                    <a:ext uri="{9D8B030D-6E8A-4147-A177-3AD203B41FA5}">
                      <a16:colId xmlns:a16="http://schemas.microsoft.com/office/drawing/2014/main" val="258602572"/>
                    </a:ext>
                  </a:extLst>
                </a:gridCol>
              </a:tblGrid>
              <a:tr h="3828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구분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기간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활동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비고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사전 기획</a:t>
                      </a:r>
                      <a:endParaRPr lang="ko-KR" altLang="en-US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아이디어 선정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데이터 수집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협약기업 데이터 협조</a:t>
                      </a:r>
                      <a:endParaRPr lang="en-US" altLang="ko-KR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2352092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20000"/>
                        </a:lnSpc>
                        <a:spcBef>
                          <a:spcPts val="600"/>
                        </a:spcBef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데이터 전처리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ctr" defTabSz="914400" rtl="0" eaLnBrk="1" fontAlgn="ctr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0080325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모델링</a:t>
                      </a:r>
                      <a:endParaRPr lang="ko-KR" altLang="en-US" sz="1200" b="1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4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팀별 중간보고 실시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서비스 구축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fontAlgn="ctr">
                        <a:lnSpc>
                          <a:spcPct val="120000"/>
                        </a:lnSpc>
                        <a:spcBef>
                          <a:spcPts val="600"/>
                        </a:spcBef>
                        <a:buFont typeface="Arial" panose="020B0604020202020204" pitchFamily="34" charset="0"/>
                        <a:buNone/>
                      </a:pP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최적화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오류 수정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52886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총 개발기간</a:t>
                      </a:r>
                    </a:p>
                  </a:txBody>
                  <a:tcPr marL="84930" marR="84930" marT="42485" marB="4248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월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 ~ O/O(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금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)(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총 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7</a:t>
                      </a:r>
                      <a:r>
                        <a:rPr lang="ko-KR" altLang="en-US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주</a:t>
                      </a:r>
                      <a:r>
                        <a:rPr lang="en-US" altLang="ko-KR" sz="1200" b="1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</a:p>
                  </a:txBody>
                  <a:tcPr marL="33437" marR="3915" marT="391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lg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104" name="그래픽 103">
            <a:extLst>
              <a:ext uri="{FF2B5EF4-FFF2-40B4-BE49-F238E27FC236}">
                <a16:creationId xmlns:a16="http://schemas.microsoft.com/office/drawing/2014/main" id="{798868CC-A712-50CF-7DBD-44E0281E482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79625" y="5477900"/>
            <a:ext cx="124936" cy="124936"/>
          </a:xfrm>
          <a:prstGeom prst="rect">
            <a:avLst/>
          </a:prstGeom>
        </p:spPr>
      </p:pic>
      <p:grpSp>
        <p:nvGrpSpPr>
          <p:cNvPr id="21" name="그룹 20">
            <a:extLst>
              <a:ext uri="{FF2B5EF4-FFF2-40B4-BE49-F238E27FC236}">
                <a16:creationId xmlns:a16="http://schemas.microsoft.com/office/drawing/2014/main" id="{7792D8BF-43D4-2E73-1A16-D112207FC64D}"/>
              </a:ext>
            </a:extLst>
          </p:cNvPr>
          <p:cNvGrpSpPr/>
          <p:nvPr/>
        </p:nvGrpSpPr>
        <p:grpSpPr>
          <a:xfrm>
            <a:off x="4574111" y="3307757"/>
            <a:ext cx="2474844" cy="326913"/>
            <a:chOff x="4574111" y="3307757"/>
            <a:chExt cx="2474844" cy="326913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0174639B-D32A-99D5-EF92-9BD30C07E193}"/>
                </a:ext>
              </a:extLst>
            </p:cNvPr>
            <p:cNvGrpSpPr/>
            <p:nvPr/>
          </p:nvGrpSpPr>
          <p:grpSpPr>
            <a:xfrm>
              <a:off x="4574111" y="3307757"/>
              <a:ext cx="2474844" cy="326913"/>
              <a:chOff x="4665551" y="3307757"/>
              <a:chExt cx="2474844" cy="326913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52EBB465-39DF-3F0C-FCC4-581E85DB0F37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42" name="사각형: 둥근 모서리 41">
                  <a:extLst>
                    <a:ext uri="{FF2B5EF4-FFF2-40B4-BE49-F238E27FC236}">
                      <a16:creationId xmlns:a16="http://schemas.microsoft.com/office/drawing/2014/main" id="{8CDE927C-B3E2-A43C-0418-E8587888C05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174A2055-007B-2583-88F1-46E92C0E4311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13753A6-3463-661C-1655-AAB129980639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프로젝트 기획 및 주제 선정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6" name="그래픽 105">
              <a:extLst>
                <a:ext uri="{FF2B5EF4-FFF2-40B4-BE49-F238E27FC236}">
                  <a16:creationId xmlns:a16="http://schemas.microsoft.com/office/drawing/2014/main" id="{270D4B4F-04D3-55E7-516E-6043FCD877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89702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88777C6-37C6-2C9B-E4E8-F841A676F252}"/>
              </a:ext>
            </a:extLst>
          </p:cNvPr>
          <p:cNvGrpSpPr/>
          <p:nvPr/>
        </p:nvGrpSpPr>
        <p:grpSpPr>
          <a:xfrm>
            <a:off x="7383737" y="3307757"/>
            <a:ext cx="1446165" cy="326913"/>
            <a:chOff x="7383737" y="3307757"/>
            <a:chExt cx="1446165" cy="326913"/>
          </a:xfrm>
        </p:grpSpPr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A5D00CAB-39EC-5F44-BC5A-AD56D3CB3D2E}"/>
                </a:ext>
              </a:extLst>
            </p:cNvPr>
            <p:cNvGrpSpPr/>
            <p:nvPr/>
          </p:nvGrpSpPr>
          <p:grpSpPr>
            <a:xfrm>
              <a:off x="7383737" y="3307757"/>
              <a:ext cx="1446165" cy="326913"/>
              <a:chOff x="4665551" y="3307757"/>
              <a:chExt cx="1446165" cy="326913"/>
            </a:xfrm>
          </p:grpSpPr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116429E9-8018-650E-0A76-0F372A969D05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1446165" cy="326913"/>
                <a:chOff x="4665552" y="3307757"/>
                <a:chExt cx="1548052" cy="358635"/>
              </a:xfrm>
            </p:grpSpPr>
            <p:sp>
              <p:nvSpPr>
                <p:cNvPr id="52" name="사각형: 둥근 모서리 51">
                  <a:extLst>
                    <a:ext uri="{FF2B5EF4-FFF2-40B4-BE49-F238E27FC236}">
                      <a16:creationId xmlns:a16="http://schemas.microsoft.com/office/drawing/2014/main" id="{71A39B3E-69FF-C3F1-24C8-64A4F4271D6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548052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53" name="타원 52">
                  <a:extLst>
                    <a:ext uri="{FF2B5EF4-FFF2-40B4-BE49-F238E27FC236}">
                      <a16:creationId xmlns:a16="http://schemas.microsoft.com/office/drawing/2014/main" id="{5F7042F3-8D75-1DD9-4294-AE00C5FD31F5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161B534-EA92-F4BB-D3E0-0D678E22BBFC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09305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기획안 작성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7" name="그래픽 106">
              <a:extLst>
                <a:ext uri="{FF2B5EF4-FFF2-40B4-BE49-F238E27FC236}">
                  <a16:creationId xmlns:a16="http://schemas.microsoft.com/office/drawing/2014/main" id="{91B6FA92-3B1E-BAF5-F2DD-ED657763F1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7490054" y="3386189"/>
              <a:ext cx="149803" cy="180532"/>
            </a:xfrm>
            <a:prstGeom prst="rect">
              <a:avLst/>
            </a:prstGeom>
          </p:spPr>
        </p:pic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BFC2B727-B097-F8BF-18D1-2BB4C23A519E}"/>
              </a:ext>
            </a:extLst>
          </p:cNvPr>
          <p:cNvGrpSpPr/>
          <p:nvPr/>
        </p:nvGrpSpPr>
        <p:grpSpPr>
          <a:xfrm>
            <a:off x="4574111" y="3841157"/>
            <a:ext cx="2474845" cy="494096"/>
            <a:chOff x="4574111" y="3841157"/>
            <a:chExt cx="2474845" cy="494096"/>
          </a:xfrm>
        </p:grpSpPr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6CD6E83C-DB2E-7D5C-2AC4-D5A1AFF39FB6}"/>
                </a:ext>
              </a:extLst>
            </p:cNvPr>
            <p:cNvGrpSpPr/>
            <p:nvPr/>
          </p:nvGrpSpPr>
          <p:grpSpPr>
            <a:xfrm>
              <a:off x="4574111" y="3841157"/>
              <a:ext cx="2474845" cy="494096"/>
              <a:chOff x="4665551" y="3307757"/>
              <a:chExt cx="2474845" cy="494096"/>
            </a:xfrm>
          </p:grpSpPr>
          <p:grpSp>
            <p:nvGrpSpPr>
              <p:cNvPr id="59" name="그룹 58">
                <a:extLst>
                  <a:ext uri="{FF2B5EF4-FFF2-40B4-BE49-F238E27FC236}">
                    <a16:creationId xmlns:a16="http://schemas.microsoft.com/office/drawing/2014/main" id="{AE9A50F4-E71B-661C-F76E-57AAD92A8ACF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61" name="사각형: 둥근 모서리 60">
                  <a:extLst>
                    <a:ext uri="{FF2B5EF4-FFF2-40B4-BE49-F238E27FC236}">
                      <a16:creationId xmlns:a16="http://schemas.microsoft.com/office/drawing/2014/main" id="{DC02287B-1188-F76D-E52E-E08196FE2CEA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E1BC6DA3-FFD4-0534-D4E1-8B56407D797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48405A1-81F1-1A77-3467-B61984F7C156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필요 데이터  및 수집 절차 정의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08" name="그래픽 107">
              <a:extLst>
                <a:ext uri="{FF2B5EF4-FFF2-40B4-BE49-F238E27FC236}">
                  <a16:creationId xmlns:a16="http://schemas.microsoft.com/office/drawing/2014/main" id="{F0E84F05-8158-F45F-6103-1BF5031C7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89702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D055C24-6525-E6A2-FD97-074FB7AE5900}"/>
              </a:ext>
            </a:extLst>
          </p:cNvPr>
          <p:cNvGrpSpPr/>
          <p:nvPr/>
        </p:nvGrpSpPr>
        <p:grpSpPr>
          <a:xfrm>
            <a:off x="7383738" y="3841157"/>
            <a:ext cx="1716293" cy="326913"/>
            <a:chOff x="7383738" y="3841157"/>
            <a:chExt cx="1716293" cy="326913"/>
          </a:xfrm>
        </p:grpSpPr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4E9D9B01-A33B-D7D2-85F0-D7D5F384A55C}"/>
                </a:ext>
              </a:extLst>
            </p:cNvPr>
            <p:cNvGrpSpPr/>
            <p:nvPr/>
          </p:nvGrpSpPr>
          <p:grpSpPr>
            <a:xfrm>
              <a:off x="7383738" y="3841157"/>
              <a:ext cx="1716293" cy="326913"/>
              <a:chOff x="4665552" y="3307757"/>
              <a:chExt cx="1716293" cy="326913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F1DE10FA-FC55-D960-9DE7-5C37EB730A18}"/>
                  </a:ext>
                </a:extLst>
              </p:cNvPr>
              <p:cNvGrpSpPr/>
              <p:nvPr/>
            </p:nvGrpSpPr>
            <p:grpSpPr>
              <a:xfrm>
                <a:off x="4665552" y="3307757"/>
                <a:ext cx="1706923" cy="326913"/>
                <a:chOff x="4665552" y="3307757"/>
                <a:chExt cx="1827181" cy="358635"/>
              </a:xfrm>
            </p:grpSpPr>
            <p:sp>
              <p:nvSpPr>
                <p:cNvPr id="67" name="사각형: 둥근 모서리 66">
                  <a:extLst>
                    <a:ext uri="{FF2B5EF4-FFF2-40B4-BE49-F238E27FC236}">
                      <a16:creationId xmlns:a16="http://schemas.microsoft.com/office/drawing/2014/main" id="{1F9F6BCD-1E50-DC25-3DA6-02B99126718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1827181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68" name="타원 67">
                  <a:extLst>
                    <a:ext uri="{FF2B5EF4-FFF2-40B4-BE49-F238E27FC236}">
                      <a16:creationId xmlns:a16="http://schemas.microsoft.com/office/drawing/2014/main" id="{A740A6B6-586D-30F6-3FD5-BE2EADC67242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C0CA86B6-E11A-4CCB-186F-0F7E9CCD0942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363186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외부 </a:t>
                </a: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데이터</a:t>
                </a:r>
                <a:r>
                  <a:rPr lang="ko-KR" altLang="en-US" sz="1200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세방고딕 Regular" panose="00000500000000000000" pitchFamily="2" charset="-127"/>
                    <a:ea typeface="세방고딕 Regular" panose="00000500000000000000" pitchFamily="2" charset="-127"/>
                  </a:rPr>
                  <a:t> 수집</a:t>
                </a:r>
                <a:endPara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endParaRPr>
              </a:p>
            </p:txBody>
          </p:sp>
        </p:grpSp>
        <p:pic>
          <p:nvPicPr>
            <p:cNvPr id="109" name="그래픽 108">
              <a:extLst>
                <a:ext uri="{FF2B5EF4-FFF2-40B4-BE49-F238E27FC236}">
                  <a16:creationId xmlns:a16="http://schemas.microsoft.com/office/drawing/2014/main" id="{1189161E-548A-6C49-38FE-EFA417864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7490054" y="3919590"/>
              <a:ext cx="149803" cy="180532"/>
            </a:xfrm>
            <a:prstGeom prst="rect">
              <a:avLst/>
            </a:prstGeom>
          </p:spPr>
        </p:pic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B6F0D4E-432C-3F96-3EA3-85698E2C9828}"/>
              </a:ext>
            </a:extLst>
          </p:cNvPr>
          <p:cNvGrpSpPr/>
          <p:nvPr/>
        </p:nvGrpSpPr>
        <p:grpSpPr>
          <a:xfrm>
            <a:off x="4574111" y="4369794"/>
            <a:ext cx="2456768" cy="326913"/>
            <a:chOff x="4574111" y="4369794"/>
            <a:chExt cx="2456768" cy="326913"/>
          </a:xfrm>
        </p:grpSpPr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227E8274-0A2C-8357-6959-DE160D7042F3}"/>
                </a:ext>
              </a:extLst>
            </p:cNvPr>
            <p:cNvGrpSpPr/>
            <p:nvPr/>
          </p:nvGrpSpPr>
          <p:grpSpPr>
            <a:xfrm>
              <a:off x="4574111" y="4369794"/>
              <a:ext cx="2456768" cy="326913"/>
              <a:chOff x="4665551" y="3307757"/>
              <a:chExt cx="2456768" cy="326913"/>
            </a:xfrm>
          </p:grpSpPr>
          <p:grpSp>
            <p:nvGrpSpPr>
              <p:cNvPr id="71" name="그룹 70">
                <a:extLst>
                  <a:ext uri="{FF2B5EF4-FFF2-40B4-BE49-F238E27FC236}">
                    <a16:creationId xmlns:a16="http://schemas.microsoft.com/office/drawing/2014/main" id="{7CB7853C-4AC9-1069-44B0-8817D1F1FD55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8E545408-E50B-6F90-D463-953D3929A35B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79F59F47-FAF7-0CDE-8C5F-5CB9BE8DB0C8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87DBD37F-43AA-5CBF-7186-802468863128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데이터 정제 및 정규화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0" name="그래픽 109">
              <a:extLst>
                <a:ext uri="{FF2B5EF4-FFF2-40B4-BE49-F238E27FC236}">
                  <a16:creationId xmlns:a16="http://schemas.microsoft.com/office/drawing/2014/main" id="{15183D72-F3C9-5CD5-A80E-1E66FBC59C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89702" y="4443464"/>
              <a:ext cx="149803" cy="180532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382DD9C-6CFA-79A9-21D9-D91086EC0AAE}"/>
              </a:ext>
            </a:extLst>
          </p:cNvPr>
          <p:cNvGrpSpPr/>
          <p:nvPr/>
        </p:nvGrpSpPr>
        <p:grpSpPr>
          <a:xfrm>
            <a:off x="4574111" y="4896844"/>
            <a:ext cx="2456768" cy="326913"/>
            <a:chOff x="4574111" y="4896844"/>
            <a:chExt cx="2456768" cy="326913"/>
          </a:xfrm>
        </p:grpSpPr>
        <p:grpSp>
          <p:nvGrpSpPr>
            <p:cNvPr id="76" name="그룹 75">
              <a:extLst>
                <a:ext uri="{FF2B5EF4-FFF2-40B4-BE49-F238E27FC236}">
                  <a16:creationId xmlns:a16="http://schemas.microsoft.com/office/drawing/2014/main" id="{600DF8E4-19D4-A618-4116-A49208004C00}"/>
                </a:ext>
              </a:extLst>
            </p:cNvPr>
            <p:cNvGrpSpPr/>
            <p:nvPr/>
          </p:nvGrpSpPr>
          <p:grpSpPr>
            <a:xfrm>
              <a:off x="4574111" y="4896844"/>
              <a:ext cx="2456768" cy="326913"/>
              <a:chOff x="4665551" y="3307757"/>
              <a:chExt cx="2456768" cy="326913"/>
            </a:xfrm>
          </p:grpSpPr>
          <p:grpSp>
            <p:nvGrpSpPr>
              <p:cNvPr id="77" name="그룹 76">
                <a:extLst>
                  <a:ext uri="{FF2B5EF4-FFF2-40B4-BE49-F238E27FC236}">
                    <a16:creationId xmlns:a16="http://schemas.microsoft.com/office/drawing/2014/main" id="{53C15FE9-37C0-C698-231F-B566813453D7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79" name="사각형: 둥근 모서리 78">
                  <a:extLst>
                    <a:ext uri="{FF2B5EF4-FFF2-40B4-BE49-F238E27FC236}">
                      <a16:creationId xmlns:a16="http://schemas.microsoft.com/office/drawing/2014/main" id="{609A3379-4631-8276-AF8A-10994CDEF097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80" name="타원 79">
                  <a:extLst>
                    <a:ext uri="{FF2B5EF4-FFF2-40B4-BE49-F238E27FC236}">
                      <a16:creationId xmlns:a16="http://schemas.microsoft.com/office/drawing/2014/main" id="{5E20FC97-1169-EB3D-C18F-8768D8E1244D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AF4CF284-F5E9-7E56-4BF0-D714FE48825D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971509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모형 구현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6" name="그래픽 115">
              <a:extLst>
                <a:ext uri="{FF2B5EF4-FFF2-40B4-BE49-F238E27FC236}">
                  <a16:creationId xmlns:a16="http://schemas.microsoft.com/office/drawing/2014/main" id="{F79D55F9-8B33-7828-2890-B15818F01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89702" y="4967339"/>
              <a:ext cx="149803" cy="180532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0692785A-1488-81E8-8926-A91D1A214D4B}"/>
              </a:ext>
            </a:extLst>
          </p:cNvPr>
          <p:cNvGrpSpPr/>
          <p:nvPr/>
        </p:nvGrpSpPr>
        <p:grpSpPr>
          <a:xfrm>
            <a:off x="4574111" y="5427069"/>
            <a:ext cx="2474845" cy="326913"/>
            <a:chOff x="4574111" y="5427069"/>
            <a:chExt cx="2474845" cy="326913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A3DDF3FC-4E6B-2215-D355-EF844455C59D}"/>
                </a:ext>
              </a:extLst>
            </p:cNvPr>
            <p:cNvGrpSpPr/>
            <p:nvPr/>
          </p:nvGrpSpPr>
          <p:grpSpPr>
            <a:xfrm>
              <a:off x="4574111" y="5427069"/>
              <a:ext cx="2474845" cy="326913"/>
              <a:chOff x="4665551" y="3307757"/>
              <a:chExt cx="2474845" cy="326913"/>
            </a:xfrm>
          </p:grpSpPr>
          <p:grpSp>
            <p:nvGrpSpPr>
              <p:cNvPr id="83" name="그룹 82">
                <a:extLst>
                  <a:ext uri="{FF2B5EF4-FFF2-40B4-BE49-F238E27FC236}">
                    <a16:creationId xmlns:a16="http://schemas.microsoft.com/office/drawing/2014/main" id="{2B9F5418-A583-2D10-0E17-270C2518FD59}"/>
                  </a:ext>
                </a:extLst>
              </p:cNvPr>
              <p:cNvGrpSpPr/>
              <p:nvPr/>
            </p:nvGrpSpPr>
            <p:grpSpPr>
              <a:xfrm>
                <a:off x="4665551" y="3307757"/>
                <a:ext cx="2456768" cy="326913"/>
                <a:chOff x="4665552" y="3307757"/>
                <a:chExt cx="2629855" cy="358635"/>
              </a:xfrm>
            </p:grpSpPr>
            <p:sp>
              <p:nvSpPr>
                <p:cNvPr id="85" name="사각형: 둥근 모서리 84">
                  <a:extLst>
                    <a:ext uri="{FF2B5EF4-FFF2-40B4-BE49-F238E27FC236}">
                      <a16:creationId xmlns:a16="http://schemas.microsoft.com/office/drawing/2014/main" id="{085CAA8B-560C-951E-7A12-FF6ED0E82B03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2629855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BA64813E-02E1-AB0E-776B-F41AF9BB336B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36BC604-1341-255F-4D68-038320EDB4D1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2121737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0" fontAlgn="ctr">
                  <a:spcBef>
                    <a:spcPts val="600"/>
                  </a:spcBef>
                  <a:buFont typeface="Arial" panose="020B0604020202020204" pitchFamily="34" charset="0"/>
                  <a:buNone/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모바일 서비스 시스템 설계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7" name="그래픽 116">
              <a:extLst>
                <a:ext uri="{FF2B5EF4-FFF2-40B4-BE49-F238E27FC236}">
                  <a16:creationId xmlns:a16="http://schemas.microsoft.com/office/drawing/2014/main" id="{01B09901-6B22-2819-F326-A2CC1AA6BA7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689702" y="5505502"/>
              <a:ext cx="149803" cy="180532"/>
            </a:xfrm>
            <a:prstGeom prst="rect">
              <a:avLst/>
            </a:prstGeom>
          </p:spPr>
        </p:pic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5C40BBE-095E-01FB-2528-6DF0EF1A33DB}"/>
              </a:ext>
            </a:extLst>
          </p:cNvPr>
          <p:cNvGrpSpPr/>
          <p:nvPr/>
        </p:nvGrpSpPr>
        <p:grpSpPr>
          <a:xfrm>
            <a:off x="7383738" y="5427069"/>
            <a:ext cx="1936899" cy="326914"/>
            <a:chOff x="7383738" y="5427069"/>
            <a:chExt cx="1936899" cy="326914"/>
          </a:xfrm>
        </p:grpSpPr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56131837-9B70-2254-3652-7A3BBC83141F}"/>
                </a:ext>
              </a:extLst>
            </p:cNvPr>
            <p:cNvGrpSpPr/>
            <p:nvPr/>
          </p:nvGrpSpPr>
          <p:grpSpPr>
            <a:xfrm>
              <a:off x="7383738" y="5427069"/>
              <a:ext cx="1936899" cy="326914"/>
              <a:chOff x="4665552" y="3307757"/>
              <a:chExt cx="1936899" cy="326914"/>
            </a:xfrm>
          </p:grpSpPr>
          <p:grpSp>
            <p:nvGrpSpPr>
              <p:cNvPr id="89" name="그룹 88">
                <a:extLst>
                  <a:ext uri="{FF2B5EF4-FFF2-40B4-BE49-F238E27FC236}">
                    <a16:creationId xmlns:a16="http://schemas.microsoft.com/office/drawing/2014/main" id="{FDB2CC05-7D07-CB94-1C11-AA6CA7F3F719}"/>
                  </a:ext>
                </a:extLst>
              </p:cNvPr>
              <p:cNvGrpSpPr/>
              <p:nvPr/>
            </p:nvGrpSpPr>
            <p:grpSpPr>
              <a:xfrm>
                <a:off x="4665552" y="3307757"/>
                <a:ext cx="1706923" cy="326914"/>
                <a:chOff x="4665552" y="3307756"/>
                <a:chExt cx="1827181" cy="358636"/>
              </a:xfrm>
            </p:grpSpPr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CE4D7620-95B3-3AFE-FF16-14EA352FDE4C}"/>
                    </a:ext>
                  </a:extLst>
                </p:cNvPr>
                <p:cNvSpPr/>
                <p:nvPr/>
              </p:nvSpPr>
              <p:spPr>
                <a:xfrm>
                  <a:off x="4665552" y="3307756"/>
                  <a:ext cx="1827181" cy="358635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600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  <p:sp>
              <p:nvSpPr>
                <p:cNvPr id="92" name="타원 91">
                  <a:extLst>
                    <a:ext uri="{FF2B5EF4-FFF2-40B4-BE49-F238E27FC236}">
                      <a16:creationId xmlns:a16="http://schemas.microsoft.com/office/drawing/2014/main" id="{D4AF9CA9-195E-A7C9-670D-7BCD3B05EC8A}"/>
                    </a:ext>
                  </a:extLst>
                </p:cNvPr>
                <p:cNvSpPr/>
                <p:nvPr/>
              </p:nvSpPr>
              <p:spPr>
                <a:xfrm>
                  <a:off x="4665552" y="3307757"/>
                  <a:ext cx="358635" cy="358635"/>
                </a:xfrm>
                <a:prstGeom prst="ellipse">
                  <a:avLst/>
                </a:prstGeom>
                <a:solidFill>
                  <a:srgbClr val="3378C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세방고딕 Regular" panose="00000500000000000000" pitchFamily="2" charset="-127"/>
                    <a:ea typeface="세방고딕 Regular" panose="00000500000000000000" pitchFamily="2" charset="-127"/>
                  </a:endParaRPr>
                </a:p>
              </p:txBody>
            </p:sp>
          </p:grp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2AE65555-DE71-51FC-E0CD-0ACA6582EEE6}"/>
                  </a:ext>
                </a:extLst>
              </p:cNvPr>
              <p:cNvSpPr txBox="1"/>
              <p:nvPr/>
            </p:nvSpPr>
            <p:spPr>
              <a:xfrm>
                <a:off x="5018659" y="3340188"/>
                <a:ext cx="158379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defRPr/>
                </a:pPr>
                <a:r>
                  <a:rPr lang="ko-KR" altLang="en-US" sz="1200" b="1" dirty="0">
                    <a:ln>
                      <a:solidFill>
                        <a:schemeClr val="bg1">
                          <a:alpha val="0"/>
                        </a:schemeClr>
                      </a:solidFill>
                    </a:ln>
                    <a:solidFill>
                      <a:schemeClr val="bg2">
                        <a:lumMod val="25000"/>
                      </a:schemeClr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모바일 플랫폼 구현</a:t>
                </a:r>
                <a:endPara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  <p:pic>
          <p:nvPicPr>
            <p:cNvPr id="118" name="그래픽 117">
              <a:extLst>
                <a:ext uri="{FF2B5EF4-FFF2-40B4-BE49-F238E27FC236}">
                  <a16:creationId xmlns:a16="http://schemas.microsoft.com/office/drawing/2014/main" id="{D020AD65-5473-489B-22AE-45FCA857C2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7490054" y="5505502"/>
              <a:ext cx="149803" cy="18053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061051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그래픽 80">
            <a:extLst>
              <a:ext uri="{FF2B5EF4-FFF2-40B4-BE49-F238E27FC236}">
                <a16:creationId xmlns:a16="http://schemas.microsoft.com/office/drawing/2014/main" id="{DADEC04D-C2B2-3DF1-E0D3-9B93AE532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2" name="그래픽 71">
            <a:extLst>
              <a:ext uri="{FF2B5EF4-FFF2-40B4-BE49-F238E27FC236}">
                <a16:creationId xmlns:a16="http://schemas.microsoft.com/office/drawing/2014/main" id="{81B5BF80-2F22-A3FA-1008-77887337582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5078" b="11486"/>
          <a:stretch/>
        </p:blipFill>
        <p:spPr>
          <a:xfrm>
            <a:off x="7589261" y="4695449"/>
            <a:ext cx="4602739" cy="2162551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01B99D1A-B73F-D570-A360-ED34F3576111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6C09F73A-C1E8-C027-B178-EF2EB31EA301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accent1"/>
                  </a:solidFill>
                  <a:latin typeface="+mj-ea"/>
                  <a:ea typeface="+mj-ea"/>
                </a:rPr>
                <a:t>프로젝트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결과물이 도출된 과정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을 세부적으로 작성한다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 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A48F1558-81FC-ADBD-7F72-02E1608F0309}"/>
              </a:ext>
            </a:extLst>
          </p:cNvPr>
          <p:cNvGrpSpPr/>
          <p:nvPr/>
        </p:nvGrpSpPr>
        <p:grpSpPr>
          <a:xfrm>
            <a:off x="515380" y="2097591"/>
            <a:ext cx="11410478" cy="378909"/>
            <a:chOff x="541891" y="2097591"/>
            <a:chExt cx="11410478" cy="378909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53082793-1863-DA6D-DFAD-F5F7C77FA261}"/>
                </a:ext>
              </a:extLst>
            </p:cNvPr>
            <p:cNvSpPr/>
            <p:nvPr/>
          </p:nvSpPr>
          <p:spPr>
            <a:xfrm>
              <a:off x="541891" y="2097591"/>
              <a:ext cx="11218265" cy="378909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A898C1A-E42C-1959-DDA8-7FA3885AF73D}"/>
                </a:ext>
              </a:extLst>
            </p:cNvPr>
            <p:cNvSpPr txBox="1"/>
            <p:nvPr/>
          </p:nvSpPr>
          <p:spPr>
            <a:xfrm>
              <a:off x="1062648" y="2136129"/>
              <a:ext cx="1088972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+mj-ea"/>
                  <a:ea typeface="+mj-ea"/>
                </a:rPr>
                <a:t>이어지는 예시는 하나의 사례 제공을 위해서 간단하게 제시한 것이므로 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+mj-ea"/>
                  <a:ea typeface="+mj-ea"/>
                </a:rPr>
                <a:t>프로젝트 성격에 따라 보다 자세하게 작성</a:t>
              </a:r>
              <a:endPara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D85C"/>
                </a:solidFill>
                <a:latin typeface="+mj-ea"/>
                <a:ea typeface="+mj-ea"/>
              </a:endParaRP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241AF91E-7785-5418-A751-C43D2064BD1B}"/>
                </a:ext>
              </a:extLst>
            </p:cNvPr>
            <p:cNvGrpSpPr/>
            <p:nvPr/>
          </p:nvGrpSpPr>
          <p:grpSpPr>
            <a:xfrm>
              <a:off x="829066" y="2139785"/>
              <a:ext cx="235963" cy="276999"/>
              <a:chOff x="-526659" y="2116801"/>
              <a:chExt cx="235963" cy="276999"/>
            </a:xfrm>
          </p:grpSpPr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5A20973A-497E-594B-CABE-FDE69AE049EF}"/>
                  </a:ext>
                </a:extLst>
              </p:cNvPr>
              <p:cNvSpPr/>
              <p:nvPr/>
            </p:nvSpPr>
            <p:spPr>
              <a:xfrm>
                <a:off x="-526659" y="2136129"/>
                <a:ext cx="233582" cy="23358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3174ECA-311B-4561-DF3D-C98A0C484116}"/>
                  </a:ext>
                </a:extLst>
              </p:cNvPr>
              <p:cNvSpPr txBox="1"/>
              <p:nvPr/>
            </p:nvSpPr>
            <p:spPr>
              <a:xfrm>
                <a:off x="-524058" y="2116801"/>
                <a:ext cx="23336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200" b="1" dirty="0">
                    <a:ln>
                      <a:solidFill>
                        <a:schemeClr val="accent1">
                          <a:shade val="15000"/>
                          <a:alpha val="0"/>
                        </a:schemeClr>
                      </a:solidFill>
                    </a:ln>
                    <a:solidFill>
                      <a:srgbClr val="3378C8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</a:rPr>
                  <a:t>!</a:t>
                </a:r>
                <a:endParaRPr lang="ko-KR" altLang="en-US" sz="1200" b="1" dirty="0"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endParaRPr>
              </a:p>
            </p:txBody>
          </p:sp>
        </p:grpSp>
      </p:grpSp>
      <p:sp>
        <p:nvSpPr>
          <p:cNvPr id="5" name="왼쪽 중괄호 4">
            <a:extLst>
              <a:ext uri="{FF2B5EF4-FFF2-40B4-BE49-F238E27FC236}">
                <a16:creationId xmlns:a16="http://schemas.microsoft.com/office/drawing/2014/main" id="{AA2D157E-DC4B-3915-37B9-389E3A4FFCFC}"/>
              </a:ext>
            </a:extLst>
          </p:cNvPr>
          <p:cNvSpPr/>
          <p:nvPr/>
        </p:nvSpPr>
        <p:spPr>
          <a:xfrm>
            <a:off x="2235565" y="3020941"/>
            <a:ext cx="290767" cy="2827409"/>
          </a:xfrm>
          <a:prstGeom prst="leftBrace">
            <a:avLst>
              <a:gd name="adj1" fmla="val 63525"/>
              <a:gd name="adj2" fmla="val 8173"/>
            </a:avLst>
          </a:prstGeom>
          <a:ln w="15875" cap="rnd" cmpd="sng">
            <a:solidFill>
              <a:schemeClr val="bg1">
                <a:lumMod val="75000"/>
                <a:alpha val="87000"/>
              </a:schemeClr>
            </a:solidFill>
            <a:prstDash val="sys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2D4CE-F6A7-ADDA-07ED-7CFBCE199F48}"/>
              </a:ext>
            </a:extLst>
          </p:cNvPr>
          <p:cNvSpPr txBox="1"/>
          <p:nvPr/>
        </p:nvSpPr>
        <p:spPr>
          <a:xfrm>
            <a:off x="513707" y="2888446"/>
            <a:ext cx="17386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프로젝트</a:t>
            </a:r>
            <a:endParaRPr lang="en-US" altLang="ko-KR" sz="2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defRPr/>
            </a:pPr>
            <a:r>
              <a:rPr lang="ko-KR" altLang="en-US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수행 경과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CF94D926-D978-3CED-E480-F2C90DA63374}"/>
              </a:ext>
            </a:extLst>
          </p:cNvPr>
          <p:cNvGrpSpPr/>
          <p:nvPr/>
        </p:nvGrpSpPr>
        <p:grpSpPr>
          <a:xfrm>
            <a:off x="2638615" y="3661000"/>
            <a:ext cx="9211099" cy="673099"/>
            <a:chOff x="2665127" y="3661000"/>
            <a:chExt cx="9211099" cy="673099"/>
          </a:xfrm>
        </p:grpSpPr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85E5837F-33ED-4B0A-BE59-F900C8DD2AE7}"/>
                </a:ext>
              </a:extLst>
            </p:cNvPr>
            <p:cNvSpPr/>
            <p:nvPr/>
          </p:nvSpPr>
          <p:spPr>
            <a:xfrm>
              <a:off x="2857501" y="3661000"/>
              <a:ext cx="8902656" cy="673099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C19EA3D4-16C1-C2D2-3A00-41314A3E6335}"/>
                </a:ext>
              </a:extLst>
            </p:cNvPr>
            <p:cNvGrpSpPr/>
            <p:nvPr/>
          </p:nvGrpSpPr>
          <p:grpSpPr>
            <a:xfrm>
              <a:off x="2665127" y="3812537"/>
              <a:ext cx="408282" cy="351966"/>
              <a:chOff x="450324" y="2128945"/>
              <a:chExt cx="889526" cy="766832"/>
            </a:xfrm>
          </p:grpSpPr>
          <p:sp>
            <p:nvSpPr>
              <p:cNvPr id="50" name="육각형 49">
                <a:extLst>
                  <a:ext uri="{FF2B5EF4-FFF2-40B4-BE49-F238E27FC236}">
                    <a16:creationId xmlns:a16="http://schemas.microsoft.com/office/drawing/2014/main" id="{5CDA4196-E1B2-7E49-518F-8F2F10F6F60D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1" name="자유형: 도형 50">
                <a:extLst>
                  <a:ext uri="{FF2B5EF4-FFF2-40B4-BE49-F238E27FC236}">
                    <a16:creationId xmlns:a16="http://schemas.microsoft.com/office/drawing/2014/main" id="{D2201DFF-ED8F-E21C-83BC-E77D5DDD539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3A1EEE5-2A25-4981-5450-C4AA5A85F86A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5BC8E924-E6BF-22EA-5924-F6AF36A3A462}"/>
                </a:ext>
              </a:extLst>
            </p:cNvPr>
            <p:cNvSpPr txBox="1"/>
            <p:nvPr/>
          </p:nvSpPr>
          <p:spPr>
            <a:xfrm>
              <a:off x="3276219" y="3839506"/>
              <a:ext cx="8600007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프로젝트 수행 과정이 잘 드러날 수 있도록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가공 과정부터 활용까지 전체적인 프로세스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를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단계별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로 작성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AAB460BD-FCED-3D3B-D88E-7BA4E871FD67}"/>
              </a:ext>
            </a:extLst>
          </p:cNvPr>
          <p:cNvGrpSpPr/>
          <p:nvPr/>
        </p:nvGrpSpPr>
        <p:grpSpPr>
          <a:xfrm>
            <a:off x="2638615" y="4597922"/>
            <a:ext cx="9095030" cy="673099"/>
            <a:chOff x="2665127" y="4597922"/>
            <a:chExt cx="9095030" cy="673099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60AEF2CD-96BE-6EDB-1CF2-927625F6B439}"/>
                </a:ext>
              </a:extLst>
            </p:cNvPr>
            <p:cNvSpPr/>
            <p:nvPr/>
          </p:nvSpPr>
          <p:spPr>
            <a:xfrm>
              <a:off x="2857501" y="4597922"/>
              <a:ext cx="8902656" cy="673099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91F00A3-4D0E-4CB1-0655-054E51789F4A}"/>
                </a:ext>
              </a:extLst>
            </p:cNvPr>
            <p:cNvGrpSpPr/>
            <p:nvPr/>
          </p:nvGrpSpPr>
          <p:grpSpPr>
            <a:xfrm>
              <a:off x="2665127" y="4749120"/>
              <a:ext cx="408282" cy="351966"/>
              <a:chOff x="450324" y="2128945"/>
              <a:chExt cx="889526" cy="766832"/>
            </a:xfrm>
          </p:grpSpPr>
          <p:sp>
            <p:nvSpPr>
              <p:cNvPr id="54" name="육각형 53">
                <a:extLst>
                  <a:ext uri="{FF2B5EF4-FFF2-40B4-BE49-F238E27FC236}">
                    <a16:creationId xmlns:a16="http://schemas.microsoft.com/office/drawing/2014/main" id="{C31EEF7E-1FD0-E48B-A776-0ACBD3B0BC1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5" name="자유형: 도형 54">
                <a:extLst>
                  <a:ext uri="{FF2B5EF4-FFF2-40B4-BE49-F238E27FC236}">
                    <a16:creationId xmlns:a16="http://schemas.microsoft.com/office/drawing/2014/main" id="{6C68B973-3659-4454-BD29-CE68FD01C44E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C77D60-A844-B390-ADE8-FEB89E7E6BC4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087B303-51FE-D056-D117-A87B789B4E7C}"/>
                </a:ext>
              </a:extLst>
            </p:cNvPr>
            <p:cNvSpPr txBox="1"/>
            <p:nvPr/>
          </p:nvSpPr>
          <p:spPr>
            <a:xfrm>
              <a:off x="3276220" y="4709456"/>
              <a:ext cx="8176640" cy="38856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프로젝트 수행 과정에서의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피드백 내용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과 그것을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적용</a:t>
              </a:r>
              <a:r>
                <a:rPr lang="en-US" altLang="ko-KR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(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보완 등</a:t>
              </a:r>
              <a:r>
                <a:rPr lang="en-US" altLang="ko-KR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)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한 내용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이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포함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n-ea"/>
                </a:rPr>
                <a:t>되도록 작성</a:t>
              </a:r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6EB6972-64A2-D199-D99B-9DC2AD775BFD}"/>
              </a:ext>
            </a:extLst>
          </p:cNvPr>
          <p:cNvGrpSpPr/>
          <p:nvPr/>
        </p:nvGrpSpPr>
        <p:grpSpPr>
          <a:xfrm>
            <a:off x="2638615" y="2724078"/>
            <a:ext cx="9095030" cy="673099"/>
            <a:chOff x="2665127" y="2724078"/>
            <a:chExt cx="9095030" cy="673099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5C4D692F-24A9-2E64-EDDC-3309FB5D256A}"/>
                </a:ext>
              </a:extLst>
            </p:cNvPr>
            <p:cNvSpPr/>
            <p:nvPr/>
          </p:nvSpPr>
          <p:spPr>
            <a:xfrm>
              <a:off x="2857501" y="2724078"/>
              <a:ext cx="8902656" cy="673099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7BB0B9-E2A0-8195-FC06-E1784851614C}"/>
                </a:ext>
              </a:extLst>
            </p:cNvPr>
            <p:cNvSpPr txBox="1"/>
            <p:nvPr/>
          </p:nvSpPr>
          <p:spPr>
            <a:xfrm>
              <a:off x="3276220" y="2787639"/>
              <a:ext cx="834259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결과를 서술하는 과정에서는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활용된 기술 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및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구현 방법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핵심기능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구현 결과</a:t>
              </a:r>
              <a:r>
                <a:rPr lang="en-US" altLang="ko-KR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*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 등을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상세히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 작성</a:t>
              </a:r>
              <a:endParaRPr lang="en-US" altLang="ko-KR" sz="14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8B6CBB9-7D5C-2C3E-1ABD-C655F98DD92E}"/>
                </a:ext>
              </a:extLst>
            </p:cNvPr>
            <p:cNvSpPr txBox="1"/>
            <p:nvPr/>
          </p:nvSpPr>
          <p:spPr>
            <a:xfrm>
              <a:off x="3871410" y="2985852"/>
              <a:ext cx="3295109" cy="3462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빅데이터 직종의 경우 정확도 등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AAE94BE5-34AC-6820-6F4E-6545486CA43D}"/>
                </a:ext>
              </a:extLst>
            </p:cNvPr>
            <p:cNvGrpSpPr/>
            <p:nvPr/>
          </p:nvGrpSpPr>
          <p:grpSpPr>
            <a:xfrm>
              <a:off x="2665127" y="2875954"/>
              <a:ext cx="408282" cy="388045"/>
              <a:chOff x="450324" y="2128945"/>
              <a:chExt cx="889526" cy="845438"/>
            </a:xfrm>
          </p:grpSpPr>
          <p:sp>
            <p:nvSpPr>
              <p:cNvPr id="46" name="육각형 45">
                <a:extLst>
                  <a:ext uri="{FF2B5EF4-FFF2-40B4-BE49-F238E27FC236}">
                    <a16:creationId xmlns:a16="http://schemas.microsoft.com/office/drawing/2014/main" id="{EB4E98E3-EA86-0711-6A3D-B085D6207A8D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7" name="자유형: 도형 46">
                <a:extLst>
                  <a:ext uri="{FF2B5EF4-FFF2-40B4-BE49-F238E27FC236}">
                    <a16:creationId xmlns:a16="http://schemas.microsoft.com/office/drawing/2014/main" id="{DC9CD92F-68F5-4F71-873E-C52262D4E4E7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578A259-752C-6DC6-39E8-9778F13F2078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18FF9A56-7FA6-CC9A-F116-4EEE4E55D731}"/>
                </a:ext>
              </a:extLst>
            </p:cNvPr>
            <p:cNvSpPr/>
            <p:nvPr/>
          </p:nvSpPr>
          <p:spPr>
            <a:xfrm>
              <a:off x="3369468" y="3094630"/>
              <a:ext cx="501942" cy="198999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예시</a:t>
              </a:r>
              <a:endParaRPr lang="ko-KR" altLang="en-US" sz="1200" b="1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8123C23-7A76-99C8-0803-53A933D1ACBE}"/>
              </a:ext>
            </a:extLst>
          </p:cNvPr>
          <p:cNvGrpSpPr/>
          <p:nvPr/>
        </p:nvGrpSpPr>
        <p:grpSpPr>
          <a:xfrm>
            <a:off x="2638615" y="5534844"/>
            <a:ext cx="9095030" cy="673099"/>
            <a:chOff x="2665127" y="5534844"/>
            <a:chExt cx="9095030" cy="673099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91919741-9825-9507-FEF9-5652C463E060}"/>
                </a:ext>
              </a:extLst>
            </p:cNvPr>
            <p:cNvSpPr/>
            <p:nvPr/>
          </p:nvSpPr>
          <p:spPr>
            <a:xfrm>
              <a:off x="2857501" y="5534844"/>
              <a:ext cx="8902656" cy="673099"/>
            </a:xfrm>
            <a:prstGeom prst="roundRect">
              <a:avLst/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76200" algn="ctr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5E8775BF-8025-6B56-33EC-E05C4930BEF3}"/>
                </a:ext>
              </a:extLst>
            </p:cNvPr>
            <p:cNvGrpSpPr/>
            <p:nvPr/>
          </p:nvGrpSpPr>
          <p:grpSpPr>
            <a:xfrm>
              <a:off x="2665127" y="5685703"/>
              <a:ext cx="408282" cy="351966"/>
              <a:chOff x="450324" y="2128945"/>
              <a:chExt cx="889526" cy="766832"/>
            </a:xfrm>
          </p:grpSpPr>
          <p:sp>
            <p:nvSpPr>
              <p:cNvPr id="58" name="육각형 57">
                <a:extLst>
                  <a:ext uri="{FF2B5EF4-FFF2-40B4-BE49-F238E27FC236}">
                    <a16:creationId xmlns:a16="http://schemas.microsoft.com/office/drawing/2014/main" id="{F2B5CC19-848E-CE0D-0EDF-332B4D2DBF1F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59" name="자유형: 도형 58">
                <a:extLst>
                  <a:ext uri="{FF2B5EF4-FFF2-40B4-BE49-F238E27FC236}">
                    <a16:creationId xmlns:a16="http://schemas.microsoft.com/office/drawing/2014/main" id="{59767EC2-0DEE-BA6F-D589-DB61944A0665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7DD2F99E-900E-5D0C-7186-254A772638BA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6921BBF-1516-FB24-0D8B-3AB3A25A673E}"/>
                </a:ext>
              </a:extLst>
            </p:cNvPr>
            <p:cNvSpPr txBox="1"/>
            <p:nvPr/>
          </p:nvSpPr>
          <p:spPr>
            <a:xfrm>
              <a:off x="3276220" y="5601324"/>
              <a:ext cx="695603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프로젝트 수행 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결과물을 잘 드러낼 수 있는 자료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를</a:t>
              </a:r>
              <a:r>
                <a:rPr lang="ko-KR" altLang="en-US" sz="14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 첨부</a:t>
              </a:r>
              <a:r>
                <a:rPr lang="ko-KR" altLang="en-US" sz="14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하여 작성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EE8EA9C-7E9C-B73B-B961-169901066557}"/>
                </a:ext>
              </a:extLst>
            </p:cNvPr>
            <p:cNvSpPr txBox="1"/>
            <p:nvPr/>
          </p:nvSpPr>
          <p:spPr>
            <a:xfrm>
              <a:off x="4468338" y="5805874"/>
              <a:ext cx="7150480" cy="3462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결과물 사진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시연 영상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구동 화면 등 프로젝트의 우수성이 드러날 수 있는 자료</a:t>
              </a:r>
              <a:endParaRPr lang="en-US" altLang="ko-KR" sz="1200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68" name="사각형: 둥근 모서리 67">
              <a:extLst>
                <a:ext uri="{FF2B5EF4-FFF2-40B4-BE49-F238E27FC236}">
                  <a16:creationId xmlns:a16="http://schemas.microsoft.com/office/drawing/2014/main" id="{219DCB6A-47C7-22E5-1FE9-986DF4AE099E}"/>
                </a:ext>
              </a:extLst>
            </p:cNvPr>
            <p:cNvSpPr/>
            <p:nvPr/>
          </p:nvSpPr>
          <p:spPr>
            <a:xfrm>
              <a:off x="3369468" y="5904505"/>
              <a:ext cx="1098870" cy="198999"/>
            </a:xfrm>
            <a:prstGeom prst="round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첨부 자료 예시</a:t>
              </a:r>
            </a:p>
          </p:txBody>
        </p:sp>
      </p:grpSp>
      <p:pic>
        <p:nvPicPr>
          <p:cNvPr id="74" name="그래픽 73">
            <a:extLst>
              <a:ext uri="{FF2B5EF4-FFF2-40B4-BE49-F238E27FC236}">
                <a16:creationId xmlns:a16="http://schemas.microsoft.com/office/drawing/2014/main" id="{684C52F4-7034-4768-87B0-83A54038EA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17803"/>
          <a:stretch/>
        </p:blipFill>
        <p:spPr>
          <a:xfrm rot="5400000">
            <a:off x="-476502" y="2466799"/>
            <a:ext cx="1438703" cy="485700"/>
          </a:xfrm>
          <a:prstGeom prst="rect">
            <a:avLst/>
          </a:prstGeom>
        </p:spPr>
      </p:pic>
      <p:grpSp>
        <p:nvGrpSpPr>
          <p:cNvPr id="25" name="그룹 24">
            <a:extLst>
              <a:ext uri="{FF2B5EF4-FFF2-40B4-BE49-F238E27FC236}">
                <a16:creationId xmlns:a16="http://schemas.microsoft.com/office/drawing/2014/main" id="{5D69379C-8748-91C9-144D-FE47E2D5A0C4}"/>
              </a:ext>
            </a:extLst>
          </p:cNvPr>
          <p:cNvGrpSpPr/>
          <p:nvPr/>
        </p:nvGrpSpPr>
        <p:grpSpPr>
          <a:xfrm>
            <a:off x="257705" y="4277173"/>
            <a:ext cx="1918012" cy="1755963"/>
            <a:chOff x="257705" y="4277173"/>
            <a:chExt cx="1918012" cy="1755963"/>
          </a:xfrm>
        </p:grpSpPr>
        <p:pic>
          <p:nvPicPr>
            <p:cNvPr id="76" name="그래픽 75">
              <a:extLst>
                <a:ext uri="{FF2B5EF4-FFF2-40B4-BE49-F238E27FC236}">
                  <a16:creationId xmlns:a16="http://schemas.microsoft.com/office/drawing/2014/main" id="{97DDB7A6-5825-3062-E194-7A2E89250F4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264772" y="4956615"/>
              <a:ext cx="110003" cy="110003"/>
            </a:xfrm>
            <a:prstGeom prst="rect">
              <a:avLst/>
            </a:prstGeom>
          </p:spPr>
        </p:pic>
        <p:pic>
          <p:nvPicPr>
            <p:cNvPr id="78" name="그래픽 77">
              <a:extLst>
                <a:ext uri="{FF2B5EF4-FFF2-40B4-BE49-F238E27FC236}">
                  <a16:creationId xmlns:a16="http://schemas.microsoft.com/office/drawing/2014/main" id="{065F2D4F-E585-2883-F3BC-F4E544D2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57705" y="4277173"/>
              <a:ext cx="142074" cy="142074"/>
            </a:xfrm>
            <a:prstGeom prst="rect">
              <a:avLst/>
            </a:prstGeom>
          </p:spPr>
        </p:pic>
        <p:pic>
          <p:nvPicPr>
            <p:cNvPr id="80" name="그래픽 79">
              <a:extLst>
                <a:ext uri="{FF2B5EF4-FFF2-40B4-BE49-F238E27FC236}">
                  <a16:creationId xmlns:a16="http://schemas.microsoft.com/office/drawing/2014/main" id="{D6ABE428-E132-1E87-86F1-385627753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2004267" y="5861686"/>
              <a:ext cx="171450" cy="171450"/>
            </a:xfrm>
            <a:prstGeom prst="rect">
              <a:avLst/>
            </a:prstGeom>
          </p:spPr>
        </p:pic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5F297602-7BCC-5393-C242-81517292EEDF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26" name="_x278651016" descr="EMB0000378c3f3d">
              <a:extLst>
                <a:ext uri="{FF2B5EF4-FFF2-40B4-BE49-F238E27FC236}">
                  <a16:creationId xmlns:a16="http://schemas.microsoft.com/office/drawing/2014/main" id="{C18F29AF-7582-C62A-7853-7017BD7C81B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그래픽 23">
              <a:extLst>
                <a:ext uri="{FF2B5EF4-FFF2-40B4-BE49-F238E27FC236}">
                  <a16:creationId xmlns:a16="http://schemas.microsoft.com/office/drawing/2014/main" id="{53A71266-6E81-59F0-9CDE-3F943094D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77909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spc="-1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+mn-ea"/>
                <a:ea typeface="맑은 고딕" panose="020B0503020000020004" pitchFamily="50" charset="-127"/>
              </a:rPr>
              <a:t>프로젝트 개요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BE525071-A861-2AA1-1A13-BDF2E6735A6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1721" y="1464921"/>
            <a:ext cx="8033887" cy="5059836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143200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spc="-1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+mn-ea"/>
                <a:ea typeface="맑은 고딕" panose="020B0503020000020004" pitchFamily="50" charset="-127"/>
              </a:rPr>
              <a:t>데이터 수집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66A00FC0-1197-AE40-CA5E-4D415FA277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4319" y="1416054"/>
            <a:ext cx="9641747" cy="490302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6627304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spc="-1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+mn-ea"/>
                <a:ea typeface="맑은 고딕" panose="020B0503020000020004" pitchFamily="50" charset="-127"/>
              </a:rPr>
              <a:t>데이터 처리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B4496742-7D8F-3521-8981-3028B2973B5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153" y="1579034"/>
            <a:ext cx="9998812" cy="2158259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E7B0718-FAC0-3B73-1309-2CA027D292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8153" y="4024557"/>
            <a:ext cx="9998812" cy="220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3243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50351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spc="-1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+mn-ea"/>
                <a:ea typeface="맑은 고딕" panose="020B0503020000020004" pitchFamily="50" charset="-127"/>
              </a:rPr>
              <a:t>데이터 시각화</a:t>
            </a:r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spc="-100" dirty="0">
              <a:solidFill>
                <a:schemeClr val="accent1"/>
              </a:solidFill>
              <a:latin typeface="+mn-ea"/>
            </a:endParaRPr>
          </a:p>
          <a:p>
            <a:pPr algn="r"/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A4375632-5808-F98D-6356-58435F6186C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5256" y="1916848"/>
            <a:ext cx="5799344" cy="3247441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1396F6D-FA68-7334-3478-179A15A1593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4529" y="2876160"/>
            <a:ext cx="5545324" cy="3435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7324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그래픽 98">
            <a:extLst>
              <a:ext uri="{FF2B5EF4-FFF2-40B4-BE49-F238E27FC236}">
                <a16:creationId xmlns:a16="http://schemas.microsoft.com/office/drawing/2014/main" id="{F903AA09-02EA-76CC-8175-834ABC7B3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FDEB448-9EE3-E350-4F7B-B8FDAF319438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수행 경과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AF4B2E62-632E-762D-16F9-2015B268C1F4}"/>
              </a:ext>
            </a:extLst>
          </p:cNvPr>
          <p:cNvGrpSpPr/>
          <p:nvPr/>
        </p:nvGrpSpPr>
        <p:grpSpPr>
          <a:xfrm>
            <a:off x="541891" y="1430219"/>
            <a:ext cx="10526159" cy="369332"/>
            <a:chOff x="541891" y="1430219"/>
            <a:chExt cx="10526159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32443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indent="0" fontAlgn="base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훈련생 발표 영상이 아닌 세부 기능 소개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화면 구동 및 기능 동작 여부 시연영상으로 제작한다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8BD100E5-682D-13CE-B307-81D8B8E71B57}"/>
              </a:ext>
            </a:extLst>
          </p:cNvPr>
          <p:cNvSpPr txBox="1"/>
          <p:nvPr/>
        </p:nvSpPr>
        <p:spPr>
          <a:xfrm>
            <a:off x="8312385" y="854343"/>
            <a:ext cx="34477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accent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spc="-100" dirty="0">
                <a:solidFill>
                  <a:schemeClr val="accent1"/>
                </a:solidFill>
                <a:latin typeface="+mn-ea"/>
              </a:rPr>
              <a:t>결과 제시 ⑤</a:t>
            </a:r>
            <a:r>
              <a:rPr lang="en-US" altLang="ko-KR" sz="1400" b="1" spc="-1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1400" b="1" spc="-100" dirty="0">
                <a:solidFill>
                  <a:schemeClr val="accent1"/>
                </a:solidFill>
                <a:latin typeface="+mn-ea"/>
              </a:rPr>
              <a:t>시연 동영상</a:t>
            </a:r>
          </a:p>
          <a:p>
            <a:pPr algn="r"/>
            <a:endParaRPr lang="ko-KR" altLang="en-US" sz="1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chemeClr val="accent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1916849"/>
            <a:ext cx="12192000" cy="233580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F15E6CC2-791D-CE03-4E5D-FC4D5DA0D776}"/>
              </a:ext>
            </a:extLst>
          </p:cNvPr>
          <p:cNvGrpSpPr/>
          <p:nvPr/>
        </p:nvGrpSpPr>
        <p:grpSpPr>
          <a:xfrm>
            <a:off x="515938" y="2074230"/>
            <a:ext cx="11244217" cy="4263070"/>
            <a:chOff x="541890" y="2074230"/>
            <a:chExt cx="11218265" cy="4263070"/>
          </a:xfrm>
        </p:grpSpPr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099E05E-02C6-A81E-C474-FDA5B9889330}"/>
                </a:ext>
              </a:extLst>
            </p:cNvPr>
            <p:cNvSpPr/>
            <p:nvPr/>
          </p:nvSpPr>
          <p:spPr>
            <a:xfrm>
              <a:off x="541890" y="2074230"/>
              <a:ext cx="11218265" cy="4263070"/>
            </a:xfrm>
            <a:custGeom>
              <a:avLst/>
              <a:gdLst>
                <a:gd name="connsiteX0" fmla="*/ 0 w 7434265"/>
                <a:gd name="connsiteY0" fmla="*/ 0 h 4167182"/>
                <a:gd name="connsiteX1" fmla="*/ 7434265 w 7434265"/>
                <a:gd name="connsiteY1" fmla="*/ 0 h 4167182"/>
                <a:gd name="connsiteX2" fmla="*/ 7434265 w 7434265"/>
                <a:gd name="connsiteY2" fmla="*/ 4167182 h 4167182"/>
                <a:gd name="connsiteX3" fmla="*/ 0 w 7434265"/>
                <a:gd name="connsiteY3" fmla="*/ 4167182 h 41671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434265" h="4167182">
                  <a:moveTo>
                    <a:pt x="0" y="0"/>
                  </a:moveTo>
                  <a:lnTo>
                    <a:pt x="7434265" y="0"/>
                  </a:lnTo>
                  <a:lnTo>
                    <a:pt x="7434265" y="4167182"/>
                  </a:lnTo>
                  <a:lnTo>
                    <a:pt x="0" y="4167182"/>
                  </a:lnTo>
                  <a:close/>
                </a:path>
              </a:pathLst>
            </a:custGeom>
            <a:solidFill>
              <a:srgbClr val="2C3E50"/>
            </a:solidFill>
            <a:ln w="15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grpSp>
          <p:nvGrpSpPr>
            <p:cNvPr id="89" name="그룹 88">
              <a:extLst>
                <a:ext uri="{FF2B5EF4-FFF2-40B4-BE49-F238E27FC236}">
                  <a16:creationId xmlns:a16="http://schemas.microsoft.com/office/drawing/2014/main" id="{7C6B04FF-38A0-FA54-0A62-02F17334FC33}"/>
                </a:ext>
              </a:extLst>
            </p:cNvPr>
            <p:cNvGrpSpPr/>
            <p:nvPr/>
          </p:nvGrpSpPr>
          <p:grpSpPr>
            <a:xfrm>
              <a:off x="5477907" y="3423519"/>
              <a:ext cx="1213444" cy="1213444"/>
              <a:chOff x="3786965" y="3559393"/>
              <a:chExt cx="1213444" cy="1213444"/>
            </a:xfrm>
          </p:grpSpPr>
          <p:sp>
            <p:nvSpPr>
              <p:cNvPr id="25" name="자유형: 도형 24">
                <a:extLst>
                  <a:ext uri="{FF2B5EF4-FFF2-40B4-BE49-F238E27FC236}">
                    <a16:creationId xmlns:a16="http://schemas.microsoft.com/office/drawing/2014/main" id="{473385F2-CC16-2514-41B1-037A4AA4215A}"/>
                  </a:ext>
                </a:extLst>
              </p:cNvPr>
              <p:cNvSpPr/>
              <p:nvPr/>
            </p:nvSpPr>
            <p:spPr>
              <a:xfrm>
                <a:off x="4214890" y="3929447"/>
                <a:ext cx="419805" cy="488280"/>
              </a:xfrm>
              <a:custGeom>
                <a:avLst/>
                <a:gdLst>
                  <a:gd name="connsiteX0" fmla="*/ 419806 w 419805"/>
                  <a:gd name="connsiteY0" fmla="*/ 244148 h 488280"/>
                  <a:gd name="connsiteX1" fmla="*/ 209910 w 419805"/>
                  <a:gd name="connsiteY1" fmla="*/ 366214 h 488280"/>
                  <a:gd name="connsiteX2" fmla="*/ 0 w 419805"/>
                  <a:gd name="connsiteY2" fmla="*/ 488281 h 488280"/>
                  <a:gd name="connsiteX3" fmla="*/ 0 w 419805"/>
                  <a:gd name="connsiteY3" fmla="*/ 244148 h 488280"/>
                  <a:gd name="connsiteX4" fmla="*/ 0 w 419805"/>
                  <a:gd name="connsiteY4" fmla="*/ 0 h 488280"/>
                  <a:gd name="connsiteX5" fmla="*/ 209910 w 419805"/>
                  <a:gd name="connsiteY5" fmla="*/ 122082 h 488280"/>
                  <a:gd name="connsiteX6" fmla="*/ 419806 w 419805"/>
                  <a:gd name="connsiteY6" fmla="*/ 244148 h 488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419805" h="488280">
                    <a:moveTo>
                      <a:pt x="419806" y="244148"/>
                    </a:moveTo>
                    <a:lnTo>
                      <a:pt x="209910" y="366214"/>
                    </a:lnTo>
                    <a:lnTo>
                      <a:pt x="0" y="488281"/>
                    </a:lnTo>
                    <a:lnTo>
                      <a:pt x="0" y="244148"/>
                    </a:lnTo>
                    <a:lnTo>
                      <a:pt x="0" y="0"/>
                    </a:lnTo>
                    <a:lnTo>
                      <a:pt x="209910" y="122082"/>
                    </a:lnTo>
                    <a:lnTo>
                      <a:pt x="419806" y="244148"/>
                    </a:ln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7" name="자유형: 도형 76">
                <a:extLst>
                  <a:ext uri="{FF2B5EF4-FFF2-40B4-BE49-F238E27FC236}">
                    <a16:creationId xmlns:a16="http://schemas.microsoft.com/office/drawing/2014/main" id="{1EFE39BE-5010-C39D-B415-B1AFB69E9079}"/>
                  </a:ext>
                </a:extLst>
              </p:cNvPr>
              <p:cNvSpPr/>
              <p:nvPr/>
            </p:nvSpPr>
            <p:spPr>
              <a:xfrm>
                <a:off x="3786965" y="3559393"/>
                <a:ext cx="1213444" cy="1213444"/>
              </a:xfrm>
              <a:custGeom>
                <a:avLst/>
                <a:gdLst>
                  <a:gd name="connsiteX0" fmla="*/ 606722 w 1213444"/>
                  <a:gd name="connsiteY0" fmla="*/ 0 h 1213444"/>
                  <a:gd name="connsiteX1" fmla="*/ 0 w 1213444"/>
                  <a:gd name="connsiteY1" fmla="*/ 606722 h 1213444"/>
                  <a:gd name="connsiteX2" fmla="*/ 606722 w 1213444"/>
                  <a:gd name="connsiteY2" fmla="*/ 1213444 h 1213444"/>
                  <a:gd name="connsiteX3" fmla="*/ 1213444 w 1213444"/>
                  <a:gd name="connsiteY3" fmla="*/ 606722 h 1213444"/>
                  <a:gd name="connsiteX4" fmla="*/ 606722 w 1213444"/>
                  <a:gd name="connsiteY4" fmla="*/ 0 h 1213444"/>
                  <a:gd name="connsiteX5" fmla="*/ 606722 w 1213444"/>
                  <a:gd name="connsiteY5" fmla="*/ 1094358 h 1213444"/>
                  <a:gd name="connsiteX6" fmla="*/ 119086 w 1213444"/>
                  <a:gd name="connsiteY6" fmla="*/ 606722 h 1213444"/>
                  <a:gd name="connsiteX7" fmla="*/ 606722 w 1213444"/>
                  <a:gd name="connsiteY7" fmla="*/ 119087 h 1213444"/>
                  <a:gd name="connsiteX8" fmla="*/ 1094358 w 1213444"/>
                  <a:gd name="connsiteY8" fmla="*/ 606722 h 1213444"/>
                  <a:gd name="connsiteX9" fmla="*/ 606722 w 1213444"/>
                  <a:gd name="connsiteY9" fmla="*/ 1094358 h 121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13444" h="1213444">
                    <a:moveTo>
                      <a:pt x="606722" y="0"/>
                    </a:moveTo>
                    <a:cubicBezTo>
                      <a:pt x="271642" y="0"/>
                      <a:pt x="0" y="271627"/>
                      <a:pt x="0" y="606722"/>
                    </a:cubicBezTo>
                    <a:cubicBezTo>
                      <a:pt x="0" y="941817"/>
                      <a:pt x="271627" y="1213444"/>
                      <a:pt x="606722" y="1213444"/>
                    </a:cubicBezTo>
                    <a:cubicBezTo>
                      <a:pt x="941817" y="1213444"/>
                      <a:pt x="1213444" y="941817"/>
                      <a:pt x="1213444" y="606722"/>
                    </a:cubicBezTo>
                    <a:cubicBezTo>
                      <a:pt x="1213444" y="271627"/>
                      <a:pt x="941817" y="0"/>
                      <a:pt x="606722" y="0"/>
                    </a:cubicBezTo>
                    <a:close/>
                    <a:moveTo>
                      <a:pt x="606722" y="1094358"/>
                    </a:moveTo>
                    <a:cubicBezTo>
                      <a:pt x="337399" y="1094358"/>
                      <a:pt x="119086" y="876030"/>
                      <a:pt x="119086" y="606722"/>
                    </a:cubicBezTo>
                    <a:cubicBezTo>
                      <a:pt x="119086" y="337414"/>
                      <a:pt x="337414" y="119087"/>
                      <a:pt x="606722" y="119087"/>
                    </a:cubicBezTo>
                    <a:cubicBezTo>
                      <a:pt x="876030" y="119087"/>
                      <a:pt x="1094358" y="337414"/>
                      <a:pt x="1094358" y="606722"/>
                    </a:cubicBezTo>
                    <a:cubicBezTo>
                      <a:pt x="1094358" y="876030"/>
                      <a:pt x="876030" y="1094358"/>
                      <a:pt x="606722" y="1094358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grpSp>
          <p:nvGrpSpPr>
            <p:cNvPr id="98" name="그룹 97">
              <a:extLst>
                <a:ext uri="{FF2B5EF4-FFF2-40B4-BE49-F238E27FC236}">
                  <a16:creationId xmlns:a16="http://schemas.microsoft.com/office/drawing/2014/main" id="{BE25631C-B436-3CDF-7A2A-777DBC8FFC7F}"/>
                </a:ext>
              </a:extLst>
            </p:cNvPr>
            <p:cNvGrpSpPr/>
            <p:nvPr/>
          </p:nvGrpSpPr>
          <p:grpSpPr>
            <a:xfrm>
              <a:off x="912084" y="5964402"/>
              <a:ext cx="8282389" cy="165888"/>
              <a:chOff x="912084" y="5964402"/>
              <a:chExt cx="8282389" cy="165888"/>
            </a:xfrm>
          </p:grpSpPr>
          <p:sp>
            <p:nvSpPr>
              <p:cNvPr id="22" name="자유형: 도형 21">
                <a:extLst>
                  <a:ext uri="{FF2B5EF4-FFF2-40B4-BE49-F238E27FC236}">
                    <a16:creationId xmlns:a16="http://schemas.microsoft.com/office/drawing/2014/main" id="{3D11E406-899F-EBB4-2AF3-BB210A560A50}"/>
                  </a:ext>
                </a:extLst>
              </p:cNvPr>
              <p:cNvSpPr/>
              <p:nvPr/>
            </p:nvSpPr>
            <p:spPr>
              <a:xfrm>
                <a:off x="912084" y="5970101"/>
                <a:ext cx="128993" cy="152771"/>
              </a:xfrm>
              <a:custGeom>
                <a:avLst/>
                <a:gdLst>
                  <a:gd name="connsiteX0" fmla="*/ 128994 w 128993"/>
                  <a:gd name="connsiteY0" fmla="*/ 76386 h 152771"/>
                  <a:gd name="connsiteX1" fmla="*/ 64497 w 128993"/>
                  <a:gd name="connsiteY1" fmla="*/ 114571 h 152771"/>
                  <a:gd name="connsiteX2" fmla="*/ 0 w 128993"/>
                  <a:gd name="connsiteY2" fmla="*/ 152771 h 152771"/>
                  <a:gd name="connsiteX3" fmla="*/ 0 w 128993"/>
                  <a:gd name="connsiteY3" fmla="*/ 76386 h 152771"/>
                  <a:gd name="connsiteX4" fmla="*/ 0 w 128993"/>
                  <a:gd name="connsiteY4" fmla="*/ 0 h 152771"/>
                  <a:gd name="connsiteX5" fmla="*/ 64497 w 128993"/>
                  <a:gd name="connsiteY5" fmla="*/ 38201 h 152771"/>
                  <a:gd name="connsiteX6" fmla="*/ 128994 w 128993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8993" h="152771">
                    <a:moveTo>
                      <a:pt x="128994" y="76386"/>
                    </a:moveTo>
                    <a:lnTo>
                      <a:pt x="64497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4497" y="38201"/>
                    </a:lnTo>
                    <a:lnTo>
                      <a:pt x="12899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 dirty="0"/>
              </a:p>
            </p:txBody>
          </p:sp>
          <p:sp>
            <p:nvSpPr>
              <p:cNvPr id="23" name="자유형: 도형 22">
                <a:extLst>
                  <a:ext uri="{FF2B5EF4-FFF2-40B4-BE49-F238E27FC236}">
                    <a16:creationId xmlns:a16="http://schemas.microsoft.com/office/drawing/2014/main" id="{1153FE47-3E3E-EA0F-7116-2E6EEA8C9D12}"/>
                  </a:ext>
                </a:extLst>
              </p:cNvPr>
              <p:cNvSpPr/>
              <p:nvPr/>
            </p:nvSpPr>
            <p:spPr>
              <a:xfrm>
                <a:off x="1326317" y="5970101"/>
                <a:ext cx="130944" cy="152771"/>
              </a:xfrm>
              <a:custGeom>
                <a:avLst/>
                <a:gdLst>
                  <a:gd name="connsiteX0" fmla="*/ 130944 w 130944"/>
                  <a:gd name="connsiteY0" fmla="*/ 76386 h 152771"/>
                  <a:gd name="connsiteX1" fmla="*/ 65480 w 130944"/>
                  <a:gd name="connsiteY1" fmla="*/ 114571 h 152771"/>
                  <a:gd name="connsiteX2" fmla="*/ 0 w 130944"/>
                  <a:gd name="connsiteY2" fmla="*/ 152771 h 152771"/>
                  <a:gd name="connsiteX3" fmla="*/ 0 w 130944"/>
                  <a:gd name="connsiteY3" fmla="*/ 76386 h 152771"/>
                  <a:gd name="connsiteX4" fmla="*/ 0 w 130944"/>
                  <a:gd name="connsiteY4" fmla="*/ 0 h 152771"/>
                  <a:gd name="connsiteX5" fmla="*/ 65480 w 130944"/>
                  <a:gd name="connsiteY5" fmla="*/ 38201 h 152771"/>
                  <a:gd name="connsiteX6" fmla="*/ 130944 w 130944"/>
                  <a:gd name="connsiteY6" fmla="*/ 76386 h 152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0944" h="152771">
                    <a:moveTo>
                      <a:pt x="130944" y="76386"/>
                    </a:moveTo>
                    <a:lnTo>
                      <a:pt x="65480" y="114571"/>
                    </a:lnTo>
                    <a:lnTo>
                      <a:pt x="0" y="152771"/>
                    </a:lnTo>
                    <a:lnTo>
                      <a:pt x="0" y="76386"/>
                    </a:lnTo>
                    <a:lnTo>
                      <a:pt x="0" y="0"/>
                    </a:lnTo>
                    <a:lnTo>
                      <a:pt x="65480" y="38201"/>
                    </a:lnTo>
                    <a:lnTo>
                      <a:pt x="130944" y="76386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6" name="자유형: 도형 25">
                <a:extLst>
                  <a:ext uri="{FF2B5EF4-FFF2-40B4-BE49-F238E27FC236}">
                    <a16:creationId xmlns:a16="http://schemas.microsoft.com/office/drawing/2014/main" id="{0D05CE19-A948-B11A-E22E-BD06860C1CFB}"/>
                  </a:ext>
                </a:extLst>
              </p:cNvPr>
              <p:cNvSpPr/>
              <p:nvPr/>
            </p:nvSpPr>
            <p:spPr>
              <a:xfrm>
                <a:off x="1475310" y="5964402"/>
                <a:ext cx="27648" cy="165888"/>
              </a:xfrm>
              <a:custGeom>
                <a:avLst/>
                <a:gdLst>
                  <a:gd name="connsiteX0" fmla="*/ 0 w 27648"/>
                  <a:gd name="connsiteY0" fmla="*/ 0 h 165888"/>
                  <a:gd name="connsiteX1" fmla="*/ 27648 w 27648"/>
                  <a:gd name="connsiteY1" fmla="*/ 0 h 165888"/>
                  <a:gd name="connsiteX2" fmla="*/ 27648 w 27648"/>
                  <a:gd name="connsiteY2" fmla="*/ 165889 h 165888"/>
                  <a:gd name="connsiteX3" fmla="*/ 0 w 27648"/>
                  <a:gd name="connsiteY3" fmla="*/ 165889 h 1658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7648" h="165888">
                    <a:moveTo>
                      <a:pt x="0" y="0"/>
                    </a:moveTo>
                    <a:lnTo>
                      <a:pt x="27648" y="0"/>
                    </a:lnTo>
                    <a:lnTo>
                      <a:pt x="27648" y="165889"/>
                    </a:lnTo>
                    <a:lnTo>
                      <a:pt x="0" y="165889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28" name="자유형: 도형 27">
                <a:extLst>
                  <a:ext uri="{FF2B5EF4-FFF2-40B4-BE49-F238E27FC236}">
                    <a16:creationId xmlns:a16="http://schemas.microsoft.com/office/drawing/2014/main" id="{0C76B84F-157A-C856-0A4E-341D2B3D7D61}"/>
                  </a:ext>
                </a:extLst>
              </p:cNvPr>
              <p:cNvSpPr/>
              <p:nvPr/>
            </p:nvSpPr>
            <p:spPr>
              <a:xfrm>
                <a:off x="1709109" y="6021815"/>
                <a:ext cx="446977" cy="45719"/>
              </a:xfrm>
              <a:custGeom>
                <a:avLst/>
                <a:gdLst>
                  <a:gd name="connsiteX0" fmla="*/ 0 w 446977"/>
                  <a:gd name="connsiteY0" fmla="*/ 0 h 35328"/>
                  <a:gd name="connsiteX1" fmla="*/ 446978 w 446977"/>
                  <a:gd name="connsiteY1" fmla="*/ 0 h 35328"/>
                  <a:gd name="connsiteX2" fmla="*/ 446978 w 446977"/>
                  <a:gd name="connsiteY2" fmla="*/ 35328 h 35328"/>
                  <a:gd name="connsiteX3" fmla="*/ 0 w 446977"/>
                  <a:gd name="connsiteY3" fmla="*/ 35328 h 353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6977" h="35328">
                    <a:moveTo>
                      <a:pt x="0" y="0"/>
                    </a:moveTo>
                    <a:lnTo>
                      <a:pt x="446978" y="0"/>
                    </a:lnTo>
                    <a:lnTo>
                      <a:pt x="446978" y="35328"/>
                    </a:lnTo>
                    <a:lnTo>
                      <a:pt x="0" y="35328"/>
                    </a:ln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90" name="그룹 89">
                <a:extLst>
                  <a:ext uri="{FF2B5EF4-FFF2-40B4-BE49-F238E27FC236}">
                    <a16:creationId xmlns:a16="http://schemas.microsoft.com/office/drawing/2014/main" id="{D0AF9004-B8E3-38F2-1B8C-048B4B9C2A0B}"/>
                  </a:ext>
                </a:extLst>
              </p:cNvPr>
              <p:cNvGrpSpPr/>
              <p:nvPr/>
            </p:nvGrpSpPr>
            <p:grpSpPr>
              <a:xfrm>
                <a:off x="2156087" y="6021815"/>
                <a:ext cx="6043397" cy="45719"/>
                <a:chOff x="1875637" y="5980291"/>
                <a:chExt cx="3488267" cy="35328"/>
              </a:xfrm>
            </p:grpSpPr>
            <p:sp>
              <p:nvSpPr>
                <p:cNvPr id="29" name="자유형: 도형 28">
                  <a:extLst>
                    <a:ext uri="{FF2B5EF4-FFF2-40B4-BE49-F238E27FC236}">
                      <a16:creationId xmlns:a16="http://schemas.microsoft.com/office/drawing/2014/main" id="{C7A9F584-AF98-050E-B6FA-1515DDFD0050}"/>
                    </a:ext>
                  </a:extLst>
                </p:cNvPr>
                <p:cNvSpPr/>
                <p:nvPr/>
              </p:nvSpPr>
              <p:spPr>
                <a:xfrm>
                  <a:off x="1875637" y="5980291"/>
                  <a:ext cx="3012106" cy="35328"/>
                </a:xfrm>
                <a:custGeom>
                  <a:avLst/>
                  <a:gdLst>
                    <a:gd name="connsiteX0" fmla="*/ 0 w 3012106"/>
                    <a:gd name="connsiteY0" fmla="*/ 0 h 35328"/>
                    <a:gd name="connsiteX1" fmla="*/ 3012106 w 3012106"/>
                    <a:gd name="connsiteY1" fmla="*/ 0 h 35328"/>
                    <a:gd name="connsiteX2" fmla="*/ 3012106 w 3012106"/>
                    <a:gd name="connsiteY2" fmla="*/ 35328 h 35328"/>
                    <a:gd name="connsiteX3" fmla="*/ 0 w 3012106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012106" h="35328">
                      <a:moveTo>
                        <a:pt x="0" y="0"/>
                      </a:moveTo>
                      <a:lnTo>
                        <a:pt x="3012106" y="0"/>
                      </a:lnTo>
                      <a:lnTo>
                        <a:pt x="3012106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7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32" name="자유형: 도형 31">
                  <a:extLst>
                    <a:ext uri="{FF2B5EF4-FFF2-40B4-BE49-F238E27FC236}">
                      <a16:creationId xmlns:a16="http://schemas.microsoft.com/office/drawing/2014/main" id="{D750F111-1A77-70A6-ACBB-AD340CA930FE}"/>
                    </a:ext>
                  </a:extLst>
                </p:cNvPr>
                <p:cNvSpPr/>
                <p:nvPr/>
              </p:nvSpPr>
              <p:spPr>
                <a:xfrm>
                  <a:off x="4887743" y="5980291"/>
                  <a:ext cx="476161" cy="35328"/>
                </a:xfrm>
                <a:custGeom>
                  <a:avLst/>
                  <a:gdLst>
                    <a:gd name="connsiteX0" fmla="*/ 0 w 476161"/>
                    <a:gd name="connsiteY0" fmla="*/ 0 h 35328"/>
                    <a:gd name="connsiteX1" fmla="*/ 476162 w 476161"/>
                    <a:gd name="connsiteY1" fmla="*/ 0 h 35328"/>
                    <a:gd name="connsiteX2" fmla="*/ 476162 w 476161"/>
                    <a:gd name="connsiteY2" fmla="*/ 35328 h 35328"/>
                    <a:gd name="connsiteX3" fmla="*/ 0 w 476161"/>
                    <a:gd name="connsiteY3" fmla="*/ 35328 h 353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76161" h="35328">
                      <a:moveTo>
                        <a:pt x="0" y="0"/>
                      </a:moveTo>
                      <a:lnTo>
                        <a:pt x="476162" y="0"/>
                      </a:lnTo>
                      <a:lnTo>
                        <a:pt x="476162" y="35328"/>
                      </a:lnTo>
                      <a:lnTo>
                        <a:pt x="0" y="35328"/>
                      </a:lnTo>
                      <a:close/>
                    </a:path>
                  </a:pathLst>
                </a:custGeom>
                <a:solidFill>
                  <a:srgbClr val="FFFFFF">
                    <a:alpha val="30000"/>
                  </a:srgbClr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62" name="자유형: 도형 61">
                <a:extLst>
                  <a:ext uri="{FF2B5EF4-FFF2-40B4-BE49-F238E27FC236}">
                    <a16:creationId xmlns:a16="http://schemas.microsoft.com/office/drawing/2014/main" id="{505961D4-E04B-A933-7DA1-BD5BC5283652}"/>
                  </a:ext>
                </a:extLst>
              </p:cNvPr>
              <p:cNvSpPr/>
              <p:nvPr/>
            </p:nvSpPr>
            <p:spPr>
              <a:xfrm>
                <a:off x="2118270" y="6004984"/>
                <a:ext cx="79380" cy="79381"/>
              </a:xfrm>
              <a:custGeom>
                <a:avLst/>
                <a:gdLst>
                  <a:gd name="connsiteX0" fmla="*/ 79381 w 79380"/>
                  <a:gd name="connsiteY0" fmla="*/ 39691 h 79381"/>
                  <a:gd name="connsiteX1" fmla="*/ 39690 w 79380"/>
                  <a:gd name="connsiteY1" fmla="*/ 79381 h 79381"/>
                  <a:gd name="connsiteX2" fmla="*/ 0 w 79380"/>
                  <a:gd name="connsiteY2" fmla="*/ 39691 h 79381"/>
                  <a:gd name="connsiteX3" fmla="*/ 39690 w 79380"/>
                  <a:gd name="connsiteY3" fmla="*/ 0 h 79381"/>
                  <a:gd name="connsiteX4" fmla="*/ 79381 w 79380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0" h="79381">
                    <a:moveTo>
                      <a:pt x="79381" y="39691"/>
                    </a:moveTo>
                    <a:cubicBezTo>
                      <a:pt x="79381" y="61609"/>
                      <a:pt x="61609" y="79381"/>
                      <a:pt x="39690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0" y="0"/>
                    </a:cubicBezTo>
                    <a:cubicBezTo>
                      <a:pt x="61609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8" name="그래픽 18">
                <a:extLst>
                  <a:ext uri="{FF2B5EF4-FFF2-40B4-BE49-F238E27FC236}">
                    <a16:creationId xmlns:a16="http://schemas.microsoft.com/office/drawing/2014/main" id="{BF05BA35-6313-532D-3FC8-2A7D4892FED7}"/>
                  </a:ext>
                </a:extLst>
              </p:cNvPr>
              <p:cNvGrpSpPr/>
              <p:nvPr/>
            </p:nvGrpSpPr>
            <p:grpSpPr>
              <a:xfrm>
                <a:off x="8547047" y="5992327"/>
                <a:ext cx="647426" cy="101806"/>
                <a:chOff x="5477907" y="5945239"/>
                <a:chExt cx="647426" cy="101806"/>
              </a:xfrm>
              <a:solidFill>
                <a:srgbClr val="FFFFFF"/>
              </a:solidFill>
            </p:grpSpPr>
            <p:sp>
              <p:nvSpPr>
                <p:cNvPr id="79" name="자유형: 도형 78">
                  <a:extLst>
                    <a:ext uri="{FF2B5EF4-FFF2-40B4-BE49-F238E27FC236}">
                      <a16:creationId xmlns:a16="http://schemas.microsoft.com/office/drawing/2014/main" id="{0CE6A38B-96EE-222B-25E0-6CACA035E03F}"/>
                    </a:ext>
                  </a:extLst>
                </p:cNvPr>
                <p:cNvSpPr/>
                <p:nvPr/>
              </p:nvSpPr>
              <p:spPr>
                <a:xfrm>
                  <a:off x="5477907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6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0" name="자유형: 도형 79">
                  <a:extLst>
                    <a:ext uri="{FF2B5EF4-FFF2-40B4-BE49-F238E27FC236}">
                      <a16:creationId xmlns:a16="http://schemas.microsoft.com/office/drawing/2014/main" id="{8C021E82-C812-6AF2-60C6-D72FAD945CB4}"/>
                    </a:ext>
                  </a:extLst>
                </p:cNvPr>
                <p:cNvSpPr/>
                <p:nvPr/>
              </p:nvSpPr>
              <p:spPr>
                <a:xfrm>
                  <a:off x="5552173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1" name="자유형: 도형 80">
                  <a:extLst>
                    <a:ext uri="{FF2B5EF4-FFF2-40B4-BE49-F238E27FC236}">
                      <a16:creationId xmlns:a16="http://schemas.microsoft.com/office/drawing/2014/main" id="{85E7CECF-CCBA-8475-F082-44280EE02975}"/>
                    </a:ext>
                  </a:extLst>
                </p:cNvPr>
                <p:cNvSpPr/>
                <p:nvPr/>
              </p:nvSpPr>
              <p:spPr>
                <a:xfrm>
                  <a:off x="5588560" y="5950169"/>
                  <a:ext cx="30474" cy="91269"/>
                </a:xfrm>
                <a:custGeom>
                  <a:avLst/>
                  <a:gdLst>
                    <a:gd name="connsiteX0" fmla="*/ 18524 w 30474"/>
                    <a:gd name="connsiteY0" fmla="*/ 11505 h 91269"/>
                    <a:gd name="connsiteX1" fmla="*/ 18248 w 30474"/>
                    <a:gd name="connsiteY1" fmla="*/ 11505 h 91269"/>
                    <a:gd name="connsiteX2" fmla="*/ 2381 w 30474"/>
                    <a:gd name="connsiteY2" fmla="*/ 20076 h 91269"/>
                    <a:gd name="connsiteX3" fmla="*/ 0 w 30474"/>
                    <a:gd name="connsiteY3" fmla="*/ 10676 h 91269"/>
                    <a:gd name="connsiteX4" fmla="*/ 19937 w 30474"/>
                    <a:gd name="connsiteY4" fmla="*/ 0 h 91269"/>
                    <a:gd name="connsiteX5" fmla="*/ 30474 w 30474"/>
                    <a:gd name="connsiteY5" fmla="*/ 0 h 91269"/>
                    <a:gd name="connsiteX6" fmla="*/ 30474 w 30474"/>
                    <a:gd name="connsiteY6" fmla="*/ 91270 h 91269"/>
                    <a:gd name="connsiteX7" fmla="*/ 18540 w 30474"/>
                    <a:gd name="connsiteY7" fmla="*/ 91270 h 91269"/>
                    <a:gd name="connsiteX8" fmla="*/ 18540 w 30474"/>
                    <a:gd name="connsiteY8" fmla="*/ 11520 h 9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0474" h="91269">
                      <a:moveTo>
                        <a:pt x="18524" y="11505"/>
                      </a:moveTo>
                      <a:lnTo>
                        <a:pt x="18248" y="11505"/>
                      </a:lnTo>
                      <a:lnTo>
                        <a:pt x="2381" y="20076"/>
                      </a:lnTo>
                      <a:lnTo>
                        <a:pt x="0" y="10676"/>
                      </a:lnTo>
                      <a:lnTo>
                        <a:pt x="19937" y="0"/>
                      </a:lnTo>
                      <a:lnTo>
                        <a:pt x="30474" y="0"/>
                      </a:lnTo>
                      <a:lnTo>
                        <a:pt x="30474" y="91270"/>
                      </a:lnTo>
                      <a:lnTo>
                        <a:pt x="18540" y="91270"/>
                      </a:lnTo>
                      <a:lnTo>
                        <a:pt x="18540" y="1152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2" name="자유형: 도형 81">
                  <a:extLst>
                    <a:ext uri="{FF2B5EF4-FFF2-40B4-BE49-F238E27FC236}">
                      <a16:creationId xmlns:a16="http://schemas.microsoft.com/office/drawing/2014/main" id="{E73478F4-7F4F-AE31-209C-A8DCF092B7E9}"/>
                    </a:ext>
                  </a:extLst>
                </p:cNvPr>
                <p:cNvSpPr/>
                <p:nvPr/>
              </p:nvSpPr>
              <p:spPr>
                <a:xfrm>
                  <a:off x="5651030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7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7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3" name="자유형: 도형 82">
                  <a:extLst>
                    <a:ext uri="{FF2B5EF4-FFF2-40B4-BE49-F238E27FC236}">
                      <a16:creationId xmlns:a16="http://schemas.microsoft.com/office/drawing/2014/main" id="{4E5BAE43-B4F1-2428-DFC8-C082E5D4491E}"/>
                    </a:ext>
                  </a:extLst>
                </p:cNvPr>
                <p:cNvSpPr/>
                <p:nvPr/>
              </p:nvSpPr>
              <p:spPr>
                <a:xfrm>
                  <a:off x="5777397" y="5945239"/>
                  <a:ext cx="48722" cy="101806"/>
                </a:xfrm>
                <a:custGeom>
                  <a:avLst/>
                  <a:gdLst>
                    <a:gd name="connsiteX0" fmla="*/ 0 w 48722"/>
                    <a:gd name="connsiteY0" fmla="*/ 101806 h 101806"/>
                    <a:gd name="connsiteX1" fmla="*/ 39168 w 48722"/>
                    <a:gd name="connsiteY1" fmla="*/ 0 h 101806"/>
                    <a:gd name="connsiteX2" fmla="*/ 48722 w 48722"/>
                    <a:gd name="connsiteY2" fmla="*/ 0 h 101806"/>
                    <a:gd name="connsiteX3" fmla="*/ 9401 w 48722"/>
                    <a:gd name="connsiteY3" fmla="*/ 101806 h 101806"/>
                    <a:gd name="connsiteX4" fmla="*/ 0 w 48722"/>
                    <a:gd name="connsiteY4" fmla="*/ 101806 h 10180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722" h="101806">
                      <a:moveTo>
                        <a:pt x="0" y="101806"/>
                      </a:moveTo>
                      <a:lnTo>
                        <a:pt x="39168" y="0"/>
                      </a:lnTo>
                      <a:lnTo>
                        <a:pt x="48722" y="0"/>
                      </a:lnTo>
                      <a:lnTo>
                        <a:pt x="9401" y="101806"/>
                      </a:lnTo>
                      <a:lnTo>
                        <a:pt x="0" y="101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4" name="자유형: 도형 83">
                  <a:extLst>
                    <a:ext uri="{FF2B5EF4-FFF2-40B4-BE49-F238E27FC236}">
                      <a16:creationId xmlns:a16="http://schemas.microsoft.com/office/drawing/2014/main" id="{6CFEA4C4-F492-0879-CBCC-0B5928AE11C5}"/>
                    </a:ext>
                  </a:extLst>
                </p:cNvPr>
                <p:cNvSpPr/>
                <p:nvPr/>
              </p:nvSpPr>
              <p:spPr>
                <a:xfrm>
                  <a:off x="5891522" y="5948618"/>
                  <a:ext cx="58275" cy="92805"/>
                </a:xfrm>
                <a:custGeom>
                  <a:avLst/>
                  <a:gdLst>
                    <a:gd name="connsiteX0" fmla="*/ 15 w 58275"/>
                    <a:gd name="connsiteY0" fmla="*/ 92806 h 92805"/>
                    <a:gd name="connsiteX1" fmla="*/ 15 w 58275"/>
                    <a:gd name="connsiteY1" fmla="*/ 85218 h 92805"/>
                    <a:gd name="connsiteX2" fmla="*/ 9708 w 58275"/>
                    <a:gd name="connsiteY2" fmla="*/ 75817 h 92805"/>
                    <a:gd name="connsiteX3" fmla="*/ 43684 w 58275"/>
                    <a:gd name="connsiteY3" fmla="*/ 28078 h 92805"/>
                    <a:gd name="connsiteX4" fmla="*/ 25574 w 58275"/>
                    <a:gd name="connsiteY4" fmla="*/ 10245 h 92805"/>
                    <a:gd name="connsiteX5" fmla="*/ 6190 w 58275"/>
                    <a:gd name="connsiteY5" fmla="*/ 17972 h 92805"/>
                    <a:gd name="connsiteX6" fmla="*/ 2258 w 58275"/>
                    <a:gd name="connsiteY6" fmla="*/ 9262 h 92805"/>
                    <a:gd name="connsiteX7" fmla="*/ 28094 w 58275"/>
                    <a:gd name="connsiteY7" fmla="*/ 0 h 92805"/>
                    <a:gd name="connsiteX8" fmla="*/ 56033 w 58275"/>
                    <a:gd name="connsiteY8" fmla="*/ 26542 h 92805"/>
                    <a:gd name="connsiteX9" fmla="*/ 24576 w 58275"/>
                    <a:gd name="connsiteY9" fmla="*/ 75541 h 92805"/>
                    <a:gd name="connsiteX10" fmla="*/ 17280 w 58275"/>
                    <a:gd name="connsiteY10" fmla="*/ 82284 h 92805"/>
                    <a:gd name="connsiteX11" fmla="*/ 17280 w 58275"/>
                    <a:gd name="connsiteY11" fmla="*/ 82560 h 92805"/>
                    <a:gd name="connsiteX12" fmla="*/ 58276 w 58275"/>
                    <a:gd name="connsiteY12" fmla="*/ 82560 h 92805"/>
                    <a:gd name="connsiteX13" fmla="*/ 58276 w 58275"/>
                    <a:gd name="connsiteY13" fmla="*/ 92806 h 92805"/>
                    <a:gd name="connsiteX14" fmla="*/ 0 w 58275"/>
                    <a:gd name="connsiteY14" fmla="*/ 92806 h 92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58275" h="92805">
                      <a:moveTo>
                        <a:pt x="15" y="92806"/>
                      </a:moveTo>
                      <a:lnTo>
                        <a:pt x="15" y="85218"/>
                      </a:lnTo>
                      <a:lnTo>
                        <a:pt x="9708" y="75817"/>
                      </a:lnTo>
                      <a:cubicBezTo>
                        <a:pt x="33024" y="53638"/>
                        <a:pt x="43546" y="41841"/>
                        <a:pt x="43684" y="28078"/>
                      </a:cubicBezTo>
                      <a:cubicBezTo>
                        <a:pt x="43684" y="18816"/>
                        <a:pt x="39184" y="10245"/>
                        <a:pt x="25574" y="10245"/>
                      </a:cubicBezTo>
                      <a:cubicBezTo>
                        <a:pt x="17295" y="10245"/>
                        <a:pt x="10414" y="14454"/>
                        <a:pt x="6190" y="17972"/>
                      </a:cubicBezTo>
                      <a:lnTo>
                        <a:pt x="2258" y="9262"/>
                      </a:lnTo>
                      <a:cubicBezTo>
                        <a:pt x="8571" y="3932"/>
                        <a:pt x="17556" y="0"/>
                        <a:pt x="28094" y="0"/>
                      </a:cubicBezTo>
                      <a:cubicBezTo>
                        <a:pt x="47755" y="0"/>
                        <a:pt x="56033" y="13486"/>
                        <a:pt x="56033" y="26542"/>
                      </a:cubicBezTo>
                      <a:cubicBezTo>
                        <a:pt x="56033" y="43392"/>
                        <a:pt x="43822" y="57017"/>
                        <a:pt x="24576" y="75541"/>
                      </a:cubicBezTo>
                      <a:lnTo>
                        <a:pt x="17280" y="82284"/>
                      </a:lnTo>
                      <a:lnTo>
                        <a:pt x="17280" y="82560"/>
                      </a:lnTo>
                      <a:lnTo>
                        <a:pt x="58276" y="82560"/>
                      </a:lnTo>
                      <a:lnTo>
                        <a:pt x="58276" y="92806"/>
                      </a:lnTo>
                      <a:lnTo>
                        <a:pt x="0" y="928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5" name="자유형: 도형 84">
                  <a:extLst>
                    <a:ext uri="{FF2B5EF4-FFF2-40B4-BE49-F238E27FC236}">
                      <a16:creationId xmlns:a16="http://schemas.microsoft.com/office/drawing/2014/main" id="{F1DF3DE4-2F9E-0C82-7D8C-54886FAA488B}"/>
                    </a:ext>
                  </a:extLst>
                </p:cNvPr>
                <p:cNvSpPr/>
                <p:nvPr/>
              </p:nvSpPr>
              <p:spPr>
                <a:xfrm>
                  <a:off x="5964559" y="5975852"/>
                  <a:ext cx="16696" cy="67123"/>
                </a:xfrm>
                <a:custGeom>
                  <a:avLst/>
                  <a:gdLst>
                    <a:gd name="connsiteX0" fmla="*/ 0 w 16696"/>
                    <a:gd name="connsiteY0" fmla="*/ 8847 h 67123"/>
                    <a:gd name="connsiteX1" fmla="*/ 8417 w 16696"/>
                    <a:gd name="connsiteY1" fmla="*/ 0 h 67123"/>
                    <a:gd name="connsiteX2" fmla="*/ 16696 w 16696"/>
                    <a:gd name="connsiteY2" fmla="*/ 8847 h 67123"/>
                    <a:gd name="connsiteX3" fmla="*/ 8279 w 16696"/>
                    <a:gd name="connsiteY3" fmla="*/ 17556 h 67123"/>
                    <a:gd name="connsiteX4" fmla="*/ 0 w 16696"/>
                    <a:gd name="connsiteY4" fmla="*/ 8847 h 67123"/>
                    <a:gd name="connsiteX5" fmla="*/ 0 w 16696"/>
                    <a:gd name="connsiteY5" fmla="*/ 58414 h 67123"/>
                    <a:gd name="connsiteX6" fmla="*/ 8417 w 16696"/>
                    <a:gd name="connsiteY6" fmla="*/ 49567 h 67123"/>
                    <a:gd name="connsiteX7" fmla="*/ 16696 w 16696"/>
                    <a:gd name="connsiteY7" fmla="*/ 58414 h 67123"/>
                    <a:gd name="connsiteX8" fmla="*/ 8279 w 16696"/>
                    <a:gd name="connsiteY8" fmla="*/ 67123 h 67123"/>
                    <a:gd name="connsiteX9" fmla="*/ 0 w 16696"/>
                    <a:gd name="connsiteY9" fmla="*/ 58414 h 671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16696" h="67123">
                      <a:moveTo>
                        <a:pt x="0" y="8847"/>
                      </a:moveTo>
                      <a:cubicBezTo>
                        <a:pt x="0" y="3656"/>
                        <a:pt x="3518" y="0"/>
                        <a:pt x="8417" y="0"/>
                      </a:cubicBezTo>
                      <a:cubicBezTo>
                        <a:pt x="13317" y="0"/>
                        <a:pt x="16558" y="3656"/>
                        <a:pt x="16696" y="8847"/>
                      </a:cubicBezTo>
                      <a:cubicBezTo>
                        <a:pt x="16696" y="13763"/>
                        <a:pt x="13471" y="17556"/>
                        <a:pt x="8279" y="17556"/>
                      </a:cubicBezTo>
                      <a:cubicBezTo>
                        <a:pt x="3364" y="17556"/>
                        <a:pt x="0" y="13763"/>
                        <a:pt x="0" y="8847"/>
                      </a:cubicBezTo>
                      <a:close/>
                      <a:moveTo>
                        <a:pt x="0" y="58414"/>
                      </a:moveTo>
                      <a:cubicBezTo>
                        <a:pt x="0" y="53222"/>
                        <a:pt x="3518" y="49567"/>
                        <a:pt x="8417" y="49567"/>
                      </a:cubicBezTo>
                      <a:cubicBezTo>
                        <a:pt x="13317" y="49567"/>
                        <a:pt x="16558" y="53222"/>
                        <a:pt x="16696" y="58414"/>
                      </a:cubicBezTo>
                      <a:cubicBezTo>
                        <a:pt x="16696" y="63329"/>
                        <a:pt x="13471" y="67123"/>
                        <a:pt x="8279" y="67123"/>
                      </a:cubicBezTo>
                      <a:cubicBezTo>
                        <a:pt x="3364" y="67123"/>
                        <a:pt x="0" y="63329"/>
                        <a:pt x="0" y="5841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6" name="자유형: 도형 85">
                  <a:extLst>
                    <a:ext uri="{FF2B5EF4-FFF2-40B4-BE49-F238E27FC236}">
                      <a16:creationId xmlns:a16="http://schemas.microsoft.com/office/drawing/2014/main" id="{4B0E4B0B-10C2-5F9A-1E36-C0BD83E510C8}"/>
                    </a:ext>
                  </a:extLst>
                </p:cNvPr>
                <p:cNvSpPr/>
                <p:nvPr/>
              </p:nvSpPr>
              <p:spPr>
                <a:xfrm>
                  <a:off x="5992207" y="5948618"/>
                  <a:ext cx="57016" cy="94372"/>
                </a:xfrm>
                <a:custGeom>
                  <a:avLst/>
                  <a:gdLst>
                    <a:gd name="connsiteX0" fmla="*/ 3379 w 57016"/>
                    <a:gd name="connsiteY0" fmla="*/ 78628 h 94372"/>
                    <a:gd name="connsiteX1" fmla="*/ 23593 w 57016"/>
                    <a:gd name="connsiteY1" fmla="*/ 84388 h 94372"/>
                    <a:gd name="connsiteX2" fmla="*/ 44237 w 57016"/>
                    <a:gd name="connsiteY2" fmla="*/ 66694 h 94372"/>
                    <a:gd name="connsiteX3" fmla="*/ 20644 w 57016"/>
                    <a:gd name="connsiteY3" fmla="*/ 48446 h 94372"/>
                    <a:gd name="connsiteX4" fmla="*/ 13763 w 57016"/>
                    <a:gd name="connsiteY4" fmla="*/ 48446 h 94372"/>
                    <a:gd name="connsiteX5" fmla="*/ 13763 w 57016"/>
                    <a:gd name="connsiteY5" fmla="*/ 39184 h 94372"/>
                    <a:gd name="connsiteX6" fmla="*/ 20644 w 57016"/>
                    <a:gd name="connsiteY6" fmla="*/ 39184 h 94372"/>
                    <a:gd name="connsiteX7" fmla="*/ 41011 w 57016"/>
                    <a:gd name="connsiteY7" fmla="*/ 23732 h 94372"/>
                    <a:gd name="connsiteX8" fmla="*/ 25006 w 57016"/>
                    <a:gd name="connsiteY8" fmla="*/ 9969 h 94372"/>
                    <a:gd name="connsiteX9" fmla="*/ 6758 w 57016"/>
                    <a:gd name="connsiteY9" fmla="*/ 16005 h 94372"/>
                    <a:gd name="connsiteX10" fmla="*/ 3533 w 57016"/>
                    <a:gd name="connsiteY10" fmla="*/ 7020 h 94372"/>
                    <a:gd name="connsiteX11" fmla="*/ 27402 w 57016"/>
                    <a:gd name="connsiteY11" fmla="*/ 0 h 94372"/>
                    <a:gd name="connsiteX12" fmla="*/ 53514 w 57016"/>
                    <a:gd name="connsiteY12" fmla="*/ 21765 h 94372"/>
                    <a:gd name="connsiteX13" fmla="*/ 36664 w 57016"/>
                    <a:gd name="connsiteY13" fmla="*/ 43254 h 94372"/>
                    <a:gd name="connsiteX14" fmla="*/ 36664 w 57016"/>
                    <a:gd name="connsiteY14" fmla="*/ 43531 h 94372"/>
                    <a:gd name="connsiteX15" fmla="*/ 57016 w 57016"/>
                    <a:gd name="connsiteY15" fmla="*/ 66985 h 94372"/>
                    <a:gd name="connsiteX16" fmla="*/ 23731 w 57016"/>
                    <a:gd name="connsiteY16" fmla="*/ 94372 h 94372"/>
                    <a:gd name="connsiteX17" fmla="*/ 0 w 57016"/>
                    <a:gd name="connsiteY17" fmla="*/ 88198 h 94372"/>
                    <a:gd name="connsiteX18" fmla="*/ 3364 w 57016"/>
                    <a:gd name="connsiteY18" fmla="*/ 78644 h 94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</a:cxnLst>
                  <a:rect l="l" t="t" r="r" b="b"/>
                  <a:pathLst>
                    <a:path w="57016" h="94372">
                      <a:moveTo>
                        <a:pt x="3379" y="78628"/>
                      </a:moveTo>
                      <a:cubicBezTo>
                        <a:pt x="6897" y="80871"/>
                        <a:pt x="15038" y="84388"/>
                        <a:pt x="23593" y="84388"/>
                      </a:cubicBezTo>
                      <a:cubicBezTo>
                        <a:pt x="39460" y="84388"/>
                        <a:pt x="44375" y="74281"/>
                        <a:pt x="44237" y="66694"/>
                      </a:cubicBezTo>
                      <a:cubicBezTo>
                        <a:pt x="44099" y="53914"/>
                        <a:pt x="32579" y="48446"/>
                        <a:pt x="20644" y="48446"/>
                      </a:cubicBezTo>
                      <a:lnTo>
                        <a:pt x="13763" y="48446"/>
                      </a:lnTo>
                      <a:lnTo>
                        <a:pt x="13763" y="39184"/>
                      </a:lnTo>
                      <a:lnTo>
                        <a:pt x="20644" y="39184"/>
                      </a:lnTo>
                      <a:cubicBezTo>
                        <a:pt x="29630" y="39184"/>
                        <a:pt x="41011" y="34545"/>
                        <a:pt x="41011" y="23732"/>
                      </a:cubicBezTo>
                      <a:cubicBezTo>
                        <a:pt x="41011" y="16436"/>
                        <a:pt x="36372" y="9969"/>
                        <a:pt x="25006" y="9969"/>
                      </a:cubicBezTo>
                      <a:cubicBezTo>
                        <a:pt x="17710" y="9969"/>
                        <a:pt x="10691" y="13194"/>
                        <a:pt x="6758" y="16005"/>
                      </a:cubicBezTo>
                      <a:lnTo>
                        <a:pt x="3533" y="7020"/>
                      </a:lnTo>
                      <a:cubicBezTo>
                        <a:pt x="8310" y="3502"/>
                        <a:pt x="17572" y="0"/>
                        <a:pt x="27402" y="0"/>
                      </a:cubicBezTo>
                      <a:cubicBezTo>
                        <a:pt x="45374" y="0"/>
                        <a:pt x="53514" y="10676"/>
                        <a:pt x="53514" y="21765"/>
                      </a:cubicBezTo>
                      <a:cubicBezTo>
                        <a:pt x="53514" y="31166"/>
                        <a:pt x="47893" y="39168"/>
                        <a:pt x="36664" y="43254"/>
                      </a:cubicBezTo>
                      <a:lnTo>
                        <a:pt x="36664" y="43531"/>
                      </a:lnTo>
                      <a:cubicBezTo>
                        <a:pt x="47893" y="45773"/>
                        <a:pt x="57016" y="54206"/>
                        <a:pt x="57016" y="66985"/>
                      </a:cubicBezTo>
                      <a:cubicBezTo>
                        <a:pt x="57016" y="81593"/>
                        <a:pt x="45650" y="94372"/>
                        <a:pt x="23731" y="94372"/>
                      </a:cubicBezTo>
                      <a:cubicBezTo>
                        <a:pt x="13486" y="94372"/>
                        <a:pt x="4500" y="91147"/>
                        <a:pt x="0" y="88198"/>
                      </a:cubicBezTo>
                      <a:lnTo>
                        <a:pt x="3364" y="7864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87" name="자유형: 도형 86">
                  <a:extLst>
                    <a:ext uri="{FF2B5EF4-FFF2-40B4-BE49-F238E27FC236}">
                      <a16:creationId xmlns:a16="http://schemas.microsoft.com/office/drawing/2014/main" id="{F5184195-6967-CC0B-A9A5-0DDF296F1F0C}"/>
                    </a:ext>
                  </a:extLst>
                </p:cNvPr>
                <p:cNvSpPr/>
                <p:nvPr/>
              </p:nvSpPr>
              <p:spPr>
                <a:xfrm>
                  <a:off x="6063416" y="5948633"/>
                  <a:ext cx="61916" cy="94357"/>
                </a:xfrm>
                <a:custGeom>
                  <a:avLst/>
                  <a:gdLst>
                    <a:gd name="connsiteX0" fmla="*/ 61916 w 61916"/>
                    <a:gd name="connsiteY0" fmla="*/ 46188 h 94357"/>
                    <a:gd name="connsiteX1" fmla="*/ 30183 w 61916"/>
                    <a:gd name="connsiteY1" fmla="*/ 94357 h 94357"/>
                    <a:gd name="connsiteX2" fmla="*/ 0 w 61916"/>
                    <a:gd name="connsiteY2" fmla="*/ 47463 h 94357"/>
                    <a:gd name="connsiteX3" fmla="*/ 31734 w 61916"/>
                    <a:gd name="connsiteY3" fmla="*/ 0 h 94357"/>
                    <a:gd name="connsiteX4" fmla="*/ 61916 w 61916"/>
                    <a:gd name="connsiteY4" fmla="*/ 46203 h 94357"/>
                    <a:gd name="connsiteX5" fmla="*/ 12350 w 61916"/>
                    <a:gd name="connsiteY5" fmla="*/ 47586 h 94357"/>
                    <a:gd name="connsiteX6" fmla="*/ 30889 w 61916"/>
                    <a:gd name="connsiteY6" fmla="*/ 84788 h 94357"/>
                    <a:gd name="connsiteX7" fmla="*/ 49567 w 61916"/>
                    <a:gd name="connsiteY7" fmla="*/ 46741 h 94357"/>
                    <a:gd name="connsiteX8" fmla="*/ 31028 w 61916"/>
                    <a:gd name="connsiteY8" fmla="*/ 9539 h 94357"/>
                    <a:gd name="connsiteX9" fmla="*/ 12350 w 61916"/>
                    <a:gd name="connsiteY9" fmla="*/ 47586 h 94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61916" h="94357">
                      <a:moveTo>
                        <a:pt x="61916" y="46188"/>
                      </a:moveTo>
                      <a:cubicBezTo>
                        <a:pt x="61916" y="77215"/>
                        <a:pt x="50396" y="94357"/>
                        <a:pt x="30183" y="94357"/>
                      </a:cubicBezTo>
                      <a:cubicBezTo>
                        <a:pt x="12350" y="94357"/>
                        <a:pt x="277" y="77645"/>
                        <a:pt x="0" y="47463"/>
                      </a:cubicBezTo>
                      <a:cubicBezTo>
                        <a:pt x="0" y="16850"/>
                        <a:pt x="13194" y="0"/>
                        <a:pt x="31734" y="0"/>
                      </a:cubicBezTo>
                      <a:cubicBezTo>
                        <a:pt x="50273" y="0"/>
                        <a:pt x="61916" y="17127"/>
                        <a:pt x="61916" y="46203"/>
                      </a:cubicBezTo>
                      <a:close/>
                      <a:moveTo>
                        <a:pt x="12350" y="47586"/>
                      </a:moveTo>
                      <a:cubicBezTo>
                        <a:pt x="12350" y="71317"/>
                        <a:pt x="19646" y="84788"/>
                        <a:pt x="30889" y="84788"/>
                      </a:cubicBezTo>
                      <a:cubicBezTo>
                        <a:pt x="43531" y="84788"/>
                        <a:pt x="49567" y="70042"/>
                        <a:pt x="49567" y="46741"/>
                      </a:cubicBezTo>
                      <a:cubicBezTo>
                        <a:pt x="49567" y="23439"/>
                        <a:pt x="43807" y="9539"/>
                        <a:pt x="31028" y="9539"/>
                      </a:cubicBezTo>
                      <a:cubicBezTo>
                        <a:pt x="20214" y="9539"/>
                        <a:pt x="12350" y="22733"/>
                        <a:pt x="12350" y="4758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</p:grpSp>
        <p:grpSp>
          <p:nvGrpSpPr>
            <p:cNvPr id="96" name="그룹 95">
              <a:extLst>
                <a:ext uri="{FF2B5EF4-FFF2-40B4-BE49-F238E27FC236}">
                  <a16:creationId xmlns:a16="http://schemas.microsoft.com/office/drawing/2014/main" id="{11F4B78A-76DE-D60C-1B5B-96DBC37383B7}"/>
                </a:ext>
              </a:extLst>
            </p:cNvPr>
            <p:cNvGrpSpPr/>
            <p:nvPr/>
          </p:nvGrpSpPr>
          <p:grpSpPr>
            <a:xfrm>
              <a:off x="9831988" y="5947122"/>
              <a:ext cx="1632005" cy="197115"/>
              <a:chOff x="9548552" y="5947122"/>
              <a:chExt cx="1632005" cy="197115"/>
            </a:xfrm>
          </p:grpSpPr>
          <p:sp>
            <p:nvSpPr>
              <p:cNvPr id="38" name="자유형: 도형 37">
                <a:extLst>
                  <a:ext uri="{FF2B5EF4-FFF2-40B4-BE49-F238E27FC236}">
                    <a16:creationId xmlns:a16="http://schemas.microsoft.com/office/drawing/2014/main" id="{6AD06429-EF1B-918D-89C5-C61CC1A8B729}"/>
                  </a:ext>
                </a:extLst>
              </p:cNvPr>
              <p:cNvSpPr/>
              <p:nvPr/>
            </p:nvSpPr>
            <p:spPr>
              <a:xfrm>
                <a:off x="9901434" y="6026211"/>
                <a:ext cx="491583" cy="36925"/>
              </a:xfrm>
              <a:custGeom>
                <a:avLst/>
                <a:gdLst>
                  <a:gd name="connsiteX0" fmla="*/ 474288 w 491583"/>
                  <a:gd name="connsiteY0" fmla="*/ 0 h 36925"/>
                  <a:gd name="connsiteX1" fmla="*/ 491583 w 491583"/>
                  <a:gd name="connsiteY1" fmla="*/ 17295 h 36925"/>
                  <a:gd name="connsiteX2" fmla="*/ 491583 w 491583"/>
                  <a:gd name="connsiteY2" fmla="*/ 19630 h 36925"/>
                  <a:gd name="connsiteX3" fmla="*/ 474288 w 491583"/>
                  <a:gd name="connsiteY3" fmla="*/ 36926 h 36925"/>
                  <a:gd name="connsiteX4" fmla="*/ 17295 w 491583"/>
                  <a:gd name="connsiteY4" fmla="*/ 36926 h 36925"/>
                  <a:gd name="connsiteX5" fmla="*/ 0 w 491583"/>
                  <a:gd name="connsiteY5" fmla="*/ 19630 h 36925"/>
                  <a:gd name="connsiteX6" fmla="*/ 0 w 491583"/>
                  <a:gd name="connsiteY6" fmla="*/ 17295 h 36925"/>
                  <a:gd name="connsiteX7" fmla="*/ 17295 w 491583"/>
                  <a:gd name="connsiteY7" fmla="*/ 0 h 36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91583" h="36925">
                    <a:moveTo>
                      <a:pt x="474288" y="0"/>
                    </a:moveTo>
                    <a:cubicBezTo>
                      <a:pt x="483840" y="0"/>
                      <a:pt x="491583" y="7743"/>
                      <a:pt x="491583" y="17295"/>
                    </a:cubicBezTo>
                    <a:lnTo>
                      <a:pt x="491583" y="19630"/>
                    </a:lnTo>
                    <a:cubicBezTo>
                      <a:pt x="491583" y="29182"/>
                      <a:pt x="483839" y="36926"/>
                      <a:pt x="474288" y="36926"/>
                    </a:cubicBezTo>
                    <a:lnTo>
                      <a:pt x="17295" y="36926"/>
                    </a:lnTo>
                    <a:cubicBezTo>
                      <a:pt x="7743" y="36926"/>
                      <a:pt x="0" y="29182"/>
                      <a:pt x="0" y="19630"/>
                    </a:cubicBezTo>
                    <a:lnTo>
                      <a:pt x="0" y="17295"/>
                    </a:lnTo>
                    <a:cubicBezTo>
                      <a:pt x="0" y="7743"/>
                      <a:pt x="7743" y="0"/>
                      <a:pt x="17295" y="0"/>
                    </a:cubicBezTo>
                    <a:close/>
                  </a:path>
                </a:pathLst>
              </a:custGeom>
              <a:solidFill>
                <a:srgbClr val="3378C8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" name="자유형: 도형 41">
                <a:extLst>
                  <a:ext uri="{FF2B5EF4-FFF2-40B4-BE49-F238E27FC236}">
                    <a16:creationId xmlns:a16="http://schemas.microsoft.com/office/drawing/2014/main" id="{27EF28AA-06EA-AB06-F448-4A725AA644A1}"/>
                  </a:ext>
                </a:extLst>
              </p:cNvPr>
              <p:cNvSpPr/>
              <p:nvPr/>
            </p:nvSpPr>
            <p:spPr>
              <a:xfrm>
                <a:off x="10339595" y="6025843"/>
                <a:ext cx="124447" cy="36864"/>
              </a:xfrm>
              <a:custGeom>
                <a:avLst/>
                <a:gdLst>
                  <a:gd name="connsiteX0" fmla="*/ 124416 w 124447"/>
                  <a:gd name="connsiteY0" fmla="*/ 19169 h 36864"/>
                  <a:gd name="connsiteX1" fmla="*/ 109594 w 124447"/>
                  <a:gd name="connsiteY1" fmla="*/ 36864 h 36864"/>
                  <a:gd name="connsiteX2" fmla="*/ 8678 w 124447"/>
                  <a:gd name="connsiteY2" fmla="*/ 36864 h 36864"/>
                  <a:gd name="connsiteX3" fmla="*/ 0 w 124447"/>
                  <a:gd name="connsiteY3" fmla="*/ 28186 h 36864"/>
                  <a:gd name="connsiteX4" fmla="*/ 0 w 124447"/>
                  <a:gd name="connsiteY4" fmla="*/ 8678 h 36864"/>
                  <a:gd name="connsiteX5" fmla="*/ 8678 w 124447"/>
                  <a:gd name="connsiteY5" fmla="*/ 0 h 36864"/>
                  <a:gd name="connsiteX6" fmla="*/ 109594 w 124447"/>
                  <a:gd name="connsiteY6" fmla="*/ 0 h 36864"/>
                  <a:gd name="connsiteX7" fmla="*/ 124447 w 124447"/>
                  <a:gd name="connsiteY7" fmla="*/ 19031 h 36864"/>
                  <a:gd name="connsiteX8" fmla="*/ 124401 w 124447"/>
                  <a:gd name="connsiteY8" fmla="*/ 19169 h 36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4447" h="36864">
                    <a:moveTo>
                      <a:pt x="124416" y="19169"/>
                    </a:moveTo>
                    <a:cubicBezTo>
                      <a:pt x="124416" y="23962"/>
                      <a:pt x="119901" y="36403"/>
                      <a:pt x="109594" y="36864"/>
                    </a:cubicBezTo>
                    <a:lnTo>
                      <a:pt x="8678" y="36864"/>
                    </a:lnTo>
                    <a:cubicBezTo>
                      <a:pt x="3886" y="36864"/>
                      <a:pt x="0" y="32978"/>
                      <a:pt x="0" y="28186"/>
                    </a:cubicBezTo>
                    <a:lnTo>
                      <a:pt x="0" y="8678"/>
                    </a:lnTo>
                    <a:cubicBezTo>
                      <a:pt x="0" y="3886"/>
                      <a:pt x="3886" y="0"/>
                      <a:pt x="8678" y="0"/>
                    </a:cubicBezTo>
                    <a:lnTo>
                      <a:pt x="109594" y="0"/>
                    </a:lnTo>
                    <a:cubicBezTo>
                      <a:pt x="121421" y="415"/>
                      <a:pt x="124447" y="14239"/>
                      <a:pt x="124447" y="19031"/>
                    </a:cubicBezTo>
                    <a:lnTo>
                      <a:pt x="124401" y="19169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4" name="자유형: 도형 63">
                <a:extLst>
                  <a:ext uri="{FF2B5EF4-FFF2-40B4-BE49-F238E27FC236}">
                    <a16:creationId xmlns:a16="http://schemas.microsoft.com/office/drawing/2014/main" id="{409B17FE-DC66-435B-0922-099F06B8D270}"/>
                  </a:ext>
                </a:extLst>
              </p:cNvPr>
              <p:cNvSpPr/>
              <p:nvPr/>
            </p:nvSpPr>
            <p:spPr>
              <a:xfrm>
                <a:off x="9548552" y="6016627"/>
                <a:ext cx="46080" cy="61440"/>
              </a:xfrm>
              <a:custGeom>
                <a:avLst/>
                <a:gdLst>
                  <a:gd name="connsiteX0" fmla="*/ 0 w 46080"/>
                  <a:gd name="connsiteY0" fmla="*/ 0 h 61440"/>
                  <a:gd name="connsiteX1" fmla="*/ 46080 w 46080"/>
                  <a:gd name="connsiteY1" fmla="*/ 0 h 61440"/>
                  <a:gd name="connsiteX2" fmla="*/ 46080 w 46080"/>
                  <a:gd name="connsiteY2" fmla="*/ 61440 h 61440"/>
                  <a:gd name="connsiteX3" fmla="*/ 0 w 46080"/>
                  <a:gd name="connsiteY3" fmla="*/ 61440 h 6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6080" h="61440">
                    <a:moveTo>
                      <a:pt x="0" y="0"/>
                    </a:moveTo>
                    <a:lnTo>
                      <a:pt x="46080" y="0"/>
                    </a:lnTo>
                    <a:lnTo>
                      <a:pt x="46080" y="61440"/>
                    </a:lnTo>
                    <a:lnTo>
                      <a:pt x="0" y="61440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9" name="자유형: 도형 68">
                <a:extLst>
                  <a:ext uri="{FF2B5EF4-FFF2-40B4-BE49-F238E27FC236}">
                    <a16:creationId xmlns:a16="http://schemas.microsoft.com/office/drawing/2014/main" id="{6A70AD7E-3044-FCBC-F188-CBA62002C069}"/>
                  </a:ext>
                </a:extLst>
              </p:cNvPr>
              <p:cNvSpPr/>
              <p:nvPr/>
            </p:nvSpPr>
            <p:spPr>
              <a:xfrm>
                <a:off x="9594632" y="5965293"/>
                <a:ext cx="46080" cy="164444"/>
              </a:xfrm>
              <a:custGeom>
                <a:avLst/>
                <a:gdLst>
                  <a:gd name="connsiteX0" fmla="*/ 46080 w 46080"/>
                  <a:gd name="connsiteY0" fmla="*/ 164444 h 164444"/>
                  <a:gd name="connsiteX1" fmla="*/ 0 w 46080"/>
                  <a:gd name="connsiteY1" fmla="*/ 113403 h 164444"/>
                  <a:gd name="connsiteX2" fmla="*/ 0 w 46080"/>
                  <a:gd name="connsiteY2" fmla="*/ 51026 h 164444"/>
                  <a:gd name="connsiteX3" fmla="*/ 46080 w 46080"/>
                  <a:gd name="connsiteY3" fmla="*/ 0 h 164444"/>
                  <a:gd name="connsiteX4" fmla="*/ 46080 w 46080"/>
                  <a:gd name="connsiteY4" fmla="*/ 164444 h 164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6080" h="164444">
                    <a:moveTo>
                      <a:pt x="46080" y="164444"/>
                    </a:moveTo>
                    <a:lnTo>
                      <a:pt x="0" y="113403"/>
                    </a:lnTo>
                    <a:lnTo>
                      <a:pt x="0" y="51026"/>
                    </a:lnTo>
                    <a:lnTo>
                      <a:pt x="46080" y="0"/>
                    </a:lnTo>
                    <a:lnTo>
                      <a:pt x="46080" y="164444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0" name="자유형: 도형 69">
                <a:extLst>
                  <a:ext uri="{FF2B5EF4-FFF2-40B4-BE49-F238E27FC236}">
                    <a16:creationId xmlns:a16="http://schemas.microsoft.com/office/drawing/2014/main" id="{1D73C4CA-FBBA-68CD-4135-02784D6B9CFC}"/>
                  </a:ext>
                </a:extLst>
              </p:cNvPr>
              <p:cNvSpPr/>
              <p:nvPr/>
            </p:nvSpPr>
            <p:spPr>
              <a:xfrm>
                <a:off x="9657609" y="5962774"/>
                <a:ext cx="70886" cy="168776"/>
              </a:xfrm>
              <a:custGeom>
                <a:avLst/>
                <a:gdLst>
                  <a:gd name="connsiteX0" fmla="*/ 0 w 70886"/>
                  <a:gd name="connsiteY0" fmla="*/ 0 h 168776"/>
                  <a:gd name="connsiteX1" fmla="*/ 0 w 70886"/>
                  <a:gd name="connsiteY1" fmla="*/ 20951 h 168776"/>
                  <a:gd name="connsiteX2" fmla="*/ 50320 w 70886"/>
                  <a:gd name="connsiteY2" fmla="*/ 84388 h 168776"/>
                  <a:gd name="connsiteX3" fmla="*/ 0 w 70886"/>
                  <a:gd name="connsiteY3" fmla="*/ 147825 h 168776"/>
                  <a:gd name="connsiteX4" fmla="*/ 0 w 70886"/>
                  <a:gd name="connsiteY4" fmla="*/ 168776 h 168776"/>
                  <a:gd name="connsiteX5" fmla="*/ 70886 w 70886"/>
                  <a:gd name="connsiteY5" fmla="*/ 84388 h 168776"/>
                  <a:gd name="connsiteX6" fmla="*/ 0 w 70886"/>
                  <a:gd name="connsiteY6" fmla="*/ 0 h 1687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0886" h="168776">
                    <a:moveTo>
                      <a:pt x="0" y="0"/>
                    </a:moveTo>
                    <a:lnTo>
                      <a:pt x="0" y="20951"/>
                    </a:lnTo>
                    <a:cubicBezTo>
                      <a:pt x="29184" y="27694"/>
                      <a:pt x="50320" y="53499"/>
                      <a:pt x="50320" y="84388"/>
                    </a:cubicBezTo>
                    <a:cubicBezTo>
                      <a:pt x="50320" y="115277"/>
                      <a:pt x="29184" y="141082"/>
                      <a:pt x="0" y="147825"/>
                    </a:cubicBezTo>
                    <a:lnTo>
                      <a:pt x="0" y="168776"/>
                    </a:lnTo>
                    <a:cubicBezTo>
                      <a:pt x="39936" y="161711"/>
                      <a:pt x="70886" y="126659"/>
                      <a:pt x="70886" y="84388"/>
                    </a:cubicBezTo>
                    <a:cubicBezTo>
                      <a:pt x="70886" y="42118"/>
                      <a:pt x="39936" y="7066"/>
                      <a:pt x="0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grpSp>
            <p:nvGrpSpPr>
              <p:cNvPr id="71" name="그래픽 18">
                <a:extLst>
                  <a:ext uri="{FF2B5EF4-FFF2-40B4-BE49-F238E27FC236}">
                    <a16:creationId xmlns:a16="http://schemas.microsoft.com/office/drawing/2014/main" id="{340A4EA6-6A47-D08D-6C14-F1CC3865FD2C}"/>
                  </a:ext>
                </a:extLst>
              </p:cNvPr>
              <p:cNvGrpSpPr/>
              <p:nvPr/>
            </p:nvGrpSpPr>
            <p:grpSpPr>
              <a:xfrm>
                <a:off x="9605031" y="6006289"/>
                <a:ext cx="81285" cy="76784"/>
                <a:chOff x="6314338" y="5959201"/>
                <a:chExt cx="81285" cy="76784"/>
              </a:xfrm>
              <a:solidFill>
                <a:srgbClr val="FFFFFF"/>
              </a:solidFill>
            </p:grpSpPr>
            <p:sp>
              <p:nvSpPr>
                <p:cNvPr id="72" name="자유형: 도형 71">
                  <a:extLst>
                    <a:ext uri="{FF2B5EF4-FFF2-40B4-BE49-F238E27FC236}">
                      <a16:creationId xmlns:a16="http://schemas.microsoft.com/office/drawing/2014/main" id="{26E3BAD8-1171-3615-BA1F-FE544C1A5E89}"/>
                    </a:ext>
                  </a:extLst>
                </p:cNvPr>
                <p:cNvSpPr/>
                <p:nvPr/>
              </p:nvSpPr>
              <p:spPr>
                <a:xfrm>
                  <a:off x="6366916" y="5959201"/>
                  <a:ext cx="28707" cy="76784"/>
                </a:xfrm>
                <a:custGeom>
                  <a:avLst/>
                  <a:gdLst>
                    <a:gd name="connsiteX0" fmla="*/ 0 w 28707"/>
                    <a:gd name="connsiteY0" fmla="*/ 0 h 76784"/>
                    <a:gd name="connsiteX1" fmla="*/ 0 w 28707"/>
                    <a:gd name="connsiteY1" fmla="*/ 76785 h 76784"/>
                    <a:gd name="connsiteX2" fmla="*/ 28708 w 28707"/>
                    <a:gd name="connsiteY2" fmla="*/ 38385 h 76784"/>
                    <a:gd name="connsiteX3" fmla="*/ 0 w 28707"/>
                    <a:gd name="connsiteY3" fmla="*/ 0 h 767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8707" h="76784">
                      <a:moveTo>
                        <a:pt x="0" y="0"/>
                      </a:moveTo>
                      <a:lnTo>
                        <a:pt x="0" y="76785"/>
                      </a:lnTo>
                      <a:cubicBezTo>
                        <a:pt x="16896" y="71900"/>
                        <a:pt x="28708" y="56571"/>
                        <a:pt x="28708" y="38385"/>
                      </a:cubicBezTo>
                      <a:cubicBezTo>
                        <a:pt x="28708" y="20198"/>
                        <a:pt x="16896" y="4884"/>
                        <a:pt x="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  <p:sp>
              <p:nvSpPr>
                <p:cNvPr id="73" name="자유형: 도형 72">
                  <a:extLst>
                    <a:ext uri="{FF2B5EF4-FFF2-40B4-BE49-F238E27FC236}">
                      <a16:creationId xmlns:a16="http://schemas.microsoft.com/office/drawing/2014/main" id="{60C27F5B-D310-6270-1087-FFA96BAD2938}"/>
                    </a:ext>
                  </a:extLst>
                </p:cNvPr>
                <p:cNvSpPr/>
                <p:nvPr/>
              </p:nvSpPr>
              <p:spPr>
                <a:xfrm>
                  <a:off x="6314338" y="5992533"/>
                  <a:ext cx="353" cy="10122"/>
                </a:xfrm>
                <a:custGeom>
                  <a:avLst/>
                  <a:gdLst>
                    <a:gd name="connsiteX0" fmla="*/ 353 w 353"/>
                    <a:gd name="connsiteY0" fmla="*/ 0 h 10122"/>
                    <a:gd name="connsiteX1" fmla="*/ 0 w 353"/>
                    <a:gd name="connsiteY1" fmla="*/ 5054 h 10122"/>
                    <a:gd name="connsiteX2" fmla="*/ 353 w 353"/>
                    <a:gd name="connsiteY2" fmla="*/ 10122 h 10122"/>
                    <a:gd name="connsiteX3" fmla="*/ 353 w 353"/>
                    <a:gd name="connsiteY3" fmla="*/ 0 h 101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53" h="10122">
                      <a:moveTo>
                        <a:pt x="353" y="0"/>
                      </a:moveTo>
                      <a:cubicBezTo>
                        <a:pt x="353" y="1659"/>
                        <a:pt x="0" y="3348"/>
                        <a:pt x="0" y="5054"/>
                      </a:cubicBezTo>
                      <a:cubicBezTo>
                        <a:pt x="0" y="6759"/>
                        <a:pt x="353" y="8448"/>
                        <a:pt x="353" y="10122"/>
                      </a:cubicBezTo>
                      <a:lnTo>
                        <a:pt x="353" y="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153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ko-KR" altLang="en-US"/>
                </a:p>
              </p:txBody>
            </p:sp>
          </p:grpSp>
          <p:sp>
            <p:nvSpPr>
              <p:cNvPr id="74" name="자유형: 도형 73">
                <a:extLst>
                  <a:ext uri="{FF2B5EF4-FFF2-40B4-BE49-F238E27FC236}">
                    <a16:creationId xmlns:a16="http://schemas.microsoft.com/office/drawing/2014/main" id="{FF51C350-BF60-B688-D8F0-0FD2551166AE}"/>
                  </a:ext>
                </a:extLst>
              </p:cNvPr>
              <p:cNvSpPr/>
              <p:nvPr/>
            </p:nvSpPr>
            <p:spPr>
              <a:xfrm>
                <a:off x="10734164" y="5955417"/>
                <a:ext cx="91177" cy="89963"/>
              </a:xfrm>
              <a:custGeom>
                <a:avLst/>
                <a:gdLst>
                  <a:gd name="connsiteX0" fmla="*/ 91178 w 91177"/>
                  <a:gd name="connsiteY0" fmla="*/ 88843 h 89963"/>
                  <a:gd name="connsiteX1" fmla="*/ 64220 w 91177"/>
                  <a:gd name="connsiteY1" fmla="*/ 61901 h 89963"/>
                  <a:gd name="connsiteX2" fmla="*/ 36158 w 91177"/>
                  <a:gd name="connsiteY2" fmla="*/ 89964 h 89963"/>
                  <a:gd name="connsiteX3" fmla="*/ 0 w 91177"/>
                  <a:gd name="connsiteY3" fmla="*/ 53806 h 89963"/>
                  <a:gd name="connsiteX4" fmla="*/ 28109 w 91177"/>
                  <a:gd name="connsiteY4" fmla="*/ 25790 h 89963"/>
                  <a:gd name="connsiteX5" fmla="*/ 2320 w 91177"/>
                  <a:gd name="connsiteY5" fmla="*/ 0 h 89963"/>
                  <a:gd name="connsiteX6" fmla="*/ 44375 w 91177"/>
                  <a:gd name="connsiteY6" fmla="*/ 2366 h 89963"/>
                  <a:gd name="connsiteX7" fmla="*/ 86431 w 91177"/>
                  <a:gd name="connsiteY7" fmla="*/ 4808 h 89963"/>
                  <a:gd name="connsiteX8" fmla="*/ 88843 w 91177"/>
                  <a:gd name="connsiteY8" fmla="*/ 46833 h 89963"/>
                  <a:gd name="connsiteX9" fmla="*/ 91178 w 91177"/>
                  <a:gd name="connsiteY9" fmla="*/ 88843 h 89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1177" h="89963">
                    <a:moveTo>
                      <a:pt x="91178" y="88843"/>
                    </a:moveTo>
                    <a:lnTo>
                      <a:pt x="64220" y="61901"/>
                    </a:lnTo>
                    <a:lnTo>
                      <a:pt x="36158" y="89964"/>
                    </a:lnTo>
                    <a:lnTo>
                      <a:pt x="0" y="53806"/>
                    </a:lnTo>
                    <a:lnTo>
                      <a:pt x="28109" y="25790"/>
                    </a:lnTo>
                    <a:lnTo>
                      <a:pt x="2320" y="0"/>
                    </a:lnTo>
                    <a:lnTo>
                      <a:pt x="44375" y="2366"/>
                    </a:lnTo>
                    <a:lnTo>
                      <a:pt x="86431" y="4808"/>
                    </a:lnTo>
                    <a:lnTo>
                      <a:pt x="88843" y="46833"/>
                    </a:lnTo>
                    <a:lnTo>
                      <a:pt x="91178" y="8884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5" name="자유형: 도형 74">
                <a:extLst>
                  <a:ext uri="{FF2B5EF4-FFF2-40B4-BE49-F238E27FC236}">
                    <a16:creationId xmlns:a16="http://schemas.microsoft.com/office/drawing/2014/main" id="{D722FE24-DD4A-1A11-0851-58521E46F42B}"/>
                  </a:ext>
                </a:extLst>
              </p:cNvPr>
              <p:cNvSpPr/>
              <p:nvPr/>
            </p:nvSpPr>
            <p:spPr>
              <a:xfrm>
                <a:off x="10652279" y="6037286"/>
                <a:ext cx="89979" cy="91423"/>
              </a:xfrm>
              <a:custGeom>
                <a:avLst/>
                <a:gdLst>
                  <a:gd name="connsiteX0" fmla="*/ 88612 w 89979"/>
                  <a:gd name="connsiteY0" fmla="*/ 91423 h 91423"/>
                  <a:gd name="connsiteX1" fmla="*/ 46433 w 89979"/>
                  <a:gd name="connsiteY1" fmla="*/ 89257 h 91423"/>
                  <a:gd name="connsiteX2" fmla="*/ 4378 w 89979"/>
                  <a:gd name="connsiteY2" fmla="*/ 86892 h 91423"/>
                  <a:gd name="connsiteX3" fmla="*/ 2166 w 89979"/>
                  <a:gd name="connsiteY3" fmla="*/ 44575 h 91423"/>
                  <a:gd name="connsiteX4" fmla="*/ 0 w 89979"/>
                  <a:gd name="connsiteY4" fmla="*/ 2335 h 91423"/>
                  <a:gd name="connsiteX5" fmla="*/ 25790 w 89979"/>
                  <a:gd name="connsiteY5" fmla="*/ 28109 h 91423"/>
                  <a:gd name="connsiteX6" fmla="*/ 53807 w 89979"/>
                  <a:gd name="connsiteY6" fmla="*/ 0 h 91423"/>
                  <a:gd name="connsiteX7" fmla="*/ 89979 w 89979"/>
                  <a:gd name="connsiteY7" fmla="*/ 36158 h 91423"/>
                  <a:gd name="connsiteX8" fmla="*/ 61916 w 89979"/>
                  <a:gd name="connsiteY8" fmla="*/ 64236 h 91423"/>
                  <a:gd name="connsiteX9" fmla="*/ 88612 w 89979"/>
                  <a:gd name="connsiteY9" fmla="*/ 91423 h 91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9979" h="91423">
                    <a:moveTo>
                      <a:pt x="88612" y="91423"/>
                    </a:moveTo>
                    <a:lnTo>
                      <a:pt x="46433" y="89257"/>
                    </a:lnTo>
                    <a:lnTo>
                      <a:pt x="4378" y="86892"/>
                    </a:lnTo>
                    <a:lnTo>
                      <a:pt x="2166" y="44575"/>
                    </a:lnTo>
                    <a:lnTo>
                      <a:pt x="0" y="2335"/>
                    </a:lnTo>
                    <a:lnTo>
                      <a:pt x="25790" y="28109"/>
                    </a:lnTo>
                    <a:lnTo>
                      <a:pt x="53807" y="0"/>
                    </a:lnTo>
                    <a:lnTo>
                      <a:pt x="89979" y="36158"/>
                    </a:lnTo>
                    <a:lnTo>
                      <a:pt x="61916" y="64236"/>
                    </a:lnTo>
                    <a:lnTo>
                      <a:pt x="88612" y="91423"/>
                    </a:ln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6" name="자유형: 도형 75">
                <a:extLst>
                  <a:ext uri="{FF2B5EF4-FFF2-40B4-BE49-F238E27FC236}">
                    <a16:creationId xmlns:a16="http://schemas.microsoft.com/office/drawing/2014/main" id="{239C775B-952D-DB50-C18F-5C0BDE14C831}"/>
                  </a:ext>
                </a:extLst>
              </p:cNvPr>
              <p:cNvSpPr/>
              <p:nvPr/>
            </p:nvSpPr>
            <p:spPr>
              <a:xfrm>
                <a:off x="10983473" y="5947122"/>
                <a:ext cx="197084" cy="197115"/>
              </a:xfrm>
              <a:custGeom>
                <a:avLst/>
                <a:gdLst>
                  <a:gd name="connsiteX0" fmla="*/ 193598 w 197084"/>
                  <a:gd name="connsiteY0" fmla="*/ 134554 h 197115"/>
                  <a:gd name="connsiteX1" fmla="*/ 192907 w 197084"/>
                  <a:gd name="connsiteY1" fmla="*/ 134170 h 197115"/>
                  <a:gd name="connsiteX2" fmla="*/ 180327 w 197084"/>
                  <a:gd name="connsiteY2" fmla="*/ 108933 h 197115"/>
                  <a:gd name="connsiteX3" fmla="*/ 179636 w 197084"/>
                  <a:gd name="connsiteY3" fmla="*/ 109640 h 197115"/>
                  <a:gd name="connsiteX4" fmla="*/ 179866 w 197084"/>
                  <a:gd name="connsiteY4" fmla="*/ 100255 h 197115"/>
                  <a:gd name="connsiteX5" fmla="*/ 179928 w 197084"/>
                  <a:gd name="connsiteY5" fmla="*/ 100286 h 197115"/>
                  <a:gd name="connsiteX6" fmla="*/ 197085 w 197084"/>
                  <a:gd name="connsiteY6" fmla="*/ 74957 h 197115"/>
                  <a:gd name="connsiteX7" fmla="*/ 197054 w 197084"/>
                  <a:gd name="connsiteY7" fmla="*/ 74957 h 197115"/>
                  <a:gd name="connsiteX8" fmla="*/ 190372 w 197084"/>
                  <a:gd name="connsiteY8" fmla="*/ 56049 h 197115"/>
                  <a:gd name="connsiteX9" fmla="*/ 190249 w 197084"/>
                  <a:gd name="connsiteY9" fmla="*/ 56294 h 197115"/>
                  <a:gd name="connsiteX10" fmla="*/ 164076 w 197084"/>
                  <a:gd name="connsiteY10" fmla="*/ 47509 h 197115"/>
                  <a:gd name="connsiteX11" fmla="*/ 157134 w 197084"/>
                  <a:gd name="connsiteY11" fmla="*/ 39537 h 197115"/>
                  <a:gd name="connsiteX12" fmla="*/ 152648 w 197084"/>
                  <a:gd name="connsiteY12" fmla="*/ 12211 h 197115"/>
                  <a:gd name="connsiteX13" fmla="*/ 152863 w 197084"/>
                  <a:gd name="connsiteY13" fmla="*/ 11735 h 197115"/>
                  <a:gd name="connsiteX14" fmla="*/ 134538 w 197084"/>
                  <a:gd name="connsiteY14" fmla="*/ 2458 h 197115"/>
                  <a:gd name="connsiteX15" fmla="*/ 134262 w 197084"/>
                  <a:gd name="connsiteY15" fmla="*/ 2949 h 197115"/>
                  <a:gd name="connsiteX16" fmla="*/ 109824 w 197084"/>
                  <a:gd name="connsiteY16" fmla="*/ 15222 h 197115"/>
                  <a:gd name="connsiteX17" fmla="*/ 99195 w 197084"/>
                  <a:gd name="connsiteY17" fmla="*/ 14945 h 197115"/>
                  <a:gd name="connsiteX18" fmla="*/ 78060 w 197084"/>
                  <a:gd name="connsiteY18" fmla="*/ 0 h 197115"/>
                  <a:gd name="connsiteX19" fmla="*/ 78030 w 197084"/>
                  <a:gd name="connsiteY19" fmla="*/ 77 h 197115"/>
                  <a:gd name="connsiteX20" fmla="*/ 57508 w 197084"/>
                  <a:gd name="connsiteY20" fmla="*/ 4255 h 197115"/>
                  <a:gd name="connsiteX21" fmla="*/ 57446 w 197084"/>
                  <a:gd name="connsiteY21" fmla="*/ 4239 h 197115"/>
                  <a:gd name="connsiteX22" fmla="*/ 48369 w 197084"/>
                  <a:gd name="connsiteY22" fmla="*/ 30643 h 197115"/>
                  <a:gd name="connsiteX23" fmla="*/ 39675 w 197084"/>
                  <a:gd name="connsiteY23" fmla="*/ 38354 h 197115"/>
                  <a:gd name="connsiteX24" fmla="*/ 13931 w 197084"/>
                  <a:gd name="connsiteY24" fmla="*/ 43638 h 197115"/>
                  <a:gd name="connsiteX25" fmla="*/ 14777 w 197084"/>
                  <a:gd name="connsiteY25" fmla="*/ 44314 h 197115"/>
                  <a:gd name="connsiteX26" fmla="*/ 5499 w 197084"/>
                  <a:gd name="connsiteY26" fmla="*/ 62623 h 197115"/>
                  <a:gd name="connsiteX27" fmla="*/ 4547 w 197084"/>
                  <a:gd name="connsiteY27" fmla="*/ 62177 h 197115"/>
                  <a:gd name="connsiteX28" fmla="*/ 16266 w 197084"/>
                  <a:gd name="connsiteY28" fmla="*/ 86815 h 197115"/>
                  <a:gd name="connsiteX29" fmla="*/ 15683 w 197084"/>
                  <a:gd name="connsiteY29" fmla="*/ 96215 h 197115"/>
                  <a:gd name="connsiteX30" fmla="*/ 0 w 197084"/>
                  <a:gd name="connsiteY30" fmla="*/ 118042 h 197115"/>
                  <a:gd name="connsiteX31" fmla="*/ 47 w 197084"/>
                  <a:gd name="connsiteY31" fmla="*/ 118073 h 197115"/>
                  <a:gd name="connsiteX32" fmla="*/ 7281 w 197084"/>
                  <a:gd name="connsiteY32" fmla="*/ 139700 h 197115"/>
                  <a:gd name="connsiteX33" fmla="*/ 7281 w 197084"/>
                  <a:gd name="connsiteY33" fmla="*/ 139746 h 197115"/>
                  <a:gd name="connsiteX34" fmla="*/ 32917 w 197084"/>
                  <a:gd name="connsiteY34" fmla="*/ 148424 h 197115"/>
                  <a:gd name="connsiteX35" fmla="*/ 32579 w 197084"/>
                  <a:gd name="connsiteY35" fmla="*/ 147902 h 197115"/>
                  <a:gd name="connsiteX36" fmla="*/ 38999 w 197084"/>
                  <a:gd name="connsiteY36" fmla="*/ 155428 h 197115"/>
                  <a:gd name="connsiteX37" fmla="*/ 38661 w 197084"/>
                  <a:gd name="connsiteY37" fmla="*/ 155367 h 197115"/>
                  <a:gd name="connsiteX38" fmla="*/ 43945 w 197084"/>
                  <a:gd name="connsiteY38" fmla="*/ 182063 h 197115"/>
                  <a:gd name="connsiteX39" fmla="*/ 44314 w 197084"/>
                  <a:gd name="connsiteY39" fmla="*/ 181295 h 197115"/>
                  <a:gd name="connsiteX40" fmla="*/ 62623 w 197084"/>
                  <a:gd name="connsiteY40" fmla="*/ 190557 h 197115"/>
                  <a:gd name="connsiteX41" fmla="*/ 62255 w 197084"/>
                  <a:gd name="connsiteY41" fmla="*/ 191340 h 197115"/>
                  <a:gd name="connsiteX42" fmla="*/ 87138 w 197084"/>
                  <a:gd name="connsiteY42" fmla="*/ 179467 h 197115"/>
                  <a:gd name="connsiteX43" fmla="*/ 86631 w 197084"/>
                  <a:gd name="connsiteY43" fmla="*/ 179159 h 197115"/>
                  <a:gd name="connsiteX44" fmla="*/ 97060 w 197084"/>
                  <a:gd name="connsiteY44" fmla="*/ 180020 h 197115"/>
                  <a:gd name="connsiteX45" fmla="*/ 97429 w 197084"/>
                  <a:gd name="connsiteY45" fmla="*/ 180788 h 197115"/>
                  <a:gd name="connsiteX46" fmla="*/ 121114 w 197084"/>
                  <a:gd name="connsiteY46" fmla="*/ 197116 h 197115"/>
                  <a:gd name="connsiteX47" fmla="*/ 121114 w 197084"/>
                  <a:gd name="connsiteY47" fmla="*/ 197100 h 197115"/>
                  <a:gd name="connsiteX48" fmla="*/ 139854 w 197084"/>
                  <a:gd name="connsiteY48" fmla="*/ 190326 h 197115"/>
                  <a:gd name="connsiteX49" fmla="*/ 139500 w 197084"/>
                  <a:gd name="connsiteY49" fmla="*/ 190158 h 197115"/>
                  <a:gd name="connsiteX50" fmla="*/ 148363 w 197084"/>
                  <a:gd name="connsiteY50" fmla="*/ 163677 h 197115"/>
                  <a:gd name="connsiteX51" fmla="*/ 147672 w 197084"/>
                  <a:gd name="connsiteY51" fmla="*/ 163585 h 197115"/>
                  <a:gd name="connsiteX52" fmla="*/ 155536 w 197084"/>
                  <a:gd name="connsiteY52" fmla="*/ 156796 h 197115"/>
                  <a:gd name="connsiteX53" fmla="*/ 155490 w 197084"/>
                  <a:gd name="connsiteY53" fmla="*/ 157195 h 197115"/>
                  <a:gd name="connsiteX54" fmla="*/ 183645 w 197084"/>
                  <a:gd name="connsiteY54" fmla="*/ 152602 h 197115"/>
                  <a:gd name="connsiteX55" fmla="*/ 184336 w 197084"/>
                  <a:gd name="connsiteY55" fmla="*/ 152925 h 197115"/>
                  <a:gd name="connsiteX56" fmla="*/ 193614 w 197084"/>
                  <a:gd name="connsiteY56" fmla="*/ 134600 h 197115"/>
                  <a:gd name="connsiteX57" fmla="*/ 75049 w 197084"/>
                  <a:gd name="connsiteY57" fmla="*/ 142372 h 197115"/>
                  <a:gd name="connsiteX58" fmla="*/ 52838 w 197084"/>
                  <a:gd name="connsiteY58" fmla="*/ 74542 h 197115"/>
                  <a:gd name="connsiteX59" fmla="*/ 120669 w 197084"/>
                  <a:gd name="connsiteY59" fmla="*/ 52332 h 197115"/>
                  <a:gd name="connsiteX60" fmla="*/ 142879 w 197084"/>
                  <a:gd name="connsiteY60" fmla="*/ 120177 h 197115"/>
                  <a:gd name="connsiteX61" fmla="*/ 75065 w 197084"/>
                  <a:gd name="connsiteY61" fmla="*/ 142372 h 197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</a:cxnLst>
                <a:rect l="l" t="t" r="r" b="b"/>
                <a:pathLst>
                  <a:path w="197084" h="197115">
                    <a:moveTo>
                      <a:pt x="193598" y="134554"/>
                    </a:moveTo>
                    <a:cubicBezTo>
                      <a:pt x="193598" y="134554"/>
                      <a:pt x="192907" y="134186"/>
                      <a:pt x="192907" y="134170"/>
                    </a:cubicBezTo>
                    <a:cubicBezTo>
                      <a:pt x="187684" y="126674"/>
                      <a:pt x="183184" y="118073"/>
                      <a:pt x="180327" y="108933"/>
                    </a:cubicBezTo>
                    <a:cubicBezTo>
                      <a:pt x="180265" y="108995"/>
                      <a:pt x="179698" y="109579"/>
                      <a:pt x="179636" y="109640"/>
                    </a:cubicBezTo>
                    <a:cubicBezTo>
                      <a:pt x="180097" y="106338"/>
                      <a:pt x="181126" y="100900"/>
                      <a:pt x="179866" y="100255"/>
                    </a:cubicBezTo>
                    <a:cubicBezTo>
                      <a:pt x="179866" y="100255"/>
                      <a:pt x="179912" y="100270"/>
                      <a:pt x="179928" y="100286"/>
                    </a:cubicBezTo>
                    <a:cubicBezTo>
                      <a:pt x="185304" y="89411"/>
                      <a:pt x="189251" y="84588"/>
                      <a:pt x="197085" y="74957"/>
                    </a:cubicBezTo>
                    <a:cubicBezTo>
                      <a:pt x="197085" y="74957"/>
                      <a:pt x="197054" y="74957"/>
                      <a:pt x="197054" y="74957"/>
                    </a:cubicBezTo>
                    <a:lnTo>
                      <a:pt x="190372" y="56049"/>
                    </a:lnTo>
                    <a:cubicBezTo>
                      <a:pt x="190372" y="56049"/>
                      <a:pt x="190249" y="56310"/>
                      <a:pt x="190249" y="56294"/>
                    </a:cubicBezTo>
                    <a:cubicBezTo>
                      <a:pt x="181356" y="54713"/>
                      <a:pt x="172478" y="51886"/>
                      <a:pt x="164076" y="47509"/>
                    </a:cubicBezTo>
                    <a:cubicBezTo>
                      <a:pt x="161972" y="44698"/>
                      <a:pt x="159637" y="42086"/>
                      <a:pt x="157134" y="39537"/>
                    </a:cubicBezTo>
                    <a:cubicBezTo>
                      <a:pt x="154169" y="30689"/>
                      <a:pt x="152863" y="21151"/>
                      <a:pt x="152648" y="12211"/>
                    </a:cubicBezTo>
                    <a:lnTo>
                      <a:pt x="152863" y="11735"/>
                    </a:lnTo>
                    <a:lnTo>
                      <a:pt x="134538" y="2458"/>
                    </a:lnTo>
                    <a:cubicBezTo>
                      <a:pt x="134538" y="2458"/>
                      <a:pt x="134277" y="2949"/>
                      <a:pt x="134262" y="2949"/>
                    </a:cubicBezTo>
                    <a:cubicBezTo>
                      <a:pt x="126966" y="8033"/>
                      <a:pt x="118672" y="12365"/>
                      <a:pt x="109824" y="15222"/>
                    </a:cubicBezTo>
                    <a:cubicBezTo>
                      <a:pt x="106031" y="14669"/>
                      <a:pt x="103005" y="14961"/>
                      <a:pt x="99195" y="14945"/>
                    </a:cubicBezTo>
                    <a:cubicBezTo>
                      <a:pt x="90993" y="10798"/>
                      <a:pt x="82330" y="5023"/>
                      <a:pt x="78060" y="0"/>
                    </a:cubicBezTo>
                    <a:cubicBezTo>
                      <a:pt x="78060" y="0"/>
                      <a:pt x="78030" y="77"/>
                      <a:pt x="78030" y="77"/>
                    </a:cubicBezTo>
                    <a:lnTo>
                      <a:pt x="57508" y="4255"/>
                    </a:lnTo>
                    <a:cubicBezTo>
                      <a:pt x="57508" y="4255"/>
                      <a:pt x="57462" y="4255"/>
                      <a:pt x="57446" y="4239"/>
                    </a:cubicBezTo>
                    <a:cubicBezTo>
                      <a:pt x="54251" y="16220"/>
                      <a:pt x="52639" y="22364"/>
                      <a:pt x="48369" y="30643"/>
                    </a:cubicBezTo>
                    <a:cubicBezTo>
                      <a:pt x="45404" y="32886"/>
                      <a:pt x="42363" y="35697"/>
                      <a:pt x="39675" y="38354"/>
                    </a:cubicBezTo>
                    <a:cubicBezTo>
                      <a:pt x="30905" y="41257"/>
                      <a:pt x="22763" y="43438"/>
                      <a:pt x="13931" y="43638"/>
                    </a:cubicBezTo>
                    <a:cubicBezTo>
                      <a:pt x="13931" y="43638"/>
                      <a:pt x="14777" y="44314"/>
                      <a:pt x="14777" y="44314"/>
                    </a:cubicBezTo>
                    <a:lnTo>
                      <a:pt x="5499" y="62623"/>
                    </a:lnTo>
                    <a:cubicBezTo>
                      <a:pt x="5499" y="62623"/>
                      <a:pt x="4562" y="62162"/>
                      <a:pt x="4547" y="62177"/>
                    </a:cubicBezTo>
                    <a:cubicBezTo>
                      <a:pt x="9738" y="69627"/>
                      <a:pt x="13409" y="77753"/>
                      <a:pt x="16266" y="86815"/>
                    </a:cubicBezTo>
                    <a:cubicBezTo>
                      <a:pt x="15821" y="90210"/>
                      <a:pt x="15698" y="92836"/>
                      <a:pt x="15683" y="96215"/>
                    </a:cubicBezTo>
                    <a:cubicBezTo>
                      <a:pt x="11505" y="104709"/>
                      <a:pt x="5084" y="113803"/>
                      <a:pt x="0" y="118042"/>
                    </a:cubicBezTo>
                    <a:cubicBezTo>
                      <a:pt x="0" y="118042"/>
                      <a:pt x="47" y="118058"/>
                      <a:pt x="47" y="118073"/>
                    </a:cubicBezTo>
                    <a:lnTo>
                      <a:pt x="7281" y="139700"/>
                    </a:lnTo>
                    <a:cubicBezTo>
                      <a:pt x="7281" y="139700"/>
                      <a:pt x="7281" y="139746"/>
                      <a:pt x="7281" y="139746"/>
                    </a:cubicBezTo>
                    <a:cubicBezTo>
                      <a:pt x="13886" y="140130"/>
                      <a:pt x="24422" y="143970"/>
                      <a:pt x="32917" y="148424"/>
                    </a:cubicBezTo>
                    <a:cubicBezTo>
                      <a:pt x="32917" y="148317"/>
                      <a:pt x="32564" y="148010"/>
                      <a:pt x="32579" y="147902"/>
                    </a:cubicBezTo>
                    <a:cubicBezTo>
                      <a:pt x="34607" y="150559"/>
                      <a:pt x="36618" y="153002"/>
                      <a:pt x="38999" y="155428"/>
                    </a:cubicBezTo>
                    <a:cubicBezTo>
                      <a:pt x="38907" y="155428"/>
                      <a:pt x="38753" y="155367"/>
                      <a:pt x="38661" y="155367"/>
                    </a:cubicBezTo>
                    <a:cubicBezTo>
                      <a:pt x="41764" y="164429"/>
                      <a:pt x="43715" y="172924"/>
                      <a:pt x="43945" y="182063"/>
                    </a:cubicBezTo>
                    <a:cubicBezTo>
                      <a:pt x="43945" y="182063"/>
                      <a:pt x="44298" y="181279"/>
                      <a:pt x="44314" y="181295"/>
                    </a:cubicBezTo>
                    <a:lnTo>
                      <a:pt x="62623" y="190557"/>
                    </a:lnTo>
                    <a:cubicBezTo>
                      <a:pt x="62623" y="190557"/>
                      <a:pt x="62255" y="191325"/>
                      <a:pt x="62255" y="191340"/>
                    </a:cubicBezTo>
                    <a:cubicBezTo>
                      <a:pt x="69750" y="186102"/>
                      <a:pt x="77999" y="182324"/>
                      <a:pt x="87138" y="179467"/>
                    </a:cubicBezTo>
                    <a:cubicBezTo>
                      <a:pt x="87000" y="179298"/>
                      <a:pt x="86784" y="179329"/>
                      <a:pt x="86631" y="179159"/>
                    </a:cubicBezTo>
                    <a:cubicBezTo>
                      <a:pt x="90117" y="179636"/>
                      <a:pt x="93573" y="179989"/>
                      <a:pt x="97060" y="180020"/>
                    </a:cubicBezTo>
                    <a:cubicBezTo>
                      <a:pt x="96937" y="180127"/>
                      <a:pt x="97552" y="180665"/>
                      <a:pt x="97429" y="180788"/>
                    </a:cubicBezTo>
                    <a:cubicBezTo>
                      <a:pt x="106015" y="184996"/>
                      <a:pt x="111483" y="189267"/>
                      <a:pt x="121114" y="197116"/>
                    </a:cubicBezTo>
                    <a:cubicBezTo>
                      <a:pt x="121114" y="197116"/>
                      <a:pt x="121114" y="197100"/>
                      <a:pt x="121114" y="197100"/>
                    </a:cubicBezTo>
                    <a:lnTo>
                      <a:pt x="139854" y="190326"/>
                    </a:lnTo>
                    <a:cubicBezTo>
                      <a:pt x="139854" y="190326"/>
                      <a:pt x="139500" y="190173"/>
                      <a:pt x="139500" y="190158"/>
                    </a:cubicBezTo>
                    <a:cubicBezTo>
                      <a:pt x="141113" y="181156"/>
                      <a:pt x="143939" y="172171"/>
                      <a:pt x="148363" y="163677"/>
                    </a:cubicBezTo>
                    <a:cubicBezTo>
                      <a:pt x="148179" y="163677"/>
                      <a:pt x="147871" y="163600"/>
                      <a:pt x="147672" y="163585"/>
                    </a:cubicBezTo>
                    <a:cubicBezTo>
                      <a:pt x="150436" y="161511"/>
                      <a:pt x="153032" y="159222"/>
                      <a:pt x="155536" y="156796"/>
                    </a:cubicBezTo>
                    <a:cubicBezTo>
                      <a:pt x="155536" y="156934"/>
                      <a:pt x="155490" y="157041"/>
                      <a:pt x="155490" y="157195"/>
                    </a:cubicBezTo>
                    <a:cubicBezTo>
                      <a:pt x="164521" y="154092"/>
                      <a:pt x="174505" y="152817"/>
                      <a:pt x="183645" y="152602"/>
                    </a:cubicBezTo>
                    <a:cubicBezTo>
                      <a:pt x="183645" y="152602"/>
                      <a:pt x="184336" y="152925"/>
                      <a:pt x="184336" y="152925"/>
                    </a:cubicBezTo>
                    <a:lnTo>
                      <a:pt x="193614" y="134600"/>
                    </a:lnTo>
                    <a:close/>
                    <a:moveTo>
                      <a:pt x="75049" y="142372"/>
                    </a:moveTo>
                    <a:cubicBezTo>
                      <a:pt x="50181" y="129777"/>
                      <a:pt x="40244" y="99410"/>
                      <a:pt x="52838" y="74542"/>
                    </a:cubicBezTo>
                    <a:cubicBezTo>
                      <a:pt x="65434" y="49675"/>
                      <a:pt x="95816" y="39737"/>
                      <a:pt x="120669" y="52332"/>
                    </a:cubicBezTo>
                    <a:cubicBezTo>
                      <a:pt x="145536" y="64927"/>
                      <a:pt x="155459" y="95294"/>
                      <a:pt x="142879" y="120177"/>
                    </a:cubicBezTo>
                    <a:cubicBezTo>
                      <a:pt x="130284" y="145029"/>
                      <a:pt x="99918" y="154967"/>
                      <a:pt x="75065" y="1423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88" name="자유형: 도형 87">
                <a:extLst>
                  <a:ext uri="{FF2B5EF4-FFF2-40B4-BE49-F238E27FC236}">
                    <a16:creationId xmlns:a16="http://schemas.microsoft.com/office/drawing/2014/main" id="{BC651BD1-CEAD-B780-2376-2D7707D8DF10}"/>
                  </a:ext>
                </a:extLst>
              </p:cNvPr>
              <p:cNvSpPr/>
              <p:nvPr/>
            </p:nvSpPr>
            <p:spPr>
              <a:xfrm>
                <a:off x="10328121" y="6004984"/>
                <a:ext cx="79381" cy="79381"/>
              </a:xfrm>
              <a:custGeom>
                <a:avLst/>
                <a:gdLst>
                  <a:gd name="connsiteX0" fmla="*/ 79381 w 79381"/>
                  <a:gd name="connsiteY0" fmla="*/ 39691 h 79381"/>
                  <a:gd name="connsiteX1" fmla="*/ 39691 w 79381"/>
                  <a:gd name="connsiteY1" fmla="*/ 79381 h 79381"/>
                  <a:gd name="connsiteX2" fmla="*/ 0 w 79381"/>
                  <a:gd name="connsiteY2" fmla="*/ 39691 h 79381"/>
                  <a:gd name="connsiteX3" fmla="*/ 39691 w 79381"/>
                  <a:gd name="connsiteY3" fmla="*/ 0 h 79381"/>
                  <a:gd name="connsiteX4" fmla="*/ 79381 w 79381"/>
                  <a:gd name="connsiteY4" fmla="*/ 39691 h 79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1" h="79381">
                    <a:moveTo>
                      <a:pt x="79381" y="39691"/>
                    </a:moveTo>
                    <a:cubicBezTo>
                      <a:pt x="79381" y="61609"/>
                      <a:pt x="61610" y="79381"/>
                      <a:pt x="39691" y="79381"/>
                    </a:cubicBezTo>
                    <a:cubicBezTo>
                      <a:pt x="17772" y="79381"/>
                      <a:pt x="0" y="61609"/>
                      <a:pt x="0" y="39691"/>
                    </a:cubicBezTo>
                    <a:cubicBezTo>
                      <a:pt x="0" y="17772"/>
                      <a:pt x="17772" y="0"/>
                      <a:pt x="39691" y="0"/>
                    </a:cubicBezTo>
                    <a:cubicBezTo>
                      <a:pt x="61610" y="0"/>
                      <a:pt x="79381" y="17772"/>
                      <a:pt x="79381" y="39691"/>
                    </a:cubicBezTo>
                    <a:close/>
                  </a:path>
                </a:pathLst>
              </a:custGeom>
              <a:solidFill>
                <a:srgbClr val="FFFFFF"/>
              </a:solidFill>
              <a:ln w="153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4DB48F3C-3BCF-D43D-84DB-CE2CA8820C34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0" name="_x278651016" descr="EMB0000378c3f3d">
              <a:extLst>
                <a:ext uri="{FF2B5EF4-FFF2-40B4-BE49-F238E27FC236}">
                  <a16:creationId xmlns:a16="http://schemas.microsoft.com/office/drawing/2014/main" id="{5E070F99-D12E-BEB5-DFD7-9F9657E21A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그래픽 23">
              <a:extLst>
                <a:ext uri="{FF2B5EF4-FFF2-40B4-BE49-F238E27FC236}">
                  <a16:creationId xmlns:a16="http://schemas.microsoft.com/office/drawing/2014/main" id="{E88FF396-1557-AD97-37DA-46620B4D3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C1235350-DA32-4D3D-AF98-B200A140AAA8}"/>
              </a:ext>
            </a:extLst>
          </p:cNvPr>
          <p:cNvSpPr txBox="1"/>
          <p:nvPr/>
        </p:nvSpPr>
        <p:spPr>
          <a:xfrm>
            <a:off x="551447" y="6370868"/>
            <a:ext cx="8964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용량제한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팀별 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5-10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분 내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(100MB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),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기능별 소개 음성 포함</a:t>
            </a:r>
            <a:r>
              <a:rPr lang="en-US" altLang="ko-KR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별도 파일형태로 제출 가능</a:t>
            </a:r>
          </a:p>
        </p:txBody>
      </p:sp>
    </p:spTree>
    <p:extLst>
      <p:ext uri="{BB962C8B-B14F-4D97-AF65-F5344CB8AC3E}">
        <p14:creationId xmlns:p14="http://schemas.microsoft.com/office/powerpoint/2010/main" val="33004447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6" name="그래픽 55">
            <a:extLst>
              <a:ext uri="{FF2B5EF4-FFF2-40B4-BE49-F238E27FC236}">
                <a16:creationId xmlns:a16="http://schemas.microsoft.com/office/drawing/2014/main" id="{6D81A8B2-BC62-48C9-5FB0-18C5E633AE2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" r="2096" b="22185"/>
          <a:stretch/>
        </p:blipFill>
        <p:spPr>
          <a:xfrm rot="16200000">
            <a:off x="10645617" y="3135340"/>
            <a:ext cx="2550875" cy="54189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B7C90AA-2C31-5C36-C37E-E6E813231056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자체 평가 의견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753AFFF3-DFFD-86BD-A0E4-365D0D959218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0" y="2130850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7316AC48-FB9E-B12B-E3BC-DC5404211B32}"/>
              </a:ext>
            </a:extLst>
          </p:cNvPr>
          <p:cNvGrpSpPr/>
          <p:nvPr/>
        </p:nvGrpSpPr>
        <p:grpSpPr>
          <a:xfrm>
            <a:off x="541891" y="1430219"/>
            <a:ext cx="11108218" cy="646331"/>
            <a:chOff x="541891" y="1430219"/>
            <a:chExt cx="11108218" cy="64633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7F04AE5-D365-4B0E-9031-83310E282831}"/>
                </a:ext>
              </a:extLst>
            </p:cNvPr>
            <p:cNvSpPr txBox="1"/>
            <p:nvPr/>
          </p:nvSpPr>
          <p:spPr>
            <a:xfrm>
              <a:off x="743615" y="1430219"/>
              <a:ext cx="1090649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프로젝트 결과물에 대한 프로젝트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기획 의도와의 부합 정도 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및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실무 활용 가능 정도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달성도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,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완성도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 등</a:t>
              </a:r>
              <a:b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훈련생의 자체적인 평가 의견과 느낀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 </a:t>
              </a: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점</a:t>
              </a: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을 작성한다</a:t>
              </a:r>
              <a:r>
                <a:rPr lang="en-US" altLang="ko-KR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.</a:t>
              </a:r>
            </a:p>
          </p:txBody>
        </p:sp>
        <p:sp>
          <p:nvSpPr>
            <p:cNvPr id="45" name="그래픽 43">
              <a:extLst>
                <a:ext uri="{FF2B5EF4-FFF2-40B4-BE49-F238E27FC236}">
                  <a16:creationId xmlns:a16="http://schemas.microsoft.com/office/drawing/2014/main" id="{512AEB8B-AA28-FDBA-00E7-D5D95C2F683D}"/>
                </a:ext>
              </a:extLst>
            </p:cNvPr>
            <p:cNvSpPr/>
            <p:nvPr/>
          </p:nvSpPr>
          <p:spPr>
            <a:xfrm>
              <a:off x="541891" y="1539006"/>
              <a:ext cx="101147" cy="113869"/>
            </a:xfrm>
            <a:custGeom>
              <a:avLst/>
              <a:gdLst>
                <a:gd name="connsiteX0" fmla="*/ 428021 w 450214"/>
                <a:gd name="connsiteY0" fmla="*/ 214932 h 506845"/>
                <a:gd name="connsiteX1" fmla="*/ 66705 w 450214"/>
                <a:gd name="connsiteY1" fmla="*/ 6045 h 506845"/>
                <a:gd name="connsiteX2" fmla="*/ 0 w 450214"/>
                <a:gd name="connsiteY2" fmla="*/ 44511 h 506845"/>
                <a:gd name="connsiteX3" fmla="*/ 0 w 450214"/>
                <a:gd name="connsiteY3" fmla="*/ 462326 h 506845"/>
                <a:gd name="connsiteX4" fmla="*/ 66705 w 450214"/>
                <a:gd name="connsiteY4" fmla="*/ 500812 h 506845"/>
                <a:gd name="connsiteX5" fmla="*/ 428021 w 450214"/>
                <a:gd name="connsiteY5" fmla="*/ 291905 h 506845"/>
                <a:gd name="connsiteX6" fmla="*/ 428021 w 450214"/>
                <a:gd name="connsiteY6" fmla="*/ 214932 h 506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0214" h="506845">
                  <a:moveTo>
                    <a:pt x="428021" y="214932"/>
                  </a:moveTo>
                  <a:lnTo>
                    <a:pt x="66705" y="6045"/>
                  </a:lnTo>
                  <a:cubicBezTo>
                    <a:pt x="37072" y="-11108"/>
                    <a:pt x="0" y="10287"/>
                    <a:pt x="0" y="44511"/>
                  </a:cubicBezTo>
                  <a:lnTo>
                    <a:pt x="0" y="462326"/>
                  </a:lnTo>
                  <a:cubicBezTo>
                    <a:pt x="0" y="496550"/>
                    <a:pt x="37072" y="517945"/>
                    <a:pt x="66705" y="500812"/>
                  </a:cubicBezTo>
                  <a:lnTo>
                    <a:pt x="428021" y="291905"/>
                  </a:lnTo>
                  <a:cubicBezTo>
                    <a:pt x="457613" y="274793"/>
                    <a:pt x="457613" y="232064"/>
                    <a:pt x="428021" y="214932"/>
                  </a:cubicBezTo>
                  <a:close/>
                </a:path>
              </a:pathLst>
            </a:custGeom>
            <a:solidFill>
              <a:srgbClr val="3378C8"/>
            </a:solidFill>
            <a:ln w="2035" cap="flat">
              <a:noFill/>
              <a:prstDash val="solid"/>
              <a:miter/>
            </a:ln>
            <a:effectLst>
              <a:outerShdw blurRad="50800" dist="38100" dir="5400000" algn="t" rotWithShape="0">
                <a:srgbClr val="3378C8">
                  <a:alpha val="40000"/>
                </a:srgbClr>
              </a:outerShdw>
            </a:effectLst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5522619C-4947-3D41-24F0-88276CA5AB0C}"/>
              </a:ext>
            </a:extLst>
          </p:cNvPr>
          <p:cNvGrpSpPr/>
          <p:nvPr/>
        </p:nvGrpSpPr>
        <p:grpSpPr>
          <a:xfrm>
            <a:off x="541891" y="2408110"/>
            <a:ext cx="5363941" cy="1748490"/>
            <a:chOff x="541891" y="2408110"/>
            <a:chExt cx="5363941" cy="1748490"/>
          </a:xfrm>
        </p:grpSpPr>
        <p:sp>
          <p:nvSpPr>
            <p:cNvPr id="12" name="사각형: 둥근 모서리 11">
              <a:extLst>
                <a:ext uri="{FF2B5EF4-FFF2-40B4-BE49-F238E27FC236}">
                  <a16:creationId xmlns:a16="http://schemas.microsoft.com/office/drawing/2014/main" id="{3439B1C8-3528-F911-5457-BF5ED692D7CF}"/>
                </a:ext>
              </a:extLst>
            </p:cNvPr>
            <p:cNvSpPr/>
            <p:nvPr/>
          </p:nvSpPr>
          <p:spPr>
            <a:xfrm>
              <a:off x="541891" y="24081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63A7B748-FE49-2B92-56C1-450D79C9FD92}"/>
                </a:ext>
              </a:extLst>
            </p:cNvPr>
            <p:cNvSpPr/>
            <p:nvPr/>
          </p:nvSpPr>
          <p:spPr>
            <a:xfrm rot="5400000">
              <a:off x="3176968" y="235037"/>
              <a:ext cx="93786" cy="4439942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47F9C6E5-5CF0-4ADD-53E6-0361985783EC}"/>
                </a:ext>
              </a:extLst>
            </p:cNvPr>
            <p:cNvSpPr txBox="1"/>
            <p:nvPr/>
          </p:nvSpPr>
          <p:spPr>
            <a:xfrm>
              <a:off x="758026" y="2900049"/>
              <a:ext cx="5051965" cy="7243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사전 기획의 관점에서 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  <a:p>
              <a:pPr algn="ctr">
                <a:lnSpc>
                  <a:spcPct val="120000"/>
                </a:lnSpc>
                <a:defRPr/>
              </a:pP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프로젝트 결과물에 대한 완성도 평가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(10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점 만점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)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159DDAF-8BBD-007D-3622-AD77BC218E24}"/>
              </a:ext>
            </a:extLst>
          </p:cNvPr>
          <p:cNvGrpSpPr/>
          <p:nvPr/>
        </p:nvGrpSpPr>
        <p:grpSpPr>
          <a:xfrm>
            <a:off x="541891" y="4490910"/>
            <a:ext cx="5363941" cy="1748490"/>
            <a:chOff x="541891" y="4490910"/>
            <a:chExt cx="5363941" cy="1748490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FBDEF34A-4B05-D616-FE0F-53CE76D5D25D}"/>
                </a:ext>
              </a:extLst>
            </p:cNvPr>
            <p:cNvSpPr/>
            <p:nvPr/>
          </p:nvSpPr>
          <p:spPr>
            <a:xfrm>
              <a:off x="541891" y="44909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FFD85C">
                  <a:alpha val="55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38D88F86-1654-5597-84CB-A04A190FB71F}"/>
                </a:ext>
              </a:extLst>
            </p:cNvPr>
            <p:cNvSpPr/>
            <p:nvPr/>
          </p:nvSpPr>
          <p:spPr>
            <a:xfrm rot="5400000">
              <a:off x="3176968" y="2317832"/>
              <a:ext cx="93786" cy="4439942"/>
            </a:xfrm>
            <a:prstGeom prst="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F7304AE5-695E-DC8E-35C4-7970ECA23F32}"/>
                </a:ext>
              </a:extLst>
            </p:cNvPr>
            <p:cNvSpPr txBox="1"/>
            <p:nvPr/>
          </p:nvSpPr>
          <p:spPr>
            <a:xfrm>
              <a:off x="912406" y="5019135"/>
              <a:ext cx="4622911" cy="7243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프로젝트 결과물의 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  <a:p>
              <a:pPr algn="ctr">
                <a:lnSpc>
                  <a:spcPct val="120000"/>
                </a:lnSpc>
                <a:defRPr/>
              </a:pP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+mj-ea"/>
                  <a:ea typeface="+mj-ea"/>
                </a:rPr>
                <a:t>추후 개선점이나 보완할 점</a:t>
              </a: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D85C"/>
                  </a:solidFill>
                  <a:latin typeface="+mj-ea"/>
                  <a:ea typeface="+mj-ea"/>
                </a:rPr>
                <a:t> </a:t>
              </a: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등 내용 정리</a:t>
              </a:r>
              <a:endParaRPr lang="en-US" altLang="ko-KR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FCD1F8-01D8-9AAA-897B-273E7CA1C058}"/>
              </a:ext>
            </a:extLst>
          </p:cNvPr>
          <p:cNvGrpSpPr/>
          <p:nvPr/>
        </p:nvGrpSpPr>
        <p:grpSpPr>
          <a:xfrm>
            <a:off x="6396215" y="4490910"/>
            <a:ext cx="5363941" cy="1748490"/>
            <a:chOff x="6396215" y="4490910"/>
            <a:chExt cx="5363941" cy="1748490"/>
          </a:xfrm>
        </p:grpSpPr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E521B70D-67A3-8111-1F80-FCA0E1856D70}"/>
                </a:ext>
              </a:extLst>
            </p:cNvPr>
            <p:cNvSpPr/>
            <p:nvPr/>
          </p:nvSpPr>
          <p:spPr>
            <a:xfrm>
              <a:off x="6396215" y="44909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3378C8">
                  <a:alpha val="3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직사각형 45">
              <a:extLst>
                <a:ext uri="{FF2B5EF4-FFF2-40B4-BE49-F238E27FC236}">
                  <a16:creationId xmlns:a16="http://schemas.microsoft.com/office/drawing/2014/main" id="{37E12C90-2C49-9FF1-E50E-2D4CA4336A95}"/>
                </a:ext>
              </a:extLst>
            </p:cNvPr>
            <p:cNvSpPr/>
            <p:nvPr/>
          </p:nvSpPr>
          <p:spPr>
            <a:xfrm rot="5400000">
              <a:off x="9031292" y="2317832"/>
              <a:ext cx="93786" cy="4439942"/>
            </a:xfrm>
            <a:prstGeom prst="rect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0DB3080-EE57-F502-B40D-20275D5DAF63}"/>
                </a:ext>
              </a:extLst>
            </p:cNvPr>
            <p:cNvSpPr txBox="1"/>
            <p:nvPr/>
          </p:nvSpPr>
          <p:spPr>
            <a:xfrm>
              <a:off x="6747148" y="5019135"/>
              <a:ext cx="4622911" cy="7432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프로젝트를 수행하면서</a:t>
              </a:r>
              <a:br>
                <a:rPr lang="en-US" altLang="ko-KR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</a:b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느낀 점이나</a:t>
              </a:r>
              <a:r>
                <a:rPr lang="en-US" altLang="ko-KR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 </a:t>
              </a: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+mj-ea"/>
                  <a:ea typeface="+mj-ea"/>
                </a:rPr>
                <a:t>경험한 성과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경력 계획 등과 연관</a:t>
              </a:r>
              <a:r>
                <a:rPr lang="en-US" altLang="ko-KR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)</a:t>
              </a:r>
              <a:r>
                <a:rPr lang="ko-KR" altLang="en-US" sz="16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 </a:t>
              </a:r>
              <a:endParaRPr lang="ko-KR" altLang="en-US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3125D473-6822-3549-B009-40577C5E1CB8}"/>
              </a:ext>
            </a:extLst>
          </p:cNvPr>
          <p:cNvGrpSpPr/>
          <p:nvPr/>
        </p:nvGrpSpPr>
        <p:grpSpPr>
          <a:xfrm>
            <a:off x="6396215" y="2408110"/>
            <a:ext cx="5363941" cy="1748490"/>
            <a:chOff x="6396215" y="2408110"/>
            <a:chExt cx="5363941" cy="1748490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1E025A8C-5815-C97A-B3AE-8F5FE071600F}"/>
                </a:ext>
              </a:extLst>
            </p:cNvPr>
            <p:cNvSpPr/>
            <p:nvPr/>
          </p:nvSpPr>
          <p:spPr>
            <a:xfrm>
              <a:off x="6396215" y="2408110"/>
              <a:ext cx="5363941" cy="1748490"/>
            </a:xfrm>
            <a:prstGeom prst="roundRect">
              <a:avLst>
                <a:gd name="adj" fmla="val 6897"/>
              </a:avLst>
            </a:prstGeom>
            <a:solidFill>
              <a:schemeClr val="bg1">
                <a:alpha val="85000"/>
              </a:schemeClr>
            </a:solidFill>
            <a:ln>
              <a:noFill/>
            </a:ln>
            <a:effectLst>
              <a:outerShdw blurRad="63500" algn="ctr" rotWithShape="0">
                <a:srgbClr val="FFD85C">
                  <a:alpha val="55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7041EC4-B376-7174-8938-DC069344B1D2}"/>
                </a:ext>
              </a:extLst>
            </p:cNvPr>
            <p:cNvSpPr/>
            <p:nvPr/>
          </p:nvSpPr>
          <p:spPr>
            <a:xfrm rot="5400000">
              <a:off x="9031292" y="235037"/>
              <a:ext cx="93786" cy="4439942"/>
            </a:xfrm>
            <a:prstGeom prst="rect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719653C-5E68-CF3A-C029-6588E11E539A}"/>
                </a:ext>
              </a:extLst>
            </p:cNvPr>
            <p:cNvSpPr txBox="1"/>
            <p:nvPr/>
          </p:nvSpPr>
          <p:spPr>
            <a:xfrm>
              <a:off x="6636060" y="2900049"/>
              <a:ext cx="4995645" cy="371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+mj-ea"/>
                  <a:ea typeface="+mj-ea"/>
                </a:rPr>
                <a:t>개인 또는 우리 팀이 </a:t>
              </a:r>
              <a:r>
                <a:rPr lang="ko-KR" altLang="en-US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+mj-ea"/>
                  <a:ea typeface="+mj-ea"/>
                </a:rPr>
                <a:t>잘한 부분과 아쉬운 점</a:t>
              </a:r>
              <a:endParaRPr lang="en-US" altLang="ko-KR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rgbClr val="FFC000"/>
                </a:solidFill>
                <a:latin typeface="+mj-ea"/>
                <a:ea typeface="+mj-ea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3EABFA61-909C-6DFC-2F3E-B5C44522F4AE}"/>
                </a:ext>
              </a:extLst>
            </p:cNvPr>
            <p:cNvSpPr txBox="1"/>
            <p:nvPr/>
          </p:nvSpPr>
          <p:spPr>
            <a:xfrm>
              <a:off x="7774256" y="3457087"/>
              <a:ext cx="3182283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모델 평가 결과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정확도가 </a:t>
              </a:r>
              <a: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00.00%</a:t>
              </a: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</a:t>
              </a:r>
              <a:br>
                <a:rPr lang="en-US" altLang="ko-KR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sz="12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정확도 향상을 위해 모델 추후 개선 필요</a:t>
              </a:r>
              <a:endPara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AD969652-523C-023E-663E-3084DFB93342}"/>
                </a:ext>
              </a:extLst>
            </p:cNvPr>
            <p:cNvSpPr/>
            <p:nvPr/>
          </p:nvSpPr>
          <p:spPr>
            <a:xfrm>
              <a:off x="7543801" y="3476532"/>
              <a:ext cx="230456" cy="230456"/>
            </a:xfrm>
            <a:prstGeom prst="ellipse">
              <a:avLst/>
            </a:prstGeom>
            <a:solidFill>
              <a:srgbClr val="FFD85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Regular" panose="00000500000000000000" pitchFamily="2" charset="-127"/>
                  <a:ea typeface="세방고딕 Regular" panose="00000500000000000000" pitchFamily="2" charset="-127"/>
                </a:rPr>
                <a:t>예</a:t>
              </a:r>
            </a:p>
          </p:txBody>
        </p:sp>
      </p:grpSp>
      <p:pic>
        <p:nvPicPr>
          <p:cNvPr id="58" name="그래픽 57">
            <a:extLst>
              <a:ext uri="{FF2B5EF4-FFF2-40B4-BE49-F238E27FC236}">
                <a16:creationId xmlns:a16="http://schemas.microsoft.com/office/drawing/2014/main" id="{139E4CDD-1A9C-F6FA-D336-76FF37A498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1800000">
            <a:off x="378147" y="4327165"/>
            <a:ext cx="138413" cy="138413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A971983B-2C57-1016-A72B-8000F1218B9C}"/>
              </a:ext>
            </a:extLst>
          </p:cNvPr>
          <p:cNvGrpSpPr/>
          <p:nvPr/>
        </p:nvGrpSpPr>
        <p:grpSpPr>
          <a:xfrm>
            <a:off x="10667149" y="6576811"/>
            <a:ext cx="1075644" cy="150807"/>
            <a:chOff x="921102" y="6027409"/>
            <a:chExt cx="2680001" cy="375740"/>
          </a:xfrm>
        </p:grpSpPr>
        <p:pic>
          <p:nvPicPr>
            <p:cNvPr id="19" name="_x278651016" descr="EMB0000378c3f3d">
              <a:extLst>
                <a:ext uri="{FF2B5EF4-FFF2-40B4-BE49-F238E27FC236}">
                  <a16:creationId xmlns:a16="http://schemas.microsoft.com/office/drawing/2014/main" id="{054461DC-C6BD-2B2B-9550-F9F4558EEF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20865" y="6027409"/>
              <a:ext cx="1180238" cy="3757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그래픽 23">
              <a:extLst>
                <a:ext uri="{FF2B5EF4-FFF2-40B4-BE49-F238E27FC236}">
                  <a16:creationId xmlns:a16="http://schemas.microsoft.com/office/drawing/2014/main" id="{7D0E42EB-7E79-83A5-8BEC-B55888EE2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21102" y="6027409"/>
              <a:ext cx="1190542" cy="3539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63A009-8F52-296F-D684-01BBED7691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54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프로젝트 평가 기준</a:t>
            </a:r>
          </a:p>
        </p:txBody>
      </p:sp>
    </p:spTree>
    <p:extLst>
      <p:ext uri="{BB962C8B-B14F-4D97-AF65-F5344CB8AC3E}">
        <p14:creationId xmlns:p14="http://schemas.microsoft.com/office/powerpoint/2010/main" val="26063881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평가 기준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8B18A272-70E8-1541-08A4-6F79CE28D1C9}"/>
              </a:ext>
            </a:extLst>
          </p:cNvPr>
          <p:cNvGraphicFramePr>
            <a:graphicFrameLocks noGrp="1"/>
          </p:cNvGraphicFramePr>
          <p:nvPr/>
        </p:nvGraphicFramePr>
        <p:xfrm>
          <a:off x="791683" y="1525588"/>
          <a:ext cx="10608634" cy="4494208"/>
        </p:xfrm>
        <a:graphic>
          <a:graphicData uri="http://schemas.openxmlformats.org/drawingml/2006/table">
            <a:tbl>
              <a:tblPr/>
              <a:tblGrid>
                <a:gridCol w="553931">
                  <a:extLst>
                    <a:ext uri="{9D8B030D-6E8A-4147-A177-3AD203B41FA5}">
                      <a16:colId xmlns:a16="http://schemas.microsoft.com/office/drawing/2014/main" val="1013490651"/>
                    </a:ext>
                  </a:extLst>
                </a:gridCol>
                <a:gridCol w="1158222">
                  <a:extLst>
                    <a:ext uri="{9D8B030D-6E8A-4147-A177-3AD203B41FA5}">
                      <a16:colId xmlns:a16="http://schemas.microsoft.com/office/drawing/2014/main" val="3137928540"/>
                    </a:ext>
                  </a:extLst>
                </a:gridCol>
                <a:gridCol w="6059679">
                  <a:extLst>
                    <a:ext uri="{9D8B030D-6E8A-4147-A177-3AD203B41FA5}">
                      <a16:colId xmlns:a16="http://schemas.microsoft.com/office/drawing/2014/main" val="166051831"/>
                    </a:ext>
                  </a:extLst>
                </a:gridCol>
                <a:gridCol w="570718">
                  <a:extLst>
                    <a:ext uri="{9D8B030D-6E8A-4147-A177-3AD203B41FA5}">
                      <a16:colId xmlns:a16="http://schemas.microsoft.com/office/drawing/2014/main" val="2936623732"/>
                    </a:ext>
                  </a:extLst>
                </a:gridCol>
                <a:gridCol w="566521">
                  <a:extLst>
                    <a:ext uri="{9D8B030D-6E8A-4147-A177-3AD203B41FA5}">
                      <a16:colId xmlns:a16="http://schemas.microsoft.com/office/drawing/2014/main" val="1301440446"/>
                    </a:ext>
                  </a:extLst>
                </a:gridCol>
                <a:gridCol w="566521">
                  <a:extLst>
                    <a:ext uri="{9D8B030D-6E8A-4147-A177-3AD203B41FA5}">
                      <a16:colId xmlns:a16="http://schemas.microsoft.com/office/drawing/2014/main" val="715420275"/>
                    </a:ext>
                  </a:extLst>
                </a:gridCol>
                <a:gridCol w="566521">
                  <a:extLst>
                    <a:ext uri="{9D8B030D-6E8A-4147-A177-3AD203B41FA5}">
                      <a16:colId xmlns:a16="http://schemas.microsoft.com/office/drawing/2014/main" val="3874342549"/>
                    </a:ext>
                  </a:extLst>
                </a:gridCol>
                <a:gridCol w="566521">
                  <a:extLst>
                    <a:ext uri="{9D8B030D-6E8A-4147-A177-3AD203B41FA5}">
                      <a16:colId xmlns:a16="http://schemas.microsoft.com/office/drawing/2014/main" val="3394694401"/>
                    </a:ext>
                  </a:extLst>
                </a:gridCol>
              </a:tblGrid>
              <a:tr h="561776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번호</a:t>
                      </a:r>
                    </a:p>
                  </a:txBody>
                  <a:tcPr marL="9859" marR="9859" marT="98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7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항목</a:t>
                      </a:r>
                    </a:p>
                  </a:txBody>
                  <a:tcPr marL="94650" marR="94650" marT="47325" marB="473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 fontAlgn="ctr"/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평가점수</a:t>
                      </a:r>
                      <a:r>
                        <a:rPr lang="en-US" altLang="ko-KR" sz="17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(5</a:t>
                      </a:r>
                      <a:r>
                        <a:rPr lang="ko-KR" altLang="en-US" sz="17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점 만점</a:t>
                      </a:r>
                      <a:r>
                        <a:rPr lang="en-US" altLang="ko-KR" sz="17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94650" marR="94650" marT="47325" marB="473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3562059"/>
                  </a:ext>
                </a:extLst>
              </a:tr>
              <a:tr h="561776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문제의 정의</a:t>
                      </a:r>
                    </a:p>
                  </a:txBody>
                  <a:tcPr marL="94650" marR="94650" marT="47325" marB="4732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2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3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4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6061411"/>
                  </a:ext>
                </a:extLst>
              </a:tr>
              <a:tr h="561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</a:t>
                      </a:r>
                    </a:p>
                  </a:txBody>
                  <a:tcPr marL="9859" marR="9859" marT="98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명확성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해결하려는 문제를 명확히 정의했는가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4399125"/>
                  </a:ext>
                </a:extLst>
              </a:tr>
              <a:tr h="561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2</a:t>
                      </a:r>
                    </a:p>
                  </a:txBody>
                  <a:tcPr marL="9859" marR="9859" marT="98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중요성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문제의 중요성을 설득력 있게 설명했는가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3054769"/>
                  </a:ext>
                </a:extLst>
              </a:tr>
              <a:tr h="561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3</a:t>
                      </a:r>
                    </a:p>
                  </a:txBody>
                  <a:tcPr marL="9859" marR="9859" marT="98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독창성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정의한 문제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또는 프로젝트의 주제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가 독창적인가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4650" marR="94650" marT="47325" marB="473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71315"/>
                  </a:ext>
                </a:extLst>
              </a:tr>
              <a:tr h="561776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기술 선택</a:t>
                      </a:r>
                    </a:p>
                  </a:txBody>
                  <a:tcPr marL="94650" marR="94650" marT="47325" marB="4732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2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3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4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7626692"/>
                  </a:ext>
                </a:extLst>
              </a:tr>
              <a:tr h="561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4</a:t>
                      </a:r>
                    </a:p>
                  </a:txBody>
                  <a:tcPr marL="9859" marR="9859" marT="98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선택의 이유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기술 스택을 선택한 이유를 명확하게 설명했는가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1279248"/>
                  </a:ext>
                </a:extLst>
              </a:tr>
              <a:tr h="561776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</a:p>
                  </a:txBody>
                  <a:tcPr marL="9859" marR="9859" marT="9859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아키텍쳐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사용된 기술 간의 상호작용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아키텍처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이 명확히 설명되었는가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859" marR="9859" marT="985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94650" marR="94650" marT="47325" marB="4732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A6A6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6834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751917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1826A-1781-B301-7A35-743015786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B919B5-C524-6EBA-C01C-65E1800CC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평가 기준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EFC9D15-CB97-4998-3490-7B1266476E33}"/>
              </a:ext>
            </a:extLst>
          </p:cNvPr>
          <p:cNvGraphicFramePr>
            <a:graphicFrameLocks noGrp="1"/>
          </p:cNvGraphicFramePr>
          <p:nvPr/>
        </p:nvGraphicFramePr>
        <p:xfrm>
          <a:off x="771353" y="1746648"/>
          <a:ext cx="10649294" cy="4101704"/>
        </p:xfrm>
        <a:graphic>
          <a:graphicData uri="http://schemas.openxmlformats.org/drawingml/2006/table">
            <a:tbl>
              <a:tblPr/>
              <a:tblGrid>
                <a:gridCol w="556495">
                  <a:extLst>
                    <a:ext uri="{9D8B030D-6E8A-4147-A177-3AD203B41FA5}">
                      <a16:colId xmlns:a16="http://schemas.microsoft.com/office/drawing/2014/main" val="4001356113"/>
                    </a:ext>
                  </a:extLst>
                </a:gridCol>
                <a:gridCol w="1163580">
                  <a:extLst>
                    <a:ext uri="{9D8B030D-6E8A-4147-A177-3AD203B41FA5}">
                      <a16:colId xmlns:a16="http://schemas.microsoft.com/office/drawing/2014/main" val="3142641584"/>
                    </a:ext>
                  </a:extLst>
                </a:gridCol>
                <a:gridCol w="6083504">
                  <a:extLst>
                    <a:ext uri="{9D8B030D-6E8A-4147-A177-3AD203B41FA5}">
                      <a16:colId xmlns:a16="http://schemas.microsoft.com/office/drawing/2014/main" val="1810945146"/>
                    </a:ext>
                  </a:extLst>
                </a:gridCol>
                <a:gridCol w="569143">
                  <a:extLst>
                    <a:ext uri="{9D8B030D-6E8A-4147-A177-3AD203B41FA5}">
                      <a16:colId xmlns:a16="http://schemas.microsoft.com/office/drawing/2014/main" val="1170870957"/>
                    </a:ext>
                  </a:extLst>
                </a:gridCol>
                <a:gridCol w="569143">
                  <a:extLst>
                    <a:ext uri="{9D8B030D-6E8A-4147-A177-3AD203B41FA5}">
                      <a16:colId xmlns:a16="http://schemas.microsoft.com/office/drawing/2014/main" val="1432720011"/>
                    </a:ext>
                  </a:extLst>
                </a:gridCol>
                <a:gridCol w="569143">
                  <a:extLst>
                    <a:ext uri="{9D8B030D-6E8A-4147-A177-3AD203B41FA5}">
                      <a16:colId xmlns:a16="http://schemas.microsoft.com/office/drawing/2014/main" val="3346846469"/>
                    </a:ext>
                  </a:extLst>
                </a:gridCol>
                <a:gridCol w="569143">
                  <a:extLst>
                    <a:ext uri="{9D8B030D-6E8A-4147-A177-3AD203B41FA5}">
                      <a16:colId xmlns:a16="http://schemas.microsoft.com/office/drawing/2014/main" val="1739621471"/>
                    </a:ext>
                  </a:extLst>
                </a:gridCol>
                <a:gridCol w="569143">
                  <a:extLst>
                    <a:ext uri="{9D8B030D-6E8A-4147-A177-3AD203B41FA5}">
                      <a16:colId xmlns:a16="http://schemas.microsoft.com/office/drawing/2014/main" val="4062402361"/>
                    </a:ext>
                  </a:extLst>
                </a:gridCol>
              </a:tblGrid>
              <a:tr h="512713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번호</a:t>
                      </a:r>
                    </a:p>
                  </a:txBody>
                  <a:tcPr marL="12618" marR="12618" marT="1261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항목</a:t>
                      </a:r>
                    </a:p>
                  </a:txBody>
                  <a:tcPr marL="121129" marR="121129" marT="60565" marB="6056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평가점수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(5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점 만점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</a:p>
                  </a:txBody>
                  <a:tcPr marL="121129" marR="121129" marT="60565" marB="60565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1077224"/>
                  </a:ext>
                </a:extLst>
              </a:tr>
              <a:tr h="512713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해결 방안</a:t>
                      </a:r>
                    </a:p>
                  </a:txBody>
                  <a:tcPr marL="121129" marR="121129" marT="60565" marB="6056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2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3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4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4818635"/>
                  </a:ext>
                </a:extLst>
              </a:tr>
              <a:tr h="51271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6</a:t>
                      </a:r>
                    </a:p>
                  </a:txBody>
                  <a:tcPr marL="12618" marR="12618" marT="1261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타당성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기술을 활용한 문제 해결 방식이 충분히 </a:t>
                      </a:r>
                      <a:r>
                        <a:rPr lang="ko-KR" altLang="en-US" sz="14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이해가도록</a:t>
                      </a:r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 설명했는가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0526308"/>
                  </a:ext>
                </a:extLst>
              </a:tr>
              <a:tr h="51271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7</a:t>
                      </a:r>
                    </a:p>
                  </a:txBody>
                  <a:tcPr marL="12618" marR="12618" marT="1261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현실성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해결 방안이 실질적으로 적용 가능하고 현실적인가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9856695"/>
                  </a:ext>
                </a:extLst>
              </a:tr>
              <a:tr h="512713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결과</a:t>
                      </a:r>
                    </a:p>
                  </a:txBody>
                  <a:tcPr marL="121129" marR="121129" marT="60565" marB="60565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2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3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4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5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953821"/>
                  </a:ext>
                </a:extLst>
              </a:tr>
              <a:tr h="51271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8</a:t>
                      </a:r>
                    </a:p>
                  </a:txBody>
                  <a:tcPr marL="12618" marR="12618" marT="1261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정량적 성과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프로젝트 결과를 정량적 데이터로 타당하게 설명했는가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6369821"/>
                  </a:ext>
                </a:extLst>
              </a:tr>
              <a:tr h="51271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9</a:t>
                      </a:r>
                    </a:p>
                  </a:txBody>
                  <a:tcPr marL="12618" marR="12618" marT="1261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정성적 성과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정성적 성과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(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기대 효과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, 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자체 평가 등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)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가 적절하게 포함 되었는가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8147592"/>
                  </a:ext>
                </a:extLst>
              </a:tr>
              <a:tr h="512713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10</a:t>
                      </a:r>
                    </a:p>
                  </a:txBody>
                  <a:tcPr marL="12618" marR="12618" marT="12618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타당성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프로젝트 결과가 문제 정의 및 목표와 논리적으로 연결 되었는가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?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　</a:t>
                      </a:r>
                    </a:p>
                  </a:txBody>
                  <a:tcPr marL="12618" marR="12618" marT="1261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8531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2768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F8263-7F9A-F1B7-3727-41B09B4DA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4755C2-195D-0697-131D-7164D60A9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평가 기준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C417CE7-C56A-CCE4-EFDD-94A1E87B7537}"/>
              </a:ext>
            </a:extLst>
          </p:cNvPr>
          <p:cNvGraphicFramePr>
            <a:graphicFrameLocks noGrp="1"/>
          </p:cNvGraphicFramePr>
          <p:nvPr/>
        </p:nvGraphicFramePr>
        <p:xfrm>
          <a:off x="857250" y="1721644"/>
          <a:ext cx="10515600" cy="4164808"/>
        </p:xfrm>
        <a:graphic>
          <a:graphicData uri="http://schemas.openxmlformats.org/drawingml/2006/table">
            <a:tbl>
              <a:tblPr/>
              <a:tblGrid>
                <a:gridCol w="549508">
                  <a:extLst>
                    <a:ext uri="{9D8B030D-6E8A-4147-A177-3AD203B41FA5}">
                      <a16:colId xmlns:a16="http://schemas.microsoft.com/office/drawing/2014/main" val="1721594225"/>
                    </a:ext>
                  </a:extLst>
                </a:gridCol>
                <a:gridCol w="1148972">
                  <a:extLst>
                    <a:ext uri="{9D8B030D-6E8A-4147-A177-3AD203B41FA5}">
                      <a16:colId xmlns:a16="http://schemas.microsoft.com/office/drawing/2014/main" val="776349848"/>
                    </a:ext>
                  </a:extLst>
                </a:gridCol>
                <a:gridCol w="6007130">
                  <a:extLst>
                    <a:ext uri="{9D8B030D-6E8A-4147-A177-3AD203B41FA5}">
                      <a16:colId xmlns:a16="http://schemas.microsoft.com/office/drawing/2014/main" val="782964856"/>
                    </a:ext>
                  </a:extLst>
                </a:gridCol>
                <a:gridCol w="561998">
                  <a:extLst>
                    <a:ext uri="{9D8B030D-6E8A-4147-A177-3AD203B41FA5}">
                      <a16:colId xmlns:a16="http://schemas.microsoft.com/office/drawing/2014/main" val="19180766"/>
                    </a:ext>
                  </a:extLst>
                </a:gridCol>
                <a:gridCol w="561998">
                  <a:extLst>
                    <a:ext uri="{9D8B030D-6E8A-4147-A177-3AD203B41FA5}">
                      <a16:colId xmlns:a16="http://schemas.microsoft.com/office/drawing/2014/main" val="1810562700"/>
                    </a:ext>
                  </a:extLst>
                </a:gridCol>
                <a:gridCol w="561998">
                  <a:extLst>
                    <a:ext uri="{9D8B030D-6E8A-4147-A177-3AD203B41FA5}">
                      <a16:colId xmlns:a16="http://schemas.microsoft.com/office/drawing/2014/main" val="4291793355"/>
                    </a:ext>
                  </a:extLst>
                </a:gridCol>
                <a:gridCol w="561998">
                  <a:extLst>
                    <a:ext uri="{9D8B030D-6E8A-4147-A177-3AD203B41FA5}">
                      <a16:colId xmlns:a16="http://schemas.microsoft.com/office/drawing/2014/main" val="3657610044"/>
                    </a:ext>
                  </a:extLst>
                </a:gridCol>
                <a:gridCol w="561998">
                  <a:extLst>
                    <a:ext uri="{9D8B030D-6E8A-4147-A177-3AD203B41FA5}">
                      <a16:colId xmlns:a16="http://schemas.microsoft.com/office/drawing/2014/main" val="1704462005"/>
                    </a:ext>
                  </a:extLst>
                </a:gridCol>
              </a:tblGrid>
              <a:tr h="5206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항목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 fontAlgn="ctr"/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평가점수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(5</a:t>
                      </a:r>
                      <a:r>
                        <a:rPr lang="ko-KR" alt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점 만점</a:t>
                      </a:r>
                      <a:r>
                        <a:rPr lang="en-US" altLang="ko-KR" sz="1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1841500"/>
                  </a:ext>
                </a:extLst>
              </a:tr>
              <a:tr h="520601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발표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7878431"/>
                  </a:ext>
                </a:extLst>
              </a:tr>
              <a:tr h="5206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발표력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발표자가 청중이 듣기에 이해도도록 매끄럽게 발표했는가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?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3301750"/>
                  </a:ext>
                </a:extLst>
              </a:tr>
              <a:tr h="5206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발표 자료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발표 자료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슬라이드 등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 청중이 보기에 적절하게 구성되었는가</a:t>
                      </a:r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?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1781243"/>
                  </a:ext>
                </a:extLst>
              </a:tr>
              <a:tr h="520601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시연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8405517"/>
                  </a:ext>
                </a:extLst>
              </a:tr>
              <a:tr h="5206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시연이 원활하게 진행되었는가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?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1433220"/>
                  </a:ext>
                </a:extLst>
              </a:tr>
              <a:tr h="520601">
                <a:tc gridSpan="3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질문 및 답변 준비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5638947"/>
                  </a:ext>
                </a:extLst>
              </a:tr>
              <a:tr h="520601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예상되는 질문에 대한 답변이 준비되어 있는가</a:t>
                      </a:r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?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1902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73479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8603</TotalTime>
  <Words>2519</Words>
  <Application>Microsoft Office PowerPoint</Application>
  <PresentationFormat>와이드스크린</PresentationFormat>
  <Paragraphs>562</Paragraphs>
  <Slides>46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16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46</vt:i4>
      </vt:variant>
    </vt:vector>
  </HeadingPairs>
  <TitlesOfParts>
    <vt:vector size="63" baseType="lpstr">
      <vt:lpstr>메이플스토리</vt:lpstr>
      <vt:lpstr>세방고딕 Bold</vt:lpstr>
      <vt:lpstr>휴먼둥근헤드라인</vt:lpstr>
      <vt:lpstr>Pretendard Black</vt:lpstr>
      <vt:lpstr>Pretendard ExtraBold</vt:lpstr>
      <vt:lpstr>Arial</vt:lpstr>
      <vt:lpstr>Noto Sans KR</vt:lpstr>
      <vt:lpstr>굴림체</vt:lpstr>
      <vt:lpstr>Pretendard Light</vt:lpstr>
      <vt:lpstr>Pretendard Medium</vt:lpstr>
      <vt:lpstr>맑은 고딕 Semilight</vt:lpstr>
      <vt:lpstr>Kim jung chul Gothic Regular</vt:lpstr>
      <vt:lpstr>G마켓 산스 TTF Bold</vt:lpstr>
      <vt:lpstr>Wingdings</vt:lpstr>
      <vt:lpstr>세방고딕 Regular</vt:lpstr>
      <vt:lpstr>맑은 고딕</vt:lpstr>
      <vt:lpstr>1_Office 테마</vt:lpstr>
      <vt:lpstr>PowerPoint 프레젠테이션</vt:lpstr>
      <vt:lpstr>데이터 분석 프로젝트 개요</vt:lpstr>
      <vt:lpstr>데이터 분석 프로젝트 개요</vt:lpstr>
      <vt:lpstr>PowerPoint 프레젠테이션</vt:lpstr>
      <vt:lpstr>데이터 분석</vt:lpstr>
      <vt:lpstr>데이터 분석 기본 통계 용어</vt:lpstr>
      <vt:lpstr>프로젝트 수행 절차</vt:lpstr>
      <vt:lpstr>프로젝트 설계 </vt:lpstr>
      <vt:lpstr>프로젝트 설계 </vt:lpstr>
      <vt:lpstr>데이터 수집</vt:lpstr>
      <vt:lpstr>데이터 전처리</vt:lpstr>
      <vt:lpstr>분석 및 모델링</vt:lpstr>
      <vt:lpstr>분석 및 모델링</vt:lpstr>
      <vt:lpstr>분석 및 모델링</vt:lpstr>
      <vt:lpstr>분석 및 모델링</vt:lpstr>
      <vt:lpstr>시각화 및 결과 보고</vt:lpstr>
      <vt:lpstr>PowerPoint 프레젠테이션</vt:lpstr>
      <vt:lpstr>프로젝트 계획서 작성</vt:lpstr>
      <vt:lpstr>프로젝트 계획서 작성(예시)</vt:lpstr>
      <vt:lpstr>프로젝트 계획서 작성(예시)</vt:lpstr>
      <vt:lpstr>프로젝트 계획서 작성(예시)</vt:lpstr>
      <vt:lpstr>프로젝트 계획서 작성(예시)</vt:lpstr>
      <vt:lpstr>프로젝트 계획서 작성(예시)</vt:lpstr>
      <vt:lpstr>프로젝트 계획서 작성(예시)</vt:lpstr>
      <vt:lpstr>프로젝트 계획서 작성(예시)</vt:lpstr>
      <vt:lpstr>프로젝트 계획서 작성(예시)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프로젝트 평가 기준</vt:lpstr>
      <vt:lpstr>프로젝트 평가 기준</vt:lpstr>
      <vt:lpstr>프로젝트 평가 기준</vt:lpstr>
      <vt:lpstr>프로젝트 평가 기준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632</cp:revision>
  <dcterms:created xsi:type="dcterms:W3CDTF">2023-01-31T04:26:23Z</dcterms:created>
  <dcterms:modified xsi:type="dcterms:W3CDTF">2025-12-15T00:23:42Z</dcterms:modified>
</cp:coreProperties>
</file>