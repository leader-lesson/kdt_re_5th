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60" r:id="rId1"/>
  </p:sldMasterIdLst>
  <p:notesMasterIdLst>
    <p:notesMasterId r:id="rId73"/>
  </p:notesMasterIdLst>
  <p:sldIdLst>
    <p:sldId id="1004" r:id="rId2"/>
    <p:sldId id="1320" r:id="rId3"/>
    <p:sldId id="1322" r:id="rId4"/>
    <p:sldId id="673" r:id="rId5"/>
    <p:sldId id="1323" r:id="rId6"/>
    <p:sldId id="670" r:id="rId7"/>
    <p:sldId id="671" r:id="rId8"/>
    <p:sldId id="1321" r:id="rId9"/>
    <p:sldId id="257" r:id="rId10"/>
    <p:sldId id="1314" r:id="rId11"/>
    <p:sldId id="672" r:id="rId12"/>
    <p:sldId id="1263" r:id="rId13"/>
    <p:sldId id="1264" r:id="rId14"/>
    <p:sldId id="1269" r:id="rId15"/>
    <p:sldId id="1265" r:id="rId16"/>
    <p:sldId id="1266" r:id="rId17"/>
    <p:sldId id="1268" r:id="rId18"/>
    <p:sldId id="1319" r:id="rId19"/>
    <p:sldId id="1267" r:id="rId20"/>
    <p:sldId id="674" r:id="rId21"/>
    <p:sldId id="1272" r:id="rId22"/>
    <p:sldId id="678" r:id="rId23"/>
    <p:sldId id="677" r:id="rId24"/>
    <p:sldId id="680" r:id="rId25"/>
    <p:sldId id="1270" r:id="rId26"/>
    <p:sldId id="1271" r:id="rId27"/>
    <p:sldId id="1273" r:id="rId28"/>
    <p:sldId id="1274" r:id="rId29"/>
    <p:sldId id="1280" r:id="rId30"/>
    <p:sldId id="1275" r:id="rId31"/>
    <p:sldId id="1276" r:id="rId32"/>
    <p:sldId id="1277" r:id="rId33"/>
    <p:sldId id="1278" r:id="rId34"/>
    <p:sldId id="1281" r:id="rId35"/>
    <p:sldId id="1279" r:id="rId36"/>
    <p:sldId id="1282" r:id="rId37"/>
    <p:sldId id="1283" r:id="rId38"/>
    <p:sldId id="1284" r:id="rId39"/>
    <p:sldId id="1285" r:id="rId40"/>
    <p:sldId id="1286" r:id="rId41"/>
    <p:sldId id="1287" r:id="rId42"/>
    <p:sldId id="1288" r:id="rId43"/>
    <p:sldId id="1289" r:id="rId44"/>
    <p:sldId id="1290" r:id="rId45"/>
    <p:sldId id="1291" r:id="rId46"/>
    <p:sldId id="1292" r:id="rId47"/>
    <p:sldId id="1293" r:id="rId48"/>
    <p:sldId id="1315" r:id="rId49"/>
    <p:sldId id="1316" r:id="rId50"/>
    <p:sldId id="1297" r:id="rId51"/>
    <p:sldId id="1298" r:id="rId52"/>
    <p:sldId id="1300" r:id="rId53"/>
    <p:sldId id="1299" r:id="rId54"/>
    <p:sldId id="1301" r:id="rId55"/>
    <p:sldId id="1302" r:id="rId56"/>
    <p:sldId id="1303" r:id="rId57"/>
    <p:sldId id="1304" r:id="rId58"/>
    <p:sldId id="1305" r:id="rId59"/>
    <p:sldId id="1306" r:id="rId60"/>
    <p:sldId id="1307" r:id="rId61"/>
    <p:sldId id="1308" r:id="rId62"/>
    <p:sldId id="1309" r:id="rId63"/>
    <p:sldId id="1310" r:id="rId64"/>
    <p:sldId id="1311" r:id="rId65"/>
    <p:sldId id="1312" r:id="rId66"/>
    <p:sldId id="1313" r:id="rId67"/>
    <p:sldId id="1317" r:id="rId68"/>
    <p:sldId id="1318" r:id="rId69"/>
    <p:sldId id="1294" r:id="rId70"/>
    <p:sldId id="1295" r:id="rId71"/>
    <p:sldId id="813" r:id="rId72"/>
  </p:sldIdLst>
  <p:sldSz cx="12192000" cy="6858000"/>
  <p:notesSz cx="6858000" cy="9144000"/>
  <p:embeddedFontLst>
    <p:embeddedFont>
      <p:font typeface="Kim jung chul Gothic Regular" panose="020B0600000101010101" charset="-127"/>
      <p:regular r:id="rId74"/>
    </p:embeddedFont>
    <p:embeddedFont>
      <p:font typeface="G마켓 산스 TTF Bold" panose="02000000000000000000" pitchFamily="2" charset="-127"/>
      <p:bold r:id="rId75"/>
    </p:embeddedFont>
    <p:embeddedFont>
      <p:font typeface="Pretendard Black" panose="02000A03000000020004" pitchFamily="50" charset="-127"/>
      <p:bold r:id="rId76"/>
    </p:embeddedFont>
    <p:embeddedFont>
      <p:font typeface="Pretendard Light" panose="02000403000000020004" pitchFamily="50" charset="-127"/>
      <p:regular r:id="rId77"/>
    </p:embeddedFont>
    <p:embeddedFont>
      <p:font typeface="Pretendard Medium" panose="02000603000000020004" pitchFamily="50" charset="-127"/>
      <p:regular r:id="rId78"/>
    </p:embeddedFont>
    <p:embeddedFont>
      <p:font typeface="맑은 고딕" panose="020B0503020000020004" pitchFamily="50" charset="-127"/>
      <p:regular r:id="rId79"/>
      <p:bold r:id="rId80"/>
    </p:embeddedFont>
    <p:embeddedFont>
      <p:font typeface="메이플스토리" panose="02000300000000000000" pitchFamily="2" charset="-127"/>
      <p:regular r:id="rId81"/>
      <p:bold r:id="rId82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  <a:srgbClr val="00FF99"/>
    <a:srgbClr val="FF7C80"/>
    <a:srgbClr val="2B2B2B"/>
    <a:srgbClr val="00B050"/>
    <a:srgbClr val="ED7D31"/>
    <a:srgbClr val="00599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865" autoAdjust="0"/>
    <p:restoredTop sz="84857" autoAdjust="0"/>
  </p:normalViewPr>
  <p:slideViewPr>
    <p:cSldViewPr snapToGrid="0">
      <p:cViewPr varScale="1">
        <p:scale>
          <a:sx n="79" d="100"/>
          <a:sy n="79" d="100"/>
        </p:scale>
        <p:origin x="1560" y="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2404" y="6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viewProps" Target="view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font" Target="fonts/font1.fntdata"/><Relationship Id="rId79" Type="http://schemas.openxmlformats.org/officeDocument/2006/relationships/font" Target="fonts/font6.fntdata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font" Target="fonts/font4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font" Target="fonts/font7.fntdata"/><Relationship Id="rId85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font" Target="fonts/font2.fntdata"/><Relationship Id="rId83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notesMaster" Target="notesMasters/notesMaster1.xml"/><Relationship Id="rId78" Type="http://schemas.openxmlformats.org/officeDocument/2006/relationships/font" Target="fonts/font5.fntdata"/><Relationship Id="rId81" Type="http://schemas.openxmlformats.org/officeDocument/2006/relationships/font" Target="fonts/font8.fntdata"/><Relationship Id="rId86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font" Target="fonts/font3.fntdata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61" Type="http://schemas.openxmlformats.org/officeDocument/2006/relationships/slide" Target="slides/slide60.xml"/><Relationship Id="rId82" Type="http://schemas.openxmlformats.org/officeDocument/2006/relationships/font" Target="fonts/font9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fld id="{A13A867C-D490-40C2-AB8D-A60FA70A9BF5}" type="datetimeFigureOut">
              <a:rPr lang="ko-KR" altLang="en-US" smtClean="0"/>
              <a:pPr/>
              <a:t>2025-11-05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fld id="{3E35EA20-6519-4513-9EDC-C89C5369BAEC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41664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53617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기본</a:t>
            </a:r>
            <a:r>
              <a:rPr lang="en-US" altLang="ko-KR" dirty="0"/>
              <a:t>(base) </a:t>
            </a:r>
            <a:r>
              <a:rPr lang="ko-KR" altLang="en-US" dirty="0"/>
              <a:t>환경에만 패키지를 </a:t>
            </a:r>
            <a:r>
              <a:rPr lang="ko-KR" altLang="en-US" dirty="0" err="1"/>
              <a:t>설치해둠</a:t>
            </a:r>
            <a:endParaRPr lang="en-US" altLang="ko-KR" dirty="0"/>
          </a:p>
          <a:p>
            <a:r>
              <a:rPr lang="ko-KR" altLang="en-US" dirty="0"/>
              <a:t>새로운 가상환경을 만들면 빈 상태로 시작하기 때문에 패키지 설치 따로 해줘야 하는 것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793094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dirty="0"/>
              <a:t>VS Code</a:t>
            </a:r>
            <a:r>
              <a:rPr lang="ko-KR" altLang="en-US" sz="1200" dirty="0"/>
              <a:t>가 내부적으로 </a:t>
            </a:r>
            <a:r>
              <a:rPr lang="en-US" altLang="ko-KR" sz="1200" dirty="0"/>
              <a:t>python -m </a:t>
            </a:r>
            <a:r>
              <a:rPr lang="en-US" altLang="ko-KR" sz="1200" dirty="0" err="1"/>
              <a:t>venv</a:t>
            </a:r>
            <a:r>
              <a:rPr lang="en-US" altLang="ko-KR" sz="1200" dirty="0"/>
              <a:t> .</a:t>
            </a:r>
            <a:r>
              <a:rPr lang="en-US" altLang="ko-KR" sz="1200" dirty="0" err="1"/>
              <a:t>venv</a:t>
            </a:r>
            <a:r>
              <a:rPr lang="ko-KR" altLang="en-US" sz="1200" dirty="0"/>
              <a:t> 실행하고</a:t>
            </a:r>
            <a:r>
              <a:rPr lang="en-US" altLang="ko-KR" sz="1200" dirty="0"/>
              <a:t>,</a:t>
            </a:r>
            <a:br>
              <a:rPr lang="en-US" altLang="ko-KR" sz="1200" dirty="0"/>
            </a:br>
            <a:r>
              <a:rPr lang="ko-KR" altLang="en-US" sz="1200" dirty="0"/>
              <a:t>그 환경을 프로젝트 기본 인터프리터로 등록합니다</a:t>
            </a:r>
            <a:r>
              <a:rPr lang="en-US" altLang="ko-KR" sz="1200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738918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51A71-8B91-0E79-FE90-89675E00A8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0DA500A-9F97-4E1B-E46F-3E269393D2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FF473E4-1C88-A6EF-AE85-8298C73C25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3225C25-5BB3-E9AA-720F-BB9DBAD5BF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0852781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229A2D-E048-6AA6-4BF9-D2C98CB0A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825C00-6947-B55B-F346-F7D44B34E2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764EE59-589B-75A0-A963-152BB49274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65B8A3-E8B3-F0CC-5633-9A2841F0E4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529377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5B844-1842-4539-D41E-A8430A00C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4D5C215-7EE1-C48F-74AC-2892E31B71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13798A0-3F15-B200-0977-1CB14D9005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437C73D-A8E6-0392-7CBE-0BBFACE32D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744091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D8C9CE-B931-351E-4DF7-B62DE7A259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D74147A-79B8-55B6-931E-D3318C72B2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0A0F27E-126A-48DC-5FBC-9477A2CF30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C89C91D-97F2-0D5A-F5C2-6DD0293EF0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0839390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2B2E4-252E-11C5-7265-D06DE6AF9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16A0F9B-3828-C0D7-6845-0E5535CF8F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E274946-1CB4-758C-ACED-8E951014DE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*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가상환경 생성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Kim jung chul Gothic Regular" panose="020B0503000000000000" pitchFamily="50" charset="-127"/>
              <a:ea typeface="Kim jung chul Gothic Regular" panose="020B0503000000000000" pitchFamily="50" charset="-127"/>
              <a:cs typeface="+mn-cs"/>
            </a:endParaRP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데이터분석 폴더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생성후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 (</a:t>
            </a:r>
            <a:r>
              <a:rPr lang="en-US" altLang="ko-KR" sz="1200" b="0" i="0" kern="1200" dirty="0" err="1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DataAnalysis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)</a:t>
            </a:r>
            <a:br>
              <a:rPr lang="en-US" altLang="ko-KR" sz="1200" b="0" i="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</a:b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해당 폴더안에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01_numpy.py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파일 생성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Kim jung chul Gothic Regular" panose="020B0503000000000000" pitchFamily="50" charset="-127"/>
              <a:ea typeface="Kim jung chul Gothic Regular" panose="020B0503000000000000" pitchFamily="50" charset="-127"/>
              <a:cs typeface="+mn-cs"/>
            </a:endParaRP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 </a:t>
            </a: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[ Ctrl + Shift + P ]</a:t>
            </a:r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C79CEF2-59B8-D776-8347-3A73849456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583798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E00973-BDA7-9864-3AAE-551D73C1E8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73F89D6-04C6-1E61-062E-FFAA543E1F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84F32CE-514A-3B20-B5D6-B5A1BC51C4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61040CD-C244-D73D-2D41-D6E039EC3D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8728564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6A01E-63DF-2109-8023-125C50B3E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0AC6992-7A36-AF74-E75E-FCCCA84EBB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F683A2C-8215-F7ED-150F-4D9B9C54C4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B6B7AAE-2451-7BD4-8F2B-09B29B5E7A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1984159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D2E511-0933-5657-E80C-F49DE400D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80A2864-1072-F61E-EF31-5B4F2978A7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63B70A8-4755-BB27-BED7-B0AB20D043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F5116D-54C1-8365-9796-1BF9E30EA9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193927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BB5F1B-EBF1-4151-9644-6B72B3006FF3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5480834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E44B7-0C4E-9DAC-F549-B103DBBB68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4D8DF8D-4DF7-470A-211C-B4B1F47306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47E1876-A0D9-61F6-655E-2AAF1A4AE1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09FB2E6-F8EB-99DE-22BA-FFA04D54D3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BB5F1B-EBF1-4151-9644-6B72B3006FF3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0338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BB5F1B-EBF1-4151-9644-6B72B3006FF3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918829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B34E61-4D34-0EC3-3C0E-A6096BC2B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4E578B8-5C25-C2FC-17A0-FE2733F5A8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E233262-FA97-596F-02AF-DEDE7E4E6D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F49672C-EBB0-3FEE-91E1-9B39C16B52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5542668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8CDE9-ADBA-ED78-50D7-1E1CE9C392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5AE6AF6-D6CE-1C98-BA32-2E67B8685B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3A6065-780A-8607-1042-44067D4099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C590FF-A917-06CD-4FC9-901887ABF3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7898922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E161A7-0C3A-CB0D-37C3-8A355E0D01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4BDAE07-747B-9B2E-D74D-2919AA6A08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226C9D3-419E-EABB-3A5B-0362E83D62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A398C34-FC23-4B85-0594-6E95A91BBA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4229312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F446B-2EDA-5BCF-3556-AC50044FE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FFE064E-2DFC-9AC4-926D-5F5547C935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2E03CD1-32F2-51FF-17F1-76D86C3EAF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2D6769-287E-7403-3178-BCD39477B9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0568140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505ABB-DB51-8FC9-982D-BF2B4C5E9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10E5A5C-36B5-6269-F15D-68371DB8BC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C844940-247B-4BC9-7A9B-88E8731558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0C2B9F2-88F8-6A5B-9CD2-9780834E0D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30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5674729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C3CC5F-65C3-4118-FF4D-37FADD4976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DB862A0-C982-1D46-9BD8-D935853AD2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EAFA73-C0BC-E55F-EBB5-02646AB9A3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B9B629-AD5B-4583-A08F-3AC1D6999E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31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584158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8BA165-77BA-EDA6-A7D4-FA069FEE6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1017FF7-3502-5E9C-9F80-9AB59F294E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B9899E7-8119-7886-A0E5-60ACD312FF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249D32-339D-D76D-5BDC-F66C0A5A2E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32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5583441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C33FFA-7181-BDC5-3CFE-837055EFC4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42DDAB9-C121-5375-CFE5-0E48A886A9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63EA08F-36A8-A868-B470-F7C4F38E2C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66E5588-377E-67BF-9E22-36701228B2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33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2692453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59D5C-A217-8424-8664-D19C7BC18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1764CD6-3C49-D3F4-4DCB-797ED990BE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6F9BE74-F655-D195-8E28-AE5CE7A75B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7FAD4AE-0144-7EC2-79FC-F2CC517150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34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718378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05B870-7392-5A44-59DF-7F644DA9A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4F19337-D9DA-571E-FB48-5EEF817947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6986CB3-4D25-9C51-2F42-9D647A1676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58C4FF-9447-73C7-B69F-C54C269E6E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35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4240399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5A9E1F-C180-9249-1C6C-8B09ABA47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01B35CC-CF25-EA7B-95EA-59EF76BC9E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A035434-FF17-C7EB-4BEF-02E762C568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45D506D-4CDB-C748-C8EE-FD1DD20408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36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339302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D750AD-4066-D9A9-19D7-51553BCE66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00FE4B1-0D23-B11C-CC44-9369BF678F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2375774-CF15-D924-04C0-87249EF544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37791B7-AFE6-1489-28A4-0E354DB261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38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7236332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1E7A7F-ECAC-057F-CD7B-04884A6A20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273F3F4-2505-40F9-5D47-F848818C17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24801A-0F13-E273-4F7E-CA38A60A0A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C49246-FF67-C5A1-DB07-30F77BCD96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39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7899379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9EC22-64C5-CF8E-4B6C-7D03EC8FE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894AC37-22B7-489C-4595-AA313B78CD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82E66CD-D046-F020-6064-23CBCD970B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1670CDD-0C8B-A76C-A3D6-B908850A67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41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8132699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79E26-DB51-3CFF-DB34-28678878C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F1E4EDB-747A-4BBE-7103-12523B6FA0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F7F63CC-A178-DD0E-30FE-D0BA387CD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35EA96F-D5DB-9904-C0D6-9D8C12F34E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42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6905795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DCA63-EF20-8324-6329-FF47BFAD3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52E4FB6-C87A-0B91-F207-A61FB786D5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75E4CF-C4EB-E90B-BA72-83D4E0B7A3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96868B-FE61-5CBF-1BE1-F546FD0675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43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9487825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57D03D-9BD0-EB29-061D-606693459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78F6024-25C5-D3C8-9755-E9CD9CCD24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6913029-71A3-B3C5-9698-1BC813430F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737D57A-AAD7-11EB-4631-9781A29091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44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4081296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4EB995-FBC3-891F-6615-A75A1C546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31D1B8D-E727-B468-AA6C-AB90FA7CDC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DD80267-C6C1-64F1-9A86-4208539833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B2EEC4-1A0F-34CF-5DE0-84E46B0DC2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45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3014307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999617-82D3-6C4A-5CCF-C34117E207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AAB33DA-5E18-C0C4-FFA8-02B8A03F78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2B36FF7-89A1-23A2-6031-A594B7AC08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1A95033-E98E-4E50-7F0E-67CBA93906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46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3084536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10EC0-9464-F637-B7C7-97CD9C6E67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738DBC1-90F8-DE61-5222-1319DB29D3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8F47641-8701-C8B2-34BF-D6B9F45475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725A4EA-89FB-A31E-44B6-125DA4D8EF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47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0232274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0FC2C4-4C43-B490-CE0A-C570DDCFAD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31DF640-EECB-5840-801B-8B7844BDA8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E656B31-DBB0-7D1E-9DF5-C708AF9C52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7ED99CE-CAC6-B2FD-FF71-0528D557B1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057858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397752-465C-B82A-106C-17ED32A34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A4B5A56-A9B2-A94E-6F97-D3024304E0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32E954F-E660-78BE-216D-79B29238C4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A0739FB-450E-3D07-49EB-A32A9BA310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936381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DCB79-C37C-5831-1B0B-A9545FD01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A63C3FF-8862-A09C-7507-0F029FAAD3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739D985-8F51-D1A4-E04B-178AE5FB21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211211-81A5-45ED-FA7B-B705566C9B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51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6987455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E266F9-7D1F-F5CA-BFE7-A4D899DFE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39A3180-6E15-DEBD-6E7B-1B0C4F2D2E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A5A7327-50FE-9055-C4CE-A3A20513F9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49070F-4438-7989-15BB-671BBC3F77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52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7242348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FAA02-DE95-A526-1BEF-830DAB008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E374096-5876-1EBF-33F2-E02BC54F92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7F0C3D1-17A9-2EFE-ADD6-8BB46B8235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EF96F37-3292-6864-FAF0-7FF52A63FA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53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791326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DDB019-B28A-684A-FB7E-8210E03E5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79642DE-5B1E-2BD1-2C82-91EA8EE78C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EBDC698-562F-88CE-5791-6E4C568007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3939C2-78AD-7656-A5CA-EFA44DC491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54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1164425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5FDF3A-7260-698D-F3EF-10601E9EC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3E97AB7-5059-748A-BF36-73F542F56B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600E1DC-863B-7E95-2705-B075BE8451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3FD2BB9-3BCB-9061-E47F-477F892D21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55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4623245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1F1304-F70E-B790-139B-D57C381077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0DE73FC-FAA2-497A-D04B-F95C0410F0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D13EDA4-ED34-94B8-466F-22A7417A0F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F074BB-EFC7-CC58-11DD-8231FC5B16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56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9506520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8C7C3C-A063-810F-4FE2-F43401476D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B11F1EB-371A-9152-C2A0-CD0104D9CE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D3BCBEE-D396-CFBB-E158-0137D5761F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B363459-5D91-6BFC-D305-B3B3CE3A80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57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8743091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116F23-0C16-6DF1-D890-2AA5D5C20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480A35C-13F5-1865-8CFA-B21924319B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1C96308-5F21-A98B-59BE-2C94FD93A3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76C535-8991-00E3-8D90-3C25E64AD0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58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526248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3C447-CA25-3D26-457D-81FA3E21B4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99F883-F034-6B33-3BE2-65BB847DDA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22A3D12-70BA-5D2A-A820-4197203E98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F2EDBD-9299-A353-EB90-5261207FD1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59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3054582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FC6EA3-7C26-818D-9550-5FA26B41CF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03B5824-C2F6-2239-E7E1-7FE811AB3B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7B7283D-1F68-9FDD-7925-7BB8111315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9C6E6C1-0661-4E53-9883-3FE917FB9B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60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6329976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E2010-A048-E552-FD2F-849D9EA3A8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69DE001-346B-81AB-5EA6-8C03B87385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0E54672-E0CD-C791-28F4-F8184586A6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A370B02-20E1-21D9-3BA8-C451D707D0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61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3539917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7182D-B605-4F5D-117E-3FF851CA6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DFFB779-4BFB-AF08-1CCB-9F10723011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74154AB-F19C-DE1D-1A18-01DC94EEC3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AB778F4-D27F-59CC-6510-34C2E5A710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62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31985218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6C38D3-6DAD-EE9E-65B2-E5C8CE539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4FAB90A-46C0-2724-1C5C-F3318FC1C9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1A719CA-7026-39E6-D29B-E4CBFF7379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141B89D-9832-D868-2B13-15FE63BD69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63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6777132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8F3209-2C17-4FD9-883F-931041379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0D47868-31D0-5380-F4DA-0F464A2C25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63CD278-6ABC-C464-8A5C-F71F9BE2CD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52C82C-5298-D457-8952-BAB1CA8DB0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939029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E2AEBA-1F78-AA69-E286-8F6292907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8A84C0C-1CA8-BA4B-D8CA-7CBF7F4287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CE227B9-75BE-52A0-25C0-554921C774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3B09CC0-9FE4-970F-4DAA-A47349D845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210929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8AF05-5969-1E38-D7C6-99DB71028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05198E-DA68-99DE-20AD-712FFDB8C5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B3239BF-1E55-922A-1C07-246A70A884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0928351-C0B1-CCAF-E3F5-21FB71256C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8604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5A23DF-E578-3271-4FC4-56ECF2883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F9062F8-E96C-A62B-938A-7F4E3CF46E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454A6C8-6D1D-2F4B-B168-160FABCC47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514F095-6E5E-1691-FEC6-4AAAEC0C2C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209135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F0B5B6-809F-B6EC-BA9A-87F920032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95805C9-F07B-016F-062D-524B29EF18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A8137E8-963D-0C10-4B34-C44059579D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792393E-37D1-B703-7D42-03F6FCF715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6661684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80143-40BC-882E-EEA9-6EFC994FDE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E988FC-4404-B7D3-98DB-FD3DA83313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B753AA8-34E7-72C4-5792-3B5EC56A08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F51084F-72FA-E319-3DC4-7B102CF898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4852220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385C0-1218-8696-7553-25EA3BCC0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293C347-7DE9-9DA4-478B-22D329E183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BC40E86-80A0-3199-3104-0747B2693A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DE4F49-25CA-84EC-50EC-A2F0AAB275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6196825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DCA84-D834-7EED-20D1-8EA7A0219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2C2548-3BDB-0A27-ACDF-B4EE7E71B6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0C03A41-0342-B6B6-15E4-6C583E4249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4762EC-19F5-CEE1-1915-8492FF1648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71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0402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FB6271-4BE0-0899-E10F-BEDE57F77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BEE3F-2E9A-4FD8-8B8A-8619F3E161C0}" type="datetime1">
              <a:rPr lang="ko-KR" altLang="en-US" smtClean="0"/>
              <a:t>2025-11-05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7396ACF-33BF-8F05-8A89-B4A950B2B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E491FF2-4362-D667-E80C-A0CD33AAE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15008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1932D-9408-4B70-B995-B65AD315E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>
            <a:lvl1pPr>
              <a:defRPr sz="480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511166"/>
            <a:ext cx="11701221" cy="4665797"/>
          </a:xfrm>
        </p:spPr>
        <p:txBody>
          <a:bodyPr lIns="90000" rIns="90000"/>
          <a:lstStyle>
            <a:lvl1pPr marL="228600" indent="-228600">
              <a:lnSpc>
                <a:spcPct val="120000"/>
              </a:lnSpc>
              <a:buFont typeface="Wingdings" panose="05000000000000000000" pitchFamily="2" charset="2"/>
              <a:buChar char="§"/>
              <a:defRPr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9" name="날짜 개체 틀 8">
            <a:extLst>
              <a:ext uri="{FF2B5EF4-FFF2-40B4-BE49-F238E27FC236}">
                <a16:creationId xmlns:a16="http://schemas.microsoft.com/office/drawing/2014/main" id="{2A9EA12E-03D9-7F07-36B9-45CCAAFB0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2025-11-05</a:t>
            </a:fld>
            <a:endParaRPr lang="ko-KR" altLang="en-US"/>
          </a:p>
        </p:txBody>
      </p:sp>
      <p:sp>
        <p:nvSpPr>
          <p:cNvPr id="10" name="바닥글 개체 틀 9">
            <a:extLst>
              <a:ext uri="{FF2B5EF4-FFF2-40B4-BE49-F238E27FC236}">
                <a16:creationId xmlns:a16="http://schemas.microsoft.com/office/drawing/2014/main" id="{73549C7E-B7CA-2916-680F-BE948DD7CF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1" name="슬라이드 번호 개체 틀 10">
            <a:extLst>
              <a:ext uri="{FF2B5EF4-FFF2-40B4-BE49-F238E27FC236}">
                <a16:creationId xmlns:a16="http://schemas.microsoft.com/office/drawing/2014/main" id="{502BC9AC-AD9B-31DE-3356-B3228C35F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04024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7" name="그림 개체 틀 6"/>
          <p:cNvSpPr>
            <a:spLocks noGrp="1"/>
          </p:cNvSpPr>
          <p:nvPr>
            <p:ph type="pic" sz="quarter" idx="13"/>
          </p:nvPr>
        </p:nvSpPr>
        <p:spPr>
          <a:xfrm>
            <a:off x="838200" y="1930400"/>
            <a:ext cx="10515600" cy="442595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4C1235-ECD8-45EF-A491-D87AB5849B8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F5E23C3-0E3D-4E4E-8486-D7FB4C073DC1}" type="datetime1">
              <a:rPr lang="ko-KR" altLang="en-US" smtClean="0"/>
              <a:t>2025-11-05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F613B58-6057-4476-7DF4-335938A153C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5D03663-69E4-5E86-E2CF-1E5CB45A8C7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62677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2AEF0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" name="그림 3" descr="그래픽, 그래픽 디자인, 폰트, 스크린샷이(가) 표시된 사진&#10;&#10;자동 생성된 설명">
            <a:extLst>
              <a:ext uri="{FF2B5EF4-FFF2-40B4-BE49-F238E27FC236}">
                <a16:creationId xmlns:a16="http://schemas.microsoft.com/office/drawing/2014/main" id="{C1FCC00F-7B12-D0C7-C8FF-2632DB2F21B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3752" y="126744"/>
            <a:ext cx="1557011" cy="334766"/>
          </a:xfrm>
          <a:prstGeom prst="rect">
            <a:avLst/>
          </a:prstGeom>
        </p:spPr>
      </p:pic>
      <p:sp>
        <p:nvSpPr>
          <p:cNvPr id="12" name="날짜 개체 틀 11">
            <a:extLst>
              <a:ext uri="{FF2B5EF4-FFF2-40B4-BE49-F238E27FC236}">
                <a16:creationId xmlns:a16="http://schemas.microsoft.com/office/drawing/2014/main" id="{CA45D7C8-4A0F-13D7-9F9C-7A4D3AB80D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38991" y="647001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5E23C3-0E3D-4E4E-8486-D7FB4C073DC1}" type="datetime1">
              <a:rPr lang="ko-KR" altLang="en-US" smtClean="0"/>
              <a:t>2025-11-05</a:t>
            </a:fld>
            <a:endParaRPr lang="ko-KR" altLang="en-US"/>
          </a:p>
        </p:txBody>
      </p:sp>
      <p:sp>
        <p:nvSpPr>
          <p:cNvPr id="13" name="바닥글 개체 틀 12">
            <a:extLst>
              <a:ext uri="{FF2B5EF4-FFF2-40B4-BE49-F238E27FC236}">
                <a16:creationId xmlns:a16="http://schemas.microsoft.com/office/drawing/2014/main" id="{6BF42AC9-BE86-7782-13FD-7864483A17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4" name="슬라이드 번호 개체 틀 13">
            <a:extLst>
              <a:ext uri="{FF2B5EF4-FFF2-40B4-BE49-F238E27FC236}">
                <a16:creationId xmlns:a16="http://schemas.microsoft.com/office/drawing/2014/main" id="{61717F22-7FAF-5E74-F536-7D7AA49A51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09809" y="646106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A72B154-9B8C-E7FF-80ED-72C1CA1F70ED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00F209"/>
          </a:solidFill>
          <a:ln>
            <a:solidFill>
              <a:srgbClr val="00F20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1148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Pretendard Black" panose="02000A03000000020004" pitchFamily="2" charset="-127"/>
          <a:ea typeface="Pretendard Black" panose="02000A03000000020004" pitchFamily="2" charset="-127"/>
          <a:cs typeface="Pretendard Black" panose="02000A03000000020004" pitchFamily="2" charset="-127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retendard Medium" panose="02000603000000020004" pitchFamily="2" charset="-127"/>
          <a:ea typeface="Pretendard Medium" panose="02000603000000020004" pitchFamily="2" charset="-127"/>
          <a:cs typeface="Pretendard Medium" panose="02000603000000020004" pitchFamily="2" charset="-127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160">
          <p15:clr>
            <a:srgbClr val="F26B43"/>
          </p15:clr>
        </p15:guide>
        <p15:guide id="4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numpy.org/doc/stable/user/quickstart.html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4.png"/><Relationship Id="rId4" Type="http://schemas.openxmlformats.org/officeDocument/2006/relationships/image" Target="../media/image73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7.png"/><Relationship Id="rId4" Type="http://schemas.openxmlformats.org/officeDocument/2006/relationships/image" Target="../media/image76.png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제목 12">
            <a:extLst>
              <a:ext uri="{FF2B5EF4-FFF2-40B4-BE49-F238E27FC236}">
                <a16:creationId xmlns:a16="http://schemas.microsoft.com/office/drawing/2014/main" id="{B7EF24D0-8399-9CE4-3000-91FA8816F83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F4F83B95-025C-AC87-8046-071D0DD4554A}"/>
              </a:ext>
            </a:extLst>
          </p:cNvPr>
          <p:cNvSpPr txBox="1">
            <a:spLocks/>
          </p:cNvSpPr>
          <p:nvPr/>
        </p:nvSpPr>
        <p:spPr>
          <a:xfrm>
            <a:off x="5900561" y="2541087"/>
            <a:ext cx="853440" cy="93503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en-US" altLang="ko-KR" b="1">
                <a:latin typeface="메이플스토리" panose="020B0600000101010101" charset="-127"/>
                <a:ea typeface="메이플스토리" panose="020B0600000101010101" charset="-127"/>
              </a:rPr>
              <a:t>x</a:t>
            </a:r>
            <a:endParaRPr lang="ko-KR" altLang="en-US" b="1" dirty="0">
              <a:solidFill>
                <a:srgbClr val="0070C0"/>
              </a:solidFill>
              <a:latin typeface="메이플스토리" panose="020B0600000101010101" charset="-127"/>
              <a:ea typeface="메이플스토리" panose="020B0600000101010101" charset="-127"/>
            </a:endParaRP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9E48F0A9-FDDA-E71D-DD30-E1619DCA2B8F}"/>
              </a:ext>
            </a:extLst>
          </p:cNvPr>
          <p:cNvGrpSpPr/>
          <p:nvPr/>
        </p:nvGrpSpPr>
        <p:grpSpPr>
          <a:xfrm>
            <a:off x="2251608" y="2636151"/>
            <a:ext cx="7688784" cy="944801"/>
            <a:chOff x="2377440" y="2657237"/>
            <a:chExt cx="7688784" cy="944801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898F4052-FE38-304A-F46B-2EF3535ECDA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9307" y="2667000"/>
              <a:ext cx="2996917" cy="935038"/>
            </a:xfrm>
            <a:prstGeom prst="rect">
              <a:avLst/>
            </a:prstGeom>
          </p:spPr>
        </p:pic>
        <p:pic>
          <p:nvPicPr>
            <p:cNvPr id="17" name="그림 16" descr="그래픽, 그래픽 디자인, 폰트, 스크린샷이(가) 표시된 사진&#10;&#10;자동 생성된 설명">
              <a:extLst>
                <a:ext uri="{FF2B5EF4-FFF2-40B4-BE49-F238E27FC236}">
                  <a16:creationId xmlns:a16="http://schemas.microsoft.com/office/drawing/2014/main" id="{42E42E39-6264-E7FF-331C-8FDB9564372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77440" y="2657237"/>
              <a:ext cx="3459480" cy="744910"/>
            </a:xfrm>
            <a:prstGeom prst="rect">
              <a:avLst/>
            </a:prstGeom>
          </p:spPr>
        </p:pic>
      </p:grpSp>
      <p:sp>
        <p:nvSpPr>
          <p:cNvPr id="18" name="부제목 2">
            <a:extLst>
              <a:ext uri="{FF2B5EF4-FFF2-40B4-BE49-F238E27FC236}">
                <a16:creationId xmlns:a16="http://schemas.microsoft.com/office/drawing/2014/main" id="{F23AD29E-761A-EAD6-2600-534B24C77F4B}"/>
              </a:ext>
            </a:extLst>
          </p:cNvPr>
          <p:cNvSpPr txBox="1">
            <a:spLocks/>
          </p:cNvSpPr>
          <p:nvPr/>
        </p:nvSpPr>
        <p:spPr>
          <a:xfrm>
            <a:off x="5194406" y="3686684"/>
            <a:ext cx="4316585" cy="530087"/>
          </a:xfrm>
          <a:prstGeom prst="rect">
            <a:avLst/>
          </a:prstGeom>
        </p:spPr>
        <p:txBody>
          <a:bodyPr vert="horz" wrap="square" lIns="91440" tIns="45720" rIns="91440" bIns="45720" rtlCol="0">
            <a:normAutofit fontScale="85000" lnSpcReduction="10000"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ko-KR" altLang="en-US" b="1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신재생에너지 </a:t>
            </a:r>
            <a:r>
              <a:rPr lang="en-US" altLang="ko-KR" b="1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IoT </a:t>
            </a:r>
            <a:r>
              <a:rPr lang="ko-KR" altLang="en-US" b="1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개발자 입문 과정</a:t>
            </a:r>
            <a:endParaRPr lang="ko-KR" altLang="en-US" b="1" dirty="0">
              <a:solidFill>
                <a:srgbClr val="2B2B2B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SemiBold" panose="02000703000000020004" pitchFamily="2" charset="-127"/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48BC923E-D74D-0802-5C5B-91A3D49728D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9943" y="3670957"/>
            <a:ext cx="2303166" cy="347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59126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1DDF00-9C5A-C5B6-2356-2C5FFEA89D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6BCBA5C-CFA2-F060-2F1C-2254EFBC0533}"/>
              </a:ext>
            </a:extLst>
          </p:cNvPr>
          <p:cNvSpPr txBox="1"/>
          <p:nvPr/>
        </p:nvSpPr>
        <p:spPr>
          <a:xfrm>
            <a:off x="3674525" y="2600493"/>
            <a:ext cx="484299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가상환경 설정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827691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4EF769-CB24-A25C-7261-548DFF8E1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가상환경이 필요한 이유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ECABF6D-2958-2396-3E84-34587C3CEE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1701221" cy="2868874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프로젝트를 진행하다 보면 여러 </a:t>
            </a:r>
            <a:r>
              <a:rPr lang="en-US" altLang="ko-KR" sz="2400" dirty="0"/>
              <a:t>library, package</a:t>
            </a:r>
            <a:r>
              <a:rPr lang="ko-KR" altLang="en-US" sz="2400" dirty="0"/>
              <a:t>를 다운로드 하게 됨</a:t>
            </a:r>
            <a:r>
              <a:rPr lang="en-US" altLang="ko-KR" sz="2400" dirty="0"/>
              <a:t>.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sz="2000" dirty="0"/>
              <a:t>➡️ 각 </a:t>
            </a:r>
            <a:r>
              <a:rPr lang="en-US" altLang="ko-KR" sz="2000" dirty="0"/>
              <a:t>library, package</a:t>
            </a:r>
            <a:r>
              <a:rPr lang="ko-KR" altLang="en-US" sz="2000" dirty="0"/>
              <a:t>들끼리 </a:t>
            </a:r>
            <a:r>
              <a:rPr lang="ko-KR" altLang="en-US" sz="2000" b="1" dirty="0">
                <a:solidFill>
                  <a:srgbClr val="FF0000"/>
                </a:solidFill>
              </a:rPr>
              <a:t>충돌</a:t>
            </a:r>
            <a:r>
              <a:rPr lang="ko-KR" altLang="en-US" sz="2000" dirty="0"/>
              <a:t>을 일으키는 경우 </a:t>
            </a:r>
            <a:r>
              <a:rPr lang="ko-KR" altLang="en-US" sz="2000" b="1" dirty="0">
                <a:solidFill>
                  <a:srgbClr val="FF0000"/>
                </a:solidFill>
              </a:rPr>
              <a:t>↑</a:t>
            </a:r>
            <a:endParaRPr lang="en-US" altLang="ko-KR" sz="2000" b="1" dirty="0">
              <a:solidFill>
                <a:srgbClr val="FF0000"/>
              </a:solidFill>
            </a:endParaRPr>
          </a:p>
          <a:p>
            <a:pPr>
              <a:lnSpc>
                <a:spcPct val="150000"/>
              </a:lnSpc>
            </a:pPr>
            <a:endParaRPr lang="en-US" altLang="ko-KR" sz="2400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이런 경우에 가상환경을 이용한다면</a:t>
            </a:r>
            <a:r>
              <a:rPr lang="en-US" altLang="ko-KR" sz="2400" dirty="0"/>
              <a:t>?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sz="2000" dirty="0"/>
              <a:t>➡️ 프로젝트별로 </a:t>
            </a:r>
            <a:r>
              <a:rPr lang="ko-KR" altLang="en-US" sz="2000" b="1" dirty="0">
                <a:solidFill>
                  <a:srgbClr val="FF0000"/>
                </a:solidFill>
              </a:rPr>
              <a:t>독립적인 작업 환경</a:t>
            </a:r>
            <a:r>
              <a:rPr lang="ko-KR" altLang="en-US" sz="2000" dirty="0"/>
              <a:t>에서 작업할 수 있다</a:t>
            </a:r>
            <a:r>
              <a:rPr lang="en-US" altLang="ko-KR" sz="2000" dirty="0"/>
              <a:t>!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2725050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4EF769-CB24-A25C-7261-548DFF8E1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가상 환경</a:t>
            </a:r>
            <a:r>
              <a:rPr lang="en-US" altLang="ko-KR" dirty="0"/>
              <a:t> vs </a:t>
            </a:r>
            <a:r>
              <a:rPr lang="ko-KR" altLang="en-US" dirty="0"/>
              <a:t>글로벌 환경</a:t>
            </a: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93E6B913-A6C2-5F3E-F7F7-6E7CF96E3F87}"/>
              </a:ext>
            </a:extLst>
          </p:cNvPr>
          <p:cNvGrpSpPr/>
          <p:nvPr/>
        </p:nvGrpSpPr>
        <p:grpSpPr>
          <a:xfrm>
            <a:off x="409639" y="1243216"/>
            <a:ext cx="11414767" cy="4858393"/>
            <a:chOff x="364243" y="1690688"/>
            <a:chExt cx="11414767" cy="4858393"/>
          </a:xfrm>
        </p:grpSpPr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B93C1442-343E-5716-7E6B-675F180B9545}"/>
                </a:ext>
              </a:extLst>
            </p:cNvPr>
            <p:cNvSpPr/>
            <p:nvPr/>
          </p:nvSpPr>
          <p:spPr>
            <a:xfrm>
              <a:off x="364243" y="5501212"/>
              <a:ext cx="2007159" cy="612578"/>
            </a:xfrm>
            <a:prstGeom prst="roundRect">
              <a:avLst>
                <a:gd name="adj" fmla="val 42627"/>
              </a:avLst>
            </a:prstGeom>
            <a:noFill/>
            <a:ln w="38100"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778774B9-E670-BF4A-2E78-B5627A13553D}"/>
                </a:ext>
              </a:extLst>
            </p:cNvPr>
            <p:cNvSpPr/>
            <p:nvPr/>
          </p:nvSpPr>
          <p:spPr>
            <a:xfrm>
              <a:off x="974745" y="2112447"/>
              <a:ext cx="3281082" cy="2495937"/>
            </a:xfrm>
            <a:prstGeom prst="rect">
              <a:avLst/>
            </a:prstGeom>
            <a:noFill/>
            <a:ln w="38100"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F134F523-EB52-F0A8-DEED-8B9666A07172}"/>
                </a:ext>
              </a:extLst>
            </p:cNvPr>
            <p:cNvSpPr/>
            <p:nvPr/>
          </p:nvSpPr>
          <p:spPr>
            <a:xfrm>
              <a:off x="1692625" y="1910761"/>
              <a:ext cx="1845316" cy="382046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b="1" dirty="0"/>
                <a:t>글로벌 환경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BBB4B17-F55A-1B67-79AD-E5501EC51380}"/>
                </a:ext>
              </a:extLst>
            </p:cNvPr>
            <p:cNvSpPr txBox="1"/>
            <p:nvPr/>
          </p:nvSpPr>
          <p:spPr>
            <a:xfrm>
              <a:off x="1234940" y="2450594"/>
              <a:ext cx="2760692" cy="369332"/>
            </a:xfrm>
            <a:prstGeom prst="rect">
              <a:avLst/>
            </a:prstGeom>
            <a:noFill/>
            <a:ln>
              <a:solidFill>
                <a:schemeClr val="accent6">
                  <a:lumMod val="50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Python 3.8 </a:t>
              </a:r>
              <a:r>
                <a:rPr lang="ko-KR" altLang="en-US" dirty="0"/>
                <a:t>버전 실행 파일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2C076D5-E09E-5A62-2B77-B382BF77EB1B}"/>
                </a:ext>
              </a:extLst>
            </p:cNvPr>
            <p:cNvSpPr txBox="1"/>
            <p:nvPr/>
          </p:nvSpPr>
          <p:spPr>
            <a:xfrm>
              <a:off x="1234940" y="2986037"/>
              <a:ext cx="2760692" cy="369332"/>
            </a:xfrm>
            <a:prstGeom prst="rect">
              <a:avLst/>
            </a:prstGeom>
            <a:noFill/>
            <a:ln>
              <a:solidFill>
                <a:schemeClr val="accent6">
                  <a:lumMod val="50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패키지 </a:t>
              </a:r>
              <a:r>
                <a:rPr lang="en-US" altLang="ko-KR" dirty="0" err="1"/>
                <a:t>aaa</a:t>
              </a:r>
              <a:r>
                <a:rPr lang="en-US" altLang="ko-KR" dirty="0"/>
                <a:t> 2.X </a:t>
              </a:r>
              <a:r>
                <a:rPr lang="ko-KR" altLang="en-US" dirty="0"/>
                <a:t>버전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914B496-B961-1FF2-82A3-9BBABFCA34BC}"/>
                </a:ext>
              </a:extLst>
            </p:cNvPr>
            <p:cNvSpPr txBox="1"/>
            <p:nvPr/>
          </p:nvSpPr>
          <p:spPr>
            <a:xfrm>
              <a:off x="1234938" y="3478153"/>
              <a:ext cx="2760691" cy="369332"/>
            </a:xfrm>
            <a:prstGeom prst="rect">
              <a:avLst/>
            </a:prstGeom>
            <a:noFill/>
            <a:ln>
              <a:solidFill>
                <a:schemeClr val="accent6">
                  <a:lumMod val="50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패키지 </a:t>
              </a:r>
              <a:r>
                <a:rPr lang="en-US" altLang="ko-KR" dirty="0" err="1"/>
                <a:t>bbb</a:t>
              </a:r>
              <a:r>
                <a:rPr lang="en-US" altLang="ko-KR" dirty="0"/>
                <a:t> 1.X </a:t>
              </a:r>
              <a:r>
                <a:rPr lang="ko-KR" altLang="en-US" dirty="0"/>
                <a:t>버전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DA27C8BA-C82E-1289-E89B-C69A3E37D5B3}"/>
                </a:ext>
              </a:extLst>
            </p:cNvPr>
            <p:cNvSpPr txBox="1"/>
            <p:nvPr/>
          </p:nvSpPr>
          <p:spPr>
            <a:xfrm>
              <a:off x="1234939" y="3957017"/>
              <a:ext cx="2760691" cy="369332"/>
            </a:xfrm>
            <a:prstGeom prst="rect">
              <a:avLst/>
            </a:prstGeom>
            <a:noFill/>
            <a:ln>
              <a:solidFill>
                <a:schemeClr val="accent6">
                  <a:lumMod val="50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패키지 </a:t>
              </a:r>
              <a:r>
                <a:rPr lang="en-US" altLang="ko-KR" dirty="0"/>
                <a:t>ccc 3.X </a:t>
              </a:r>
              <a:r>
                <a:rPr lang="ko-KR" altLang="en-US" dirty="0"/>
                <a:t>버전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60FDC81-8579-46D5-D6A7-B9984E96E6FD}"/>
                </a:ext>
              </a:extLst>
            </p:cNvPr>
            <p:cNvSpPr txBox="1"/>
            <p:nvPr/>
          </p:nvSpPr>
          <p:spPr>
            <a:xfrm>
              <a:off x="861114" y="5679075"/>
              <a:ext cx="10134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main.py</a:t>
              </a:r>
              <a:endParaRPr lang="ko-KR" altLang="en-US" dirty="0"/>
            </a:p>
          </p:txBody>
        </p:sp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AE6BEF4F-49D2-E736-FF03-CCA2EC6B84D9}"/>
                </a:ext>
              </a:extLst>
            </p:cNvPr>
            <p:cNvSpPr/>
            <p:nvPr/>
          </p:nvSpPr>
          <p:spPr>
            <a:xfrm>
              <a:off x="645262" y="5374221"/>
              <a:ext cx="1445122" cy="304854"/>
            </a:xfrm>
            <a:prstGeom prst="roundRect">
              <a:avLst>
                <a:gd name="adj" fmla="val 50000"/>
              </a:avLst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프로젝트 </a:t>
              </a:r>
              <a:r>
                <a:rPr lang="en-US" altLang="ko-KR" dirty="0"/>
                <a:t>A</a:t>
              </a:r>
              <a:endParaRPr lang="ko-KR" altLang="en-US" dirty="0"/>
            </a:p>
          </p:txBody>
        </p:sp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A9204720-EDC0-FE4F-098D-2677BC66BD37}"/>
                </a:ext>
              </a:extLst>
            </p:cNvPr>
            <p:cNvSpPr/>
            <p:nvPr/>
          </p:nvSpPr>
          <p:spPr>
            <a:xfrm>
              <a:off x="2864762" y="5501212"/>
              <a:ext cx="2007159" cy="612578"/>
            </a:xfrm>
            <a:prstGeom prst="roundRect">
              <a:avLst>
                <a:gd name="adj" fmla="val 42627"/>
              </a:avLst>
            </a:prstGeom>
            <a:noFill/>
            <a:ln w="38100"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972A348B-8A8F-8B20-B33B-AC0240304509}"/>
                </a:ext>
              </a:extLst>
            </p:cNvPr>
            <p:cNvSpPr txBox="1"/>
            <p:nvPr/>
          </p:nvSpPr>
          <p:spPr>
            <a:xfrm>
              <a:off x="3415288" y="5679075"/>
              <a:ext cx="10134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main.py</a:t>
              </a:r>
              <a:endParaRPr lang="ko-KR" altLang="en-US" dirty="0"/>
            </a:p>
          </p:txBody>
        </p:sp>
        <p:sp>
          <p:nvSpPr>
            <p:cNvPr id="49" name="사각형: 둥근 모서리 48">
              <a:extLst>
                <a:ext uri="{FF2B5EF4-FFF2-40B4-BE49-F238E27FC236}">
                  <a16:creationId xmlns:a16="http://schemas.microsoft.com/office/drawing/2014/main" id="{A8F9AD1E-1220-D156-F38B-C292DE73C9B1}"/>
                </a:ext>
              </a:extLst>
            </p:cNvPr>
            <p:cNvSpPr/>
            <p:nvPr/>
          </p:nvSpPr>
          <p:spPr>
            <a:xfrm>
              <a:off x="3145781" y="5374221"/>
              <a:ext cx="1445122" cy="304854"/>
            </a:xfrm>
            <a:prstGeom prst="roundRect">
              <a:avLst>
                <a:gd name="adj" fmla="val 50000"/>
              </a:avLst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프로젝트 </a:t>
              </a:r>
              <a:r>
                <a:rPr lang="en-US" altLang="ko-KR" dirty="0"/>
                <a:t>B</a:t>
              </a:r>
              <a:endParaRPr lang="ko-KR" altLang="en-US" dirty="0"/>
            </a:p>
          </p:txBody>
        </p:sp>
        <p:cxnSp>
          <p:nvCxnSpPr>
            <p:cNvPr id="51" name="직선 화살표 연결선 50">
              <a:extLst>
                <a:ext uri="{FF2B5EF4-FFF2-40B4-BE49-F238E27FC236}">
                  <a16:creationId xmlns:a16="http://schemas.microsoft.com/office/drawing/2014/main" id="{66BDDD1C-CD96-3903-24CC-F0CE3EE033E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52702" y="4709329"/>
              <a:ext cx="339923" cy="584438"/>
            </a:xfrm>
            <a:prstGeom prst="straightConnector1">
              <a:avLst/>
            </a:prstGeom>
            <a:ln w="57150">
              <a:solidFill>
                <a:schemeClr val="accent6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직선 화살표 연결선 57">
              <a:extLst>
                <a:ext uri="{FF2B5EF4-FFF2-40B4-BE49-F238E27FC236}">
                  <a16:creationId xmlns:a16="http://schemas.microsoft.com/office/drawing/2014/main" id="{9667301A-CFD5-1975-C2E8-002C1FE23EC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310643" y="4696614"/>
              <a:ext cx="416500" cy="584438"/>
            </a:xfrm>
            <a:prstGeom prst="straightConnector1">
              <a:avLst/>
            </a:prstGeom>
            <a:ln w="57150">
              <a:solidFill>
                <a:schemeClr val="accent6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직사각형 60">
              <a:extLst>
                <a:ext uri="{FF2B5EF4-FFF2-40B4-BE49-F238E27FC236}">
                  <a16:creationId xmlns:a16="http://schemas.microsoft.com/office/drawing/2014/main" id="{5134FF74-2FF6-68BA-948A-69A8E8352F65}"/>
                </a:ext>
              </a:extLst>
            </p:cNvPr>
            <p:cNvSpPr/>
            <p:nvPr/>
          </p:nvSpPr>
          <p:spPr>
            <a:xfrm>
              <a:off x="5768148" y="2112447"/>
              <a:ext cx="3281082" cy="1496913"/>
            </a:xfrm>
            <a:prstGeom prst="rect">
              <a:avLst/>
            </a:prstGeom>
            <a:noFill/>
            <a:ln w="38100"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2" name="직사각형 61">
              <a:extLst>
                <a:ext uri="{FF2B5EF4-FFF2-40B4-BE49-F238E27FC236}">
                  <a16:creationId xmlns:a16="http://schemas.microsoft.com/office/drawing/2014/main" id="{738DE9ED-A189-F319-20D6-821AC224AAE9}"/>
                </a:ext>
              </a:extLst>
            </p:cNvPr>
            <p:cNvSpPr/>
            <p:nvPr/>
          </p:nvSpPr>
          <p:spPr>
            <a:xfrm>
              <a:off x="6486028" y="1910761"/>
              <a:ext cx="1845316" cy="382046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b="1" dirty="0"/>
                <a:t>가상 환경 </a:t>
              </a:r>
              <a:r>
                <a:rPr lang="en-US" altLang="ko-KR" b="1" dirty="0"/>
                <a:t>A</a:t>
              </a:r>
              <a:endParaRPr lang="ko-KR" altLang="en-US" b="1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6A597AA0-ABCC-64E5-278A-0B70F00DFAED}"/>
                </a:ext>
              </a:extLst>
            </p:cNvPr>
            <p:cNvSpPr txBox="1"/>
            <p:nvPr/>
          </p:nvSpPr>
          <p:spPr>
            <a:xfrm>
              <a:off x="6028343" y="2450594"/>
              <a:ext cx="2760692" cy="369332"/>
            </a:xfrm>
            <a:prstGeom prst="rect">
              <a:avLst/>
            </a:prstGeom>
            <a:noFill/>
            <a:ln>
              <a:solidFill>
                <a:schemeClr val="accent6">
                  <a:lumMod val="50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Python 3.6 </a:t>
              </a:r>
              <a:r>
                <a:rPr lang="ko-KR" altLang="en-US" dirty="0"/>
                <a:t>버전 실행 파일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D89DE91A-9D73-5FA6-1492-F49962234ADB}"/>
                </a:ext>
              </a:extLst>
            </p:cNvPr>
            <p:cNvSpPr txBox="1"/>
            <p:nvPr/>
          </p:nvSpPr>
          <p:spPr>
            <a:xfrm>
              <a:off x="6028343" y="2986037"/>
              <a:ext cx="2760692" cy="369332"/>
            </a:xfrm>
            <a:prstGeom prst="rect">
              <a:avLst/>
            </a:prstGeom>
            <a:noFill/>
            <a:ln>
              <a:solidFill>
                <a:schemeClr val="accent6">
                  <a:lumMod val="50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패키지 </a:t>
              </a:r>
              <a:r>
                <a:rPr lang="en-US" altLang="ko-KR" dirty="0" err="1"/>
                <a:t>aaa</a:t>
              </a:r>
              <a:r>
                <a:rPr lang="en-US" altLang="ko-KR" dirty="0"/>
                <a:t> 2.X </a:t>
              </a:r>
              <a:r>
                <a:rPr lang="ko-KR" altLang="en-US" dirty="0"/>
                <a:t>버전</a:t>
              </a:r>
            </a:p>
          </p:txBody>
        </p:sp>
        <p:sp>
          <p:nvSpPr>
            <p:cNvPr id="67" name="사각형: 둥근 모서리 66">
              <a:extLst>
                <a:ext uri="{FF2B5EF4-FFF2-40B4-BE49-F238E27FC236}">
                  <a16:creationId xmlns:a16="http://schemas.microsoft.com/office/drawing/2014/main" id="{1B752A8A-21F0-ABCA-0D57-E7C19F338250}"/>
                </a:ext>
              </a:extLst>
            </p:cNvPr>
            <p:cNvSpPr/>
            <p:nvPr/>
          </p:nvSpPr>
          <p:spPr>
            <a:xfrm>
              <a:off x="9771851" y="2451835"/>
              <a:ext cx="2007159" cy="612578"/>
            </a:xfrm>
            <a:prstGeom prst="roundRect">
              <a:avLst>
                <a:gd name="adj" fmla="val 42627"/>
              </a:avLst>
            </a:prstGeom>
            <a:noFill/>
            <a:ln w="38100"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ABB7A212-C2C8-5B7B-DF59-B35BE1933AAB}"/>
                </a:ext>
              </a:extLst>
            </p:cNvPr>
            <p:cNvSpPr txBox="1"/>
            <p:nvPr/>
          </p:nvSpPr>
          <p:spPr>
            <a:xfrm>
              <a:off x="10268722" y="2629698"/>
              <a:ext cx="10134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main.py</a:t>
              </a:r>
              <a:endParaRPr lang="ko-KR" altLang="en-US" dirty="0"/>
            </a:p>
          </p:txBody>
        </p:sp>
        <p:sp>
          <p:nvSpPr>
            <p:cNvPr id="69" name="사각형: 둥근 모서리 68">
              <a:extLst>
                <a:ext uri="{FF2B5EF4-FFF2-40B4-BE49-F238E27FC236}">
                  <a16:creationId xmlns:a16="http://schemas.microsoft.com/office/drawing/2014/main" id="{A2F8B38D-182C-BB2F-8340-DF1B76E93151}"/>
                </a:ext>
              </a:extLst>
            </p:cNvPr>
            <p:cNvSpPr/>
            <p:nvPr/>
          </p:nvSpPr>
          <p:spPr>
            <a:xfrm>
              <a:off x="10052870" y="2324844"/>
              <a:ext cx="1445122" cy="304854"/>
            </a:xfrm>
            <a:prstGeom prst="roundRect">
              <a:avLst>
                <a:gd name="adj" fmla="val 50000"/>
              </a:avLst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프로젝트 </a:t>
              </a:r>
              <a:r>
                <a:rPr lang="en-US" altLang="ko-KR" dirty="0"/>
                <a:t>A</a:t>
              </a:r>
              <a:endParaRPr lang="ko-KR" altLang="en-US" dirty="0"/>
            </a:p>
          </p:txBody>
        </p:sp>
        <p:cxnSp>
          <p:nvCxnSpPr>
            <p:cNvPr id="70" name="직선 화살표 연결선 69">
              <a:extLst>
                <a:ext uri="{FF2B5EF4-FFF2-40B4-BE49-F238E27FC236}">
                  <a16:creationId xmlns:a16="http://schemas.microsoft.com/office/drawing/2014/main" id="{2B0125C3-EAF5-155A-1B3D-ACEF014B39E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181066" y="2790344"/>
              <a:ext cx="457201" cy="0"/>
            </a:xfrm>
            <a:prstGeom prst="straightConnector1">
              <a:avLst/>
            </a:prstGeom>
            <a:ln w="57150">
              <a:solidFill>
                <a:schemeClr val="accent6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직사각형 73">
              <a:extLst>
                <a:ext uri="{FF2B5EF4-FFF2-40B4-BE49-F238E27FC236}">
                  <a16:creationId xmlns:a16="http://schemas.microsoft.com/office/drawing/2014/main" id="{24F6583A-0D18-C946-7123-F396A7468719}"/>
                </a:ext>
              </a:extLst>
            </p:cNvPr>
            <p:cNvSpPr/>
            <p:nvPr/>
          </p:nvSpPr>
          <p:spPr>
            <a:xfrm>
              <a:off x="5768148" y="4182162"/>
              <a:ext cx="3281082" cy="2033287"/>
            </a:xfrm>
            <a:prstGeom prst="rect">
              <a:avLst/>
            </a:prstGeom>
            <a:noFill/>
            <a:ln w="38100"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직사각형 74">
              <a:extLst>
                <a:ext uri="{FF2B5EF4-FFF2-40B4-BE49-F238E27FC236}">
                  <a16:creationId xmlns:a16="http://schemas.microsoft.com/office/drawing/2014/main" id="{324FBEBF-629C-CF1C-651A-5E7A76AB4E32}"/>
                </a:ext>
              </a:extLst>
            </p:cNvPr>
            <p:cNvSpPr/>
            <p:nvPr/>
          </p:nvSpPr>
          <p:spPr>
            <a:xfrm>
              <a:off x="6486028" y="3980476"/>
              <a:ext cx="1845316" cy="382046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b="1" dirty="0"/>
                <a:t>가상 환경 </a:t>
              </a:r>
              <a:r>
                <a:rPr lang="en-US" altLang="ko-KR" b="1" dirty="0"/>
                <a:t>B</a:t>
              </a:r>
              <a:endParaRPr lang="ko-KR" altLang="en-US" b="1" dirty="0"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50EEEBAA-90C8-C1A4-0DAC-3A737FE976BE}"/>
                </a:ext>
              </a:extLst>
            </p:cNvPr>
            <p:cNvSpPr txBox="1"/>
            <p:nvPr/>
          </p:nvSpPr>
          <p:spPr>
            <a:xfrm>
              <a:off x="6028343" y="4520309"/>
              <a:ext cx="2760692" cy="369332"/>
            </a:xfrm>
            <a:prstGeom prst="rect">
              <a:avLst/>
            </a:prstGeom>
            <a:noFill/>
            <a:ln>
              <a:solidFill>
                <a:schemeClr val="accent6">
                  <a:lumMod val="50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Python 3.8 </a:t>
              </a:r>
              <a:r>
                <a:rPr lang="ko-KR" altLang="en-US" dirty="0"/>
                <a:t>버전 실행 파일</a:t>
              </a:r>
            </a:p>
          </p:txBody>
        </p:sp>
        <p:sp>
          <p:nvSpPr>
            <p:cNvPr id="78" name="사각형: 둥근 모서리 77">
              <a:extLst>
                <a:ext uri="{FF2B5EF4-FFF2-40B4-BE49-F238E27FC236}">
                  <a16:creationId xmlns:a16="http://schemas.microsoft.com/office/drawing/2014/main" id="{A524BB6B-0C1D-8B96-2A45-A85004B57329}"/>
                </a:ext>
              </a:extLst>
            </p:cNvPr>
            <p:cNvSpPr/>
            <p:nvPr/>
          </p:nvSpPr>
          <p:spPr>
            <a:xfrm>
              <a:off x="9771851" y="4521550"/>
              <a:ext cx="2007159" cy="612578"/>
            </a:xfrm>
            <a:prstGeom prst="roundRect">
              <a:avLst>
                <a:gd name="adj" fmla="val 42627"/>
              </a:avLst>
            </a:prstGeom>
            <a:noFill/>
            <a:ln w="38100"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7D6F65CA-F0BC-1625-36AE-8E961BBE3DC0}"/>
                </a:ext>
              </a:extLst>
            </p:cNvPr>
            <p:cNvSpPr txBox="1"/>
            <p:nvPr/>
          </p:nvSpPr>
          <p:spPr>
            <a:xfrm>
              <a:off x="10268722" y="4699413"/>
              <a:ext cx="10134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main.py</a:t>
              </a:r>
              <a:endParaRPr lang="ko-KR" altLang="en-US" dirty="0"/>
            </a:p>
          </p:txBody>
        </p:sp>
        <p:sp>
          <p:nvSpPr>
            <p:cNvPr id="80" name="사각형: 둥근 모서리 79">
              <a:extLst>
                <a:ext uri="{FF2B5EF4-FFF2-40B4-BE49-F238E27FC236}">
                  <a16:creationId xmlns:a16="http://schemas.microsoft.com/office/drawing/2014/main" id="{F48A823D-E600-1D2C-775E-5B9FD08C1765}"/>
                </a:ext>
              </a:extLst>
            </p:cNvPr>
            <p:cNvSpPr/>
            <p:nvPr/>
          </p:nvSpPr>
          <p:spPr>
            <a:xfrm>
              <a:off x="10052870" y="4394559"/>
              <a:ext cx="1445122" cy="304854"/>
            </a:xfrm>
            <a:prstGeom prst="roundRect">
              <a:avLst>
                <a:gd name="adj" fmla="val 50000"/>
              </a:avLst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프로젝트 </a:t>
              </a:r>
              <a:r>
                <a:rPr lang="en-US" altLang="ko-KR" dirty="0"/>
                <a:t>B</a:t>
              </a:r>
              <a:endParaRPr lang="ko-KR" altLang="en-US" dirty="0"/>
            </a:p>
          </p:txBody>
        </p:sp>
        <p:cxnSp>
          <p:nvCxnSpPr>
            <p:cNvPr id="81" name="직선 화살표 연결선 80">
              <a:extLst>
                <a:ext uri="{FF2B5EF4-FFF2-40B4-BE49-F238E27FC236}">
                  <a16:creationId xmlns:a16="http://schemas.microsoft.com/office/drawing/2014/main" id="{9B6DB6CB-9F1B-DDAC-9537-5C6B78910F5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181066" y="4860059"/>
              <a:ext cx="457201" cy="0"/>
            </a:xfrm>
            <a:prstGeom prst="straightConnector1">
              <a:avLst/>
            </a:prstGeom>
            <a:ln w="57150">
              <a:solidFill>
                <a:schemeClr val="accent6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A06C02EF-915D-8517-2A8E-7446CEC1739C}"/>
                </a:ext>
              </a:extLst>
            </p:cNvPr>
            <p:cNvSpPr txBox="1"/>
            <p:nvPr/>
          </p:nvSpPr>
          <p:spPr>
            <a:xfrm>
              <a:off x="6019760" y="5055479"/>
              <a:ext cx="2760691" cy="369332"/>
            </a:xfrm>
            <a:prstGeom prst="rect">
              <a:avLst/>
            </a:prstGeom>
            <a:noFill/>
            <a:ln>
              <a:solidFill>
                <a:schemeClr val="accent6">
                  <a:lumMod val="50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패키지 </a:t>
              </a:r>
              <a:r>
                <a:rPr lang="en-US" altLang="ko-KR" dirty="0" err="1"/>
                <a:t>bbb</a:t>
              </a:r>
              <a:r>
                <a:rPr lang="en-US" altLang="ko-KR" dirty="0"/>
                <a:t> 1.X </a:t>
              </a:r>
              <a:r>
                <a:rPr lang="ko-KR" altLang="en-US" dirty="0"/>
                <a:t>버전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AF6C06FF-B64E-FE0D-4008-14FF159C2EC2}"/>
                </a:ext>
              </a:extLst>
            </p:cNvPr>
            <p:cNvSpPr txBox="1"/>
            <p:nvPr/>
          </p:nvSpPr>
          <p:spPr>
            <a:xfrm>
              <a:off x="6019759" y="5578292"/>
              <a:ext cx="2760691" cy="369332"/>
            </a:xfrm>
            <a:prstGeom prst="rect">
              <a:avLst/>
            </a:prstGeom>
            <a:noFill/>
            <a:ln>
              <a:solidFill>
                <a:schemeClr val="accent6">
                  <a:lumMod val="50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패키지 </a:t>
              </a:r>
              <a:r>
                <a:rPr lang="en-US" altLang="ko-KR" dirty="0"/>
                <a:t>ccc 3.X </a:t>
              </a:r>
              <a:r>
                <a:rPr lang="ko-KR" altLang="en-US" dirty="0"/>
                <a:t>버전</a:t>
              </a:r>
            </a:p>
          </p:txBody>
        </p:sp>
        <p:cxnSp>
          <p:nvCxnSpPr>
            <p:cNvPr id="85" name="직선 연결선 84">
              <a:extLst>
                <a:ext uri="{FF2B5EF4-FFF2-40B4-BE49-F238E27FC236}">
                  <a16:creationId xmlns:a16="http://schemas.microsoft.com/office/drawing/2014/main" id="{3FD517B2-51EA-5200-4C06-BA227B24BFC3}"/>
                </a:ext>
              </a:extLst>
            </p:cNvPr>
            <p:cNvCxnSpPr>
              <a:cxnSpLocks/>
            </p:cNvCxnSpPr>
            <p:nvPr/>
          </p:nvCxnSpPr>
          <p:spPr>
            <a:xfrm>
              <a:off x="5239264" y="1690688"/>
              <a:ext cx="0" cy="4858393"/>
            </a:xfrm>
            <a:prstGeom prst="line">
              <a:avLst/>
            </a:prstGeom>
            <a:ln w="28575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401950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1CA30-00E8-C1B4-4E1D-ACBAED7FF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E89FC6-E148-F14C-0AEE-6A67426B02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가상환경 사용 방법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EFB19DE-FBCA-3E20-49AC-B13D4006E5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1701221" cy="2868874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</a:t>
            </a:r>
            <a:r>
              <a:rPr lang="en-US" altLang="ko-KR" sz="2400" dirty="0" err="1"/>
              <a:t>VSCode</a:t>
            </a:r>
            <a:r>
              <a:rPr lang="ko-KR" altLang="en-US" sz="2400" dirty="0"/>
              <a:t> 사용 시 가상환경 생성</a:t>
            </a:r>
            <a:r>
              <a:rPr lang="en-US" altLang="ko-KR" sz="2400" dirty="0"/>
              <a:t>, </a:t>
            </a:r>
            <a:r>
              <a:rPr lang="ko-KR" altLang="en-US" sz="2400" dirty="0"/>
              <a:t>연결</a:t>
            </a:r>
            <a:r>
              <a:rPr lang="en-US" altLang="ko-KR" sz="2400" dirty="0"/>
              <a:t>, </a:t>
            </a:r>
            <a:r>
              <a:rPr lang="ko-KR" altLang="en-US" sz="2400" dirty="0"/>
              <a:t>패키지 관리까지 해결 됨</a:t>
            </a:r>
            <a:endParaRPr lang="en-US" altLang="ko-KR" sz="2400" dirty="0"/>
          </a:p>
          <a:p>
            <a:pPr marL="0" indent="0">
              <a:lnSpc>
                <a:spcPct val="150000"/>
              </a:lnSpc>
              <a:buNone/>
            </a:pPr>
            <a:endParaRPr lang="en-US" altLang="ko-KR" sz="2400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</a:t>
            </a:r>
            <a:r>
              <a:rPr lang="en-US" altLang="ko-KR" sz="2400" dirty="0"/>
              <a:t>Anaconda - </a:t>
            </a:r>
            <a:r>
              <a:rPr lang="ko-KR" altLang="en-US" sz="2000" dirty="0"/>
              <a:t>패키지와 가상 환경</a:t>
            </a:r>
            <a:r>
              <a:rPr lang="en-US" altLang="ko-KR" sz="2000" dirty="0"/>
              <a:t>, </a:t>
            </a:r>
            <a:r>
              <a:rPr lang="ko-KR" altLang="en-US" sz="2000" dirty="0"/>
              <a:t>개발 도구를 쉽게 사용할 수 있도록 사용을 위한 </a:t>
            </a:r>
            <a:br>
              <a:rPr lang="en-US" altLang="ko-KR" sz="2000" dirty="0"/>
            </a:br>
            <a:r>
              <a:rPr lang="en-US" altLang="ko-KR" sz="2000" dirty="0"/>
              <a:t>		      </a:t>
            </a:r>
            <a:r>
              <a:rPr lang="ko-KR" altLang="en-US" sz="2000" dirty="0"/>
              <a:t>파이썬 환경을 제공하는 소프트웨어</a:t>
            </a:r>
            <a:br>
              <a:rPr lang="en-US" altLang="ko-KR" sz="2000" dirty="0"/>
            </a:br>
            <a:r>
              <a:rPr lang="en-US" altLang="ko-KR" sz="2000" dirty="0"/>
              <a:t>	</a:t>
            </a:r>
            <a:r>
              <a:rPr lang="ko-KR" altLang="en-US" sz="2000" dirty="0"/>
              <a:t>같은 소프트웨어를 이용하여 설정 가능</a:t>
            </a:r>
            <a:endParaRPr lang="en-US" altLang="ko-KR" sz="2400" dirty="0"/>
          </a:p>
        </p:txBody>
      </p:sp>
    </p:spTree>
    <p:extLst>
      <p:ext uri="{BB962C8B-B14F-4D97-AF65-F5344CB8AC3E}">
        <p14:creationId xmlns:p14="http://schemas.microsoft.com/office/powerpoint/2010/main" val="41459147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4EF769-CB24-A25C-7261-548DFF8E1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Python vs Anaconda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ECABF6D-2958-2396-3E84-34587C3CEE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6027" y="3291478"/>
            <a:ext cx="10419945" cy="2945537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000" b="1" i="0" dirty="0">
                <a:solidFill>
                  <a:srgbClr val="24292F"/>
                </a:solidFill>
                <a:effectLst/>
              </a:rPr>
              <a:t>💡 </a:t>
            </a:r>
            <a:r>
              <a:rPr lang="en-US" altLang="ko-KR" sz="2000" b="1" i="0" dirty="0">
                <a:solidFill>
                  <a:srgbClr val="24292F"/>
                </a:solidFill>
                <a:effectLst/>
              </a:rPr>
              <a:t>Python</a:t>
            </a:r>
            <a:r>
              <a:rPr lang="ko-KR" altLang="en-US" sz="2000" b="0" i="0" dirty="0">
                <a:solidFill>
                  <a:srgbClr val="24292F"/>
                </a:solidFill>
                <a:effectLst/>
              </a:rPr>
              <a:t>은 기본적으로 패키지 관리 시스템인 </a:t>
            </a:r>
            <a:r>
              <a:rPr lang="en-US" altLang="ko-KR" sz="2000" b="0" i="0" dirty="0">
                <a:solidFill>
                  <a:srgbClr val="24292F"/>
                </a:solidFill>
                <a:effectLst/>
              </a:rPr>
              <a:t>pip</a:t>
            </a:r>
            <a:r>
              <a:rPr lang="ko-KR" altLang="en-US" sz="2000" b="0" i="0" dirty="0">
                <a:solidFill>
                  <a:srgbClr val="24292F"/>
                </a:solidFill>
                <a:effectLst/>
              </a:rPr>
              <a:t>만을 포함하고 있음</a:t>
            </a:r>
            <a:endParaRPr lang="en-US" altLang="ko-KR" sz="2000" dirty="0">
              <a:solidFill>
                <a:srgbClr val="24292F"/>
              </a:solidFill>
            </a:endParaRP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24292F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➡️ </a:t>
            </a:r>
            <a:r>
              <a:rPr lang="ko-KR" altLang="en-US" sz="1600" b="0" i="0" dirty="0">
                <a:solidFill>
                  <a:srgbClr val="24292F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필요한 툴</a:t>
            </a:r>
            <a:r>
              <a:rPr lang="en-US" altLang="ko-KR" sz="1600" b="0" i="0" dirty="0">
                <a:solidFill>
                  <a:srgbClr val="24292F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sz="1600" b="0" i="0" dirty="0">
                <a:solidFill>
                  <a:srgbClr val="24292F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패키지가 있다면 </a:t>
            </a:r>
            <a:r>
              <a:rPr lang="en-US" altLang="ko-KR" sz="1600" b="0" i="0" dirty="0">
                <a:solidFill>
                  <a:srgbClr val="24292F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pip</a:t>
            </a:r>
            <a:r>
              <a:rPr lang="ko-KR" altLang="en-US" sz="1600" b="0" i="0" dirty="0">
                <a:solidFill>
                  <a:srgbClr val="24292F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을 통해 수동으로 추가해야 함</a:t>
            </a:r>
            <a:r>
              <a:rPr lang="en-US" altLang="ko-KR" sz="1600" b="0" i="0" dirty="0">
                <a:solidFill>
                  <a:srgbClr val="24292F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24292F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➡️ 패키지가 컴퓨터 자체에 설치됨</a:t>
            </a:r>
            <a:endParaRPr lang="en-US" altLang="ko-KR" sz="1600" dirty="0">
              <a:solidFill>
                <a:srgbClr val="24292F"/>
              </a:solidFill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24292F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➡️ 프로젝트를 여러 번 진행하다 보면 필요한 패키지는 </a:t>
            </a:r>
            <a:r>
              <a:rPr lang="en-US" altLang="ko-KR" sz="1600" dirty="0">
                <a:solidFill>
                  <a:srgbClr val="24292F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2~3</a:t>
            </a:r>
            <a:r>
              <a:rPr lang="ko-KR" altLang="en-US" sz="1600" dirty="0">
                <a:solidFill>
                  <a:srgbClr val="24292F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개 정도면 되는데</a:t>
            </a:r>
            <a:r>
              <a:rPr lang="en-US" altLang="ko-KR" sz="1600" dirty="0">
                <a:solidFill>
                  <a:srgbClr val="24292F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</a:t>
            </a:r>
            <a:r>
              <a:rPr lang="ko-KR" altLang="en-US" sz="1600" dirty="0">
                <a:solidFill>
                  <a:srgbClr val="24292F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sz="1600" dirty="0">
                <a:solidFill>
                  <a:srgbClr val="24292F"/>
                </a:solidFill>
              </a:rPr>
              <a:t>더 많은</a:t>
            </a:r>
            <a:r>
              <a:rPr lang="ko-KR" altLang="en-US" sz="1600" dirty="0">
                <a:solidFill>
                  <a:srgbClr val="24292F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패키지들이 설치되어 필요 이상으로</a:t>
            </a:r>
            <a:endParaRPr lang="en-US" altLang="ko-KR" sz="1600" dirty="0">
              <a:solidFill>
                <a:srgbClr val="24292F"/>
              </a:solidFill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sz="1600" dirty="0">
                <a:solidFill>
                  <a:srgbClr val="24292F"/>
                </a:solidFill>
              </a:rPr>
              <a:t>      </a:t>
            </a:r>
            <a:r>
              <a:rPr lang="ko-KR" altLang="en-US" sz="1600" dirty="0">
                <a:solidFill>
                  <a:srgbClr val="24292F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공간을 차지하기도 함</a:t>
            </a:r>
            <a:r>
              <a:rPr lang="en-US" altLang="ko-KR" sz="1600" dirty="0">
                <a:solidFill>
                  <a:srgbClr val="24292F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</a:t>
            </a:r>
            <a:endParaRPr lang="en-US" altLang="ko-KR" sz="16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000" b="1" dirty="0"/>
              <a:t>📌 </a:t>
            </a:r>
            <a:r>
              <a:rPr lang="en-US" altLang="ko-KR" sz="2000" b="1" dirty="0"/>
              <a:t>Anaconda</a:t>
            </a:r>
            <a:r>
              <a:rPr lang="ko-KR" altLang="en-US" sz="2000" dirty="0"/>
              <a:t>는</a:t>
            </a:r>
            <a:r>
              <a:rPr lang="en-US" altLang="ko-KR" sz="2000" dirty="0"/>
              <a:t> </a:t>
            </a:r>
            <a:r>
              <a:rPr lang="ko-KR" altLang="en-US" sz="2000" dirty="0"/>
              <a:t>데이터 분석</a:t>
            </a:r>
            <a:r>
              <a:rPr lang="en-US" altLang="ko-KR" sz="2000" dirty="0"/>
              <a:t>, </a:t>
            </a:r>
            <a:r>
              <a:rPr lang="ko-KR" altLang="en-US" sz="2000" dirty="0"/>
              <a:t>머신 러닝 등에 사용하는 여러가지 패키지가 기본적으로 포함되어 있음</a:t>
            </a:r>
            <a:endParaRPr lang="en-US" altLang="ko-KR" sz="2400" dirty="0"/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C7C8F059-074D-7974-195C-2E00E3E0CA08}"/>
              </a:ext>
            </a:extLst>
          </p:cNvPr>
          <p:cNvGrpSpPr/>
          <p:nvPr/>
        </p:nvGrpSpPr>
        <p:grpSpPr>
          <a:xfrm>
            <a:off x="2684032" y="1145407"/>
            <a:ext cx="6823936" cy="1852846"/>
            <a:chOff x="1140311" y="1546092"/>
            <a:chExt cx="6823936" cy="1852846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30D78E1E-CFC3-5747-301A-A099F996C98D}"/>
                </a:ext>
              </a:extLst>
            </p:cNvPr>
            <p:cNvSpPr/>
            <p:nvPr/>
          </p:nvSpPr>
          <p:spPr>
            <a:xfrm>
              <a:off x="1140311" y="1729280"/>
              <a:ext cx="3087444" cy="1669658"/>
            </a:xfrm>
            <a:prstGeom prst="rect">
              <a:avLst/>
            </a:prstGeom>
            <a:noFill/>
            <a:ln w="38100"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488BE981-4677-D7B4-324A-888491C599DC}"/>
                </a:ext>
              </a:extLst>
            </p:cNvPr>
            <p:cNvSpPr/>
            <p:nvPr/>
          </p:nvSpPr>
          <p:spPr>
            <a:xfrm>
              <a:off x="2049332" y="1546092"/>
              <a:ext cx="1269402" cy="382046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/>
                <a:t>Python</a:t>
              </a:r>
              <a:endParaRPr lang="ko-KR" altLang="en-US" b="1" dirty="0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872FBD8F-8E64-35D4-069C-E2495F77F2AA}"/>
                </a:ext>
              </a:extLst>
            </p:cNvPr>
            <p:cNvSpPr/>
            <p:nvPr/>
          </p:nvSpPr>
          <p:spPr>
            <a:xfrm>
              <a:off x="2049332" y="2270884"/>
              <a:ext cx="1269402" cy="785308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chemeClr val="tx1"/>
                  </a:solidFill>
                </a:rPr>
                <a:t>pip</a:t>
              </a:r>
              <a:endParaRPr lang="ko-KR" altLang="en-US" b="1" dirty="0">
                <a:solidFill>
                  <a:schemeClr val="tx1"/>
                </a:solidFill>
              </a:endParaRP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D9CA9472-0F82-D61C-CB45-D755F19A3387}"/>
                </a:ext>
              </a:extLst>
            </p:cNvPr>
            <p:cNvSpPr/>
            <p:nvPr/>
          </p:nvSpPr>
          <p:spPr>
            <a:xfrm>
              <a:off x="4876803" y="1729280"/>
              <a:ext cx="3087444" cy="1669658"/>
            </a:xfrm>
            <a:prstGeom prst="rect">
              <a:avLst/>
            </a:prstGeom>
            <a:noFill/>
            <a:ln w="38100"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F5889CB0-6D2E-EF4F-A544-E462F289BDB4}"/>
                </a:ext>
              </a:extLst>
            </p:cNvPr>
            <p:cNvSpPr/>
            <p:nvPr/>
          </p:nvSpPr>
          <p:spPr>
            <a:xfrm>
              <a:off x="5785824" y="1546092"/>
              <a:ext cx="1269402" cy="382046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/>
                <a:t>Anaconda</a:t>
              </a:r>
              <a:endParaRPr lang="ko-KR" altLang="en-US" b="1" dirty="0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BE0A293A-196F-E7C6-4352-A3E97AFC0FF5}"/>
                </a:ext>
              </a:extLst>
            </p:cNvPr>
            <p:cNvSpPr/>
            <p:nvPr/>
          </p:nvSpPr>
          <p:spPr>
            <a:xfrm>
              <a:off x="5425884" y="1983518"/>
              <a:ext cx="959224" cy="580592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chemeClr val="tx1"/>
                  </a:solidFill>
                </a:rPr>
                <a:t>pip</a:t>
              </a:r>
              <a:endParaRPr lang="ko-KR" altLang="en-US" b="1" dirty="0">
                <a:solidFill>
                  <a:schemeClr val="tx1"/>
                </a:solidFill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CD77DD54-C287-2507-3A58-F1718FC8249A}"/>
                </a:ext>
              </a:extLst>
            </p:cNvPr>
            <p:cNvSpPr/>
            <p:nvPr/>
          </p:nvSpPr>
          <p:spPr>
            <a:xfrm>
              <a:off x="6420525" y="1983518"/>
              <a:ext cx="1356802" cy="664915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chemeClr val="tx1"/>
                  </a:solidFill>
                </a:rPr>
                <a:t>Pandas</a:t>
              </a:r>
              <a:endParaRPr lang="ko-KR" altLang="en-US" b="1" dirty="0">
                <a:solidFill>
                  <a:schemeClr val="tx1"/>
                </a:solidFill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0CB7A56B-8090-D990-8BDD-6CBF39F01EB7}"/>
                </a:ext>
              </a:extLst>
            </p:cNvPr>
            <p:cNvSpPr/>
            <p:nvPr/>
          </p:nvSpPr>
          <p:spPr>
            <a:xfrm>
              <a:off x="4987069" y="2564109"/>
              <a:ext cx="1433456" cy="733589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 err="1">
                  <a:solidFill>
                    <a:schemeClr val="tx1"/>
                  </a:solidFill>
                </a:rPr>
                <a:t>sklearn</a:t>
              </a:r>
              <a:endParaRPr lang="ko-KR" altLang="en-US" b="1" dirty="0">
                <a:solidFill>
                  <a:schemeClr val="tx1"/>
                </a:solidFill>
              </a:endParaRPr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0994B7AA-0130-7FAE-EDB1-C509D0D3ED9A}"/>
                </a:ext>
              </a:extLst>
            </p:cNvPr>
            <p:cNvSpPr/>
            <p:nvPr/>
          </p:nvSpPr>
          <p:spPr>
            <a:xfrm>
              <a:off x="6385108" y="2564109"/>
              <a:ext cx="1274337" cy="733589"/>
            </a:xfrm>
            <a:prstGeom prst="ellipse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 err="1">
                  <a:solidFill>
                    <a:schemeClr val="tx1"/>
                  </a:solidFill>
                </a:rPr>
                <a:t>numpy</a:t>
              </a:r>
              <a:endParaRPr lang="ko-KR" altLang="en-US" b="1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664406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4EF769-CB24-A25C-7261-548DFF8E1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VS Code </a:t>
            </a:r>
            <a:r>
              <a:rPr lang="ko-KR" altLang="en-US" dirty="0"/>
              <a:t>가상환경 설정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ECABF6D-2958-2396-3E84-34587C3CEE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900" y="2949823"/>
            <a:ext cx="11701221" cy="3216476"/>
          </a:xfrm>
        </p:spPr>
        <p:txBody>
          <a:bodyPr>
            <a:noAutofit/>
          </a:bodyPr>
          <a:lstStyle/>
          <a:p>
            <a:r>
              <a:rPr lang="ko-KR" altLang="en-US" sz="2000" dirty="0"/>
              <a:t>명령 팔레트 열기 </a:t>
            </a:r>
            <a:r>
              <a:rPr lang="en-US" altLang="ko-KR" sz="2000" dirty="0"/>
              <a:t>(</a:t>
            </a:r>
            <a:r>
              <a:rPr lang="ko-KR" altLang="en-US" sz="2000" dirty="0"/>
              <a:t>단축키</a:t>
            </a:r>
            <a:r>
              <a:rPr lang="en-US" altLang="ko-KR" sz="2000" dirty="0"/>
              <a:t>: Ctrl + Shift + P</a:t>
            </a:r>
            <a:r>
              <a:rPr lang="ko-KR" altLang="en-US" sz="2000" dirty="0"/>
              <a:t> 또는 </a:t>
            </a:r>
            <a:r>
              <a:rPr lang="en-US" altLang="ko-KR" sz="2000" dirty="0" err="1"/>
              <a:t>Cmd</a:t>
            </a:r>
            <a:r>
              <a:rPr lang="en-US" altLang="ko-KR" sz="2000" dirty="0"/>
              <a:t> + Shift + P)</a:t>
            </a:r>
          </a:p>
          <a:p>
            <a:r>
              <a:rPr lang="en-US" altLang="ko-KR" sz="2000" dirty="0"/>
              <a:t>“Python: Select Interpreter” </a:t>
            </a:r>
            <a:r>
              <a:rPr lang="ko-KR" altLang="en-US" sz="2000" dirty="0"/>
              <a:t>입력 → 선택</a:t>
            </a:r>
          </a:p>
          <a:p>
            <a:r>
              <a:rPr lang="ko-KR" altLang="en-US" sz="2000" dirty="0"/>
              <a:t>“</a:t>
            </a:r>
            <a:r>
              <a:rPr lang="en-US" altLang="ko-KR" sz="2000" dirty="0"/>
              <a:t>+ Create Environment” </a:t>
            </a:r>
            <a:r>
              <a:rPr lang="ko-KR" altLang="en-US" sz="2000" dirty="0"/>
              <a:t>클릭</a:t>
            </a:r>
          </a:p>
          <a:p>
            <a:r>
              <a:rPr lang="ko-KR" altLang="en-US" sz="2000" dirty="0"/>
              <a:t>🔹 </a:t>
            </a:r>
            <a:r>
              <a:rPr lang="en-US" altLang="ko-KR" sz="2000" dirty="0"/>
              <a:t>VS Code</a:t>
            </a:r>
            <a:r>
              <a:rPr lang="ko-KR" altLang="en-US" sz="2000" dirty="0"/>
              <a:t>가 자동으로 물어봅니다</a:t>
            </a:r>
            <a:r>
              <a:rPr lang="en-US" altLang="ko-KR" sz="2000" dirty="0"/>
              <a:t>:</a:t>
            </a:r>
          </a:p>
          <a:p>
            <a:pPr lvl="1"/>
            <a:r>
              <a:rPr lang="en-US" altLang="ko-KR" sz="1800" b="1" dirty="0" err="1"/>
              <a:t>venv</a:t>
            </a:r>
            <a:r>
              <a:rPr lang="en-US" altLang="ko-KR" sz="1800" b="1" dirty="0"/>
              <a:t> </a:t>
            </a:r>
            <a:r>
              <a:rPr lang="ko-KR" altLang="en-US" sz="1800" b="1" dirty="0" err="1"/>
              <a:t>사용할래</a:t>
            </a:r>
            <a:r>
              <a:rPr lang="en-US" altLang="ko-KR" sz="1800" b="1" dirty="0"/>
              <a:t>?</a:t>
            </a:r>
            <a:r>
              <a:rPr lang="ko-KR" altLang="en-US" sz="1800" dirty="0"/>
              <a:t> → ✅ </a:t>
            </a:r>
            <a:r>
              <a:rPr lang="en-US" altLang="ko-KR" sz="1800" dirty="0"/>
              <a:t>Yes</a:t>
            </a:r>
            <a:br>
              <a:rPr lang="en-US" altLang="ko-KR" sz="2000" dirty="0"/>
            </a:br>
            <a:endParaRPr lang="en-US" altLang="ko-KR" sz="20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C78F767-92C3-AFE9-7769-2C6DDC06A8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900" y="1328758"/>
            <a:ext cx="8230749" cy="1419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01331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5BA9B1-6595-EC9E-C418-EBED69F0C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FE4A2B-B157-8C85-0A3C-2004DA230F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가상환경 사용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F7621D2-2E06-E0BC-7235-74CAAFA1DE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460" y="3549263"/>
            <a:ext cx="8030696" cy="1905266"/>
          </a:xfrm>
          <a:prstGeom prst="rect">
            <a:avLst/>
          </a:prstGeom>
        </p:spPr>
      </p:pic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F29993F-4595-7751-5A09-502D2DA606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터미널에서 명령어 실행 시 </a:t>
            </a:r>
            <a:r>
              <a:rPr lang="en-US" altLang="ko-KR" dirty="0"/>
              <a:t>(.</a:t>
            </a:r>
            <a:r>
              <a:rPr lang="en-US" altLang="ko-KR" dirty="0" err="1"/>
              <a:t>venv</a:t>
            </a:r>
            <a:r>
              <a:rPr lang="en-US" altLang="ko-KR" dirty="0"/>
              <a:t>) </a:t>
            </a:r>
            <a:r>
              <a:rPr lang="ko-KR" altLang="en-US" dirty="0"/>
              <a:t>표시 됨</a:t>
            </a:r>
            <a:endParaRPr lang="en-US" altLang="ko-KR" dirty="0"/>
          </a:p>
          <a:p>
            <a:r>
              <a:rPr lang="en-US" altLang="ko-KR" dirty="0"/>
              <a:t>.</a:t>
            </a:r>
            <a:r>
              <a:rPr lang="en-US" altLang="ko-KR" dirty="0" err="1"/>
              <a:t>venv</a:t>
            </a:r>
            <a:r>
              <a:rPr lang="ko-KR" altLang="en-US" dirty="0"/>
              <a:t> 폴더는 </a:t>
            </a:r>
            <a:r>
              <a:rPr lang="en-US" altLang="ko-KR" dirty="0"/>
              <a:t>.</a:t>
            </a:r>
            <a:r>
              <a:rPr lang="en-US" altLang="ko-KR" dirty="0" err="1"/>
              <a:t>gitignore</a:t>
            </a:r>
            <a:r>
              <a:rPr lang="ko-KR" altLang="en-US" dirty="0"/>
              <a:t> 자동 처리</a:t>
            </a:r>
            <a:endParaRPr lang="en-US" altLang="ko-KR" dirty="0"/>
          </a:p>
          <a:p>
            <a:r>
              <a:rPr lang="ko-KR" altLang="en-US" dirty="0"/>
              <a:t>실행</a:t>
            </a:r>
            <a:r>
              <a:rPr lang="en-US" altLang="ko-KR" dirty="0"/>
              <a:t>/</a:t>
            </a:r>
            <a:r>
              <a:rPr lang="ko-KR" altLang="en-US" dirty="0"/>
              <a:t>디버깅 시 자동 선택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01161C5-8DFE-F36E-CF21-D5F76BE2A64B}"/>
              </a:ext>
            </a:extLst>
          </p:cNvPr>
          <p:cNvSpPr/>
          <p:nvPr/>
        </p:nvSpPr>
        <p:spPr>
          <a:xfrm>
            <a:off x="544460" y="5181599"/>
            <a:ext cx="812546" cy="272929"/>
          </a:xfrm>
          <a:prstGeom prst="rect">
            <a:avLst/>
          </a:prstGeom>
          <a:noFill/>
          <a:ln w="381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299897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603584D-0366-9795-1051-9A1D2B700605}"/>
              </a:ext>
            </a:extLst>
          </p:cNvPr>
          <p:cNvSpPr txBox="1"/>
          <p:nvPr/>
        </p:nvSpPr>
        <p:spPr>
          <a:xfrm>
            <a:off x="4458392" y="2600493"/>
            <a:ext cx="327525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NumPy</a:t>
            </a:r>
          </a:p>
        </p:txBody>
      </p:sp>
    </p:spTree>
    <p:extLst>
      <p:ext uri="{BB962C8B-B14F-4D97-AF65-F5344CB8AC3E}">
        <p14:creationId xmlns:p14="http://schemas.microsoft.com/office/powerpoint/2010/main" val="12331706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3E821-1191-C6F5-9408-D18E2B23C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7CEE2A-C838-2505-6C5E-A24D9200B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NumPy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7C80A1F-1998-6B59-3C5E-0CFA4513C3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2025-11-05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836E85F-1F57-FCA4-E39E-3B64E998DE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962C388B-9BC0-9F6A-7DAA-4A4AFF679B19}"/>
              </a:ext>
            </a:extLst>
          </p:cNvPr>
          <p:cNvSpPr txBox="1">
            <a:spLocks/>
          </p:cNvSpPr>
          <p:nvPr/>
        </p:nvSpPr>
        <p:spPr>
          <a:xfrm>
            <a:off x="238991" y="968699"/>
            <a:ext cx="11701221" cy="2731104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다차원 배열</a:t>
            </a:r>
            <a:r>
              <a:rPr lang="en-US" altLang="ko-KR" dirty="0"/>
              <a:t>(</a:t>
            </a:r>
            <a:r>
              <a:rPr lang="ko-KR" altLang="en-US" dirty="0"/>
              <a:t>행렬</a:t>
            </a:r>
            <a:r>
              <a:rPr lang="en-US" altLang="ko-KR" dirty="0"/>
              <a:t>)</a:t>
            </a:r>
            <a:r>
              <a:rPr lang="ko-KR" altLang="en-US" dirty="0"/>
              <a:t>을 쉽게 처리하고 효율적으로 사용할 수 있도록 지원하는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dirty="0"/>
              <a:t>      </a:t>
            </a:r>
            <a:r>
              <a:rPr lang="ko-KR" altLang="en-US" dirty="0" err="1"/>
              <a:t>파이썬의</a:t>
            </a:r>
            <a:r>
              <a:rPr lang="ko-KR" altLang="en-US" dirty="0"/>
              <a:t> 라이브러리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</a:t>
            </a:r>
            <a:r>
              <a:rPr lang="en-US" altLang="ko-KR" dirty="0"/>
              <a:t>NumPy</a:t>
            </a:r>
            <a:r>
              <a:rPr lang="ko-KR" altLang="en-US" dirty="0"/>
              <a:t>는 </a:t>
            </a:r>
            <a:r>
              <a:rPr lang="en-US" altLang="ko-KR" dirty="0"/>
              <a:t>"Numerical Python"</a:t>
            </a:r>
            <a:r>
              <a:rPr lang="ko-KR" altLang="en-US" dirty="0"/>
              <a:t>의 약자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수치해석</a:t>
            </a:r>
            <a:r>
              <a:rPr lang="en-US" altLang="ko-KR" dirty="0"/>
              <a:t>, </a:t>
            </a:r>
            <a:r>
              <a:rPr lang="ko-KR" altLang="en-US" dirty="0"/>
              <a:t>통계 관련 기능을 구현한다고 할 때 가장 기본이 되는 모듈</a:t>
            </a:r>
          </a:p>
          <a:p>
            <a:pPr marL="0" indent="0">
              <a:lnSpc>
                <a:spcPct val="150000"/>
              </a:lnSpc>
              <a:buFont typeface="Wingdings" panose="05000000000000000000" pitchFamily="2" charset="2"/>
              <a:buNone/>
            </a:pPr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DF75BEB-85AE-4B4B-E706-51E01A208507}"/>
              </a:ext>
            </a:extLst>
          </p:cNvPr>
          <p:cNvSpPr/>
          <p:nvPr/>
        </p:nvSpPr>
        <p:spPr>
          <a:xfrm>
            <a:off x="892628" y="4136820"/>
            <a:ext cx="10406743" cy="157763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altLang="ko-KR" dirty="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“NumPy is the fundamental package for array computing with Python.”</a:t>
            </a:r>
            <a:br>
              <a:rPr lang="en-US" altLang="ko-KR" dirty="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</a:br>
            <a:r>
              <a:rPr lang="en-US" altLang="ko-KR" dirty="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— </a:t>
            </a:r>
            <a:r>
              <a:rPr lang="ko-KR" altLang="en-US" dirty="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공식 문서 정의</a:t>
            </a:r>
          </a:p>
        </p:txBody>
      </p:sp>
    </p:spTree>
    <p:extLst>
      <p:ext uri="{BB962C8B-B14F-4D97-AF65-F5344CB8AC3E}">
        <p14:creationId xmlns:p14="http://schemas.microsoft.com/office/powerpoint/2010/main" val="29568909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E0D197FA-030D-6F75-6061-4456CB57D982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59" t="4189" r="14632" b="5832"/>
          <a:stretch>
            <a:fillRect/>
          </a:stretch>
        </p:blipFill>
        <p:spPr bwMode="auto">
          <a:xfrm>
            <a:off x="1405125" y="2520651"/>
            <a:ext cx="4065564" cy="26587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B88F52F-61EE-8547-F552-DA10E69D599C}"/>
              </a:ext>
            </a:extLst>
          </p:cNvPr>
          <p:cNvSpPr txBox="1"/>
          <p:nvPr/>
        </p:nvSpPr>
        <p:spPr>
          <a:xfrm>
            <a:off x="6015304" y="2654417"/>
            <a:ext cx="3299982" cy="1690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행렬의 성분을 </a:t>
            </a:r>
            <a:endParaRPr lang="en-US" altLang="ko-KR" sz="24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2400" b="1" dirty="0">
                <a:solidFill>
                  <a:srgbClr val="FF505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가로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로 배열한 줄을 </a:t>
            </a:r>
            <a:r>
              <a:rPr lang="ko-KR" altLang="en-US" sz="2400" b="1" dirty="0">
                <a:solidFill>
                  <a:srgbClr val="FF505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행</a:t>
            </a:r>
            <a:b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</a:br>
            <a:r>
              <a:rPr lang="ko-KR" altLang="en-US" sz="2400" b="1" dirty="0">
                <a:solidFill>
                  <a:srgbClr val="FF505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세로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로 배열한 줄을 </a:t>
            </a:r>
            <a:r>
              <a:rPr lang="ko-KR" altLang="en-US" sz="2400" b="1" dirty="0">
                <a:solidFill>
                  <a:srgbClr val="FF505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열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0961BB-57E1-482B-7CAB-5B957EC3C1D8}"/>
              </a:ext>
            </a:extLst>
          </p:cNvPr>
          <p:cNvSpPr txBox="1"/>
          <p:nvPr/>
        </p:nvSpPr>
        <p:spPr>
          <a:xfrm>
            <a:off x="6701824" y="4463732"/>
            <a:ext cx="4065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dirty="0"/>
              <a:t>2 x 3 </a:t>
            </a:r>
            <a:r>
              <a:rPr lang="ko-KR" altLang="en-US" sz="2400" dirty="0"/>
              <a:t>행렬 또는 </a:t>
            </a:r>
            <a:r>
              <a:rPr lang="en-US" altLang="ko-KR" sz="2400" dirty="0"/>
              <a:t>2</a:t>
            </a:r>
            <a:r>
              <a:rPr lang="ko-KR" altLang="en-US" sz="2400" dirty="0"/>
              <a:t>행 </a:t>
            </a:r>
            <a:r>
              <a:rPr lang="en-US" altLang="ko-KR" sz="2400" dirty="0"/>
              <a:t>3</a:t>
            </a:r>
            <a:r>
              <a:rPr lang="ko-KR" altLang="en-US" sz="2400" dirty="0"/>
              <a:t>열의 행렬</a:t>
            </a:r>
            <a:endParaRPr lang="ko-KR" altLang="en-US" sz="2400" b="1" dirty="0">
              <a:solidFill>
                <a:srgbClr val="FF0000"/>
              </a:solidFill>
            </a:endParaRPr>
          </a:p>
        </p:txBody>
      </p:sp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6B329C06-7829-E32D-E5E5-F9C3C6068B40}"/>
              </a:ext>
            </a:extLst>
          </p:cNvPr>
          <p:cNvSpPr/>
          <p:nvPr/>
        </p:nvSpPr>
        <p:spPr>
          <a:xfrm>
            <a:off x="6157208" y="4559444"/>
            <a:ext cx="459278" cy="270240"/>
          </a:xfrm>
          <a:prstGeom prst="rightArrow">
            <a:avLst>
              <a:gd name="adj1" fmla="val 50000"/>
              <a:gd name="adj2" fmla="val 82567"/>
            </a:avLst>
          </a:prstGeom>
          <a:ln/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9791C9EB-5BE7-C22D-A6A1-302B1EA0B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행렬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1A8A7A0A-0402-BC79-5E10-792D70CB6570}"/>
              </a:ext>
            </a:extLst>
          </p:cNvPr>
          <p:cNvSpPr txBox="1">
            <a:spLocks/>
          </p:cNvSpPr>
          <p:nvPr/>
        </p:nvSpPr>
        <p:spPr>
          <a:xfrm>
            <a:off x="238991" y="968699"/>
            <a:ext cx="11701221" cy="697580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숫자나 수식을 가로줄</a:t>
            </a:r>
            <a:r>
              <a:rPr lang="en-US" altLang="ko-KR" dirty="0"/>
              <a:t>(</a:t>
            </a:r>
            <a:r>
              <a:rPr lang="ko-KR" altLang="en-US" dirty="0"/>
              <a:t>행</a:t>
            </a:r>
            <a:r>
              <a:rPr lang="en-US" altLang="ko-KR" dirty="0"/>
              <a:t>)</a:t>
            </a:r>
            <a:r>
              <a:rPr lang="ko-KR" altLang="en-US" dirty="0"/>
              <a:t>과 세로줄</a:t>
            </a:r>
            <a:r>
              <a:rPr lang="en-US" altLang="ko-KR" dirty="0"/>
              <a:t>(</a:t>
            </a:r>
            <a:r>
              <a:rPr lang="ko-KR" altLang="en-US" dirty="0"/>
              <a:t>열</a:t>
            </a:r>
            <a:r>
              <a:rPr lang="en-US" altLang="ko-KR" dirty="0"/>
              <a:t>)</a:t>
            </a:r>
            <a:r>
              <a:rPr lang="ko-KR" altLang="en-US" dirty="0"/>
              <a:t>로 배열한 </a:t>
            </a:r>
            <a:r>
              <a:rPr lang="en-US" altLang="ko-KR" dirty="0"/>
              <a:t>2</a:t>
            </a:r>
            <a:r>
              <a:rPr lang="ko-KR" altLang="en-US" dirty="0"/>
              <a:t>차원 구조의 수학적 객체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8193167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04FD95-94C1-B7C9-D4C8-0D701DCA4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369DDF-7520-AA76-DFD0-DD0FDD246C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NumPy</a:t>
            </a:r>
            <a:r>
              <a:rPr lang="ko-KR" altLang="en-US" dirty="0"/>
              <a:t>의 필요성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10DE42-34EB-69E7-369A-54FC8A7CA0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2025-11-05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9227FD5-2A0B-9C68-301F-2725E0FE6C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87131FEB-50FE-B283-7E9E-CBED12E5E3B1}"/>
              </a:ext>
            </a:extLst>
          </p:cNvPr>
          <p:cNvSpPr txBox="1">
            <a:spLocks/>
          </p:cNvSpPr>
          <p:nvPr/>
        </p:nvSpPr>
        <p:spPr>
          <a:xfrm>
            <a:off x="238991" y="968699"/>
            <a:ext cx="11701221" cy="2731104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✅ </a:t>
            </a:r>
            <a:r>
              <a:rPr lang="ko-KR" altLang="en-US" dirty="0" err="1"/>
              <a:t>파이썬의</a:t>
            </a:r>
            <a:r>
              <a:rPr lang="ko-KR" altLang="en-US" dirty="0"/>
              <a:t> 리스트의 한계와 </a:t>
            </a:r>
            <a:r>
              <a:rPr lang="en-US" altLang="ko-KR" dirty="0"/>
              <a:t>NumPy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</a:t>
            </a:r>
            <a:r>
              <a:rPr lang="en-US" altLang="ko-KR" dirty="0"/>
              <a:t>NumPy </a:t>
            </a:r>
            <a:r>
              <a:rPr lang="ko-KR" altLang="en-US" dirty="0"/>
              <a:t>배열은 내부적으로 </a:t>
            </a:r>
            <a:r>
              <a:rPr lang="en-US" altLang="ko-KR" dirty="0"/>
              <a:t>C</a:t>
            </a:r>
            <a:r>
              <a:rPr lang="ko-KR" altLang="en-US" dirty="0"/>
              <a:t>언어 기반의 연속된 메모리 블록을 사용 → 빠른 계산 가능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</a:t>
            </a:r>
            <a:r>
              <a:rPr lang="en-US" altLang="ko-KR" dirty="0"/>
              <a:t>Python </a:t>
            </a:r>
            <a:r>
              <a:rPr lang="ko-KR" altLang="en-US" dirty="0"/>
              <a:t>리스트는 각각의 요소가 포인터로 연결된 객체이기 때문에 비효율적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</a:t>
            </a:r>
            <a:r>
              <a:rPr lang="ko-KR" altLang="en-US" dirty="0" err="1"/>
              <a:t>브로드캐스팅</a:t>
            </a:r>
            <a:r>
              <a:rPr lang="en-US" altLang="ko-KR" dirty="0"/>
              <a:t>, </a:t>
            </a:r>
            <a:r>
              <a:rPr lang="ko-KR" altLang="en-US" dirty="0"/>
              <a:t>벡터 연산 등을 통해 </a:t>
            </a:r>
            <a:r>
              <a:rPr lang="en-US" altLang="ko-KR" dirty="0"/>
              <a:t>for </a:t>
            </a:r>
            <a:r>
              <a:rPr lang="ko-KR" altLang="en-US" dirty="0"/>
              <a:t>루프 없이도 대량의 계산을 처리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602933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BDD7D1-7D42-47EF-781C-5BFDDC60A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18936C-11A3-6E35-0098-B689050767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NumPy</a:t>
            </a:r>
            <a:r>
              <a:rPr lang="ko-KR" altLang="en-US" dirty="0"/>
              <a:t>의 활용분야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AB1654A-81D3-C545-AD46-1301B7329F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2025-11-05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9137FF0-A292-1E87-BF53-76830DA67A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1487F8F8-1D00-B5DB-1639-66A6A76623A5}"/>
              </a:ext>
            </a:extLst>
          </p:cNvPr>
          <p:cNvSpPr txBox="1">
            <a:spLocks/>
          </p:cNvSpPr>
          <p:nvPr/>
        </p:nvSpPr>
        <p:spPr>
          <a:xfrm>
            <a:off x="238991" y="968699"/>
            <a:ext cx="11701221" cy="4039400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📌 과학 계산</a:t>
            </a:r>
            <a:r>
              <a:rPr lang="en-US" altLang="ko-KR" sz="2400" dirty="0"/>
              <a:t>, </a:t>
            </a:r>
            <a:r>
              <a:rPr lang="ko-KR" altLang="en-US" sz="2400" dirty="0"/>
              <a:t>데이터 분석</a:t>
            </a:r>
            <a:r>
              <a:rPr lang="en-US" altLang="ko-KR" sz="2400" dirty="0"/>
              <a:t>, </a:t>
            </a:r>
            <a:r>
              <a:rPr lang="ko-KR" altLang="en-US" sz="2400" dirty="0"/>
              <a:t>인공지능</a:t>
            </a:r>
            <a:r>
              <a:rPr lang="en-US" altLang="ko-KR" sz="2400" dirty="0"/>
              <a:t>, </a:t>
            </a:r>
            <a:r>
              <a:rPr lang="ko-KR" altLang="en-US" sz="2400" dirty="0"/>
              <a:t>통계</a:t>
            </a:r>
            <a:r>
              <a:rPr lang="en-US" altLang="ko-KR" sz="2400" dirty="0"/>
              <a:t>, </a:t>
            </a:r>
            <a:r>
              <a:rPr lang="ko-KR" altLang="en-US" sz="2400" dirty="0"/>
              <a:t>신호처리</a:t>
            </a:r>
            <a:r>
              <a:rPr lang="en-US" altLang="ko-KR" sz="2400" dirty="0"/>
              <a:t>, </a:t>
            </a:r>
            <a:r>
              <a:rPr lang="ko-KR" altLang="en-US" sz="2400" dirty="0"/>
              <a:t>이미지 처리</a:t>
            </a:r>
            <a:r>
              <a:rPr lang="en-US" altLang="ko-KR" sz="2400" dirty="0"/>
              <a:t>, </a:t>
            </a:r>
            <a:r>
              <a:rPr lang="ko-KR" altLang="en-US" sz="2400" dirty="0"/>
              <a:t>시뮬레이션</a:t>
            </a:r>
            <a:r>
              <a:rPr lang="en-US" altLang="ko-KR" sz="2400" dirty="0"/>
              <a:t>, </a:t>
            </a:r>
            <a:r>
              <a:rPr lang="ko-KR" altLang="en-US" sz="2400" dirty="0"/>
              <a:t>금융공학 등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 </a:t>
            </a:r>
            <a:r>
              <a:rPr lang="en-US" altLang="ko-KR" sz="2000" dirty="0"/>
              <a:t>Pandas, SciPy, scikit-learn, TensorFlow </a:t>
            </a:r>
            <a:r>
              <a:rPr lang="ko-KR" altLang="en-US" sz="2000" dirty="0"/>
              <a:t>등 다양한 파이썬 데이터</a:t>
            </a:r>
            <a:r>
              <a:rPr lang="en-US" altLang="ko-KR" sz="2000" dirty="0"/>
              <a:t>/AI </a:t>
            </a:r>
            <a:r>
              <a:rPr lang="ko-KR" altLang="en-US" sz="2000" dirty="0"/>
              <a:t>생태계의 기반</a:t>
            </a:r>
            <a:endParaRPr lang="en-US" altLang="ko-KR" sz="2000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대표적인 활용 예시</a:t>
            </a:r>
            <a:r>
              <a:rPr lang="en-US" altLang="ko-KR" sz="2400" dirty="0"/>
              <a:t>: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대용량 데이터의 통계 분석 및 행렬 연산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선형대수 계산 </a:t>
            </a:r>
            <a:r>
              <a:rPr lang="en-US" altLang="ko-KR" sz="2000" dirty="0"/>
              <a:t>(</a:t>
            </a:r>
            <a:r>
              <a:rPr lang="ko-KR" altLang="en-US" sz="2000" dirty="0"/>
              <a:t>벡터</a:t>
            </a:r>
            <a:r>
              <a:rPr lang="en-US" altLang="ko-KR" sz="2000" dirty="0"/>
              <a:t>/</a:t>
            </a:r>
            <a:r>
              <a:rPr lang="ko-KR" altLang="en-US" sz="2000" dirty="0"/>
              <a:t>행렬 곱</a:t>
            </a:r>
            <a:r>
              <a:rPr lang="en-US" altLang="ko-KR" sz="2000" dirty="0"/>
              <a:t>)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난수 생성</a:t>
            </a:r>
            <a:r>
              <a:rPr lang="en-US" altLang="ko-KR" sz="2000" dirty="0"/>
              <a:t>, </a:t>
            </a:r>
            <a:r>
              <a:rPr lang="ko-KR" altLang="en-US" sz="2000" dirty="0"/>
              <a:t>수학 함수 적용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이미지 데이터</a:t>
            </a:r>
            <a:r>
              <a:rPr lang="en-US" altLang="ko-KR" sz="2000" dirty="0"/>
              <a:t>(</a:t>
            </a:r>
            <a:r>
              <a:rPr lang="ko-KR" altLang="en-US" sz="2000" dirty="0"/>
              <a:t>픽셀 배열</a:t>
            </a:r>
            <a:r>
              <a:rPr lang="en-US" altLang="ko-KR" sz="2000" dirty="0"/>
              <a:t>) </a:t>
            </a:r>
            <a:r>
              <a:rPr lang="ko-KR" altLang="en-US" sz="2000" dirty="0"/>
              <a:t>처리 등</a:t>
            </a:r>
            <a:endParaRPr lang="en-US" altLang="ko-KR" sz="2400" dirty="0"/>
          </a:p>
        </p:txBody>
      </p:sp>
    </p:spTree>
    <p:extLst>
      <p:ext uri="{BB962C8B-B14F-4D97-AF65-F5344CB8AC3E}">
        <p14:creationId xmlns:p14="http://schemas.microsoft.com/office/powerpoint/2010/main" val="19676618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BD613-E26D-BA57-CE50-CDC78E2A4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F78121-078E-F618-FD6C-599F30CD09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NumPy </a:t>
            </a:r>
            <a:r>
              <a:rPr lang="ko-KR" altLang="en-US" dirty="0"/>
              <a:t>공식 문서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0BDF480-4D62-E4D1-9352-E7BFE33D64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2025-11-05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62EB2BF-0274-3A21-69CB-A6F7FC4041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B57C3CD7-7D95-668B-B60B-AEDB2ABA1F0F}"/>
              </a:ext>
            </a:extLst>
          </p:cNvPr>
          <p:cNvSpPr txBox="1">
            <a:spLocks/>
          </p:cNvSpPr>
          <p:nvPr/>
        </p:nvSpPr>
        <p:spPr>
          <a:xfrm>
            <a:off x="238991" y="968699"/>
            <a:ext cx="11701221" cy="4039400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✔️ </a:t>
            </a:r>
            <a:r>
              <a:rPr lang="en-US" altLang="ko-KR" sz="2400" dirty="0"/>
              <a:t>NumPy </a:t>
            </a:r>
            <a:r>
              <a:rPr lang="ko-KR" altLang="en-US" sz="2400" dirty="0"/>
              <a:t>공식 홈페이지</a:t>
            </a:r>
            <a:r>
              <a:rPr lang="en-US" altLang="ko-KR" sz="2400" dirty="0"/>
              <a:t>: </a:t>
            </a:r>
            <a:r>
              <a:rPr lang="en-US" altLang="ko-KR" sz="2400" dirty="0">
                <a:hlinkClick r:id="rId3"/>
              </a:rPr>
              <a:t>https://numpy.org/</a:t>
            </a:r>
            <a:endParaRPr lang="en-US" altLang="ko-KR" sz="2400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✔️ 공식 튜토리얼</a:t>
            </a:r>
            <a:r>
              <a:rPr lang="en-US" altLang="ko-KR" sz="2400" dirty="0"/>
              <a:t>: </a:t>
            </a:r>
            <a:r>
              <a:rPr lang="en-US" altLang="ko-KR" sz="2400" dirty="0">
                <a:hlinkClick r:id="rId4"/>
              </a:rPr>
              <a:t>https://numpy.org/doc/stable/user/quickstart.html</a:t>
            </a:r>
            <a:endParaRPr lang="en-US" altLang="ko-KR" sz="2400" dirty="0"/>
          </a:p>
        </p:txBody>
      </p:sp>
    </p:spTree>
    <p:extLst>
      <p:ext uri="{BB962C8B-B14F-4D97-AF65-F5344CB8AC3E}">
        <p14:creationId xmlns:p14="http://schemas.microsoft.com/office/powerpoint/2010/main" val="30372928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23A814-69F2-404A-D2AF-F04E6D676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A16D8B-9A35-18F1-4CA3-5C22F4402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NumPy </a:t>
            </a:r>
            <a:r>
              <a:rPr lang="ko-KR" altLang="en-US" dirty="0"/>
              <a:t>설치 및 기본 사용법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9CFC967-79E8-97F4-C316-8C40A99A2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2025-11-05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1FE8AC4-68AC-BC20-5D6B-69A3488CE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15</a:t>
            </a:fld>
            <a:endParaRPr lang="ko-KR" altLang="en-US"/>
          </a:p>
        </p:txBody>
      </p:sp>
      <p:pic>
        <p:nvPicPr>
          <p:cNvPr id="6" name="그림 5" descr="텍스트, 스크린샷, 폰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9B54394-2A5F-B037-2311-6DE9B37CD2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45407"/>
            <a:ext cx="12192000" cy="4814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6023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2A01E-883D-677C-DF82-65D7D61201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67BA63-114F-A74C-DF6A-303C01C14B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NumPy </a:t>
            </a:r>
            <a:r>
              <a:rPr lang="ko-KR" altLang="en-US" dirty="0"/>
              <a:t>사용 준비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7146746-F2CF-8D3C-4FA5-48D3E251F0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2025-11-05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B45EB3D-C4D9-4F91-0128-3DF89AD3BA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16</a:t>
            </a:fld>
            <a:endParaRPr lang="ko-KR" altLang="en-US"/>
          </a:p>
        </p:txBody>
      </p:sp>
      <p:pic>
        <p:nvPicPr>
          <p:cNvPr id="7" name="그림 6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A3F9194-40EC-C063-5B76-6A67D9EC6E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5" t="26005" r="7298" b="26005"/>
          <a:stretch>
            <a:fillRect/>
          </a:stretch>
        </p:blipFill>
        <p:spPr>
          <a:xfrm>
            <a:off x="880782" y="2541494"/>
            <a:ext cx="10421471" cy="177501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CC9A233-C36C-56AD-07FA-2F36FE197A5E}"/>
              </a:ext>
            </a:extLst>
          </p:cNvPr>
          <p:cNvSpPr txBox="1"/>
          <p:nvPr/>
        </p:nvSpPr>
        <p:spPr>
          <a:xfrm>
            <a:off x="777689" y="4316506"/>
            <a:ext cx="10636622" cy="5000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대부분의 파이썬 코드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/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강의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/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공식문서에서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np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라는 별칭을 사용함</a:t>
            </a:r>
          </a:p>
        </p:txBody>
      </p:sp>
    </p:spTree>
    <p:extLst>
      <p:ext uri="{BB962C8B-B14F-4D97-AF65-F5344CB8AC3E}">
        <p14:creationId xmlns:p14="http://schemas.microsoft.com/office/powerpoint/2010/main" val="41657298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AE1CC-1C86-91C2-44BD-FA2205F278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FFEA76A-C1E7-CC0D-F33E-254A6948B1B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57" t="17371" r="7250" b="17371"/>
          <a:stretch>
            <a:fillRect/>
          </a:stretch>
        </p:blipFill>
        <p:spPr>
          <a:xfrm>
            <a:off x="1035050" y="1663700"/>
            <a:ext cx="10134600" cy="35306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DA03A440-8343-9B72-0036-5F19187635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NumPy </a:t>
            </a:r>
            <a:r>
              <a:rPr lang="ko-KR" altLang="en-US" dirty="0"/>
              <a:t>배열 생성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076D8FA-4BA5-58EF-E09B-DD51231AFE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2025-11-05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3AD8BD5-1720-80ED-4A7A-3BBB7E459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DA3A14-7910-B252-5FA2-6CF8A711C317}"/>
              </a:ext>
            </a:extLst>
          </p:cNvPr>
          <p:cNvSpPr txBox="1"/>
          <p:nvPr/>
        </p:nvSpPr>
        <p:spPr>
          <a:xfrm>
            <a:off x="918366" y="5212584"/>
            <a:ext cx="10251284" cy="5000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b="1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np.array</a:t>
            </a:r>
            <a:r>
              <a:rPr lang="en-US" altLang="ko-KR" sz="2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파이썬 리스트나 </a:t>
            </a:r>
            <a:r>
              <a:rPr lang="ko-KR" altLang="en-US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튜플을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NumPy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배열로 변환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C631294B-54F2-12D2-DB6A-5B859DE90746}"/>
              </a:ext>
            </a:extLst>
          </p:cNvPr>
          <p:cNvSpPr/>
          <p:nvPr/>
        </p:nvSpPr>
        <p:spPr>
          <a:xfrm>
            <a:off x="1784350" y="3752851"/>
            <a:ext cx="4641850" cy="316328"/>
          </a:xfrm>
          <a:prstGeom prst="rect">
            <a:avLst/>
          </a:prstGeom>
          <a:noFill/>
          <a:ln w="381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269946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1789F-2F23-6E1B-E00D-9345121F7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18E4FF6-226A-4A03-F0D2-72D64EA0FC42}"/>
              </a:ext>
            </a:extLst>
          </p:cNvPr>
          <p:cNvSpPr txBox="1"/>
          <p:nvPr/>
        </p:nvSpPr>
        <p:spPr>
          <a:xfrm>
            <a:off x="4256415" y="2600493"/>
            <a:ext cx="367921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6000" dirty="0" err="1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ndarray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58183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83A85E-DDCF-3D9B-C3C2-965299220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8ECF97-F79D-2927-090A-1642147A50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ndarray</a:t>
            </a:r>
            <a:r>
              <a:rPr lang="en-US" altLang="ko-KR" dirty="0"/>
              <a:t> </a:t>
            </a:r>
            <a:r>
              <a:rPr lang="ko-KR" altLang="en-US" dirty="0"/>
              <a:t>개념과 특징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04D5BC-34C0-3E8C-5D71-49054872FF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2025-11-05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DFE6879-DECB-024E-56E1-8895F84AB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3" name="내용 개체 틀 3">
            <a:extLst>
              <a:ext uri="{FF2B5EF4-FFF2-40B4-BE49-F238E27FC236}">
                <a16:creationId xmlns:a16="http://schemas.microsoft.com/office/drawing/2014/main" id="{0B299AFB-0B7D-FC32-3519-A58A9E97E6D8}"/>
              </a:ext>
            </a:extLst>
          </p:cNvPr>
          <p:cNvSpPr txBox="1">
            <a:spLocks/>
          </p:cNvSpPr>
          <p:nvPr/>
        </p:nvSpPr>
        <p:spPr>
          <a:xfrm>
            <a:off x="238991" y="968699"/>
            <a:ext cx="11701221" cy="2731104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</a:t>
            </a:r>
            <a:r>
              <a:rPr lang="en-US" altLang="ko-KR" dirty="0"/>
              <a:t>NumPy</a:t>
            </a:r>
            <a:r>
              <a:rPr lang="ko-KR" altLang="en-US" dirty="0"/>
              <a:t>의 핵심 데이터 구조로</a:t>
            </a:r>
            <a:r>
              <a:rPr lang="en-US" altLang="ko-KR" dirty="0"/>
              <a:t>, </a:t>
            </a:r>
            <a:r>
              <a:rPr lang="ko-KR" altLang="en-US" dirty="0"/>
              <a:t>동일한 자료형을 가진 다차원 배열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</a:t>
            </a:r>
            <a:r>
              <a:rPr lang="en-US" altLang="ko-KR" dirty="0"/>
              <a:t>Python</a:t>
            </a:r>
            <a:r>
              <a:rPr lang="ko-KR" altLang="en-US" dirty="0"/>
              <a:t>의 리스트보다 성능과 메모리 효율성에서 우수</a:t>
            </a:r>
            <a:endParaRPr lang="en-US" altLang="ko-KR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42C07C3-6F85-21ED-56FA-D7AFD1E218BF}"/>
              </a:ext>
            </a:extLst>
          </p:cNvPr>
          <p:cNvSpPr/>
          <p:nvPr/>
        </p:nvSpPr>
        <p:spPr>
          <a:xfrm>
            <a:off x="886229" y="3273745"/>
            <a:ext cx="10406743" cy="157763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altLang="ko-KR" dirty="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“An </a:t>
            </a:r>
            <a:r>
              <a:rPr lang="en-US" altLang="ko-KR" dirty="0" err="1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ndarray</a:t>
            </a:r>
            <a:r>
              <a:rPr lang="en-US" altLang="ko-KR" dirty="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is a (usually fixed-size) multidimensional container of items of the same type and size. The number of dimensions is the rank of the array.”</a:t>
            </a:r>
            <a:br>
              <a:rPr lang="en-US" altLang="ko-KR" dirty="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</a:br>
            <a:r>
              <a:rPr lang="en-US" altLang="ko-KR" dirty="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— </a:t>
            </a:r>
            <a:r>
              <a:rPr lang="ko-KR" altLang="en-US" dirty="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공식 문서 정의</a:t>
            </a:r>
          </a:p>
        </p:txBody>
      </p:sp>
    </p:spTree>
    <p:extLst>
      <p:ext uri="{BB962C8B-B14F-4D97-AF65-F5344CB8AC3E}">
        <p14:creationId xmlns:p14="http://schemas.microsoft.com/office/powerpoint/2010/main" val="21946337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4EF769-CB24-A25C-7261-548DFF8E1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Python List vs </a:t>
            </a:r>
            <a:r>
              <a:rPr lang="en-US" altLang="ko-KR" dirty="0" err="1"/>
              <a:t>ndarray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22326BF7-6657-EB07-A988-8A47664FC0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5389" y="1354297"/>
            <a:ext cx="11701221" cy="4149405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b="1" dirty="0"/>
              <a:t>💡 </a:t>
            </a:r>
            <a:r>
              <a:rPr lang="en-US" altLang="ko-KR" b="1" dirty="0"/>
              <a:t>Python</a:t>
            </a:r>
            <a:r>
              <a:rPr lang="ko-KR" altLang="en-US" b="1" dirty="0"/>
              <a:t>의 </a:t>
            </a:r>
            <a:r>
              <a:rPr lang="en-US" altLang="ko-KR" b="1" dirty="0"/>
              <a:t>list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다양한 자료형을 담을 수 있는 </a:t>
            </a:r>
            <a:r>
              <a:rPr lang="ko-KR" altLang="en-US" b="1" dirty="0"/>
              <a:t>가변 길이의 시퀀스 자료형</a:t>
            </a:r>
            <a:endParaRPr lang="ko-KR" altLang="en-US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</a:t>
            </a:r>
            <a:r>
              <a:rPr lang="en-US" altLang="ko-KR" dirty="0"/>
              <a:t>1</a:t>
            </a:r>
            <a:r>
              <a:rPr lang="ko-KR" altLang="en-US" dirty="0"/>
              <a:t>차원부터 </a:t>
            </a:r>
            <a:r>
              <a:rPr lang="en-US" altLang="ko-KR" dirty="0"/>
              <a:t>n</a:t>
            </a:r>
            <a:r>
              <a:rPr lang="ko-KR" altLang="en-US" dirty="0"/>
              <a:t>차원까지 </a:t>
            </a:r>
            <a:r>
              <a:rPr lang="ko-KR" altLang="en-US" b="1" dirty="0"/>
              <a:t>중첩 리스트</a:t>
            </a:r>
            <a:r>
              <a:rPr lang="ko-KR" altLang="en-US" dirty="0"/>
              <a:t>로 표현 가능하지만</a:t>
            </a:r>
            <a:r>
              <a:rPr lang="en-US" altLang="ko-KR" dirty="0"/>
              <a:t>, </a:t>
            </a:r>
            <a:r>
              <a:rPr lang="ko-KR" altLang="en-US" dirty="0"/>
              <a:t>명시적인 다차원 구조는 없음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b="1" dirty="0"/>
              <a:t>💡 </a:t>
            </a:r>
            <a:r>
              <a:rPr lang="en-US" altLang="ko-KR" b="1" dirty="0"/>
              <a:t>NumPy</a:t>
            </a:r>
            <a:r>
              <a:rPr lang="ko-KR" altLang="en-US" b="1" dirty="0"/>
              <a:t>의 </a:t>
            </a:r>
            <a:r>
              <a:rPr lang="en-US" altLang="ko-KR" b="1" dirty="0" err="1"/>
              <a:t>ndarray</a:t>
            </a:r>
            <a:endParaRPr lang="en-US" altLang="ko-KR" b="1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동일한 자료형의 데이터를 </a:t>
            </a:r>
            <a:r>
              <a:rPr lang="ko-KR" altLang="en-US" b="1" dirty="0"/>
              <a:t>정해진 크기의 다차원 배열</a:t>
            </a:r>
            <a:r>
              <a:rPr lang="ko-KR" altLang="en-US" dirty="0"/>
              <a:t>로 저장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</a:t>
            </a:r>
            <a:r>
              <a:rPr lang="ko-KR" altLang="en-US" b="1" dirty="0"/>
              <a:t>수치 계산에 최적화된 </a:t>
            </a:r>
            <a:r>
              <a:rPr lang="ko-KR" altLang="en-US" b="1" dirty="0" err="1"/>
              <a:t>자료구조</a:t>
            </a:r>
            <a:r>
              <a:rPr lang="ko-KR" altLang="en-US" dirty="0" err="1"/>
              <a:t>이며</a:t>
            </a:r>
            <a:r>
              <a:rPr lang="en-US" altLang="ko-KR" dirty="0"/>
              <a:t>, </a:t>
            </a:r>
            <a:r>
              <a:rPr lang="ko-KR" altLang="en-US" dirty="0"/>
              <a:t>내부적으로 </a:t>
            </a:r>
            <a:r>
              <a:rPr lang="en-US" altLang="ko-KR" b="1" dirty="0"/>
              <a:t>C</a:t>
            </a:r>
            <a:r>
              <a:rPr lang="ko-KR" altLang="en-US" b="1" dirty="0"/>
              <a:t>언어 기반의 연속 메모리 구조</a:t>
            </a:r>
            <a:r>
              <a:rPr lang="ko-KR" altLang="en-US" dirty="0"/>
              <a:t> 사용</a:t>
            </a:r>
          </a:p>
        </p:txBody>
      </p:sp>
    </p:spTree>
    <p:extLst>
      <p:ext uri="{BB962C8B-B14F-4D97-AF65-F5344CB8AC3E}">
        <p14:creationId xmlns:p14="http://schemas.microsoft.com/office/powerpoint/2010/main" val="11425375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8A120-014E-E7BB-7181-3853FD795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DA7779-7523-0880-94C1-8B07ABAA5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Python List vs </a:t>
            </a:r>
            <a:r>
              <a:rPr lang="en-US" altLang="ko-KR" dirty="0" err="1"/>
              <a:t>ndarray</a:t>
            </a:r>
            <a:endParaRPr lang="ko-KR" altLang="en-US" dirty="0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4AE5024F-0E7C-8C7D-C27B-26B787060A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9329" y="2378817"/>
            <a:ext cx="5057520" cy="2118299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altLang="ko-KR" b="1" dirty="0">
                <a:latin typeface="+mj-lt"/>
              </a:rPr>
              <a:t>1️⃣ </a:t>
            </a:r>
            <a:r>
              <a:rPr lang="ko-KR" altLang="en-US" b="1" dirty="0">
                <a:latin typeface="+mj-lt"/>
              </a:rPr>
              <a:t>자료형의 차이</a:t>
            </a:r>
            <a:endParaRPr lang="en-US" altLang="ko-KR" b="1" dirty="0">
              <a:latin typeface="+mj-lt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000" dirty="0">
                <a:latin typeface="+mj-lt"/>
              </a:rPr>
              <a:t>✔️ </a:t>
            </a:r>
            <a:r>
              <a:rPr lang="en-US" altLang="ko-KR" sz="2000" dirty="0">
                <a:latin typeface="+mj-lt"/>
              </a:rPr>
              <a:t>[List] </a:t>
            </a:r>
            <a:r>
              <a:rPr lang="ko-KR" altLang="en-US" sz="2000" dirty="0"/>
              <a:t>원소로 여러 가지 자료형을 허용</a:t>
            </a:r>
            <a:endParaRPr lang="en-US" altLang="ko-KR" sz="2000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000" dirty="0"/>
              <a:t>✔️ </a:t>
            </a:r>
            <a:r>
              <a:rPr lang="en-US" altLang="ko-KR" sz="2000" dirty="0">
                <a:latin typeface="+mj-lt"/>
              </a:rPr>
              <a:t>[</a:t>
            </a:r>
            <a:r>
              <a:rPr lang="en-US" altLang="ko-KR" sz="2000" dirty="0" err="1">
                <a:latin typeface="+mj-lt"/>
              </a:rPr>
              <a:t>Ndarray</a:t>
            </a:r>
            <a:r>
              <a:rPr lang="en-US" altLang="ko-KR" sz="2000" dirty="0">
                <a:latin typeface="+mj-lt"/>
              </a:rPr>
              <a:t>] </a:t>
            </a:r>
            <a:r>
              <a:rPr lang="ko-KR" altLang="en-US" sz="2000" dirty="0"/>
              <a:t>원소로 한 가지 자료형만 허용</a:t>
            </a:r>
            <a:endParaRPr lang="en-US" altLang="ko-KR" sz="2000" dirty="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C91E2281-EAF1-2975-0801-7BE81C6111E8}"/>
              </a:ext>
            </a:extLst>
          </p:cNvPr>
          <p:cNvGrpSpPr/>
          <p:nvPr/>
        </p:nvGrpSpPr>
        <p:grpSpPr>
          <a:xfrm>
            <a:off x="6335151" y="2150413"/>
            <a:ext cx="5057520" cy="2557172"/>
            <a:chOff x="6296280" y="3004182"/>
            <a:chExt cx="5057520" cy="2557172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1E4A2A7F-EE48-784A-105B-407E6DCFEA0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96280" y="3004182"/>
              <a:ext cx="5057520" cy="2557172"/>
            </a:xfrm>
            <a:prstGeom prst="rect">
              <a:avLst/>
            </a:prstGeom>
          </p:spPr>
        </p:pic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72AE33DD-72AC-FB96-42AA-0D74AF460086}"/>
                </a:ext>
              </a:extLst>
            </p:cNvPr>
            <p:cNvSpPr/>
            <p:nvPr/>
          </p:nvSpPr>
          <p:spPr>
            <a:xfrm>
              <a:off x="6483927" y="5109297"/>
              <a:ext cx="2410691" cy="32514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5742129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4EF769-CB24-A25C-7261-548DFF8E1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Python List vs </a:t>
            </a:r>
            <a:r>
              <a:rPr lang="en-US" altLang="ko-KR" dirty="0" err="1"/>
              <a:t>ndarray</a:t>
            </a:r>
            <a:endParaRPr lang="ko-KR" altLang="en-US" dirty="0">
              <a:solidFill>
                <a:srgbClr val="00B0F0"/>
              </a:solidFill>
            </a:endParaRP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4575BE58-97A1-6FF7-2AB0-58394E8A93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5005" y="2593695"/>
            <a:ext cx="5445628" cy="175096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dirty="0">
                <a:latin typeface="+mj-ea"/>
                <a:ea typeface="+mj-ea"/>
              </a:rPr>
              <a:t>2️⃣ </a:t>
            </a:r>
            <a:r>
              <a:rPr lang="ko-KR" altLang="en-US" dirty="0">
                <a:latin typeface="+mj-ea"/>
                <a:ea typeface="+mj-ea"/>
              </a:rPr>
              <a:t>내부 배열의 원소 개수</a:t>
            </a:r>
            <a:endParaRPr lang="en-US" altLang="ko-KR" dirty="0">
              <a:latin typeface="+mj-ea"/>
              <a:ea typeface="+mj-ea"/>
            </a:endParaRPr>
          </a:p>
          <a:p>
            <a:pPr marL="0" indent="0">
              <a:buNone/>
            </a:pPr>
            <a:r>
              <a:rPr lang="ko-KR" altLang="en-US" sz="2000" dirty="0">
                <a:latin typeface="+mj-lt"/>
              </a:rPr>
              <a:t>✔️ </a:t>
            </a:r>
            <a:r>
              <a:rPr lang="en-US" altLang="ko-KR" sz="2000" dirty="0">
                <a:latin typeface="+mj-lt"/>
              </a:rPr>
              <a:t>[List] </a:t>
            </a:r>
            <a:r>
              <a:rPr lang="ko-KR" altLang="en-US" sz="2000" dirty="0"/>
              <a:t>내부 배열의 원소 개수가 달라도 됨</a:t>
            </a:r>
            <a:endParaRPr lang="en-US" altLang="ko-KR" sz="2000" dirty="0"/>
          </a:p>
          <a:p>
            <a:pPr marL="0" indent="0">
              <a:buNone/>
            </a:pPr>
            <a:r>
              <a:rPr lang="ko-KR" altLang="en-US" sz="2000" dirty="0">
                <a:latin typeface="+mj-lt"/>
              </a:rPr>
              <a:t>✔️ </a:t>
            </a:r>
            <a:r>
              <a:rPr lang="en-US" altLang="ko-KR" sz="2000" dirty="0">
                <a:latin typeface="+mj-lt"/>
              </a:rPr>
              <a:t>[</a:t>
            </a:r>
            <a:r>
              <a:rPr lang="en-US" altLang="ko-KR" sz="2000" dirty="0" err="1">
                <a:latin typeface="+mj-lt"/>
              </a:rPr>
              <a:t>Ndarray</a:t>
            </a:r>
            <a:r>
              <a:rPr lang="en-US" altLang="ko-KR" sz="2000" dirty="0">
                <a:latin typeface="+mj-lt"/>
              </a:rPr>
              <a:t>] </a:t>
            </a:r>
            <a:r>
              <a:rPr lang="ko-KR" altLang="en-US" sz="2000" dirty="0"/>
              <a:t>내부 배열의 원소 개수가 같아야 함</a:t>
            </a:r>
            <a:endParaRPr lang="en-US" altLang="ko-KR" sz="2000" dirty="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1D5FBC11-76FA-7D7C-70CB-52786ADD0CD9}"/>
              </a:ext>
            </a:extLst>
          </p:cNvPr>
          <p:cNvGrpSpPr/>
          <p:nvPr/>
        </p:nvGrpSpPr>
        <p:grpSpPr>
          <a:xfrm>
            <a:off x="6768920" y="1520313"/>
            <a:ext cx="4918075" cy="2824348"/>
            <a:chOff x="5932475" y="2407921"/>
            <a:chExt cx="5748860" cy="3301451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9CB1F550-4BAA-C9D6-C67D-5AF34E85CC9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932475" y="2407921"/>
              <a:ext cx="5748860" cy="3301451"/>
            </a:xfrm>
            <a:prstGeom prst="rect">
              <a:avLst/>
            </a:prstGeom>
          </p:spPr>
        </p:pic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CD2FD15B-C84C-B11C-068F-EB0AB3D148CF}"/>
                </a:ext>
              </a:extLst>
            </p:cNvPr>
            <p:cNvSpPr/>
            <p:nvPr/>
          </p:nvSpPr>
          <p:spPr>
            <a:xfrm>
              <a:off x="8052953" y="4454669"/>
              <a:ext cx="3429002" cy="242021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84C2ECD1-4359-F295-A640-47DD5CA31C69}"/>
                </a:ext>
              </a:extLst>
            </p:cNvPr>
            <p:cNvSpPr/>
            <p:nvPr/>
          </p:nvSpPr>
          <p:spPr>
            <a:xfrm>
              <a:off x="5963648" y="4696690"/>
              <a:ext cx="4707816" cy="242021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3" name="그림 12">
            <a:extLst>
              <a:ext uri="{FF2B5EF4-FFF2-40B4-BE49-F238E27FC236}">
                <a16:creationId xmlns:a16="http://schemas.microsoft.com/office/drawing/2014/main" id="{C4466854-D217-02D1-9AC5-A9F0CF5740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8920" y="4516093"/>
            <a:ext cx="3571010" cy="1498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54738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4EF769-CB24-A25C-7261-548DFF8E1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Python List vs </a:t>
            </a:r>
            <a:r>
              <a:rPr lang="en-US" altLang="ko-KR" dirty="0" err="1"/>
              <a:t>ndarray</a:t>
            </a:r>
            <a:endParaRPr lang="ko-KR" altLang="en-US" dirty="0">
              <a:solidFill>
                <a:srgbClr val="00B0F0"/>
              </a:solidFill>
            </a:endParaRPr>
          </a:p>
        </p:txBody>
      </p:sp>
      <p:sp>
        <p:nvSpPr>
          <p:cNvPr id="7" name="내용 개체 틀 4">
            <a:extLst>
              <a:ext uri="{FF2B5EF4-FFF2-40B4-BE49-F238E27FC236}">
                <a16:creationId xmlns:a16="http://schemas.microsoft.com/office/drawing/2014/main" id="{BE844D45-7634-68EC-3619-1A421A4BDA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511167"/>
            <a:ext cx="2378871" cy="59898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dirty="0">
                <a:latin typeface="+mj-ea"/>
                <a:ea typeface="+mj-ea"/>
              </a:rPr>
              <a:t>3️⃣ </a:t>
            </a:r>
            <a:r>
              <a:rPr lang="ko-KR" altLang="en-US" dirty="0">
                <a:latin typeface="+mj-ea"/>
                <a:ea typeface="+mj-ea"/>
              </a:rPr>
              <a:t>연산의 차이</a:t>
            </a:r>
            <a:endParaRPr lang="en-US" altLang="ko-KR" dirty="0">
              <a:latin typeface="+mj-ea"/>
              <a:ea typeface="+mj-ea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452351A-1D5B-9976-6152-448CC4F264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3426" y="3099070"/>
            <a:ext cx="2993266" cy="179596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5F757BE7-DBC7-CDD5-B064-20D96C7F34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0253" y="3098048"/>
            <a:ext cx="4172433" cy="179596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5B348AF-C54C-E785-ED7C-70A7273FB581}"/>
              </a:ext>
            </a:extLst>
          </p:cNvPr>
          <p:cNvSpPr txBox="1"/>
          <p:nvPr/>
        </p:nvSpPr>
        <p:spPr>
          <a:xfrm>
            <a:off x="1483426" y="5008279"/>
            <a:ext cx="31245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latin typeface="+mj-ea"/>
                <a:ea typeface="+mj-ea"/>
              </a:rPr>
              <a:t>✔️빼기</a:t>
            </a:r>
            <a:r>
              <a:rPr lang="en-US" altLang="ko-KR" sz="1600" dirty="0">
                <a:latin typeface="+mj-ea"/>
                <a:ea typeface="+mj-ea"/>
              </a:rPr>
              <a:t>, </a:t>
            </a:r>
            <a:r>
              <a:rPr lang="ko-KR" altLang="en-US" sz="1600" dirty="0">
                <a:latin typeface="+mj-ea"/>
                <a:ea typeface="+mj-ea"/>
              </a:rPr>
              <a:t>곱하기</a:t>
            </a:r>
            <a:r>
              <a:rPr lang="en-US" altLang="ko-KR" sz="1600" dirty="0">
                <a:latin typeface="+mj-ea"/>
                <a:ea typeface="+mj-ea"/>
              </a:rPr>
              <a:t>, </a:t>
            </a:r>
            <a:r>
              <a:rPr lang="ko-KR" altLang="en-US" sz="1600" dirty="0">
                <a:latin typeface="+mj-ea"/>
                <a:ea typeface="+mj-ea"/>
              </a:rPr>
              <a:t>나누기</a:t>
            </a:r>
            <a:r>
              <a:rPr lang="ko-KR" altLang="en-US" sz="1600" dirty="0"/>
              <a:t> 연산은 불가</a:t>
            </a:r>
            <a:r>
              <a:rPr lang="en-US" altLang="ko-KR" sz="1600" dirty="0"/>
              <a:t> </a:t>
            </a:r>
            <a:endParaRPr lang="ko-KR" altLang="en-US" sz="16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2B2B9D9-2CDD-1465-5A9C-C64E127AFB3E}"/>
              </a:ext>
            </a:extLst>
          </p:cNvPr>
          <p:cNvSpPr txBox="1"/>
          <p:nvPr/>
        </p:nvSpPr>
        <p:spPr>
          <a:xfrm>
            <a:off x="6170253" y="5008279"/>
            <a:ext cx="348204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latin typeface="+mj-ea"/>
                <a:ea typeface="+mj-ea"/>
              </a:rPr>
              <a:t>✔️산술 연산 </a:t>
            </a:r>
            <a:r>
              <a:rPr lang="en-US" altLang="ko-KR" sz="1600" dirty="0">
                <a:latin typeface="+mj-ea"/>
                <a:ea typeface="+mj-ea"/>
              </a:rPr>
              <a:t>: </a:t>
            </a:r>
            <a:r>
              <a:rPr lang="ko-KR" altLang="en-US" sz="1600" dirty="0"/>
              <a:t>같은 위치의 원소끼리 연산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37C5A2-84B4-332C-FABD-45F9E3761A97}"/>
              </a:ext>
            </a:extLst>
          </p:cNvPr>
          <p:cNvSpPr txBox="1"/>
          <p:nvPr/>
        </p:nvSpPr>
        <p:spPr>
          <a:xfrm>
            <a:off x="1441222" y="2524156"/>
            <a:ext cx="100466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dirty="0">
                <a:latin typeface="+mj-lt"/>
              </a:rPr>
              <a:t>[List] </a:t>
            </a:r>
            <a:endParaRPr lang="ko-KR" altLang="en-US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ED9CBB-912E-B78A-14AF-EDCA1E872091}"/>
              </a:ext>
            </a:extLst>
          </p:cNvPr>
          <p:cNvSpPr txBox="1"/>
          <p:nvPr/>
        </p:nvSpPr>
        <p:spPr>
          <a:xfrm>
            <a:off x="6099913" y="2528739"/>
            <a:ext cx="164697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dirty="0">
                <a:latin typeface="+mj-lt"/>
              </a:rPr>
              <a:t>[</a:t>
            </a:r>
            <a:r>
              <a:rPr lang="en-US" altLang="ko-KR" sz="2400" dirty="0" err="1">
                <a:latin typeface="+mj-lt"/>
              </a:rPr>
              <a:t>Ndarray</a:t>
            </a:r>
            <a:r>
              <a:rPr lang="en-US" altLang="ko-KR" sz="2400" dirty="0">
                <a:latin typeface="+mj-lt"/>
              </a:rPr>
              <a:t>]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42085736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4EF769-CB24-A25C-7261-548DFF8E1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Python List vs </a:t>
            </a:r>
            <a:r>
              <a:rPr lang="en-US" altLang="ko-KR" dirty="0" err="1"/>
              <a:t>ndarray</a:t>
            </a:r>
            <a:endParaRPr lang="ko-KR" altLang="en-US" dirty="0">
              <a:solidFill>
                <a:srgbClr val="00B0F0"/>
              </a:solidFill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B411D53-3DA0-F0D1-6910-E3594600D9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270103"/>
            <a:ext cx="3515592" cy="1946133"/>
          </a:xfrm>
          <a:prstGeom prst="rect">
            <a:avLst/>
          </a:prstGeom>
        </p:spPr>
      </p:pic>
      <p:grpSp>
        <p:nvGrpSpPr>
          <p:cNvPr id="3" name="그룹 2">
            <a:extLst>
              <a:ext uri="{FF2B5EF4-FFF2-40B4-BE49-F238E27FC236}">
                <a16:creationId xmlns:a16="http://schemas.microsoft.com/office/drawing/2014/main" id="{1F7F845B-ABD0-F5AE-2596-8C56A9927333}"/>
              </a:ext>
            </a:extLst>
          </p:cNvPr>
          <p:cNvGrpSpPr/>
          <p:nvPr/>
        </p:nvGrpSpPr>
        <p:grpSpPr>
          <a:xfrm>
            <a:off x="5101937" y="3224650"/>
            <a:ext cx="6251863" cy="1433152"/>
            <a:chOff x="5101937" y="3897385"/>
            <a:chExt cx="6251863" cy="1433152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9FAA331E-D19C-D94A-FC27-4C1874B3C4D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01937" y="3897385"/>
              <a:ext cx="6251863" cy="1433152"/>
            </a:xfrm>
            <a:prstGeom prst="rect">
              <a:avLst/>
            </a:prstGeom>
          </p:spPr>
        </p:pic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C8FC2630-3825-B96F-D571-7314DEB018E8}"/>
                </a:ext>
              </a:extLst>
            </p:cNvPr>
            <p:cNvSpPr/>
            <p:nvPr/>
          </p:nvSpPr>
          <p:spPr>
            <a:xfrm>
              <a:off x="5225894" y="4839278"/>
              <a:ext cx="5996288" cy="37695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0" name="내용 개체 틀 4">
            <a:extLst>
              <a:ext uri="{FF2B5EF4-FFF2-40B4-BE49-F238E27FC236}">
                <a16:creationId xmlns:a16="http://schemas.microsoft.com/office/drawing/2014/main" id="{FA4EF7EB-D266-F348-E378-F5132A58AE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511167"/>
            <a:ext cx="2378871" cy="59898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dirty="0">
                <a:latin typeface="+mj-ea"/>
                <a:ea typeface="+mj-ea"/>
              </a:rPr>
              <a:t>3️⃣ </a:t>
            </a:r>
            <a:r>
              <a:rPr lang="ko-KR" altLang="en-US" dirty="0">
                <a:latin typeface="+mj-ea"/>
                <a:ea typeface="+mj-ea"/>
              </a:rPr>
              <a:t>연산의 차이</a:t>
            </a:r>
            <a:endParaRPr lang="en-US" altLang="ko-KR" dirty="0">
              <a:latin typeface="+mj-ea"/>
              <a:ea typeface="+mj-ea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9ACCBE-106E-BBF8-748E-00029CDC2744}"/>
              </a:ext>
            </a:extLst>
          </p:cNvPr>
          <p:cNvSpPr txBox="1"/>
          <p:nvPr/>
        </p:nvSpPr>
        <p:spPr>
          <a:xfrm>
            <a:off x="765974" y="2762985"/>
            <a:ext cx="100466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dirty="0">
                <a:latin typeface="+mj-lt"/>
              </a:rPr>
              <a:t>[List] </a:t>
            </a:r>
            <a:endParaRPr lang="ko-KR" altLang="en-US" sz="2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466E19C-3DFF-369B-AAEA-9A3786514FCF}"/>
              </a:ext>
            </a:extLst>
          </p:cNvPr>
          <p:cNvSpPr txBox="1"/>
          <p:nvPr/>
        </p:nvSpPr>
        <p:spPr>
          <a:xfrm>
            <a:off x="5101937" y="2762984"/>
            <a:ext cx="164697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dirty="0">
                <a:latin typeface="+mj-lt"/>
              </a:rPr>
              <a:t>[</a:t>
            </a:r>
            <a:r>
              <a:rPr lang="en-US" altLang="ko-KR" sz="2400" dirty="0" err="1">
                <a:latin typeface="+mj-lt"/>
              </a:rPr>
              <a:t>Ndarray</a:t>
            </a:r>
            <a:r>
              <a:rPr lang="en-US" altLang="ko-KR" sz="2400" dirty="0">
                <a:latin typeface="+mj-lt"/>
              </a:rPr>
              <a:t>]</a:t>
            </a:r>
            <a:endParaRPr lang="ko-KR" altLang="en-US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6D6C55B-26C9-0A8C-E81B-85E611D42B07}"/>
              </a:ext>
            </a:extLst>
          </p:cNvPr>
          <p:cNvSpPr txBox="1"/>
          <p:nvPr/>
        </p:nvSpPr>
        <p:spPr>
          <a:xfrm>
            <a:off x="5101937" y="4842226"/>
            <a:ext cx="378982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600" dirty="0"/>
              <a:t>✔️배열의 원소의 개수가 다를 경우 오류 발생</a:t>
            </a:r>
          </a:p>
        </p:txBody>
      </p:sp>
    </p:spTree>
    <p:extLst>
      <p:ext uri="{BB962C8B-B14F-4D97-AF65-F5344CB8AC3E}">
        <p14:creationId xmlns:p14="http://schemas.microsoft.com/office/powerpoint/2010/main" val="36827932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F280A2-A4B5-C029-AEBD-BD467C7F25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0315E5-BA24-A348-1080-1F2448C07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차원</a:t>
            </a:r>
            <a:r>
              <a:rPr lang="en-US" altLang="ko-KR" dirty="0"/>
              <a:t>(Dimension)</a:t>
            </a:r>
            <a:r>
              <a:rPr lang="ko-KR" altLang="en-US" dirty="0"/>
              <a:t>과 축</a:t>
            </a:r>
            <a:r>
              <a:rPr lang="en-US" altLang="ko-KR" dirty="0"/>
              <a:t>(Axis)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E6FC1E1-F191-FFA3-A7E9-9939DCA72B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2025-11-05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A9A568E-5BB1-6B1C-F17B-C5C4AD7F24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3" name="내용 개체 틀 3">
            <a:extLst>
              <a:ext uri="{FF2B5EF4-FFF2-40B4-BE49-F238E27FC236}">
                <a16:creationId xmlns:a16="http://schemas.microsoft.com/office/drawing/2014/main" id="{46FC5E54-3C52-488D-6C83-C0FF6BE2A829}"/>
              </a:ext>
            </a:extLst>
          </p:cNvPr>
          <p:cNvSpPr txBox="1">
            <a:spLocks/>
          </p:cNvSpPr>
          <p:nvPr/>
        </p:nvSpPr>
        <p:spPr>
          <a:xfrm>
            <a:off x="238991" y="968698"/>
            <a:ext cx="11701221" cy="50384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</a:t>
            </a:r>
            <a:r>
              <a:rPr lang="ko-KR" altLang="en-US" b="1" dirty="0"/>
              <a:t>차원 </a:t>
            </a:r>
            <a:r>
              <a:rPr lang="en-US" altLang="ko-KR" b="1" dirty="0"/>
              <a:t>(Dimension)</a:t>
            </a:r>
            <a:r>
              <a:rPr lang="en-US" altLang="ko-KR" dirty="0"/>
              <a:t>: </a:t>
            </a:r>
            <a:r>
              <a:rPr lang="ko-KR" altLang="en-US" dirty="0"/>
              <a:t>배열이 몇 단계로 중첩되어 있는지를 나타냄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</a:t>
            </a:r>
            <a:r>
              <a:rPr lang="en-US" altLang="ko-KR" dirty="0"/>
              <a:t>1D: [1, 2, 3]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</a:t>
            </a:r>
            <a:r>
              <a:rPr lang="en-US" altLang="ko-KR" dirty="0"/>
              <a:t>2D: [[1, 2], [3, 4]]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</a:t>
            </a:r>
            <a:r>
              <a:rPr lang="en-US" altLang="ko-KR" dirty="0"/>
              <a:t>3D: [[[1], [2]], [[3], [4]]]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</a:t>
            </a:r>
            <a:r>
              <a:rPr lang="ko-KR" altLang="en-US" b="1" dirty="0"/>
              <a:t>축 </a:t>
            </a:r>
            <a:r>
              <a:rPr lang="en-US" altLang="ko-KR" b="1" dirty="0"/>
              <a:t>(Axis)</a:t>
            </a:r>
            <a:r>
              <a:rPr lang="en-US" altLang="ko-KR" dirty="0"/>
              <a:t>: </a:t>
            </a:r>
            <a:r>
              <a:rPr lang="ko-KR" altLang="en-US" dirty="0"/>
              <a:t>다차원 배열의 특정 방향을 의미함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</a:t>
            </a:r>
            <a:r>
              <a:rPr lang="en-US" altLang="ko-KR" dirty="0"/>
              <a:t>axis=0: </a:t>
            </a:r>
            <a:r>
              <a:rPr lang="ko-KR" altLang="en-US" dirty="0"/>
              <a:t>행 방향 </a:t>
            </a:r>
            <a:r>
              <a:rPr lang="en-US" altLang="ko-KR" dirty="0"/>
              <a:t>(</a:t>
            </a:r>
            <a:r>
              <a:rPr lang="ko-KR" altLang="en-US" dirty="0"/>
              <a:t>세로 축</a:t>
            </a:r>
            <a:r>
              <a:rPr lang="en-US" altLang="ko-KR" dirty="0"/>
              <a:t>)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</a:t>
            </a:r>
            <a:r>
              <a:rPr lang="en-US" altLang="ko-KR" dirty="0"/>
              <a:t>axis=1: </a:t>
            </a:r>
            <a:r>
              <a:rPr lang="ko-KR" altLang="en-US" dirty="0"/>
              <a:t>열 방향 </a:t>
            </a:r>
            <a:r>
              <a:rPr lang="en-US" altLang="ko-KR" dirty="0"/>
              <a:t>(</a:t>
            </a:r>
            <a:r>
              <a:rPr lang="ko-KR" altLang="en-US" dirty="0"/>
              <a:t>가로 축</a:t>
            </a:r>
            <a:r>
              <a:rPr lang="en-US" altLang="ko-KR" dirty="0"/>
              <a:t>)</a:t>
            </a:r>
          </a:p>
          <a:p>
            <a:pPr marL="0" indent="0">
              <a:lnSpc>
                <a:spcPct val="150000"/>
              </a:lnSpc>
              <a:buNone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8173989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73DC8-DB5A-6ADA-C2BA-4D34DBAFC0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3E3A50-4F18-2806-5975-141D9384D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ndarray</a:t>
            </a:r>
            <a:r>
              <a:rPr lang="en-US" altLang="ko-KR" dirty="0"/>
              <a:t> </a:t>
            </a:r>
            <a:r>
              <a:rPr lang="ko-KR" altLang="en-US" dirty="0"/>
              <a:t>구조 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2DC20DD-D267-F5B2-7C90-66493C6DA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2025-11-05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1EA6D40-28CF-9B07-C3EE-92F678F30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3" name="내용 개체 틀 3">
            <a:extLst>
              <a:ext uri="{FF2B5EF4-FFF2-40B4-BE49-F238E27FC236}">
                <a16:creationId xmlns:a16="http://schemas.microsoft.com/office/drawing/2014/main" id="{F5F3FA06-8588-AC32-0560-DE8AE3006E1C}"/>
              </a:ext>
            </a:extLst>
          </p:cNvPr>
          <p:cNvSpPr txBox="1">
            <a:spLocks/>
          </p:cNvSpPr>
          <p:nvPr/>
        </p:nvSpPr>
        <p:spPr>
          <a:xfrm>
            <a:off x="238991" y="968699"/>
            <a:ext cx="11701221" cy="2731104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✔️ </a:t>
            </a:r>
            <a:r>
              <a:rPr lang="en-US" altLang="ko-KR" dirty="0"/>
              <a:t>.shape: </a:t>
            </a:r>
            <a:r>
              <a:rPr lang="ko-KR" altLang="en-US" dirty="0"/>
              <a:t>배열의 구조를 </a:t>
            </a:r>
            <a:r>
              <a:rPr lang="ko-KR" altLang="en-US" dirty="0" err="1"/>
              <a:t>튜플로</a:t>
            </a:r>
            <a:r>
              <a:rPr lang="ko-KR" altLang="en-US" dirty="0"/>
              <a:t> 반환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✔️</a:t>
            </a:r>
            <a:r>
              <a:rPr lang="en-US" altLang="ko-KR" dirty="0"/>
              <a:t>.</a:t>
            </a:r>
            <a:r>
              <a:rPr lang="en-US" altLang="ko-KR" dirty="0" err="1"/>
              <a:t>ndim</a:t>
            </a:r>
            <a:r>
              <a:rPr lang="en-US" altLang="ko-KR" dirty="0"/>
              <a:t>: </a:t>
            </a:r>
            <a:r>
              <a:rPr lang="ko-KR" altLang="en-US" dirty="0"/>
              <a:t>배열의 차원 수</a:t>
            </a:r>
            <a:endParaRPr lang="en-US" altLang="ko-KR" dirty="0"/>
          </a:p>
        </p:txBody>
      </p:sp>
      <p:pic>
        <p:nvPicPr>
          <p:cNvPr id="10" name="그림 9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12AB119-F7B5-5C37-2A43-05C63B8D65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2798" y="2022996"/>
            <a:ext cx="12204798" cy="44470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486394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955518-E584-BFDE-1C26-9C011AC500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E940E42-E2F2-0BCC-A691-1F45956C2D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2798" y="1738152"/>
            <a:ext cx="12204798" cy="519144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20B45120-E0F0-6E35-ED7D-996D85EC80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ndarray</a:t>
            </a:r>
            <a:r>
              <a:rPr lang="en-US" altLang="ko-KR" dirty="0"/>
              <a:t> </a:t>
            </a:r>
            <a:r>
              <a:rPr lang="ko-KR" altLang="en-US" dirty="0"/>
              <a:t>데이터 타입</a:t>
            </a:r>
            <a:r>
              <a:rPr lang="en-US" altLang="ko-KR" dirty="0"/>
              <a:t>(1)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4D092CD-DFAA-1C98-DD0C-DD448467EB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2025-11-05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B33CDFA-E861-2EE1-AA54-073383242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3" name="내용 개체 틀 3">
            <a:extLst>
              <a:ext uri="{FF2B5EF4-FFF2-40B4-BE49-F238E27FC236}">
                <a16:creationId xmlns:a16="http://schemas.microsoft.com/office/drawing/2014/main" id="{DBED3C7B-ED8D-C87E-2FEE-5B965E0CAE6A}"/>
              </a:ext>
            </a:extLst>
          </p:cNvPr>
          <p:cNvSpPr txBox="1">
            <a:spLocks/>
          </p:cNvSpPr>
          <p:nvPr/>
        </p:nvSpPr>
        <p:spPr>
          <a:xfrm>
            <a:off x="238991" y="968699"/>
            <a:ext cx="11701221" cy="2731104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📌 모든 </a:t>
            </a:r>
            <a:r>
              <a:rPr lang="en-US" altLang="ko-KR" dirty="0" err="1"/>
              <a:t>ndarray</a:t>
            </a:r>
            <a:r>
              <a:rPr lang="ko-KR" altLang="en-US" dirty="0"/>
              <a:t>는 동일한 자료형을 가져야 하며</a:t>
            </a:r>
            <a:r>
              <a:rPr lang="en-US" altLang="ko-KR" dirty="0"/>
              <a:t>, .</a:t>
            </a:r>
            <a:r>
              <a:rPr lang="en-US" altLang="ko-KR" dirty="0" err="1"/>
              <a:t>dtype</a:t>
            </a:r>
            <a:r>
              <a:rPr lang="en-US" altLang="ko-KR" dirty="0"/>
              <a:t> </a:t>
            </a:r>
            <a:r>
              <a:rPr lang="ko-KR" altLang="en-US" dirty="0"/>
              <a:t>속성으로 확인 가능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✅ 주요 자료형</a:t>
            </a:r>
            <a:r>
              <a:rPr lang="en-US" altLang="ko-KR" dirty="0"/>
              <a:t>: int32, int64, float32, float64, bool, complex64, str </a:t>
            </a:r>
            <a:r>
              <a:rPr lang="ko-KR" altLang="en-US" dirty="0"/>
              <a:t>등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84119737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534116-AFB9-6E32-5D8E-906E02F71B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A341BB-E1CC-7FE9-9DF5-054CB7745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ndarray</a:t>
            </a:r>
            <a:r>
              <a:rPr lang="en-US" altLang="ko-KR" dirty="0"/>
              <a:t> </a:t>
            </a:r>
            <a:r>
              <a:rPr lang="ko-KR" altLang="en-US" dirty="0"/>
              <a:t>데이터 타입</a:t>
            </a:r>
            <a:r>
              <a:rPr lang="en-US" altLang="ko-KR" dirty="0"/>
              <a:t>(2)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E0C668-2022-18EB-E033-27FA16BF47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2025-11-05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0EEB045-44B9-F229-D420-F45CFF67C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28</a:t>
            </a:fld>
            <a:endParaRPr lang="ko-KR" altLang="en-US"/>
          </a:p>
        </p:txBody>
      </p:sp>
      <p:pic>
        <p:nvPicPr>
          <p:cNvPr id="7" name="그림 6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D19FCA3-0CE0-6DA6-75C0-D9ED5E9504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79275"/>
            <a:ext cx="12192000" cy="444235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B6146A4-2C01-3AFE-7FFA-4C588D88609F}"/>
              </a:ext>
            </a:extLst>
          </p:cNvPr>
          <p:cNvSpPr txBox="1"/>
          <p:nvPr/>
        </p:nvSpPr>
        <p:spPr>
          <a:xfrm>
            <a:off x="752475" y="1717592"/>
            <a:ext cx="6115050" cy="5815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✅ </a:t>
            </a:r>
            <a:r>
              <a:rPr lang="en-US" altLang="ko-KR" sz="2400" dirty="0" err="1"/>
              <a:t>astype</a:t>
            </a:r>
            <a:r>
              <a:rPr lang="en-US" altLang="ko-KR" sz="2400" dirty="0"/>
              <a:t>() </a:t>
            </a:r>
            <a:r>
              <a:rPr lang="ko-KR" altLang="en-US" sz="2400" dirty="0"/>
              <a:t>메서드로 자료형 변환 가능</a:t>
            </a:r>
            <a:endParaRPr lang="en-US" altLang="ko-KR" sz="2400" dirty="0"/>
          </a:p>
        </p:txBody>
      </p:sp>
    </p:spTree>
    <p:extLst>
      <p:ext uri="{BB962C8B-B14F-4D97-AF65-F5344CB8AC3E}">
        <p14:creationId xmlns:p14="http://schemas.microsoft.com/office/powerpoint/2010/main" val="58388700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ADA2E6-4640-A8EF-E042-5C44D2C243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9352E60-E5FA-86A5-D0A5-E316BC726722}"/>
              </a:ext>
            </a:extLst>
          </p:cNvPr>
          <p:cNvSpPr txBox="1"/>
          <p:nvPr/>
        </p:nvSpPr>
        <p:spPr>
          <a:xfrm>
            <a:off x="3196832" y="2600493"/>
            <a:ext cx="57983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배열 초기화 함수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251344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7E6199-3B1E-B774-8057-3BB508615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66E388C-FF50-7DAA-F604-6C294D3214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91396"/>
            <a:ext cx="12192000" cy="369869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1ACD3DF8-AD25-0BA6-E81E-FF949C5919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 초기화 함수</a:t>
            </a:r>
            <a:r>
              <a:rPr lang="en-US" altLang="ko-KR" dirty="0"/>
              <a:t>(1) – zeros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6A78483-7C66-CF45-E7E9-AD202ED640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2025-11-05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8568CE8-7905-5E2F-96E5-2A6D3DF2F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B36182-6BC4-E80D-623E-BA603CD4D8E8}"/>
              </a:ext>
            </a:extLst>
          </p:cNvPr>
          <p:cNvSpPr txBox="1"/>
          <p:nvPr/>
        </p:nvSpPr>
        <p:spPr>
          <a:xfrm>
            <a:off x="733425" y="1976608"/>
            <a:ext cx="6115050" cy="6630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800" dirty="0"/>
              <a:t>✅ </a:t>
            </a:r>
            <a:r>
              <a:rPr lang="en-US" altLang="ko-KR" sz="2800" dirty="0" err="1"/>
              <a:t>np.zeros</a:t>
            </a:r>
            <a:r>
              <a:rPr lang="en-US" altLang="ko-KR" sz="2800" dirty="0"/>
              <a:t>(shape): </a:t>
            </a:r>
            <a:r>
              <a:rPr lang="ko-KR" altLang="en-US" sz="2800" dirty="0"/>
              <a:t>모든 요소가 </a:t>
            </a:r>
            <a:r>
              <a:rPr lang="en-US" altLang="ko-KR" sz="2800" dirty="0"/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11838730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1C6818-D9E9-D695-0AE5-8EECCFB89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DABEB35-0A54-3DFE-06BE-7DA935458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 초기화 함수</a:t>
            </a:r>
            <a:r>
              <a:rPr lang="en-US" altLang="ko-KR" dirty="0"/>
              <a:t>(2) - ones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80656-E9C3-5635-94A5-C15BEAFD38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2025-11-05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B51898E-E4D5-9EDF-DA69-B4079E7333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C81E8C-8976-33D9-6408-B361C397EFE2}"/>
              </a:ext>
            </a:extLst>
          </p:cNvPr>
          <p:cNvSpPr txBox="1"/>
          <p:nvPr/>
        </p:nvSpPr>
        <p:spPr>
          <a:xfrm>
            <a:off x="733425" y="1976608"/>
            <a:ext cx="6115050" cy="6630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800" dirty="0"/>
              <a:t>✅ </a:t>
            </a:r>
            <a:r>
              <a:rPr lang="en-US" altLang="ko-KR" sz="2800" dirty="0" err="1"/>
              <a:t>np.ones</a:t>
            </a:r>
            <a:r>
              <a:rPr lang="en-US" altLang="ko-KR" sz="2800" dirty="0"/>
              <a:t>(shape): </a:t>
            </a:r>
            <a:r>
              <a:rPr lang="ko-KR" altLang="en-US" sz="2800" dirty="0"/>
              <a:t>모든 요소가 </a:t>
            </a:r>
            <a:r>
              <a:rPr lang="en-US" altLang="ko-KR" sz="2800" dirty="0"/>
              <a:t>1</a:t>
            </a:r>
          </a:p>
        </p:txBody>
      </p:sp>
      <p:pic>
        <p:nvPicPr>
          <p:cNvPr id="7" name="그림 6" descr="텍스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00B53AC-3E41-75C5-5438-B12A8832B1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94135"/>
            <a:ext cx="12192000" cy="3698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734989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324F4E-B451-0EA1-1205-3638346D2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FA93FE-8995-C9EE-F1F6-32E6770E0F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 초기화 함수</a:t>
            </a:r>
            <a:r>
              <a:rPr lang="en-US" altLang="ko-KR" dirty="0"/>
              <a:t>(3) - empty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7B8782C-27B9-A268-7776-B5ED8AC8A2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2025-11-05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1ECEEF5-39F5-44ED-F145-8F2DC717B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5888978-8A66-1914-2DD4-44955C184487}"/>
              </a:ext>
            </a:extLst>
          </p:cNvPr>
          <p:cNvSpPr txBox="1"/>
          <p:nvPr/>
        </p:nvSpPr>
        <p:spPr>
          <a:xfrm>
            <a:off x="733425" y="1976608"/>
            <a:ext cx="8476384" cy="6630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800" dirty="0"/>
              <a:t>✅ </a:t>
            </a:r>
            <a:r>
              <a:rPr lang="en-US" altLang="ko-KR" sz="2800" dirty="0" err="1"/>
              <a:t>np.empty</a:t>
            </a:r>
            <a:r>
              <a:rPr lang="en-US" altLang="ko-KR" sz="2800" dirty="0"/>
              <a:t>(shape): </a:t>
            </a:r>
            <a:r>
              <a:rPr lang="ko-KR" altLang="en-US" sz="2800" dirty="0"/>
              <a:t>초기화되지 않은 배열 </a:t>
            </a:r>
            <a:r>
              <a:rPr lang="en-US" altLang="ko-KR" sz="2800" dirty="0"/>
              <a:t>(</a:t>
            </a:r>
            <a:r>
              <a:rPr lang="ko-KR" altLang="en-US" sz="2800" dirty="0"/>
              <a:t>쓰레기 값</a:t>
            </a:r>
            <a:r>
              <a:rPr lang="en-US" altLang="ko-KR" sz="2800" dirty="0"/>
              <a:t>)</a:t>
            </a:r>
          </a:p>
        </p:txBody>
      </p:sp>
      <p:pic>
        <p:nvPicPr>
          <p:cNvPr id="6" name="그림 5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3CAFF2D-7B80-297A-2C15-CD539CC989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86910"/>
            <a:ext cx="12192000" cy="3698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100591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D19B5-6A29-D067-7C1C-E1919B4BC6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텍스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7E4469E-D8CB-9DD6-BDAC-C5239B5D3A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91496"/>
            <a:ext cx="12192000" cy="4070524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1FE93EE7-A245-5779-5566-B0BD37C6D4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 초기화 함수</a:t>
            </a:r>
            <a:r>
              <a:rPr lang="en-US" altLang="ko-KR" dirty="0"/>
              <a:t>(4) - full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32F867A-CC95-D6AB-BDF4-7D6EB928AB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2025-11-05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7F48918-DF94-6656-5B41-D0E381F956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86926B-0413-CE18-33DD-0AA674FD1A9A}"/>
              </a:ext>
            </a:extLst>
          </p:cNvPr>
          <p:cNvSpPr txBox="1"/>
          <p:nvPr/>
        </p:nvSpPr>
        <p:spPr>
          <a:xfrm>
            <a:off x="733425" y="1976608"/>
            <a:ext cx="8476384" cy="6630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800" dirty="0"/>
              <a:t>✅ </a:t>
            </a:r>
            <a:r>
              <a:rPr lang="en-US" altLang="ko-KR" sz="2800" dirty="0" err="1"/>
              <a:t>np.full</a:t>
            </a:r>
            <a:r>
              <a:rPr lang="en-US" altLang="ko-KR" sz="2800" dirty="0"/>
              <a:t>(shape, value): </a:t>
            </a:r>
            <a:r>
              <a:rPr lang="ko-KR" altLang="en-US" sz="2800" dirty="0"/>
              <a:t>주어진 값으로 채운 배열</a:t>
            </a:r>
            <a:endParaRPr lang="en-US" altLang="ko-KR" sz="2800" dirty="0"/>
          </a:p>
        </p:txBody>
      </p:sp>
    </p:spTree>
    <p:extLst>
      <p:ext uri="{BB962C8B-B14F-4D97-AF65-F5344CB8AC3E}">
        <p14:creationId xmlns:p14="http://schemas.microsoft.com/office/powerpoint/2010/main" val="181435221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8F9949-CA54-2F11-CC16-F010D5E92B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048D14-F3A5-27F0-B616-0AFD9F189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 초기화 함수</a:t>
            </a:r>
            <a:r>
              <a:rPr lang="en-US" altLang="ko-KR" dirty="0"/>
              <a:t>(5) - eye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17908AF-392A-5051-5FD2-5CFBFA7DA3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2025-11-05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3DC0082-7300-E11B-D502-C9E55604F5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649D50-E3CA-BE8F-DDDB-63DBB49E9D42}"/>
              </a:ext>
            </a:extLst>
          </p:cNvPr>
          <p:cNvSpPr txBox="1"/>
          <p:nvPr/>
        </p:nvSpPr>
        <p:spPr>
          <a:xfrm>
            <a:off x="251788" y="1145407"/>
            <a:ext cx="11069370" cy="327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800" dirty="0"/>
              <a:t>✅ </a:t>
            </a:r>
            <a:r>
              <a:rPr lang="it-IT" altLang="ko-KR" sz="2800" dirty="0"/>
              <a:t>np.eye(N, M=None, k=0)</a:t>
            </a:r>
          </a:p>
          <a:p>
            <a:pPr lvl="1">
              <a:lnSpc>
                <a:spcPct val="150000"/>
              </a:lnSpc>
            </a:pP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N : (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필수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 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행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(row)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의 수입니다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</a:t>
            </a:r>
          </a:p>
          <a:p>
            <a:pPr lvl="1">
              <a:lnSpc>
                <a:spcPct val="150000"/>
              </a:lnSpc>
            </a:pP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M : (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선택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 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열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(column)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의 수입니다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 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생략하면 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M = N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으로 처리되어 정방 행렬 생성</a:t>
            </a:r>
          </a:p>
          <a:p>
            <a:pPr lvl="1">
              <a:lnSpc>
                <a:spcPct val="150000"/>
              </a:lnSpc>
            </a:pP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k : (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선택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 1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 위치할 대각선의 인덱스입니다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 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기본값은 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0 (</a:t>
            </a:r>
            <a:r>
              <a:rPr lang="ko-KR" altLang="en-US" sz="24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주대각선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),</a:t>
            </a:r>
          </a:p>
          <a:p>
            <a:pPr marL="1371600" lvl="2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k &gt; 0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이면 위쪽 대각선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</a:t>
            </a:r>
          </a:p>
          <a:p>
            <a:pPr marL="1371600" lvl="2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k &lt; 0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이면 아래쪽 대각선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1312982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4CB8C6-7BDC-24C4-A4E5-69C1304E2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BC5D2E8-CC75-DC07-57D3-36FC1D5F9B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77" t="21853" r="7258" b="21619"/>
          <a:stretch>
            <a:fillRect/>
          </a:stretch>
        </p:blipFill>
        <p:spPr>
          <a:xfrm>
            <a:off x="885967" y="1946876"/>
            <a:ext cx="10420066" cy="2511188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B99D0D1B-19E0-F606-6B58-2599449CF2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 초기화 함수</a:t>
            </a:r>
            <a:r>
              <a:rPr lang="en-US" altLang="ko-KR" dirty="0"/>
              <a:t>(5) - eye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5C1AD5B-096B-035D-1897-ED14EFE53D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2025-11-05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7C54B4B-F88E-6E2B-D3FA-1F5C01EDE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26576AE-BA86-2F5B-64D8-F2FB270884F0}"/>
              </a:ext>
            </a:extLst>
          </p:cNvPr>
          <p:cNvSpPr txBox="1"/>
          <p:nvPr/>
        </p:nvSpPr>
        <p:spPr>
          <a:xfrm>
            <a:off x="733424" y="1214608"/>
            <a:ext cx="8982075" cy="6630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800" dirty="0"/>
              <a:t>✅ </a:t>
            </a:r>
            <a:r>
              <a:rPr lang="en-US" altLang="ko-KR" sz="2800" dirty="0" err="1"/>
              <a:t>np.eye</a:t>
            </a:r>
            <a:r>
              <a:rPr lang="en-US" altLang="ko-KR" sz="2800" dirty="0"/>
              <a:t>(N): N x N </a:t>
            </a:r>
            <a:r>
              <a:rPr lang="ko-KR" altLang="en-US" sz="2800" dirty="0"/>
              <a:t>크기의 단위 행렬 생성</a:t>
            </a:r>
            <a:endParaRPr lang="en-US" altLang="ko-KR" sz="2800" dirty="0"/>
          </a:p>
        </p:txBody>
      </p:sp>
      <p:pic>
        <p:nvPicPr>
          <p:cNvPr id="8" name="Picture 2" descr="기초행렬] 5. 곱셈의 성질과 단위행렬">
            <a:extLst>
              <a:ext uri="{FF2B5EF4-FFF2-40B4-BE49-F238E27FC236}">
                <a16:creationId xmlns:a16="http://schemas.microsoft.com/office/drawing/2014/main" id="{A1B55371-AC07-AA74-3632-7A78F4A688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0525" y="4841755"/>
            <a:ext cx="3790950" cy="12356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0C31ABB-A7C7-0A43-0190-CEE873F4DB17}"/>
              </a:ext>
            </a:extLst>
          </p:cNvPr>
          <p:cNvSpPr txBox="1"/>
          <p:nvPr/>
        </p:nvSpPr>
        <p:spPr>
          <a:xfrm>
            <a:off x="733424" y="5088264"/>
            <a:ext cx="2171702" cy="6630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800" dirty="0"/>
              <a:t>🔎 단위행렬</a:t>
            </a:r>
            <a:r>
              <a:rPr lang="en-US" altLang="ko-KR" sz="2800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22284026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D65EEC-99CC-7446-0391-B481F0E273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30BBDEB-FC66-8B8B-8A04-B5A274B16C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38025"/>
            <a:ext cx="12192000" cy="444235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D623838C-293C-DE59-76E4-FB1EC99D20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 초기화 함수</a:t>
            </a:r>
            <a:r>
              <a:rPr lang="en-US" altLang="ko-KR" dirty="0"/>
              <a:t>(5) - eye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769B3AB-A295-E643-EB78-261120D860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2025-11-05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D2EC502-3DAD-01F6-9EC3-893BAF966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DAEC18D-97C2-A87E-2C5A-A22FD24C3FD1}"/>
              </a:ext>
            </a:extLst>
          </p:cNvPr>
          <p:cNvSpPr txBox="1"/>
          <p:nvPr/>
        </p:nvSpPr>
        <p:spPr>
          <a:xfrm>
            <a:off x="720724" y="1767058"/>
            <a:ext cx="8982075" cy="6630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800" dirty="0"/>
              <a:t>✅ </a:t>
            </a:r>
            <a:r>
              <a:rPr lang="en-US" altLang="ko-KR" sz="2800" dirty="0" err="1"/>
              <a:t>np.eye</a:t>
            </a:r>
            <a:r>
              <a:rPr lang="en-US" altLang="ko-KR" sz="2800" dirty="0"/>
              <a:t>(N, M, k) </a:t>
            </a:r>
            <a:r>
              <a:rPr lang="ko-KR" altLang="en-US" sz="2800" dirty="0"/>
              <a:t>예제 </a:t>
            </a:r>
            <a:r>
              <a:rPr lang="en-US" altLang="ko-KR" sz="2800" dirty="0"/>
              <a:t>: 3 X 5 </a:t>
            </a:r>
            <a:r>
              <a:rPr lang="ko-KR" altLang="en-US" sz="2800" dirty="0" err="1"/>
              <a:t>비정방</a:t>
            </a:r>
            <a:r>
              <a:rPr lang="ko-KR" altLang="en-US" sz="2800" dirty="0"/>
              <a:t> 행렬</a:t>
            </a:r>
            <a:r>
              <a:rPr lang="en-US" altLang="ko-KR" sz="2800" dirty="0"/>
              <a:t>, </a:t>
            </a:r>
            <a:r>
              <a:rPr lang="ko-KR" altLang="en-US" sz="2800" dirty="0"/>
              <a:t>대각선 이동</a:t>
            </a:r>
            <a:endParaRPr lang="en-US" altLang="ko-KR" sz="2800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FEB96D9-D80C-CD88-E10B-CAB25E4FB1F0}"/>
              </a:ext>
            </a:extLst>
          </p:cNvPr>
          <p:cNvSpPr/>
          <p:nvPr/>
        </p:nvSpPr>
        <p:spPr>
          <a:xfrm rot="12712943">
            <a:off x="5487223" y="3950565"/>
            <a:ext cx="1759785" cy="316328"/>
          </a:xfrm>
          <a:prstGeom prst="rect">
            <a:avLst/>
          </a:prstGeom>
          <a:noFill/>
          <a:ln w="254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5708097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A623C-0C7D-96CB-C4A3-5157192B13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4047EA2-0AC3-619F-AA0E-C626A4C8B3DD}"/>
              </a:ext>
            </a:extLst>
          </p:cNvPr>
          <p:cNvSpPr txBox="1"/>
          <p:nvPr/>
        </p:nvSpPr>
        <p:spPr>
          <a:xfrm>
            <a:off x="2719137" y="2600493"/>
            <a:ext cx="675377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범위 기반 배열 생성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4346382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8B3BF8-AE7B-84A7-818D-7B1156CCD4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스크린샷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54716C1-C04F-F406-1A33-D13F219F4A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216802"/>
            <a:ext cx="12192000" cy="369869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35036B87-BC08-DA63-516C-E29AE49584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범위 기반 배열 생성</a:t>
            </a:r>
            <a:r>
              <a:rPr lang="en-US" altLang="ko-KR" dirty="0"/>
              <a:t>(1) - </a:t>
            </a:r>
            <a:r>
              <a:rPr lang="en-US" altLang="ko-KR" dirty="0" err="1"/>
              <a:t>arange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95D7306-F446-2745-A217-EAA0BB004B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2025-11-05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6F1E85E-A249-6C4C-58C1-00E6D687D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40D6686-6B3F-69E0-9791-59C1CAE2D207}"/>
              </a:ext>
            </a:extLst>
          </p:cNvPr>
          <p:cNvSpPr txBox="1"/>
          <p:nvPr/>
        </p:nvSpPr>
        <p:spPr>
          <a:xfrm>
            <a:off x="720724" y="1767058"/>
            <a:ext cx="11471276" cy="1227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800" dirty="0"/>
              <a:t>✅ </a:t>
            </a:r>
            <a:r>
              <a:rPr lang="en-US" altLang="ko-KR" sz="2800" dirty="0" err="1"/>
              <a:t>np.arange</a:t>
            </a:r>
            <a:r>
              <a:rPr lang="en-US" altLang="ko-KR" sz="2800" dirty="0"/>
              <a:t>(start, stop, step) : range()</a:t>
            </a:r>
            <a:r>
              <a:rPr lang="ko-KR" altLang="en-US" sz="2800" dirty="0"/>
              <a:t>와 유사함</a:t>
            </a:r>
            <a:endParaRPr lang="en-US" altLang="ko-KR" sz="2800" dirty="0"/>
          </a:p>
          <a:p>
            <a:pPr lvl="1">
              <a:lnSpc>
                <a:spcPct val="150000"/>
              </a:lnSpc>
            </a:pP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시작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(start) 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이상 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~ 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끝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(stop)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미만의 정수 배열을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step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의 간격으로 생성</a:t>
            </a:r>
            <a:endParaRPr lang="en-US" altLang="ko-KR" sz="2800" dirty="0"/>
          </a:p>
        </p:txBody>
      </p:sp>
    </p:spTree>
    <p:extLst>
      <p:ext uri="{BB962C8B-B14F-4D97-AF65-F5344CB8AC3E}">
        <p14:creationId xmlns:p14="http://schemas.microsoft.com/office/powerpoint/2010/main" val="68301500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5CDA2-8E15-6E42-F32A-117CA08B4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스크린샷, 텍스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8CE33D2-AA88-58F7-8D15-D15D92E417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216982"/>
            <a:ext cx="12192000" cy="369869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422D4AE-8DF2-8AEB-B976-99FB65968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범위 기반 배열 생성</a:t>
            </a:r>
            <a:r>
              <a:rPr lang="en-US" altLang="ko-KR" dirty="0"/>
              <a:t>(2) - </a:t>
            </a:r>
            <a:r>
              <a:rPr lang="en-US" altLang="ko-KR" dirty="0" err="1"/>
              <a:t>linspace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C390983-45DB-CC5F-A5E2-E9398A636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2025-11-05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B11AB30-3810-27D3-7221-0A274B60B6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86C28CB-EFA8-D76A-4088-9C59F69021A7}"/>
              </a:ext>
            </a:extLst>
          </p:cNvPr>
          <p:cNvSpPr txBox="1"/>
          <p:nvPr/>
        </p:nvSpPr>
        <p:spPr>
          <a:xfrm>
            <a:off x="720724" y="1756888"/>
            <a:ext cx="11471276" cy="12288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800" dirty="0"/>
              <a:t>✅ </a:t>
            </a:r>
            <a:r>
              <a:rPr lang="en-US" altLang="ko-KR" sz="2800" dirty="0" err="1"/>
              <a:t>np.linspace</a:t>
            </a:r>
            <a:r>
              <a:rPr lang="en-US" altLang="ko-KR" sz="2800" dirty="0"/>
              <a:t>(start, stop, num) </a:t>
            </a:r>
          </a:p>
          <a:p>
            <a:pPr lvl="1">
              <a:lnSpc>
                <a:spcPct val="150000"/>
              </a:lnSpc>
            </a:pP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시작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(start) ~ 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끝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(stop)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까지 균일 간격으로 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num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개 생성</a:t>
            </a:r>
            <a:endParaRPr lang="en-US" altLang="ko-KR" sz="24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834264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1702E7-30C4-C85A-0219-169C550D43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75369DD-80D0-28FB-D9A0-DA5C009EBF23}"/>
              </a:ext>
            </a:extLst>
          </p:cNvPr>
          <p:cNvSpPr txBox="1"/>
          <p:nvPr/>
        </p:nvSpPr>
        <p:spPr>
          <a:xfrm>
            <a:off x="3567126" y="2600493"/>
            <a:ext cx="505779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랜덤 배열 생성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8520189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1508D1-9CDF-5046-C474-E120894532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AD82BC-3CC2-1FF7-D9F6-83546FA61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랜덤 배열 생성</a:t>
            </a:r>
            <a:r>
              <a:rPr lang="en-US" altLang="ko-KR" dirty="0"/>
              <a:t>(1) – rand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750CF8A-1744-4F6E-9DAF-F64D4E8B18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2025-11-05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7E958C4-4511-CBF9-92B3-AD8542D0F5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8D63F5-A68C-A326-A3E2-61E4DEB797BB}"/>
              </a:ext>
            </a:extLst>
          </p:cNvPr>
          <p:cNvSpPr txBox="1"/>
          <p:nvPr/>
        </p:nvSpPr>
        <p:spPr>
          <a:xfrm>
            <a:off x="720724" y="1405108"/>
            <a:ext cx="10747376" cy="1227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800" dirty="0"/>
              <a:t>✅ </a:t>
            </a:r>
            <a:r>
              <a:rPr lang="en-US" altLang="ko-KR" sz="2800" dirty="0" err="1"/>
              <a:t>np.random.rand</a:t>
            </a:r>
            <a:r>
              <a:rPr lang="en-US" altLang="ko-KR" sz="2800" dirty="0"/>
              <a:t>(m, n)</a:t>
            </a:r>
          </a:p>
          <a:p>
            <a:pPr lvl="1">
              <a:lnSpc>
                <a:spcPct val="150000"/>
              </a:lnSpc>
            </a:pP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m x n 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크기의 배열 생성 및 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0~1 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사이의 난수로 초기화</a:t>
            </a:r>
            <a:endParaRPr lang="en-US" altLang="ko-KR" sz="2800" dirty="0"/>
          </a:p>
        </p:txBody>
      </p:sp>
      <p:pic>
        <p:nvPicPr>
          <p:cNvPr id="7" name="그림 6" descr="스크린샷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F446D0E-FBF8-B293-7076-49954E9501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03319"/>
            <a:ext cx="12192000" cy="369869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369D67D-341C-63C7-2A2E-73A1BE623F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0321" y="4737413"/>
            <a:ext cx="5396179" cy="753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404261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AF1FAF-74D2-28AB-3656-3A8F891BD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스크린샷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192978A-E525-56EA-1FF1-376B83C3FE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588" y="1811346"/>
            <a:ext cx="12192000" cy="369869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4E284DE-C896-A0DB-2F50-7C92781F59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랜덤 배열 생성</a:t>
            </a:r>
            <a:r>
              <a:rPr lang="en-US" altLang="ko-KR" dirty="0"/>
              <a:t>(2) – </a:t>
            </a:r>
            <a:r>
              <a:rPr lang="en-US" altLang="ko-KR" dirty="0" err="1"/>
              <a:t>randn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BDE0AFA-2F67-8C50-BE52-405AB60967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2025-11-05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665819F-C93F-5100-BC6E-F3F13A5FFB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EB9DBAC-6420-ECC6-B70E-8BBC55A155BD}"/>
              </a:ext>
            </a:extLst>
          </p:cNvPr>
          <p:cNvSpPr txBox="1"/>
          <p:nvPr/>
        </p:nvSpPr>
        <p:spPr>
          <a:xfrm>
            <a:off x="720724" y="1405108"/>
            <a:ext cx="10747376" cy="1227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800" dirty="0"/>
              <a:t>✅ </a:t>
            </a:r>
            <a:r>
              <a:rPr lang="en-US" altLang="ko-KR" sz="2800" dirty="0" err="1"/>
              <a:t>np.random.randn</a:t>
            </a:r>
            <a:r>
              <a:rPr lang="en-US" altLang="ko-KR" sz="2800" dirty="0"/>
              <a:t>(m, n)</a:t>
            </a:r>
          </a:p>
          <a:p>
            <a:pPr lvl="1">
              <a:lnSpc>
                <a:spcPct val="150000"/>
              </a:lnSpc>
            </a:pP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m x n 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크기의 배열 생성 및 표준 정규분포를 따르는 난수로 초기화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평균 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0, 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분산 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1)</a:t>
            </a:r>
            <a:endParaRPr lang="en-US" altLang="ko-KR" sz="28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7C9A47C-4EF1-1A26-84FB-8DA6580AED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0322" y="4709857"/>
            <a:ext cx="5291404" cy="802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78985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29D9F1-5D9F-D7FC-DE1D-3E324082E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스크린샷, 텍스트, 폰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B1DD69C-4CA8-529E-B4FF-B2731DABAA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10489"/>
            <a:ext cx="12192000" cy="369869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D2C3B78E-4FDF-8CAF-E4E9-5B0E0DDAB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랜덤 배열 생성</a:t>
            </a:r>
            <a:r>
              <a:rPr lang="en-US" altLang="ko-KR" dirty="0"/>
              <a:t>(3) – </a:t>
            </a:r>
            <a:r>
              <a:rPr lang="en-US" altLang="ko-KR" dirty="0" err="1"/>
              <a:t>randint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7E62537-57FF-696F-7688-26C5A46EB3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2025-11-05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4D6693E-BE29-6DB9-15E7-342821FA7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B83A42C-B02A-FD00-575C-267769FCF030}"/>
              </a:ext>
            </a:extLst>
          </p:cNvPr>
          <p:cNvSpPr txBox="1"/>
          <p:nvPr/>
        </p:nvSpPr>
        <p:spPr>
          <a:xfrm>
            <a:off x="720724" y="1405108"/>
            <a:ext cx="10747376" cy="1227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800" dirty="0"/>
              <a:t>✅ </a:t>
            </a:r>
            <a:r>
              <a:rPr lang="en-US" altLang="ko-KR" sz="2800" dirty="0" err="1"/>
              <a:t>np.random.randint</a:t>
            </a:r>
            <a:r>
              <a:rPr lang="en-US" altLang="ko-KR" sz="2800" dirty="0"/>
              <a:t>(low, high, size)</a:t>
            </a:r>
          </a:p>
          <a:p>
            <a:pPr lvl="1">
              <a:lnSpc>
                <a:spcPct val="150000"/>
              </a:lnSpc>
            </a:pP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low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이상 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high 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미만의 숫자로 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size 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형태의 정수 배열을 생성</a:t>
            </a:r>
            <a:endParaRPr lang="en-US" altLang="ko-KR" sz="28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0372E256-130B-0CE4-D0F2-2B065E3011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5924" y="4709856"/>
            <a:ext cx="2790251" cy="789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925471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9ACA9-8735-6484-8DF4-134C2C836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BEF0ED-324C-1073-783D-ECD4A11D60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랜덤 배열 생성</a:t>
            </a:r>
            <a:r>
              <a:rPr lang="en-US" altLang="ko-KR" dirty="0"/>
              <a:t>(4) – seed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B3F0E27-AF95-F885-385C-ED5F6568EB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2025-11-05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A41E0D3-9045-B690-F594-06CDFD7C4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DC94F8-C25A-57F3-9E6C-CFE0DD80F5F3}"/>
              </a:ext>
            </a:extLst>
          </p:cNvPr>
          <p:cNvSpPr txBox="1"/>
          <p:nvPr/>
        </p:nvSpPr>
        <p:spPr>
          <a:xfrm>
            <a:off x="720724" y="1163808"/>
            <a:ext cx="10747376" cy="1227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800" dirty="0"/>
              <a:t>✅ </a:t>
            </a:r>
            <a:r>
              <a:rPr lang="en-US" altLang="ko-KR" sz="2800" dirty="0" err="1"/>
              <a:t>np.random.seed</a:t>
            </a:r>
            <a:r>
              <a:rPr lang="en-US" altLang="ko-KR" sz="2800" dirty="0"/>
              <a:t>()</a:t>
            </a:r>
          </a:p>
          <a:p>
            <a:pPr lvl="1">
              <a:lnSpc>
                <a:spcPct val="150000"/>
              </a:lnSpc>
            </a:pP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시드는 난수 생성기의 </a:t>
            </a:r>
            <a:r>
              <a:rPr lang="ko-KR" altLang="en-US" sz="24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시작값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→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같은 </a:t>
            </a:r>
            <a:r>
              <a:rPr lang="ko-KR" altLang="en-US" sz="24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시드를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주면 항상 같은 결과를 얻을 수 있음</a:t>
            </a:r>
            <a:endParaRPr lang="en-US" altLang="ko-KR" sz="28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6" name="그림 5" descr="텍스트, 스크린샷, 디스플레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339AAC7-21DA-73F1-E9D4-A454D25E0A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4645" y="1455926"/>
            <a:ext cx="12403645" cy="5507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835138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D95451-AB85-117C-3D31-EFECFF59C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6A3540-5DA6-8575-F6E6-C74AC036D3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>
                <a:latin typeface="+mj-ea"/>
                <a:ea typeface="+mj-ea"/>
              </a:rPr>
              <a:t>RNG(Random Number Generator)</a:t>
            </a:r>
            <a:endParaRPr lang="ko-KR" altLang="en-US" dirty="0">
              <a:latin typeface="+mj-ea"/>
              <a:ea typeface="+mj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AF89CD0-0A53-F488-366A-86798599D0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2025-11-05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4B10712-6B46-2271-1A6C-EDE9A51436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3" name="내용 개체 틀 3">
            <a:extLst>
              <a:ext uri="{FF2B5EF4-FFF2-40B4-BE49-F238E27FC236}">
                <a16:creationId xmlns:a16="http://schemas.microsoft.com/office/drawing/2014/main" id="{055AEB3E-B2D6-D074-8F26-6CA3A551C9DA}"/>
              </a:ext>
            </a:extLst>
          </p:cNvPr>
          <p:cNvSpPr txBox="1">
            <a:spLocks/>
          </p:cNvSpPr>
          <p:nvPr/>
        </p:nvSpPr>
        <p:spPr>
          <a:xfrm>
            <a:off x="238991" y="968699"/>
            <a:ext cx="11701221" cy="47717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</a:t>
            </a:r>
            <a:r>
              <a:rPr lang="en-US" altLang="ko-KR" dirty="0"/>
              <a:t>NumPy</a:t>
            </a:r>
            <a:r>
              <a:rPr lang="ko-KR" altLang="en-US" dirty="0"/>
              <a:t>에서 독립적으로 난수를 생성하고 관리할 수 있는 </a:t>
            </a:r>
            <a:r>
              <a:rPr lang="en-US" altLang="ko-KR" dirty="0"/>
              <a:t>Generator </a:t>
            </a:r>
            <a:r>
              <a:rPr lang="ko-KR" altLang="en-US" dirty="0"/>
              <a:t>클래스 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dirty="0"/>
              <a:t>      </a:t>
            </a:r>
            <a:r>
              <a:rPr lang="ko-KR" altLang="en-US" dirty="0"/>
              <a:t>기반의 난수 </a:t>
            </a:r>
            <a:r>
              <a:rPr lang="ko-KR" altLang="en-US" dirty="0" err="1"/>
              <a:t>생성기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</a:t>
            </a:r>
            <a:r>
              <a:rPr lang="en-US" altLang="ko-KR" dirty="0"/>
              <a:t>NumPy </a:t>
            </a:r>
            <a:r>
              <a:rPr lang="ko-KR" altLang="en-US" dirty="0"/>
              <a:t>개발팀은 향후 </a:t>
            </a:r>
            <a:r>
              <a:rPr lang="en-US" altLang="ko-KR" dirty="0"/>
              <a:t>Generator </a:t>
            </a:r>
            <a:r>
              <a:rPr lang="ko-KR" altLang="en-US" dirty="0"/>
              <a:t>기반의 </a:t>
            </a:r>
            <a:r>
              <a:rPr lang="en-US" altLang="ko-KR" dirty="0"/>
              <a:t>RNG </a:t>
            </a:r>
            <a:r>
              <a:rPr lang="ko-KR" altLang="en-US" dirty="0"/>
              <a:t>사용을 </a:t>
            </a:r>
            <a:r>
              <a:rPr lang="ko-KR" altLang="en-US" b="1" dirty="0"/>
              <a:t>표준 방식으로 권장</a:t>
            </a:r>
            <a:endParaRPr lang="en-US" altLang="ko-KR" b="1" dirty="0"/>
          </a:p>
          <a:p>
            <a:pPr marL="457200" lvl="1" indent="0">
              <a:lnSpc>
                <a:spcPct val="150000"/>
              </a:lnSpc>
              <a:buNone/>
            </a:pPr>
            <a:endParaRPr lang="en-US" altLang="ko-KR" b="1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✅ 기존 방식 </a:t>
            </a:r>
            <a:r>
              <a:rPr lang="en-US" altLang="ko-KR" dirty="0"/>
              <a:t>(</a:t>
            </a:r>
            <a:r>
              <a:rPr lang="en-US" altLang="ko-KR" dirty="0" err="1"/>
              <a:t>np.random.seed</a:t>
            </a:r>
            <a:r>
              <a:rPr lang="en-US" altLang="ko-KR" dirty="0"/>
              <a:t>)</a:t>
            </a:r>
            <a:r>
              <a:rPr lang="ko-KR" altLang="en-US" dirty="0"/>
              <a:t>의 한계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전역 상태</a:t>
            </a:r>
            <a:r>
              <a:rPr lang="en-US" altLang="ko-KR" dirty="0"/>
              <a:t>(global state)</a:t>
            </a:r>
            <a:r>
              <a:rPr lang="ko-KR" altLang="en-US" dirty="0"/>
              <a:t>를 사용함 </a:t>
            </a:r>
            <a:r>
              <a:rPr lang="en-US" altLang="ko-KR" dirty="0"/>
              <a:t>:</a:t>
            </a:r>
            <a:r>
              <a:rPr lang="ko-KR" altLang="en-US" dirty="0"/>
              <a:t> 코드 전반에서 예측 어려움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dirty="0"/>
              <a:t>	</a:t>
            </a:r>
            <a:r>
              <a:rPr lang="ko-KR" altLang="en-US" dirty="0"/>
              <a:t>➡️ </a:t>
            </a:r>
            <a:r>
              <a:rPr lang="en-US" altLang="ko-KR" dirty="0"/>
              <a:t>RNG</a:t>
            </a:r>
            <a:r>
              <a:rPr lang="ko-KR" altLang="en-US" dirty="0"/>
              <a:t>로는</a:t>
            </a:r>
            <a:r>
              <a:rPr lang="ko-KR" altLang="en-US" b="1" dirty="0"/>
              <a:t> 간섭하지 않는 독립적인 난수 시퀀스</a:t>
            </a:r>
            <a:r>
              <a:rPr lang="ko-KR" altLang="en-US" dirty="0"/>
              <a:t> 생성 가능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95214510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F9DDA0-2DAA-0998-3500-7112D14F7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2F8A61-F763-6344-03D1-320410060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>
                <a:latin typeface="+mj-ea"/>
                <a:ea typeface="+mj-ea"/>
              </a:rPr>
              <a:t>RNG(Random Number Generator)</a:t>
            </a:r>
            <a:endParaRPr lang="ko-KR" altLang="en-US" dirty="0">
              <a:latin typeface="+mj-ea"/>
              <a:ea typeface="+mj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52832E7-4436-D37E-F4A7-D57D791599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2025-11-05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8B33A6C-3FFB-807D-D9F6-5D1DF3930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3" name="내용 개체 틀 3">
            <a:extLst>
              <a:ext uri="{FF2B5EF4-FFF2-40B4-BE49-F238E27FC236}">
                <a16:creationId xmlns:a16="http://schemas.microsoft.com/office/drawing/2014/main" id="{AE462462-C512-27F8-51B9-9FF2EF258D3E}"/>
              </a:ext>
            </a:extLst>
          </p:cNvPr>
          <p:cNvSpPr txBox="1">
            <a:spLocks/>
          </p:cNvSpPr>
          <p:nvPr/>
        </p:nvSpPr>
        <p:spPr>
          <a:xfrm>
            <a:off x="238991" y="1133799"/>
            <a:ext cx="11701221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✅ 주요 메서드</a:t>
            </a:r>
            <a:endParaRPr lang="en-US" altLang="ko-KR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1FA255D8-EB9C-5DA8-A49D-4BA80DF527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0592988"/>
              </p:ext>
            </p:extLst>
          </p:nvPr>
        </p:nvGraphicFramePr>
        <p:xfrm>
          <a:off x="838200" y="1917534"/>
          <a:ext cx="10515600" cy="3949036"/>
        </p:xfrm>
        <a:graphic>
          <a:graphicData uri="http://schemas.openxmlformats.org/drawingml/2006/table">
            <a:tbl>
              <a:tblPr/>
              <a:tblGrid>
                <a:gridCol w="3295079">
                  <a:extLst>
                    <a:ext uri="{9D8B030D-6E8A-4147-A177-3AD203B41FA5}">
                      <a16:colId xmlns:a16="http://schemas.microsoft.com/office/drawing/2014/main" val="1569582355"/>
                    </a:ext>
                  </a:extLst>
                </a:gridCol>
                <a:gridCol w="3352385">
                  <a:extLst>
                    <a:ext uri="{9D8B030D-6E8A-4147-A177-3AD203B41FA5}">
                      <a16:colId xmlns:a16="http://schemas.microsoft.com/office/drawing/2014/main" val="3092492779"/>
                    </a:ext>
                  </a:extLst>
                </a:gridCol>
                <a:gridCol w="3868136">
                  <a:extLst>
                    <a:ext uri="{9D8B030D-6E8A-4147-A177-3AD203B41FA5}">
                      <a16:colId xmlns:a16="http://schemas.microsoft.com/office/drawing/2014/main" val="4262482218"/>
                    </a:ext>
                  </a:extLst>
                </a:gridCol>
              </a:tblGrid>
              <a:tr h="64770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메서드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설명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반환 범위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5084430"/>
                  </a:ext>
                </a:extLst>
              </a:tr>
              <a:tr h="825334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integers(low, high, size)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정수 난수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[low, high)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7164870"/>
                  </a:ext>
                </a:extLst>
              </a:tr>
              <a:tr h="825334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random(size)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[0.0, 1.0) 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사이의 실수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균등분포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1768908"/>
                  </a:ext>
                </a:extLst>
              </a:tr>
              <a:tr h="825334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normal(loc, scale, size)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정규분포 난수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평균</a:t>
                      </a:r>
                      <a:r>
                        <a:rPr lang="en-US" alt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=loc, </a:t>
                      </a:r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표준편차</a:t>
                      </a:r>
                      <a:r>
                        <a:rPr lang="en-US" alt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=scale</a:t>
                      </a:r>
                      <a:endParaRPr lang="ko-KR" altLang="en-US" sz="1800" b="0" i="0" u="none" strike="noStrike">
                        <a:solidFill>
                          <a:srgbClr val="000000"/>
                        </a:solidFill>
                        <a:effectLst/>
                        <a:latin typeface="Pretendard Light" panose="02000403000000020004" pitchFamily="2" charset="-127"/>
                        <a:ea typeface="Pretendard Light" panose="02000403000000020004" pitchFamily="2" charset="-127"/>
                        <a:cs typeface="Pretendard Light" panose="02000403000000020004" pitchFamily="2" charset="-127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8067959"/>
                  </a:ext>
                </a:extLst>
              </a:tr>
              <a:tr h="825334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uniform(low, high, size)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균등분포 난수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[low, high)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51020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8565879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773128-0ED1-AD3D-A9E2-F65CBFF1A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C3265C2-6A1D-3F87-3441-F09B86D151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>
                <a:latin typeface="+mj-ea"/>
                <a:ea typeface="+mj-ea"/>
              </a:rPr>
              <a:t>RNG(Random Number Generator)</a:t>
            </a:r>
            <a:endParaRPr lang="ko-KR" altLang="en-US" dirty="0">
              <a:latin typeface="+mj-ea"/>
              <a:ea typeface="+mj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61C40C-3F20-BAAC-BC7D-B70B42481E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2025-11-05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43C8947-5BB5-84CF-BDE4-F5D355981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3" name="내용 개체 틀 3">
            <a:extLst>
              <a:ext uri="{FF2B5EF4-FFF2-40B4-BE49-F238E27FC236}">
                <a16:creationId xmlns:a16="http://schemas.microsoft.com/office/drawing/2014/main" id="{4C658A64-22DB-F5EA-52CF-DB3F4E1C2E81}"/>
              </a:ext>
            </a:extLst>
          </p:cNvPr>
          <p:cNvSpPr txBox="1">
            <a:spLocks/>
          </p:cNvSpPr>
          <p:nvPr/>
        </p:nvSpPr>
        <p:spPr>
          <a:xfrm>
            <a:off x="1105266" y="876831"/>
            <a:ext cx="11701221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✅ 주요 메서드</a:t>
            </a:r>
            <a:endParaRPr lang="en-US" altLang="ko-KR" dirty="0"/>
          </a:p>
        </p:txBody>
      </p:sp>
      <p:pic>
        <p:nvPicPr>
          <p:cNvPr id="8" name="그림 7" descr="텍스트, 스크린샷, 디스플레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85136A5-B770-8E4F-1DCB-DD8B580322A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01" t="14906" r="7543" b="15183"/>
          <a:stretch>
            <a:fillRect/>
          </a:stretch>
        </p:blipFill>
        <p:spPr>
          <a:xfrm>
            <a:off x="1246471" y="1530015"/>
            <a:ext cx="9699057" cy="4288367"/>
          </a:xfrm>
          <a:prstGeom prst="rect">
            <a:avLst/>
          </a:prstGeom>
        </p:spPr>
      </p:pic>
      <p:sp>
        <p:nvSpPr>
          <p:cNvPr id="9" name="내용 개체 틀 3">
            <a:extLst>
              <a:ext uri="{FF2B5EF4-FFF2-40B4-BE49-F238E27FC236}">
                <a16:creationId xmlns:a16="http://schemas.microsoft.com/office/drawing/2014/main" id="{68711DAA-F1B1-4FD4-A09B-805308A98FAA}"/>
              </a:ext>
            </a:extLst>
          </p:cNvPr>
          <p:cNvSpPr txBox="1">
            <a:spLocks/>
          </p:cNvSpPr>
          <p:nvPr/>
        </p:nvSpPr>
        <p:spPr>
          <a:xfrm>
            <a:off x="1105267" y="5705799"/>
            <a:ext cx="9334134" cy="5426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default_rng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는 </a:t>
            </a: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numpy.random.Generator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객체를 생성하는 함수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seed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는 생략 가능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8491482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9A2637-0FC6-A29B-CBC5-FF6D61E28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7C78B0-769B-9444-956E-D041B4C3F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1. </a:t>
            </a:r>
            <a:r>
              <a:rPr lang="ko-KR" altLang="en-US" dirty="0">
                <a:solidFill>
                  <a:schemeClr val="accent2"/>
                </a:solidFill>
              </a:rPr>
              <a:t>배열 초기화 및 생성</a:t>
            </a:r>
            <a:r>
              <a:rPr lang="en-US" altLang="ko-KR" dirty="0">
                <a:solidFill>
                  <a:schemeClr val="accent2"/>
                </a:solidFill>
              </a:rPr>
              <a:t>(1)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9730F779-8572-F234-8F0A-656C3A42C8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1688424" cy="488844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dirty="0"/>
              <a:t>0</a:t>
            </a:r>
            <a:r>
              <a:rPr lang="ko-KR" altLang="en-US" sz="2400" dirty="0"/>
              <a:t>으로 채워진 크기 </a:t>
            </a:r>
            <a:r>
              <a:rPr lang="en-US" altLang="ko-KR" sz="2400" dirty="0"/>
              <a:t>(3, 4) </a:t>
            </a:r>
            <a:r>
              <a:rPr lang="ko-KR" altLang="en-US" sz="2400" dirty="0"/>
              <a:t>배열을 생성한 후</a:t>
            </a:r>
            <a:r>
              <a:rPr lang="en-US" altLang="ko-KR" sz="2400" dirty="0"/>
              <a:t>, </a:t>
            </a:r>
            <a:r>
              <a:rPr lang="ko-KR" altLang="en-US" sz="2400" dirty="0"/>
              <a:t>모든 값을 </a:t>
            </a:r>
            <a:r>
              <a:rPr lang="en-US" altLang="ko-KR" sz="2400" dirty="0"/>
              <a:t>5</a:t>
            </a:r>
            <a:r>
              <a:rPr lang="ko-KR" altLang="en-US" sz="2400" dirty="0"/>
              <a:t>로 채우는 새로운 배열을 만드세요</a:t>
            </a:r>
            <a:r>
              <a:rPr lang="en-US" altLang="ko-KR" sz="2400" dirty="0"/>
              <a:t>.</a:t>
            </a:r>
            <a:r>
              <a:rPr lang="en-US" altLang="ko-KR" sz="2000" dirty="0"/>
              <a:t> 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endParaRPr lang="en-US" altLang="ko-KR" sz="2000" dirty="0"/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dirty="0"/>
              <a:t>0</a:t>
            </a:r>
            <a:r>
              <a:rPr lang="ko-KR" altLang="en-US" sz="2400" dirty="0"/>
              <a:t>부터 </a:t>
            </a:r>
            <a:r>
              <a:rPr lang="en-US" altLang="ko-KR" sz="2400" dirty="0"/>
              <a:t>20</a:t>
            </a:r>
            <a:r>
              <a:rPr lang="ko-KR" altLang="en-US" sz="2400" dirty="0"/>
              <a:t>까지 </a:t>
            </a:r>
            <a:r>
              <a:rPr lang="en-US" altLang="ko-KR" sz="2400" dirty="0"/>
              <a:t>2</a:t>
            </a:r>
            <a:r>
              <a:rPr lang="ko-KR" altLang="en-US" sz="2400" dirty="0"/>
              <a:t>씩 증가하는 </a:t>
            </a:r>
            <a:r>
              <a:rPr lang="en-US" altLang="ko-KR" sz="2400" dirty="0"/>
              <a:t>1</a:t>
            </a:r>
            <a:r>
              <a:rPr lang="ko-KR" altLang="en-US" sz="2400" dirty="0"/>
              <a:t>차원 배열을 생성하세요</a:t>
            </a:r>
            <a:r>
              <a:rPr lang="en-US" altLang="ko-KR" sz="2400" dirty="0"/>
              <a:t>.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dirty="0"/>
              <a:t>0~1 </a:t>
            </a:r>
            <a:r>
              <a:rPr lang="ko-KR" altLang="en-US" sz="2400" dirty="0"/>
              <a:t>사이의 실수 난수를 가지는 </a:t>
            </a:r>
            <a:r>
              <a:rPr lang="en-US" altLang="ko-KR" sz="2400" dirty="0"/>
              <a:t>(2, 3) </a:t>
            </a:r>
            <a:r>
              <a:rPr lang="ko-KR" altLang="en-US" sz="2400" dirty="0"/>
              <a:t>크기의 배열을 생성하세요</a:t>
            </a:r>
            <a:r>
              <a:rPr lang="en-US" altLang="ko-KR" sz="2400" dirty="0"/>
              <a:t>.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ko-KR" altLang="en-US" sz="2400" dirty="0"/>
              <a:t>평균이 </a:t>
            </a:r>
            <a:r>
              <a:rPr lang="en-US" altLang="ko-KR" sz="2400" dirty="0"/>
              <a:t>100, </a:t>
            </a:r>
            <a:r>
              <a:rPr lang="ko-KR" altLang="en-US" sz="2400" dirty="0"/>
              <a:t>표준편차가 </a:t>
            </a:r>
            <a:r>
              <a:rPr lang="en-US" altLang="ko-KR" sz="2400" dirty="0"/>
              <a:t>20</a:t>
            </a:r>
            <a:r>
              <a:rPr lang="ko-KR" altLang="en-US" sz="2400" dirty="0"/>
              <a:t>인 정규분포 난수 </a:t>
            </a:r>
            <a:r>
              <a:rPr lang="en-US" altLang="ko-KR" sz="2400" dirty="0"/>
              <a:t>6</a:t>
            </a:r>
            <a:r>
              <a:rPr lang="ko-KR" altLang="en-US" sz="2400" dirty="0"/>
              <a:t>개를 생성하세요</a:t>
            </a:r>
            <a:r>
              <a:rPr lang="en-US" altLang="ko-KR" sz="2400" dirty="0"/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4583EB4-3623-64A9-0730-1C9B81A195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2025-11-05</a:t>
            </a:fld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B10D7EE-9136-E4AE-EC83-D2BA0D2DEA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988" y="1754170"/>
            <a:ext cx="936803" cy="73503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C427183-33EC-43D9-C685-A2DB6088F9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0007" y="2487247"/>
            <a:ext cx="3258005" cy="58110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314C1B5A-6F76-B987-3152-C41EBF3D98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96178" y="3263150"/>
            <a:ext cx="2641834" cy="652954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054E8B08-4592-EA89-C9C6-04F3718095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3988" y="4516383"/>
            <a:ext cx="5934903" cy="771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591272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D9B165-1905-2C51-01CD-1DCF3CBAF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A7577F-FFB9-FF2A-4BF4-430B41369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1. </a:t>
            </a:r>
            <a:r>
              <a:rPr lang="ko-KR" altLang="en-US" dirty="0">
                <a:solidFill>
                  <a:schemeClr val="accent2"/>
                </a:solidFill>
              </a:rPr>
              <a:t>배열 초기화 및 생성</a:t>
            </a:r>
            <a:r>
              <a:rPr lang="en-US" altLang="ko-KR" dirty="0">
                <a:solidFill>
                  <a:schemeClr val="accent2"/>
                </a:solidFill>
              </a:rPr>
              <a:t>(2)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C6DF5C8B-5581-930A-B18D-EF3AB4B9FB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1688424" cy="488844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5"/>
            </a:pPr>
            <a:r>
              <a:rPr lang="en-US" altLang="ko-KR" sz="2400" dirty="0"/>
              <a:t>1</a:t>
            </a:r>
            <a:r>
              <a:rPr lang="ko-KR" altLang="en-US" sz="2400" dirty="0"/>
              <a:t>부터 </a:t>
            </a:r>
            <a:r>
              <a:rPr lang="en-US" altLang="ko-KR" sz="2400" dirty="0"/>
              <a:t>20</a:t>
            </a:r>
            <a:r>
              <a:rPr lang="ko-KR" altLang="en-US" sz="2400" dirty="0"/>
              <a:t>까지의 정수를 포함하는 </a:t>
            </a:r>
            <a:r>
              <a:rPr lang="en-US" altLang="ko-KR" sz="2400" dirty="0"/>
              <a:t>1</a:t>
            </a:r>
            <a:r>
              <a:rPr lang="ko-KR" altLang="en-US" sz="2400" dirty="0"/>
              <a:t>차원 배열을 만들고</a:t>
            </a:r>
            <a:r>
              <a:rPr lang="en-US" altLang="ko-KR" sz="2400" dirty="0"/>
              <a:t>, </a:t>
            </a:r>
            <a:r>
              <a:rPr lang="ko-KR" altLang="en-US" sz="2400" dirty="0"/>
              <a:t>이 배열을 </a:t>
            </a:r>
            <a:r>
              <a:rPr lang="en-US" altLang="ko-KR" sz="2400" dirty="0"/>
              <a:t>(4, 5) </a:t>
            </a:r>
            <a:r>
              <a:rPr lang="ko-KR" altLang="en-US" sz="2400" dirty="0"/>
              <a:t>크기의 </a:t>
            </a:r>
            <a:r>
              <a:rPr lang="en-US" altLang="ko-KR" sz="2400" dirty="0"/>
              <a:t>2</a:t>
            </a:r>
            <a:r>
              <a:rPr lang="ko-KR" altLang="en-US" sz="2400" dirty="0"/>
              <a:t>차원 배열로 변환하세요</a:t>
            </a:r>
            <a:r>
              <a:rPr lang="en-US" altLang="ko-KR" sz="2400" dirty="0"/>
              <a:t>.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5"/>
            </a:pPr>
            <a:r>
              <a:rPr lang="en-US" altLang="ko-KR" sz="2400" dirty="0"/>
              <a:t>0</a:t>
            </a:r>
            <a:r>
              <a:rPr lang="ko-KR" altLang="en-US" sz="2400" dirty="0"/>
              <a:t>부터 </a:t>
            </a:r>
            <a:r>
              <a:rPr lang="en-US" altLang="ko-KR" sz="2400" dirty="0"/>
              <a:t>1</a:t>
            </a:r>
            <a:r>
              <a:rPr lang="ko-KR" altLang="en-US" sz="2400" dirty="0"/>
              <a:t>까지 균등 간격으로 나눈 </a:t>
            </a:r>
            <a:r>
              <a:rPr lang="en-US" altLang="ko-KR" sz="2400" dirty="0"/>
              <a:t>12</a:t>
            </a:r>
            <a:r>
              <a:rPr lang="ko-KR" altLang="en-US" sz="2400" dirty="0"/>
              <a:t>개의 값을 가지는 배열을 생성하고</a:t>
            </a:r>
            <a:r>
              <a:rPr lang="en-US" altLang="ko-KR" sz="2400" dirty="0"/>
              <a:t>, </a:t>
            </a:r>
            <a:r>
              <a:rPr lang="ko-KR" altLang="en-US" sz="2400" dirty="0"/>
              <a:t>이를 </a:t>
            </a:r>
            <a:r>
              <a:rPr lang="en-US" altLang="ko-KR" sz="2400" dirty="0"/>
              <a:t>(3, 4) </a:t>
            </a:r>
            <a:r>
              <a:rPr lang="ko-KR" altLang="en-US" sz="2400" dirty="0"/>
              <a:t>크기로 변환하세요</a:t>
            </a:r>
            <a:r>
              <a:rPr lang="en-US" altLang="ko-KR" sz="2400" dirty="0"/>
              <a:t>. 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5"/>
            </a:pPr>
            <a:r>
              <a:rPr lang="en-US" altLang="ko-KR" sz="2400" dirty="0"/>
              <a:t>0~99 </a:t>
            </a:r>
            <a:r>
              <a:rPr lang="ko-KR" altLang="en-US" sz="2400" dirty="0"/>
              <a:t>사이의 난수로 이루어진 </a:t>
            </a:r>
            <a:r>
              <a:rPr lang="en-US" altLang="ko-KR" sz="2400" dirty="0"/>
              <a:t>(10, 10) </a:t>
            </a:r>
            <a:r>
              <a:rPr lang="ko-KR" altLang="en-US" sz="2400" dirty="0"/>
              <a:t>배열을 생성한 뒤</a:t>
            </a:r>
            <a:r>
              <a:rPr lang="en-US" altLang="ko-KR" sz="2400" dirty="0"/>
              <a:t>, </a:t>
            </a:r>
            <a:r>
              <a:rPr lang="en-US" altLang="ko-KR" sz="2400" dirty="0" err="1"/>
              <a:t>np.eye</a:t>
            </a:r>
            <a:r>
              <a:rPr lang="en-US" altLang="ko-KR" sz="2400" dirty="0"/>
              <a:t>()</a:t>
            </a:r>
            <a:r>
              <a:rPr lang="ko-KR" altLang="en-US" sz="2400" dirty="0"/>
              <a:t>로 만든 단위 행렬을 더하여 대각선 요소가 </a:t>
            </a:r>
            <a:r>
              <a:rPr lang="en-US" altLang="ko-KR" sz="2400" dirty="0"/>
              <a:t>1</a:t>
            </a:r>
            <a:r>
              <a:rPr lang="ko-KR" altLang="en-US" sz="2400" dirty="0"/>
              <a:t>씩 증가된 배열을 만드세요</a:t>
            </a:r>
            <a:r>
              <a:rPr lang="en-US" altLang="ko-KR" sz="2400" dirty="0"/>
              <a:t>.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5"/>
            </a:pPr>
            <a:r>
              <a:rPr lang="en-US" altLang="ko-KR" sz="2400" dirty="0"/>
              <a:t>0~9 </a:t>
            </a:r>
            <a:r>
              <a:rPr lang="ko-KR" altLang="en-US" sz="2400" dirty="0"/>
              <a:t>사이의 난수로 이루어진 </a:t>
            </a:r>
            <a:r>
              <a:rPr lang="en-US" altLang="ko-KR" sz="2400" dirty="0"/>
              <a:t>(2, 3, 4) 3</a:t>
            </a:r>
            <a:r>
              <a:rPr lang="ko-KR" altLang="en-US" sz="2400" dirty="0"/>
              <a:t>차원 배열을 생성하세요</a:t>
            </a:r>
            <a:r>
              <a:rPr lang="en-US" altLang="ko-KR" sz="2400" dirty="0"/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BAFD5FC-714C-640A-502D-7F7144ED25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2025-11-05</a:t>
            </a:fld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8F81E15-9056-DA27-ED32-E685E7B7BC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2735" y="1695417"/>
            <a:ext cx="1201865" cy="78656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D805B3E0-ECCF-01F4-C05C-2776397FAA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82735" y="2928868"/>
            <a:ext cx="2992565" cy="69517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E0D0D0DC-D49B-CF8C-8063-F29F218961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90778" y="4140661"/>
            <a:ext cx="2214839" cy="1407512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827B42E1-4B13-BCC1-0060-0023EEF71A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9502" y="4910132"/>
            <a:ext cx="935061" cy="1348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694043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0EE7CE-D447-4A14-B998-6C56C44B5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3A2FEFC-510E-ADBF-1495-B272D43E2C94}"/>
              </a:ext>
            </a:extLst>
          </p:cNvPr>
          <p:cNvSpPr txBox="1"/>
          <p:nvPr/>
        </p:nvSpPr>
        <p:spPr>
          <a:xfrm>
            <a:off x="2933942" y="2600493"/>
            <a:ext cx="632416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인덱싱과 </a:t>
            </a:r>
            <a:r>
              <a:rPr lang="ko-KR" altLang="en-US" sz="6000" dirty="0" err="1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슬라이싱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4777513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7F9A61-FD3D-2628-CF18-9DD6B9D1AB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C80BE4-DF86-B496-A3F4-2FCB33AB1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NumPy</a:t>
            </a:r>
            <a:r>
              <a:rPr lang="ko-KR" altLang="en-US" dirty="0"/>
              <a:t>의 인덱싱과 </a:t>
            </a:r>
            <a:r>
              <a:rPr lang="ko-KR" altLang="en-US" dirty="0" err="1"/>
              <a:t>슬라이싱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9CB578D-A49C-8A48-2944-F9C1C8FF16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2025-11-05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353C447-6536-DED5-5AB3-248A71CC45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51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AF787103-F57A-BFED-F0CE-1B08617BD281}"/>
              </a:ext>
            </a:extLst>
          </p:cNvPr>
          <p:cNvSpPr txBox="1">
            <a:spLocks/>
          </p:cNvSpPr>
          <p:nvPr/>
        </p:nvSpPr>
        <p:spPr>
          <a:xfrm>
            <a:off x="238991" y="1145407"/>
            <a:ext cx="11701221" cy="2731104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</a:t>
            </a:r>
            <a:r>
              <a:rPr lang="en-US" altLang="ko-KR" dirty="0"/>
              <a:t>NumPy</a:t>
            </a:r>
            <a:r>
              <a:rPr lang="ko-KR" altLang="en-US" dirty="0"/>
              <a:t> 배열은 </a:t>
            </a:r>
            <a:r>
              <a:rPr lang="en-US" altLang="ko-KR" dirty="0"/>
              <a:t>Python</a:t>
            </a:r>
            <a:r>
              <a:rPr lang="ko-KR" altLang="en-US" dirty="0"/>
              <a:t> 시퀀스와 동일하게 </a:t>
            </a:r>
            <a:r>
              <a:rPr lang="en-US" altLang="ko-KR" dirty="0"/>
              <a:t>0</a:t>
            </a:r>
            <a:r>
              <a:rPr lang="ko-KR" altLang="en-US" dirty="0"/>
              <a:t>부터 시작하는 인덱스 사용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인덱싱과 </a:t>
            </a:r>
            <a:r>
              <a:rPr lang="ko-KR" altLang="en-US" dirty="0" err="1"/>
              <a:t>슬라이싱의</a:t>
            </a:r>
            <a:r>
              <a:rPr lang="ko-KR" altLang="en-US" dirty="0"/>
              <a:t> </a:t>
            </a:r>
            <a:r>
              <a:rPr lang="ko-KR" altLang="en-US" b="1" dirty="0"/>
              <a:t>기본적인 문법은 동일</a:t>
            </a:r>
            <a:r>
              <a:rPr lang="ko-KR" altLang="en-US" dirty="0"/>
              <a:t>함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다차원 인덱싱과 조건 기반 요소 선택 등의 편의 기능을 제공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</a:t>
            </a:r>
            <a:r>
              <a:rPr lang="en-US" altLang="ko-KR" dirty="0"/>
              <a:t>Python </a:t>
            </a:r>
            <a:r>
              <a:rPr lang="ko-KR" altLang="en-US" dirty="0"/>
              <a:t>시퀀스보다 더 빠른 연산을 수행할 수 있음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84589825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771784-3332-244D-2589-24865C13F0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A0CC7A-02D4-D6E2-40D6-155E7DF4A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인덱싱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0AFE966-F0E9-4C3A-CCC3-23A904656C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2025-11-05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6B18420-7562-D898-5009-8F88AA6A99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52</a:t>
            </a:fld>
            <a:endParaRPr lang="ko-KR" altLang="en-US"/>
          </a:p>
        </p:txBody>
      </p:sp>
      <p:sp>
        <p:nvSpPr>
          <p:cNvPr id="3" name="내용 개체 틀 3">
            <a:extLst>
              <a:ext uri="{FF2B5EF4-FFF2-40B4-BE49-F238E27FC236}">
                <a16:creationId xmlns:a16="http://schemas.microsoft.com/office/drawing/2014/main" id="{12F02044-A37A-2A4E-5282-A28815200985}"/>
              </a:ext>
            </a:extLst>
          </p:cNvPr>
          <p:cNvSpPr txBox="1">
            <a:spLocks/>
          </p:cNvSpPr>
          <p:nvPr/>
        </p:nvSpPr>
        <p:spPr>
          <a:xfrm>
            <a:off x="2092480" y="1082038"/>
            <a:ext cx="3771534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</a:t>
            </a:r>
            <a:r>
              <a:rPr lang="en-US" altLang="ko-KR" sz="2400" dirty="0"/>
              <a:t>1</a:t>
            </a:r>
            <a:r>
              <a:rPr lang="ko-KR" altLang="en-US" sz="2400" dirty="0"/>
              <a:t>차원 배열 인덱싱</a:t>
            </a:r>
            <a:endParaRPr lang="en-US" altLang="ko-KR" sz="2400" dirty="0"/>
          </a:p>
        </p:txBody>
      </p:sp>
      <p:pic>
        <p:nvPicPr>
          <p:cNvPr id="8" name="그림 7" descr="텍스트, 스크린샷, 디스플레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B50F369-F3D5-8639-84BA-1AA755326D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576" t="18311" r="9683" b="18473"/>
          <a:stretch>
            <a:fillRect/>
          </a:stretch>
        </p:blipFill>
        <p:spPr>
          <a:xfrm>
            <a:off x="2219960" y="1750060"/>
            <a:ext cx="7752080" cy="3357880"/>
          </a:xfrm>
          <a:prstGeom prst="rect">
            <a:avLst/>
          </a:prstGeom>
        </p:spPr>
      </p:pic>
      <p:sp>
        <p:nvSpPr>
          <p:cNvPr id="9" name="내용 개체 틀 3">
            <a:extLst>
              <a:ext uri="{FF2B5EF4-FFF2-40B4-BE49-F238E27FC236}">
                <a16:creationId xmlns:a16="http://schemas.microsoft.com/office/drawing/2014/main" id="{51D6B3FF-55D7-5326-7009-B05390D14F1B}"/>
              </a:ext>
            </a:extLst>
          </p:cNvPr>
          <p:cNvSpPr txBox="1">
            <a:spLocks/>
          </p:cNvSpPr>
          <p:nvPr/>
        </p:nvSpPr>
        <p:spPr>
          <a:xfrm>
            <a:off x="2092480" y="5128263"/>
            <a:ext cx="7879560" cy="1096580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arr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[0] →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첫 번째 요소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arr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[-1] →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마지막 요소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9208612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AE1A0-A438-53A1-4D0F-57B9AB211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E38030-BB6C-DEC1-2A02-7D3504EBF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인덱싱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5CC528-5DFF-F6E6-38A9-D060E16A02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2025-11-05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1191B51-6F0E-7BE2-314D-9858E9717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53</a:t>
            </a:fld>
            <a:endParaRPr lang="ko-KR" altLang="en-US"/>
          </a:p>
        </p:txBody>
      </p:sp>
      <p:sp>
        <p:nvSpPr>
          <p:cNvPr id="3" name="내용 개체 틀 3">
            <a:extLst>
              <a:ext uri="{FF2B5EF4-FFF2-40B4-BE49-F238E27FC236}">
                <a16:creationId xmlns:a16="http://schemas.microsoft.com/office/drawing/2014/main" id="{6D3EAC1B-7B60-6A51-E272-06A437C9A324}"/>
              </a:ext>
            </a:extLst>
          </p:cNvPr>
          <p:cNvSpPr txBox="1">
            <a:spLocks/>
          </p:cNvSpPr>
          <p:nvPr/>
        </p:nvSpPr>
        <p:spPr>
          <a:xfrm>
            <a:off x="2102105" y="916173"/>
            <a:ext cx="3771534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</a:t>
            </a:r>
            <a:r>
              <a:rPr lang="en-US" altLang="ko-KR" sz="2400" dirty="0"/>
              <a:t>2</a:t>
            </a:r>
            <a:r>
              <a:rPr lang="ko-KR" altLang="en-US" sz="2400" dirty="0"/>
              <a:t>차원 배열 인덱싱</a:t>
            </a:r>
            <a:endParaRPr lang="en-US" altLang="ko-KR" sz="2400" dirty="0"/>
          </a:p>
        </p:txBody>
      </p:sp>
      <p:sp>
        <p:nvSpPr>
          <p:cNvPr id="9" name="내용 개체 틀 3">
            <a:extLst>
              <a:ext uri="{FF2B5EF4-FFF2-40B4-BE49-F238E27FC236}">
                <a16:creationId xmlns:a16="http://schemas.microsoft.com/office/drawing/2014/main" id="{67474589-9DDB-13EC-A718-74131ECF5913}"/>
              </a:ext>
            </a:extLst>
          </p:cNvPr>
          <p:cNvSpPr txBox="1">
            <a:spLocks/>
          </p:cNvSpPr>
          <p:nvPr/>
        </p:nvSpPr>
        <p:spPr>
          <a:xfrm>
            <a:off x="2159857" y="5205263"/>
            <a:ext cx="4943587" cy="945278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arr2[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행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열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]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형식으로 접근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음수 인덱스도 사용 가능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(arr2[-1, -1] → 9)</a:t>
            </a:r>
          </a:p>
        </p:txBody>
      </p:sp>
      <p:pic>
        <p:nvPicPr>
          <p:cNvPr id="11" name="그림 10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8D4EC63-766B-92CD-95D9-F036E2DABE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638" t="17606" r="9638" b="17488"/>
          <a:stretch>
            <a:fillRect/>
          </a:stretch>
        </p:blipFill>
        <p:spPr>
          <a:xfrm>
            <a:off x="2252133" y="1501837"/>
            <a:ext cx="7687734" cy="3664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295860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C4EA69-735F-73D6-877D-2C2D8D968E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텍스트, 스크린샷, 디스플레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F3DA8EE-9066-7D65-46A9-8369E6E13F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22" t="16336" r="8686" b="15972"/>
          <a:stretch>
            <a:fillRect/>
          </a:stretch>
        </p:blipFill>
        <p:spPr>
          <a:xfrm>
            <a:off x="2219960" y="1528756"/>
            <a:ext cx="7752080" cy="372368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130FD78-5ACD-52DC-F279-7A0EA08086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인덱싱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7F28A5A-8943-521A-7B32-A2DA809002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2025-11-05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2A3AB1F-3DE3-C01C-EF27-E365C6BA41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54</a:t>
            </a:fld>
            <a:endParaRPr lang="ko-KR" altLang="en-US"/>
          </a:p>
        </p:txBody>
      </p:sp>
      <p:sp>
        <p:nvSpPr>
          <p:cNvPr id="3" name="내용 개체 틀 3">
            <a:extLst>
              <a:ext uri="{FF2B5EF4-FFF2-40B4-BE49-F238E27FC236}">
                <a16:creationId xmlns:a16="http://schemas.microsoft.com/office/drawing/2014/main" id="{E7BB24AC-BD7D-CA71-49A5-876213F96E8A}"/>
              </a:ext>
            </a:extLst>
          </p:cNvPr>
          <p:cNvSpPr txBox="1">
            <a:spLocks/>
          </p:cNvSpPr>
          <p:nvPr/>
        </p:nvSpPr>
        <p:spPr>
          <a:xfrm>
            <a:off x="2092480" y="870282"/>
            <a:ext cx="4562320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</a:t>
            </a:r>
            <a:r>
              <a:rPr lang="en-US" altLang="ko-KR" sz="2400" dirty="0"/>
              <a:t>2</a:t>
            </a:r>
            <a:r>
              <a:rPr lang="ko-KR" altLang="en-US" sz="2400" dirty="0"/>
              <a:t>차원 인덱싱 </a:t>
            </a:r>
            <a:r>
              <a:rPr lang="en-US" altLang="ko-KR" sz="2400" dirty="0"/>
              <a:t>– </a:t>
            </a:r>
            <a:r>
              <a:rPr lang="ko-KR" altLang="en-US" sz="2400" dirty="0" err="1"/>
              <a:t>파이썬과의</a:t>
            </a:r>
            <a:r>
              <a:rPr lang="ko-KR" altLang="en-US" sz="2400" dirty="0"/>
              <a:t> 차이</a:t>
            </a:r>
            <a:endParaRPr lang="en-US" altLang="ko-KR" sz="2400" dirty="0"/>
          </a:p>
        </p:txBody>
      </p:sp>
      <p:sp>
        <p:nvSpPr>
          <p:cNvPr id="9" name="내용 개체 틀 3">
            <a:extLst>
              <a:ext uri="{FF2B5EF4-FFF2-40B4-BE49-F238E27FC236}">
                <a16:creationId xmlns:a16="http://schemas.microsoft.com/office/drawing/2014/main" id="{E51FC201-9A1F-2E08-EFEF-664C24AC6DAF}"/>
              </a:ext>
            </a:extLst>
          </p:cNvPr>
          <p:cNvSpPr txBox="1">
            <a:spLocks/>
          </p:cNvSpPr>
          <p:nvPr/>
        </p:nvSpPr>
        <p:spPr>
          <a:xfrm>
            <a:off x="2092480" y="5243763"/>
            <a:ext cx="7879560" cy="1096580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Python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리스트는 중첩 리스트로 표현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각 차원을 따로 접근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NumPy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배열은 </a:t>
            </a:r>
            <a:r>
              <a:rPr lang="ko-KR" altLang="en-US" sz="2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다차원 구조를 지원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콤마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(,)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로 차원별 인덱스 지정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7611058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E2964C-97B9-5C04-EAE1-2DF1C7491F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E9B301-8C4F-4971-5309-1C2F368D58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인덱싱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FA336F6-754E-783B-4935-37E91A2936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2025-11-05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E23E9B3-D737-2872-DF16-DE5AFCE332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55</a:t>
            </a:fld>
            <a:endParaRPr lang="ko-KR" altLang="en-US"/>
          </a:p>
        </p:txBody>
      </p:sp>
      <p:sp>
        <p:nvSpPr>
          <p:cNvPr id="3" name="내용 개체 틀 3">
            <a:extLst>
              <a:ext uri="{FF2B5EF4-FFF2-40B4-BE49-F238E27FC236}">
                <a16:creationId xmlns:a16="http://schemas.microsoft.com/office/drawing/2014/main" id="{1D00FCCE-8067-6070-304B-3325F00767EC}"/>
              </a:ext>
            </a:extLst>
          </p:cNvPr>
          <p:cNvSpPr txBox="1">
            <a:spLocks/>
          </p:cNvSpPr>
          <p:nvPr/>
        </p:nvSpPr>
        <p:spPr>
          <a:xfrm>
            <a:off x="2092480" y="1832810"/>
            <a:ext cx="4562320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다차원 배열 인덱싱</a:t>
            </a:r>
            <a:endParaRPr lang="en-US" altLang="ko-KR" sz="2400" dirty="0"/>
          </a:p>
        </p:txBody>
      </p:sp>
      <p:sp>
        <p:nvSpPr>
          <p:cNvPr id="9" name="내용 개체 틀 3">
            <a:extLst>
              <a:ext uri="{FF2B5EF4-FFF2-40B4-BE49-F238E27FC236}">
                <a16:creationId xmlns:a16="http://schemas.microsoft.com/office/drawing/2014/main" id="{A7B3CDD6-D635-5B58-733C-00DF8DA4C2F2}"/>
              </a:ext>
            </a:extLst>
          </p:cNvPr>
          <p:cNvSpPr txBox="1">
            <a:spLocks/>
          </p:cNvSpPr>
          <p:nvPr/>
        </p:nvSpPr>
        <p:spPr>
          <a:xfrm>
            <a:off x="2092480" y="4387118"/>
            <a:ext cx="5952970" cy="56909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차원이 늘어나면 </a:t>
            </a: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arr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[dim1, dim2, dim3, ...]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형식 사용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8" name="그림 7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ECC0134-401F-5805-6F87-5F60BC9920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35" t="21336" r="7647" b="21689"/>
          <a:stretch>
            <a:fillRect/>
          </a:stretch>
        </p:blipFill>
        <p:spPr>
          <a:xfrm>
            <a:off x="2236403" y="2433891"/>
            <a:ext cx="7706494" cy="1974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169036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07CFF-1DD5-AD3C-6990-F5F2FFB980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45825E-CB2F-806C-5CFF-A383F93F7A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슬라이싱과</a:t>
            </a:r>
            <a:r>
              <a:rPr lang="ko-KR" altLang="en-US" dirty="0"/>
              <a:t> 뷰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368A477-D697-EA3D-6E85-D7612E8A1E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2025-11-05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4167B4E-897B-6EBD-B4C2-0FCF33EBF9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56</a:t>
            </a:fld>
            <a:endParaRPr lang="ko-KR" altLang="en-US"/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BC32B6AD-746B-9924-5143-90EC80F1AE51}"/>
              </a:ext>
            </a:extLst>
          </p:cNvPr>
          <p:cNvSpPr txBox="1">
            <a:spLocks/>
          </p:cNvSpPr>
          <p:nvPr/>
        </p:nvSpPr>
        <p:spPr>
          <a:xfrm>
            <a:off x="238991" y="1145407"/>
            <a:ext cx="11701221" cy="1585093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</a:t>
            </a:r>
            <a:r>
              <a:rPr lang="en-US" altLang="ko-KR" dirty="0"/>
              <a:t>NumPy</a:t>
            </a:r>
            <a:r>
              <a:rPr lang="ko-KR" altLang="en-US" dirty="0"/>
              <a:t>는 </a:t>
            </a:r>
            <a:r>
              <a:rPr lang="en-US" altLang="ko-KR" dirty="0"/>
              <a:t>Python </a:t>
            </a:r>
            <a:r>
              <a:rPr lang="ko-KR" altLang="en-US" dirty="0"/>
              <a:t>리스트의 </a:t>
            </a:r>
            <a:r>
              <a:rPr lang="ko-KR" altLang="en-US" dirty="0" err="1"/>
              <a:t>슬라이싱과</a:t>
            </a:r>
            <a:r>
              <a:rPr lang="ko-KR" altLang="en-US" dirty="0"/>
              <a:t> 동일한 문법을 사용하지만</a:t>
            </a:r>
            <a:r>
              <a:rPr lang="en-US" altLang="ko-KR" dirty="0"/>
              <a:t>,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dirty="0"/>
              <a:t>      </a:t>
            </a:r>
            <a:r>
              <a:rPr lang="ko-KR" altLang="en-US" dirty="0"/>
              <a:t>결과가 일반 리스트가 아니라 뷰</a:t>
            </a:r>
            <a:r>
              <a:rPr lang="en-US" altLang="ko-KR" dirty="0"/>
              <a:t>(View)</a:t>
            </a:r>
            <a:r>
              <a:rPr lang="ko-KR" altLang="en-US" dirty="0"/>
              <a:t>라는 점이 다름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📌 뷰</a:t>
            </a:r>
            <a:r>
              <a:rPr lang="en-US" altLang="ko-KR" dirty="0"/>
              <a:t>(View) </a:t>
            </a:r>
            <a:endParaRPr lang="ko-KR" altLang="en-US" dirty="0"/>
          </a:p>
          <a:p>
            <a:pPr lvl="1">
              <a:lnSpc>
                <a:spcPct val="150000"/>
              </a:lnSpc>
            </a:pPr>
            <a:r>
              <a:rPr lang="ko-KR" altLang="en-US" b="1" dirty="0"/>
              <a:t>뷰</a:t>
            </a:r>
            <a:r>
              <a:rPr lang="ko-KR" altLang="en-US" dirty="0"/>
              <a:t>는 </a:t>
            </a:r>
            <a:r>
              <a:rPr lang="ko-KR" altLang="en-US" b="1" dirty="0"/>
              <a:t>원본 데이터의 메모리를 공유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↔️</a:t>
            </a:r>
            <a:r>
              <a:rPr lang="ko-KR" altLang="en-US" dirty="0"/>
              <a:t> </a:t>
            </a:r>
            <a:r>
              <a:rPr lang="en-US" altLang="ko-KR" dirty="0"/>
              <a:t>Python</a:t>
            </a:r>
            <a:r>
              <a:rPr lang="ko-KR" altLang="en-US" dirty="0"/>
              <a:t>의 </a:t>
            </a:r>
            <a:r>
              <a:rPr lang="ko-KR" altLang="en-US" dirty="0" err="1"/>
              <a:t>슬라이싱은</a:t>
            </a:r>
            <a:r>
              <a:rPr lang="ko-KR" altLang="en-US" dirty="0"/>
              <a:t> 새로운 리스트 객체를 생성</a:t>
            </a:r>
          </a:p>
          <a:p>
            <a:pPr lvl="1">
              <a:lnSpc>
                <a:spcPct val="150000"/>
              </a:lnSpc>
            </a:pPr>
            <a:r>
              <a:rPr lang="ko-KR" altLang="en-US" dirty="0"/>
              <a:t>슬라이스 결과를 수정하면 원본 배열도 변경됨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88643898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32D27-B8DD-C0D9-C681-0DCC7835C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 descr="텍스트, 스크린샷, 디스플레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DE04E58-29E4-77AF-5306-2C7611B98C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4703" y="1119140"/>
            <a:ext cx="9522594" cy="513948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DF10009A-A116-56B1-027D-07EE426CFE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슬라이싱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38D568-F9D7-BFEB-A989-0AFD17C6E8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2025-11-05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0B4A773-5EB2-B7FF-600F-8D12FDB6D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57</a:t>
            </a:fld>
            <a:endParaRPr lang="ko-KR" altLang="en-US"/>
          </a:p>
        </p:txBody>
      </p:sp>
      <p:sp>
        <p:nvSpPr>
          <p:cNvPr id="3" name="내용 개체 틀 3">
            <a:extLst>
              <a:ext uri="{FF2B5EF4-FFF2-40B4-BE49-F238E27FC236}">
                <a16:creationId xmlns:a16="http://schemas.microsoft.com/office/drawing/2014/main" id="{A8E11190-8A08-E3CE-E101-220A079ADB65}"/>
              </a:ext>
            </a:extLst>
          </p:cNvPr>
          <p:cNvSpPr txBox="1">
            <a:spLocks/>
          </p:cNvSpPr>
          <p:nvPr/>
        </p:nvSpPr>
        <p:spPr>
          <a:xfrm>
            <a:off x="2092480" y="1341921"/>
            <a:ext cx="3771534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</a:t>
            </a:r>
            <a:r>
              <a:rPr lang="en-US" altLang="ko-KR" sz="2400" dirty="0"/>
              <a:t>1</a:t>
            </a:r>
            <a:r>
              <a:rPr lang="ko-KR" altLang="en-US" sz="2400" dirty="0"/>
              <a:t>차원 배열 </a:t>
            </a:r>
            <a:r>
              <a:rPr lang="ko-KR" altLang="en-US" sz="2400" dirty="0" err="1"/>
              <a:t>슬라이싱</a:t>
            </a:r>
            <a:endParaRPr lang="en-US" altLang="ko-KR" sz="2400" dirty="0"/>
          </a:p>
        </p:txBody>
      </p:sp>
    </p:spTree>
    <p:extLst>
      <p:ext uri="{BB962C8B-B14F-4D97-AF65-F5344CB8AC3E}">
        <p14:creationId xmlns:p14="http://schemas.microsoft.com/office/powerpoint/2010/main" val="57028308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18EDF-0648-4E34-39E2-E3E5A8B49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F500105E-3240-09C1-AF59-0A4CDCD0C0A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4964" y="1069807"/>
            <a:ext cx="9425898" cy="545204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239316E-EECA-7F05-0FE5-484C2ECED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슬라이싱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27DB56E-4237-44A9-8A26-73178AB57D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2025-11-05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A71C8CC-3BC4-F9AA-396D-1EFAA452A6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58</a:t>
            </a:fld>
            <a:endParaRPr lang="ko-KR" altLang="en-US"/>
          </a:p>
        </p:txBody>
      </p:sp>
      <p:sp>
        <p:nvSpPr>
          <p:cNvPr id="3" name="내용 개체 틀 3">
            <a:extLst>
              <a:ext uri="{FF2B5EF4-FFF2-40B4-BE49-F238E27FC236}">
                <a16:creationId xmlns:a16="http://schemas.microsoft.com/office/drawing/2014/main" id="{549DB8B4-E695-9272-0966-F281763B7DDD}"/>
              </a:ext>
            </a:extLst>
          </p:cNvPr>
          <p:cNvSpPr txBox="1">
            <a:spLocks/>
          </p:cNvSpPr>
          <p:nvPr/>
        </p:nvSpPr>
        <p:spPr>
          <a:xfrm>
            <a:off x="2092480" y="1361172"/>
            <a:ext cx="3771534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</a:t>
            </a:r>
            <a:r>
              <a:rPr lang="en-US" altLang="ko-KR" sz="2400" dirty="0"/>
              <a:t>2</a:t>
            </a:r>
            <a:r>
              <a:rPr lang="ko-KR" altLang="en-US" sz="2400" dirty="0"/>
              <a:t>차원 배열 </a:t>
            </a:r>
            <a:r>
              <a:rPr lang="ko-KR" altLang="en-US" sz="2400" dirty="0" err="1"/>
              <a:t>슬라이싱</a:t>
            </a:r>
            <a:endParaRPr lang="en-US" altLang="ko-KR" sz="2400" dirty="0"/>
          </a:p>
        </p:txBody>
      </p:sp>
    </p:spTree>
    <p:extLst>
      <p:ext uri="{BB962C8B-B14F-4D97-AF65-F5344CB8AC3E}">
        <p14:creationId xmlns:p14="http://schemas.microsoft.com/office/powerpoint/2010/main" val="335751479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F6A887-C903-AE7B-855C-B1F0BF0EF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3865AE5-BE66-CDE7-E7A3-58AF038C2F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89" t="12885" r="7442" b="12694"/>
          <a:stretch>
            <a:fillRect/>
          </a:stretch>
        </p:blipFill>
        <p:spPr>
          <a:xfrm>
            <a:off x="2266950" y="1528233"/>
            <a:ext cx="7658100" cy="424815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13E8998D-65E5-A252-AE46-7AEE73C42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슬라이싱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497BD92-EECD-79C8-709E-45FC4B18B9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2025-11-05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F16E7B3-BE19-BB23-DA98-87D398BC4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59</a:t>
            </a:fld>
            <a:endParaRPr lang="ko-KR" altLang="en-US"/>
          </a:p>
        </p:txBody>
      </p:sp>
      <p:sp>
        <p:nvSpPr>
          <p:cNvPr id="3" name="내용 개체 틀 3">
            <a:extLst>
              <a:ext uri="{FF2B5EF4-FFF2-40B4-BE49-F238E27FC236}">
                <a16:creationId xmlns:a16="http://schemas.microsoft.com/office/drawing/2014/main" id="{C0587773-7BBA-4F19-F89B-A912B2C8664E}"/>
              </a:ext>
            </a:extLst>
          </p:cNvPr>
          <p:cNvSpPr txBox="1">
            <a:spLocks/>
          </p:cNvSpPr>
          <p:nvPr/>
        </p:nvSpPr>
        <p:spPr>
          <a:xfrm>
            <a:off x="2105180" y="921171"/>
            <a:ext cx="3771534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</a:t>
            </a:r>
            <a:r>
              <a:rPr lang="ko-KR" altLang="en-US" sz="2400" dirty="0" err="1"/>
              <a:t>파이썬과의</a:t>
            </a:r>
            <a:r>
              <a:rPr lang="ko-KR" altLang="en-US" sz="2400" dirty="0"/>
              <a:t> 차이</a:t>
            </a:r>
            <a:endParaRPr lang="en-US" altLang="ko-KR" sz="2400" dirty="0"/>
          </a:p>
        </p:txBody>
      </p:sp>
      <p:sp>
        <p:nvSpPr>
          <p:cNvPr id="10" name="내용 개체 틀 3">
            <a:extLst>
              <a:ext uri="{FF2B5EF4-FFF2-40B4-BE49-F238E27FC236}">
                <a16:creationId xmlns:a16="http://schemas.microsoft.com/office/drawing/2014/main" id="{83912B51-C753-0BC8-FC4D-A8AB5EA3D0A3}"/>
              </a:ext>
            </a:extLst>
          </p:cNvPr>
          <p:cNvSpPr txBox="1">
            <a:spLocks/>
          </p:cNvSpPr>
          <p:nvPr/>
        </p:nvSpPr>
        <p:spPr>
          <a:xfrm>
            <a:off x="2175030" y="5684946"/>
            <a:ext cx="5952970" cy="56909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NumPy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에서 슬라이스를 수정하면 원본 배열도 변경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9989685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C05B84-974B-CB6E-B724-ED8E95B86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846BB2-DFC3-0CE1-627F-21FF5E1A1E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배열의 복사 </a:t>
            </a:r>
            <a:r>
              <a:rPr lang="en-US" altLang="ko-KR" dirty="0"/>
              <a:t>(Copy)</a:t>
            </a:r>
            <a:r>
              <a:rPr lang="ko-KR" altLang="en-US" dirty="0"/>
              <a:t>와 참조 </a:t>
            </a:r>
            <a:r>
              <a:rPr lang="en-US" altLang="ko-KR" dirty="0"/>
              <a:t>(View)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23B3BE1-AAF4-AA66-C463-697028A85B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2025-11-05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4D99D9F-399B-4917-E49D-DD69DDA7C9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60</a:t>
            </a:fld>
            <a:endParaRPr lang="ko-KR" altLang="en-US"/>
          </a:p>
        </p:txBody>
      </p:sp>
      <p:sp>
        <p:nvSpPr>
          <p:cNvPr id="3" name="내용 개체 틀 3">
            <a:extLst>
              <a:ext uri="{FF2B5EF4-FFF2-40B4-BE49-F238E27FC236}">
                <a16:creationId xmlns:a16="http://schemas.microsoft.com/office/drawing/2014/main" id="{4EF5B948-F857-92F6-B4F4-FE42F883C858}"/>
              </a:ext>
            </a:extLst>
          </p:cNvPr>
          <p:cNvSpPr txBox="1">
            <a:spLocks/>
          </p:cNvSpPr>
          <p:nvPr/>
        </p:nvSpPr>
        <p:spPr>
          <a:xfrm>
            <a:off x="2105179" y="1007798"/>
            <a:ext cx="5354399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1️⃣ </a:t>
            </a:r>
            <a:r>
              <a:rPr lang="ko-KR" altLang="en-US" sz="2400" dirty="0"/>
              <a:t>얕은 복사 </a:t>
            </a:r>
            <a:r>
              <a:rPr lang="en-US" altLang="ko-KR" sz="2400" dirty="0"/>
              <a:t>(Shallow Copy) = View</a:t>
            </a:r>
          </a:p>
        </p:txBody>
      </p:sp>
      <p:sp>
        <p:nvSpPr>
          <p:cNvPr id="10" name="내용 개체 틀 3">
            <a:extLst>
              <a:ext uri="{FF2B5EF4-FFF2-40B4-BE49-F238E27FC236}">
                <a16:creationId xmlns:a16="http://schemas.microsoft.com/office/drawing/2014/main" id="{75B5055E-DBA0-B0D4-DEE0-91A804E912E4}"/>
              </a:ext>
            </a:extLst>
          </p:cNvPr>
          <p:cNvSpPr txBox="1">
            <a:spLocks/>
          </p:cNvSpPr>
          <p:nvPr/>
        </p:nvSpPr>
        <p:spPr>
          <a:xfrm>
            <a:off x="2105179" y="5377880"/>
            <a:ext cx="7426170" cy="1173054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ko-KR" altLang="en-US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슬라이싱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view()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메서드 등은 얕은 복사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ko-KR" altLang="en-US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슬라이싱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원본과 메모리를 공유하여 한 쪽을 수정하면 다른 쪽도 바뀜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7" name="그림 6" descr="텍스트, 스크린샷, 폰트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67449E3-BB0E-269C-9191-774E546164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10" t="20111" r="11554" b="19961"/>
          <a:stretch>
            <a:fillRect/>
          </a:stretch>
        </p:blipFill>
        <p:spPr>
          <a:xfrm>
            <a:off x="2252419" y="1629238"/>
            <a:ext cx="7687162" cy="3719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690621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6B96A3-A8D6-EF11-62D7-4732976DDB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0E313D-6561-C98F-FD08-782AF47A4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배열의 복사</a:t>
            </a:r>
            <a:r>
              <a:rPr lang="en-US" altLang="ko-KR" dirty="0"/>
              <a:t>(Copy)</a:t>
            </a:r>
            <a:r>
              <a:rPr lang="ko-KR" altLang="en-US" dirty="0"/>
              <a:t>와 참조 </a:t>
            </a:r>
            <a:r>
              <a:rPr lang="en-US" altLang="ko-KR" dirty="0"/>
              <a:t>(View)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998EB90-0400-5CF5-5981-D25A08AEC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2025-11-05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6BFA736-4C10-B389-B337-479BD4B111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61</a:t>
            </a:fld>
            <a:endParaRPr lang="ko-KR" altLang="en-US"/>
          </a:p>
        </p:txBody>
      </p:sp>
      <p:sp>
        <p:nvSpPr>
          <p:cNvPr id="3" name="내용 개체 틀 3">
            <a:extLst>
              <a:ext uri="{FF2B5EF4-FFF2-40B4-BE49-F238E27FC236}">
                <a16:creationId xmlns:a16="http://schemas.microsoft.com/office/drawing/2014/main" id="{E639E1FE-6334-926B-F86A-4F23827735F0}"/>
              </a:ext>
            </a:extLst>
          </p:cNvPr>
          <p:cNvSpPr txBox="1">
            <a:spLocks/>
          </p:cNvSpPr>
          <p:nvPr/>
        </p:nvSpPr>
        <p:spPr>
          <a:xfrm>
            <a:off x="2105179" y="1742526"/>
            <a:ext cx="5354399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2️⃣ </a:t>
            </a:r>
            <a:r>
              <a:rPr lang="ko-KR" altLang="en-US" sz="2400" dirty="0"/>
              <a:t>깊은 복사 </a:t>
            </a:r>
            <a:r>
              <a:rPr lang="en-US" altLang="ko-KR" sz="2400" dirty="0"/>
              <a:t>(Deep Copy) = Copy</a:t>
            </a:r>
          </a:p>
        </p:txBody>
      </p:sp>
      <p:sp>
        <p:nvSpPr>
          <p:cNvPr id="10" name="내용 개체 틀 3">
            <a:extLst>
              <a:ext uri="{FF2B5EF4-FFF2-40B4-BE49-F238E27FC236}">
                <a16:creationId xmlns:a16="http://schemas.microsoft.com/office/drawing/2014/main" id="{B08DF26A-4FBA-D2A3-0F7A-C3348CD7439B}"/>
              </a:ext>
            </a:extLst>
          </p:cNvPr>
          <p:cNvSpPr txBox="1">
            <a:spLocks/>
          </p:cNvSpPr>
          <p:nvPr/>
        </p:nvSpPr>
        <p:spPr>
          <a:xfrm>
            <a:off x="2075180" y="5125811"/>
            <a:ext cx="7426170" cy="60575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copy()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메서드를 사용하면 원본과 독립적인 배열을 생성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8" name="그림 7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66D1F90-965D-E7B6-CDE8-8FC3986A60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75" t="20165" r="9175" b="19961"/>
          <a:stretch>
            <a:fillRect/>
          </a:stretch>
        </p:blipFill>
        <p:spPr>
          <a:xfrm>
            <a:off x="2255520" y="2390874"/>
            <a:ext cx="7680960" cy="2765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418887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18C658-4BED-161C-6602-C2AAA4D39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28F5229-D2C3-1EC9-7AD8-F22233D90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Fancy Indexing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487CCAA-F0D3-7BB2-C912-C870DB884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2025-11-05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B937777-A0A1-9289-8788-3D2C66D1D8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62</a:t>
            </a:fld>
            <a:endParaRPr lang="ko-KR" altLang="en-US"/>
          </a:p>
        </p:txBody>
      </p:sp>
      <p:sp>
        <p:nvSpPr>
          <p:cNvPr id="3" name="내용 개체 틀 3">
            <a:extLst>
              <a:ext uri="{FF2B5EF4-FFF2-40B4-BE49-F238E27FC236}">
                <a16:creationId xmlns:a16="http://schemas.microsoft.com/office/drawing/2014/main" id="{7CF9BF0C-9132-7AAA-17FC-C458B22B2446}"/>
              </a:ext>
            </a:extLst>
          </p:cNvPr>
          <p:cNvSpPr txBox="1">
            <a:spLocks/>
          </p:cNvSpPr>
          <p:nvPr/>
        </p:nvSpPr>
        <p:spPr>
          <a:xfrm>
            <a:off x="2105179" y="1881470"/>
            <a:ext cx="5354399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✅ Fancy Indexing</a:t>
            </a:r>
          </a:p>
        </p:txBody>
      </p:sp>
      <p:sp>
        <p:nvSpPr>
          <p:cNvPr id="10" name="내용 개체 틀 3">
            <a:extLst>
              <a:ext uri="{FF2B5EF4-FFF2-40B4-BE49-F238E27FC236}">
                <a16:creationId xmlns:a16="http://schemas.microsoft.com/office/drawing/2014/main" id="{B1056AE7-14F5-55A7-EFA2-074501FA0540}"/>
              </a:ext>
            </a:extLst>
          </p:cNvPr>
          <p:cNvSpPr txBox="1">
            <a:spLocks/>
          </p:cNvSpPr>
          <p:nvPr/>
        </p:nvSpPr>
        <p:spPr>
          <a:xfrm>
            <a:off x="2105179" y="4584766"/>
            <a:ext cx="7426170" cy="60575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정수 배열을 사용하여 여러 인덱스를 한 번에 선택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8" name="그림 7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0255E6-A33C-5614-2656-B36030D1B3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22" t="23248" r="9149" b="23458"/>
          <a:stretch>
            <a:fillRect/>
          </a:stretch>
        </p:blipFill>
        <p:spPr>
          <a:xfrm>
            <a:off x="2260599" y="2541856"/>
            <a:ext cx="7670802" cy="2079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304533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14D8EE-63E8-18BA-3CEE-FDD4500AA1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96D8DF-2ED0-27DE-6C77-E05E772832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Boolean Indexing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07E0F47-6387-0543-98A0-71CD3DA99F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2025-11-05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48010E2-589F-7F24-237C-9CFBBD646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63</a:t>
            </a:fld>
            <a:endParaRPr lang="ko-KR" altLang="en-US"/>
          </a:p>
        </p:txBody>
      </p:sp>
      <p:sp>
        <p:nvSpPr>
          <p:cNvPr id="3" name="내용 개체 틀 3">
            <a:extLst>
              <a:ext uri="{FF2B5EF4-FFF2-40B4-BE49-F238E27FC236}">
                <a16:creationId xmlns:a16="http://schemas.microsoft.com/office/drawing/2014/main" id="{F2A46926-A1DB-4F63-5DBE-DE8226413C16}"/>
              </a:ext>
            </a:extLst>
          </p:cNvPr>
          <p:cNvSpPr txBox="1">
            <a:spLocks/>
          </p:cNvSpPr>
          <p:nvPr/>
        </p:nvSpPr>
        <p:spPr>
          <a:xfrm>
            <a:off x="2105179" y="1557207"/>
            <a:ext cx="5354399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</a:t>
            </a:r>
            <a:r>
              <a:rPr lang="en-US" altLang="ko-KR" sz="2400" dirty="0"/>
              <a:t>Boolean Indexing</a:t>
            </a:r>
          </a:p>
        </p:txBody>
      </p:sp>
      <p:sp>
        <p:nvSpPr>
          <p:cNvPr id="10" name="내용 개체 틀 3">
            <a:extLst>
              <a:ext uri="{FF2B5EF4-FFF2-40B4-BE49-F238E27FC236}">
                <a16:creationId xmlns:a16="http://schemas.microsoft.com/office/drawing/2014/main" id="{4BA8C276-D197-9F64-F7EC-0680F5118DB3}"/>
              </a:ext>
            </a:extLst>
          </p:cNvPr>
          <p:cNvSpPr txBox="1">
            <a:spLocks/>
          </p:cNvSpPr>
          <p:nvPr/>
        </p:nvSpPr>
        <p:spPr>
          <a:xfrm>
            <a:off x="2105179" y="4262030"/>
            <a:ext cx="7426170" cy="1245837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조건식을 사용하여 요소 선택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조건을 변수로 처리하여 인덱싱 가능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(Boolean Masking)</a:t>
            </a:r>
          </a:p>
        </p:txBody>
      </p:sp>
      <p:pic>
        <p:nvPicPr>
          <p:cNvPr id="7" name="그림 6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B6ADFB3-4C14-7E28-A0A2-76D892FC6D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71" t="23936" r="9239" b="23121"/>
          <a:stretch>
            <a:fillRect/>
          </a:stretch>
        </p:blipFill>
        <p:spPr>
          <a:xfrm>
            <a:off x="2261766" y="2240834"/>
            <a:ext cx="7668468" cy="206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866917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708B8B-A512-82A3-361C-D4B9E1FF9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1DA6F4-30B4-25DE-55A4-EA739A7A8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2. </a:t>
            </a:r>
            <a:r>
              <a:rPr lang="ko-KR" altLang="en-US" dirty="0">
                <a:solidFill>
                  <a:schemeClr val="accent2"/>
                </a:solidFill>
              </a:rPr>
              <a:t>인덱싱과 </a:t>
            </a:r>
            <a:r>
              <a:rPr lang="ko-KR" altLang="en-US" dirty="0" err="1">
                <a:solidFill>
                  <a:schemeClr val="accent2"/>
                </a:solidFill>
              </a:rPr>
              <a:t>슬라이싱</a:t>
            </a:r>
            <a:r>
              <a:rPr lang="en-US" altLang="ko-KR" dirty="0">
                <a:solidFill>
                  <a:schemeClr val="accent2"/>
                </a:solidFill>
              </a:rPr>
              <a:t>(1)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69C0C272-5CFB-4AFC-8279-C45CFA1F75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0687485" cy="488844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ko-KR" altLang="en-US" sz="2400" dirty="0"/>
              <a:t>다음 배열에서 </a:t>
            </a:r>
            <a:r>
              <a:rPr lang="en-US" altLang="ko-KR" sz="2400" b="1" dirty="0"/>
              <a:t>2, 4, 6</a:t>
            </a:r>
            <a:r>
              <a:rPr lang="ko-KR" altLang="en-US" sz="2400" b="1" dirty="0"/>
              <a:t>번째 요소를 </a:t>
            </a:r>
            <a:r>
              <a:rPr lang="en-US" altLang="ko-KR" sz="2400" b="1" dirty="0"/>
              <a:t>Fancy Indexing</a:t>
            </a:r>
            <a:r>
              <a:rPr lang="ko-KR" altLang="en-US" sz="2400" dirty="0"/>
              <a:t>으로 선택하세요</a:t>
            </a:r>
            <a:r>
              <a:rPr lang="en-US" altLang="ko-KR" sz="2400" dirty="0"/>
              <a:t>.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 err="1"/>
              <a:t>arr</a:t>
            </a:r>
            <a:r>
              <a:rPr lang="en-US" altLang="ko-KR" sz="2000" dirty="0"/>
              <a:t> = </a:t>
            </a:r>
            <a:r>
              <a:rPr lang="en-US" altLang="ko-KR" sz="2000" dirty="0" err="1"/>
              <a:t>np.arange</a:t>
            </a:r>
            <a:r>
              <a:rPr lang="en-US" altLang="ko-KR" sz="2000" dirty="0"/>
              <a:t>(10, 30, 2) 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dirty="0"/>
              <a:t>3x3 </a:t>
            </a:r>
            <a:r>
              <a:rPr lang="ko-KR" altLang="en-US" sz="2400" dirty="0"/>
              <a:t>배열에서 왼쪽 위 → 오른쪽 아래 대각선의 요소만 인덱싱으로 추출하세요</a:t>
            </a:r>
            <a:r>
              <a:rPr lang="en-US" altLang="ko-KR" sz="2400" dirty="0"/>
              <a:t>.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 err="1"/>
              <a:t>arr</a:t>
            </a:r>
            <a:r>
              <a:rPr lang="en-US" altLang="ko-KR" sz="2000" dirty="0"/>
              <a:t> = </a:t>
            </a:r>
            <a:r>
              <a:rPr lang="en-US" altLang="ko-KR" sz="2000" dirty="0" err="1"/>
              <a:t>np.arange</a:t>
            </a:r>
            <a:r>
              <a:rPr lang="en-US" altLang="ko-KR" sz="2000" dirty="0"/>
              <a:t>(1, 10).reshape(3, 3)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dirty="0"/>
              <a:t>3x4 </a:t>
            </a:r>
            <a:r>
              <a:rPr lang="ko-KR" altLang="en-US" sz="2400" dirty="0"/>
              <a:t>배열에서 마지막 열만 선택해 모두 </a:t>
            </a:r>
            <a:r>
              <a:rPr lang="en-US" altLang="ko-KR" sz="2400" dirty="0"/>
              <a:t>-1</a:t>
            </a:r>
            <a:r>
              <a:rPr lang="ko-KR" altLang="en-US" sz="2400" dirty="0"/>
              <a:t>로 변경하세요</a:t>
            </a:r>
            <a:r>
              <a:rPr lang="en-US" altLang="ko-KR" sz="2400" dirty="0"/>
              <a:t>.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 err="1"/>
              <a:t>arr</a:t>
            </a:r>
            <a:r>
              <a:rPr lang="en-US" altLang="ko-KR" sz="2000" dirty="0"/>
              <a:t> = </a:t>
            </a:r>
            <a:r>
              <a:rPr lang="en-US" altLang="ko-KR" sz="2000" dirty="0" err="1"/>
              <a:t>np.arange</a:t>
            </a:r>
            <a:r>
              <a:rPr lang="en-US" altLang="ko-KR" sz="2000" dirty="0"/>
              <a:t>(1, 13).reshape(3, 4)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dirty="0"/>
              <a:t>4x4 </a:t>
            </a:r>
            <a:r>
              <a:rPr lang="ko-KR" altLang="en-US" sz="2400" dirty="0"/>
              <a:t>배열에서 행을 역순</a:t>
            </a:r>
            <a:r>
              <a:rPr lang="en-US" altLang="ko-KR" sz="2400" dirty="0"/>
              <a:t>, </a:t>
            </a:r>
            <a:r>
              <a:rPr lang="ko-KR" altLang="en-US" sz="2400" dirty="0"/>
              <a:t>열을 역순으로 각각 </a:t>
            </a:r>
            <a:r>
              <a:rPr lang="ko-KR" altLang="en-US" sz="2400" dirty="0" err="1"/>
              <a:t>슬라이싱해</a:t>
            </a:r>
            <a:r>
              <a:rPr lang="ko-KR" altLang="en-US" sz="2400" dirty="0"/>
              <a:t> 출력하세요</a:t>
            </a:r>
            <a:r>
              <a:rPr lang="en-US" altLang="ko-KR" sz="2400" dirty="0"/>
              <a:t>.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 err="1"/>
              <a:t>arr</a:t>
            </a:r>
            <a:r>
              <a:rPr lang="en-US" altLang="ko-KR" sz="2000" dirty="0"/>
              <a:t> = </a:t>
            </a:r>
            <a:r>
              <a:rPr lang="en-US" altLang="ko-KR" sz="2000" dirty="0" err="1"/>
              <a:t>np.arange</a:t>
            </a:r>
            <a:r>
              <a:rPr lang="en-US" altLang="ko-KR" sz="2000" dirty="0"/>
              <a:t>(1, 17).reshape(4, 4)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7BF36D7-F56C-E0E7-A1CE-E5A693B5DB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2025-11-05</a:t>
            </a:fld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80B9A92-6B74-D13A-4671-6AEDDB1297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1035" y="1879600"/>
            <a:ext cx="1768217" cy="411213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150F1AC2-5D29-FA85-92DE-AC81A57A82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3205" y="3055166"/>
            <a:ext cx="1390844" cy="38105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494BF4E-3B36-F0CF-40BF-93F51EF4B1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56425" y="3689283"/>
            <a:ext cx="1428949" cy="952633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1A43E59C-95B8-1CC3-B325-2990233625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70935" y="3889399"/>
            <a:ext cx="1638529" cy="2362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260073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ED6C48-0C49-8139-2DCD-95C3ECCD3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A33BF6-6158-1F34-232C-E683C91D3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2. </a:t>
            </a:r>
            <a:r>
              <a:rPr lang="ko-KR" altLang="en-US" dirty="0">
                <a:solidFill>
                  <a:schemeClr val="accent2"/>
                </a:solidFill>
              </a:rPr>
              <a:t>인덱싱과 </a:t>
            </a:r>
            <a:r>
              <a:rPr lang="ko-KR" altLang="en-US" dirty="0" err="1">
                <a:solidFill>
                  <a:schemeClr val="accent2"/>
                </a:solidFill>
              </a:rPr>
              <a:t>슬라이싱</a:t>
            </a:r>
            <a:r>
              <a:rPr lang="en-US" altLang="ko-KR" dirty="0">
                <a:solidFill>
                  <a:schemeClr val="accent2"/>
                </a:solidFill>
              </a:rPr>
              <a:t>(2)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0A8C4C1E-6E86-8F99-74D3-DE16AA2141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1575254" cy="3282214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5"/>
            </a:pPr>
            <a:r>
              <a:rPr lang="en-US" altLang="ko-KR" sz="2400" dirty="0"/>
              <a:t>4x5 </a:t>
            </a:r>
            <a:r>
              <a:rPr lang="ko-KR" altLang="en-US" sz="2400" dirty="0"/>
              <a:t>배열에서 가운데 </a:t>
            </a:r>
            <a:r>
              <a:rPr lang="en-US" altLang="ko-KR" sz="2400" dirty="0"/>
              <a:t>2x3 </a:t>
            </a:r>
            <a:r>
              <a:rPr lang="ko-KR" altLang="en-US" sz="2400" dirty="0"/>
              <a:t>부분을 </a:t>
            </a:r>
            <a:r>
              <a:rPr lang="ko-KR" altLang="en-US" sz="2400" dirty="0" err="1"/>
              <a:t>슬라이싱한</a:t>
            </a:r>
            <a:r>
              <a:rPr lang="ko-KR" altLang="en-US" sz="2400" dirty="0"/>
              <a:t> 뒤 </a:t>
            </a:r>
            <a:r>
              <a:rPr lang="en-US" altLang="ko-KR" sz="2400" dirty="0"/>
              <a:t>copy()</a:t>
            </a:r>
            <a:r>
              <a:rPr lang="ko-KR" altLang="en-US" sz="2400" dirty="0"/>
              <a:t>를 이용해 독립 배열을 만드세요</a:t>
            </a:r>
            <a:r>
              <a:rPr lang="en-US" altLang="ko-KR" sz="2400" dirty="0"/>
              <a:t>.</a:t>
            </a:r>
          </a:p>
          <a:p>
            <a:pPr lvl="1">
              <a:lnSpc>
                <a:spcPct val="150000"/>
              </a:lnSpc>
            </a:pPr>
            <a:r>
              <a:rPr lang="en-US" altLang="ko-KR" sz="1600" dirty="0" err="1"/>
              <a:t>arr</a:t>
            </a:r>
            <a:r>
              <a:rPr lang="en-US" altLang="ko-KR" sz="1600" dirty="0"/>
              <a:t> = </a:t>
            </a:r>
            <a:r>
              <a:rPr lang="en-US" altLang="ko-KR" sz="1600" dirty="0" err="1"/>
              <a:t>np.arange</a:t>
            </a:r>
            <a:r>
              <a:rPr lang="en-US" altLang="ko-KR" sz="1600" dirty="0"/>
              <a:t>(1, 21).reshape(4, 5)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 startAt="5"/>
            </a:pPr>
            <a:r>
              <a:rPr lang="en-US" altLang="ko-KR" sz="2400" dirty="0"/>
              <a:t>3x4 </a:t>
            </a:r>
            <a:r>
              <a:rPr lang="ko-KR" altLang="en-US" sz="2400" dirty="0"/>
              <a:t>배열에서 짝수이면서 </a:t>
            </a:r>
            <a:r>
              <a:rPr lang="en-US" altLang="ko-KR" sz="2400" dirty="0"/>
              <a:t>10 </a:t>
            </a:r>
            <a:r>
              <a:rPr lang="ko-KR" altLang="en-US" sz="2400" dirty="0"/>
              <a:t>이상인 값만 선택하세요</a:t>
            </a:r>
            <a:r>
              <a:rPr lang="en-US" altLang="ko-KR" sz="2400" dirty="0"/>
              <a:t>.</a:t>
            </a:r>
            <a:r>
              <a:rPr lang="en-US" altLang="ko-KR" sz="2400" dirty="0">
                <a:solidFill>
                  <a:srgbClr val="FF5050"/>
                </a:solidFill>
              </a:rPr>
              <a:t>(&amp;</a:t>
            </a:r>
            <a:r>
              <a:rPr lang="ko-KR" altLang="en-US" sz="2400" dirty="0">
                <a:solidFill>
                  <a:srgbClr val="FF5050"/>
                </a:solidFill>
              </a:rPr>
              <a:t>을</a:t>
            </a:r>
            <a:r>
              <a:rPr lang="en-US" altLang="ko-KR" sz="2400" dirty="0">
                <a:solidFill>
                  <a:srgbClr val="FF5050"/>
                </a:solidFill>
              </a:rPr>
              <a:t> </a:t>
            </a:r>
            <a:r>
              <a:rPr lang="ko-KR" altLang="en-US" sz="2400" dirty="0">
                <a:solidFill>
                  <a:srgbClr val="FF5050"/>
                </a:solidFill>
              </a:rPr>
              <a:t>활용</a:t>
            </a:r>
            <a:r>
              <a:rPr lang="en-US" altLang="ko-KR" sz="2400" dirty="0">
                <a:solidFill>
                  <a:srgbClr val="FF5050"/>
                </a:solidFill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en-US" altLang="ko-KR" sz="1600" dirty="0" err="1"/>
              <a:t>arr</a:t>
            </a:r>
            <a:r>
              <a:rPr lang="en-US" altLang="ko-KR" sz="1600" dirty="0"/>
              <a:t> = </a:t>
            </a:r>
            <a:r>
              <a:rPr lang="en-US" altLang="ko-KR" sz="1600" dirty="0" err="1"/>
              <a:t>np.array</a:t>
            </a:r>
            <a:r>
              <a:rPr lang="en-US" altLang="ko-KR" sz="1600" dirty="0"/>
              <a:t>([[ 4,  9, 12,  7], [10, 15, 18,  3], [ 2, 14,  6, 20]])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 startAt="5"/>
            </a:pPr>
            <a:r>
              <a:rPr lang="en-US" altLang="ko-KR" sz="2400" dirty="0"/>
              <a:t>5x5 </a:t>
            </a:r>
            <a:r>
              <a:rPr lang="ko-KR" altLang="en-US" sz="2400" dirty="0"/>
              <a:t>배열에서 </a:t>
            </a:r>
            <a:r>
              <a:rPr lang="en-US" altLang="ko-KR" sz="2400" dirty="0"/>
              <a:t>2, 4</a:t>
            </a:r>
            <a:r>
              <a:rPr lang="ko-KR" altLang="en-US" sz="2400" dirty="0"/>
              <a:t>번째 행을 선택하고</a:t>
            </a:r>
            <a:r>
              <a:rPr lang="en-US" altLang="ko-KR" sz="2400" dirty="0"/>
              <a:t>, </a:t>
            </a:r>
            <a:r>
              <a:rPr lang="ko-KR" altLang="en-US" sz="2400" dirty="0"/>
              <a:t>선택된 행에서 열 순서를 </a:t>
            </a:r>
            <a:r>
              <a:rPr lang="en-US" altLang="ko-KR" sz="2400" dirty="0"/>
              <a:t>[4, 0, 2]</a:t>
            </a:r>
            <a:r>
              <a:rPr lang="ko-KR" altLang="en-US" sz="2400" dirty="0"/>
              <a:t>로 재배치하세요</a:t>
            </a:r>
            <a:r>
              <a:rPr lang="en-US" altLang="ko-KR" sz="2400" dirty="0"/>
              <a:t>.</a:t>
            </a:r>
          </a:p>
          <a:p>
            <a:pPr lvl="1">
              <a:lnSpc>
                <a:spcPct val="150000"/>
              </a:lnSpc>
            </a:pPr>
            <a:r>
              <a:rPr lang="en-US" altLang="ko-KR" sz="1600" dirty="0" err="1"/>
              <a:t>arr</a:t>
            </a:r>
            <a:r>
              <a:rPr lang="en-US" altLang="ko-KR" sz="1600" dirty="0"/>
              <a:t> = </a:t>
            </a:r>
            <a:r>
              <a:rPr lang="en-US" altLang="ko-KR" sz="1600" dirty="0" err="1"/>
              <a:t>np.arange</a:t>
            </a:r>
            <a:r>
              <a:rPr lang="en-US" altLang="ko-KR" sz="1600" dirty="0"/>
              <a:t>(1, 26).reshape(5, 5)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14A980E-C440-06B8-12CF-0F7F1B4F4B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2025-11-05</a:t>
            </a:fld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EF7B0785-EDAF-08CC-C5B6-D0A0BEEDB0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0462" y="1771259"/>
            <a:ext cx="1619476" cy="79068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38B421A1-E86C-2485-285B-DCF4802A37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7019" y="2925736"/>
            <a:ext cx="2229161" cy="37152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4CE48AC5-47B0-9CC2-6F63-FD7E36990B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3015" y="4046568"/>
            <a:ext cx="1219370" cy="762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67890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54C0E3-43E8-0A5D-1D47-92AD5307CA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4CB6CE3-873E-BC84-C211-03EA47226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2. </a:t>
            </a:r>
            <a:r>
              <a:rPr lang="ko-KR" altLang="en-US" dirty="0">
                <a:solidFill>
                  <a:schemeClr val="accent2"/>
                </a:solidFill>
              </a:rPr>
              <a:t>인덱싱과 </a:t>
            </a:r>
            <a:r>
              <a:rPr lang="ko-KR" altLang="en-US" dirty="0" err="1">
                <a:solidFill>
                  <a:schemeClr val="accent2"/>
                </a:solidFill>
              </a:rPr>
              <a:t>슬라이싱</a:t>
            </a:r>
            <a:r>
              <a:rPr lang="en-US" altLang="ko-KR" dirty="0">
                <a:solidFill>
                  <a:schemeClr val="accent2"/>
                </a:solidFill>
              </a:rPr>
              <a:t>(3)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E2BD9A78-76A3-4747-A977-DEE7ECDCDE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6"/>
            <a:ext cx="11575254" cy="4858351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8"/>
            </a:pPr>
            <a:r>
              <a:rPr lang="en-US" altLang="ko-KR" sz="2400" dirty="0"/>
              <a:t>5x3 </a:t>
            </a:r>
            <a:r>
              <a:rPr lang="ko-KR" altLang="en-US" sz="2400" dirty="0"/>
              <a:t>배열에서 각 행의 첫 번째 값이 </a:t>
            </a:r>
            <a:r>
              <a:rPr lang="en-US" altLang="ko-KR" sz="2400" dirty="0"/>
              <a:t>50 </a:t>
            </a:r>
            <a:r>
              <a:rPr lang="ko-KR" altLang="en-US" sz="2400" dirty="0"/>
              <a:t>이상인 행만 </a:t>
            </a:r>
            <a:r>
              <a:rPr lang="en-US" altLang="ko-KR" sz="2400" dirty="0"/>
              <a:t>Boolean Indexing</a:t>
            </a:r>
            <a:r>
              <a:rPr lang="ko-KR" altLang="en-US" sz="2400" dirty="0"/>
              <a:t>으로 선택하세요</a:t>
            </a:r>
            <a:r>
              <a:rPr lang="en-US" altLang="ko-KR" sz="2400" dirty="0"/>
              <a:t>.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 err="1"/>
              <a:t>arr</a:t>
            </a:r>
            <a:r>
              <a:rPr lang="en-US" altLang="ko-KR" sz="2000" dirty="0"/>
              <a:t> = </a:t>
            </a:r>
            <a:r>
              <a:rPr lang="en-US" altLang="ko-KR" sz="2000" dirty="0" err="1"/>
              <a:t>np.array</a:t>
            </a:r>
            <a:r>
              <a:rPr lang="en-US" altLang="ko-KR" sz="2000" dirty="0"/>
              <a:t>([[10, 20, 30], [55, 65, 75], [40, 45, 50], [70, 80, 90], [15, 25, 35]])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8"/>
            </a:pPr>
            <a:r>
              <a:rPr lang="en-US" altLang="ko-KR" sz="2400" dirty="0"/>
              <a:t>4x4 </a:t>
            </a:r>
            <a:r>
              <a:rPr lang="ko-KR" altLang="en-US" sz="2400" dirty="0"/>
              <a:t>배열에서 </a:t>
            </a:r>
            <a:r>
              <a:rPr lang="en-US" altLang="ko-KR" sz="2400" dirty="0"/>
              <a:t>(0,1), (1,3), (2,0), (3,2) </a:t>
            </a:r>
            <a:r>
              <a:rPr lang="ko-KR" altLang="en-US" sz="2400" dirty="0"/>
              <a:t>위치의 요소를 한 번에 선택하세요</a:t>
            </a:r>
            <a:r>
              <a:rPr lang="en-US" altLang="ko-KR" sz="2400" dirty="0"/>
              <a:t>.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 err="1"/>
              <a:t>arr</a:t>
            </a:r>
            <a:r>
              <a:rPr lang="en-US" altLang="ko-KR" sz="2000" dirty="0"/>
              <a:t> = </a:t>
            </a:r>
            <a:r>
              <a:rPr lang="en-US" altLang="ko-KR" sz="2000" dirty="0" err="1"/>
              <a:t>np.arange</a:t>
            </a:r>
            <a:r>
              <a:rPr lang="en-US" altLang="ko-KR" sz="2000" dirty="0"/>
              <a:t>(1, 17).reshape(4, 4)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8"/>
            </a:pPr>
            <a:r>
              <a:rPr lang="en-US" altLang="ko-KR" sz="2400" dirty="0"/>
              <a:t>3</a:t>
            </a:r>
            <a:r>
              <a:rPr lang="ko-KR" altLang="en-US" sz="2400" dirty="0"/>
              <a:t>차원 배열 </a:t>
            </a:r>
            <a:r>
              <a:rPr lang="en-US" altLang="ko-KR" sz="2400" dirty="0"/>
              <a:t>(2, 3, 4)</a:t>
            </a:r>
            <a:r>
              <a:rPr lang="ko-KR" altLang="en-US" sz="2400" dirty="0"/>
              <a:t>에서 모든 블록에서 두 번째 열만 추출해 새로운 </a:t>
            </a:r>
            <a:r>
              <a:rPr lang="en-US" altLang="ko-KR" sz="2400" dirty="0"/>
              <a:t>2</a:t>
            </a:r>
            <a:r>
              <a:rPr lang="ko-KR" altLang="en-US" sz="2400" dirty="0"/>
              <a:t>차원 배열 </a:t>
            </a:r>
            <a:r>
              <a:rPr lang="en-US" altLang="ko-KR" sz="2400" dirty="0"/>
              <a:t>(2, 3)</a:t>
            </a:r>
            <a:r>
              <a:rPr lang="ko-KR" altLang="en-US" sz="2400" dirty="0"/>
              <a:t>을 만드세요</a:t>
            </a:r>
            <a:r>
              <a:rPr lang="en-US" altLang="ko-KR" sz="2400" dirty="0"/>
              <a:t>.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arr3d = </a:t>
            </a:r>
            <a:r>
              <a:rPr lang="en-US" altLang="ko-KR" sz="2000" dirty="0" err="1"/>
              <a:t>np.arange</a:t>
            </a:r>
            <a:r>
              <a:rPr lang="en-US" altLang="ko-KR" sz="2000" dirty="0"/>
              <a:t>(24).reshape(2, 3, 4)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0F0F2E4-010F-253F-AD45-915E7C7C13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2025-11-05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8BD10ED-9E97-DF60-EA2A-9128C83468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63078" y="1811283"/>
            <a:ext cx="1209844" cy="771633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0AA98A2F-090F-6279-7D64-8BBDAB854B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7656" y="3086052"/>
            <a:ext cx="1876687" cy="34294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C690EB5-4718-ADEC-4D69-8C86258C12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05378" y="4462410"/>
            <a:ext cx="1209844" cy="752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795241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831C9F-62BD-D8B0-7B11-CC89C91F9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D03C3E9-62BA-2F36-445D-3BE6F5B41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3. NumPy </a:t>
            </a:r>
            <a:r>
              <a:rPr lang="ko-KR" altLang="en-US" dirty="0">
                <a:solidFill>
                  <a:schemeClr val="accent2"/>
                </a:solidFill>
              </a:rPr>
              <a:t>종합 연습</a:t>
            </a:r>
            <a:r>
              <a:rPr lang="en-US" altLang="ko-KR" dirty="0">
                <a:solidFill>
                  <a:schemeClr val="accent2"/>
                </a:solidFill>
              </a:rPr>
              <a:t>(1)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D5055FF8-BB5C-10ED-D0A4-D18F6F305E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1711612" cy="4963972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dirty="0"/>
              <a:t>0</a:t>
            </a:r>
            <a:r>
              <a:rPr lang="ko-KR" altLang="en-US" sz="2400" dirty="0"/>
              <a:t>부터 </a:t>
            </a:r>
            <a:r>
              <a:rPr lang="en-US" altLang="ko-KR" sz="2400" dirty="0"/>
              <a:t>24</a:t>
            </a:r>
            <a:r>
              <a:rPr lang="ko-KR" altLang="en-US" sz="2400" dirty="0"/>
              <a:t>까지 정수를 가진 배열을 만들고</a:t>
            </a:r>
            <a:r>
              <a:rPr lang="en-US" altLang="ko-KR" sz="2400" dirty="0"/>
              <a:t>, (5, 5) </a:t>
            </a:r>
            <a:r>
              <a:rPr lang="ko-KR" altLang="en-US" sz="2400" dirty="0"/>
              <a:t>배열로 변환한 뒤 가운데 행</a:t>
            </a:r>
            <a:r>
              <a:rPr lang="en-US" altLang="ko-KR" sz="2400" dirty="0"/>
              <a:t>(3</a:t>
            </a:r>
            <a:r>
              <a:rPr lang="ko-KR" altLang="en-US" sz="2400" dirty="0"/>
              <a:t>번째 행</a:t>
            </a:r>
            <a:r>
              <a:rPr lang="en-US" altLang="ko-KR" sz="2400" dirty="0"/>
              <a:t>)</a:t>
            </a:r>
            <a:r>
              <a:rPr lang="ko-KR" altLang="en-US" sz="2400" dirty="0"/>
              <a:t>과 가운데 열</a:t>
            </a:r>
            <a:r>
              <a:rPr lang="en-US" altLang="ko-KR" sz="2400" dirty="0"/>
              <a:t>(3</a:t>
            </a:r>
            <a:r>
              <a:rPr lang="ko-KR" altLang="en-US" sz="2400" dirty="0"/>
              <a:t>번째 열</a:t>
            </a:r>
            <a:r>
              <a:rPr lang="en-US" altLang="ko-KR" sz="2400" dirty="0"/>
              <a:t>)</a:t>
            </a:r>
            <a:r>
              <a:rPr lang="ko-KR" altLang="en-US" sz="2400" dirty="0"/>
              <a:t>을 각각 </a:t>
            </a:r>
            <a:r>
              <a:rPr lang="en-US" altLang="ko-KR" sz="2400" dirty="0"/>
              <a:t>1</a:t>
            </a:r>
            <a:r>
              <a:rPr lang="ko-KR" altLang="en-US" sz="2400" dirty="0"/>
              <a:t>차원 배열로 출력하세요</a:t>
            </a:r>
            <a:r>
              <a:rPr lang="en-US" altLang="ko-KR" sz="2400" dirty="0"/>
              <a:t>.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endParaRPr lang="en-US" altLang="ko-KR" sz="2400" dirty="0"/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dirty="0"/>
              <a:t>0~99 </a:t>
            </a:r>
            <a:r>
              <a:rPr lang="ko-KR" altLang="en-US" sz="2400" dirty="0"/>
              <a:t>난수로 이루어진 </a:t>
            </a:r>
            <a:r>
              <a:rPr lang="en-US" altLang="ko-KR" sz="2400" dirty="0"/>
              <a:t>(10, 10) </a:t>
            </a:r>
            <a:r>
              <a:rPr lang="ko-KR" altLang="en-US" sz="2400" dirty="0"/>
              <a:t>배열을 생성하고</a:t>
            </a:r>
            <a:r>
              <a:rPr lang="en-US" altLang="ko-KR" sz="2400" dirty="0"/>
              <a:t>,                                                                 </a:t>
            </a:r>
            <a:r>
              <a:rPr lang="ko-KR" altLang="en-US" sz="2400" dirty="0"/>
              <a:t>짝수 인덱스의 행만 선택하여 출력하세요</a:t>
            </a:r>
            <a:r>
              <a:rPr lang="en-US" altLang="ko-KR" sz="2400" dirty="0"/>
              <a:t>.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dirty="0"/>
              <a:t>0</a:t>
            </a:r>
            <a:r>
              <a:rPr lang="ko-KR" altLang="en-US" sz="2400" dirty="0"/>
              <a:t>부터 </a:t>
            </a:r>
            <a:r>
              <a:rPr lang="en-US" altLang="ko-KR" sz="2400" dirty="0"/>
              <a:t>49</a:t>
            </a:r>
            <a:r>
              <a:rPr lang="ko-KR" altLang="en-US" sz="2400" dirty="0"/>
              <a:t>까지 정수를 가진 배열을 </a:t>
            </a:r>
            <a:r>
              <a:rPr lang="en-US" altLang="ko-KR" sz="2400" dirty="0"/>
              <a:t>(5, 10) </a:t>
            </a:r>
            <a:r>
              <a:rPr lang="ko-KR" altLang="en-US" sz="2400" dirty="0"/>
              <a:t>배열로 변환한 후</a:t>
            </a:r>
            <a:r>
              <a:rPr lang="en-US" altLang="ko-KR" sz="2400" dirty="0"/>
              <a:t>, 2</a:t>
            </a:r>
            <a:r>
              <a:rPr lang="ko-KR" altLang="en-US" sz="2400" dirty="0"/>
              <a:t>행 </a:t>
            </a:r>
            <a:r>
              <a:rPr lang="en-US" altLang="ko-KR" sz="2400" dirty="0"/>
              <a:t>3</a:t>
            </a:r>
            <a:r>
              <a:rPr lang="ko-KR" altLang="en-US" sz="2400" dirty="0"/>
              <a:t>열부터 </a:t>
            </a:r>
            <a:r>
              <a:rPr lang="en-US" altLang="ko-KR" sz="2400" dirty="0"/>
              <a:t>4</a:t>
            </a:r>
            <a:r>
              <a:rPr lang="ko-KR" altLang="en-US" sz="2400" dirty="0"/>
              <a:t>행 </a:t>
            </a:r>
            <a:r>
              <a:rPr lang="en-US" altLang="ko-KR" sz="2400" dirty="0"/>
              <a:t>7</a:t>
            </a:r>
            <a:r>
              <a:rPr lang="ko-KR" altLang="en-US" sz="2400" dirty="0"/>
              <a:t>열까지의 부분 배열을 추출하세요</a:t>
            </a:r>
            <a:r>
              <a:rPr lang="en-US" altLang="ko-KR" sz="2400" dirty="0"/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BF390D-DB53-1591-EC2F-470A60B635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2025-11-05</a:t>
            </a:fld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77F119F-2085-33D4-BBC6-4B5DFBD397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8469" y="1824336"/>
            <a:ext cx="2362530" cy="73352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3C8A5992-F682-E727-7E7D-1837D045F9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469" y="3201243"/>
            <a:ext cx="2090046" cy="1132378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E864EA73-EBF9-7CAA-18C4-80C9874947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7126" y="4950796"/>
            <a:ext cx="1991003" cy="1162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32514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AC2734-C8F4-8A58-666A-98BF45985D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DF1CA5-CEC2-43E6-B4C4-A63B75624E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3. NumPy </a:t>
            </a:r>
            <a:r>
              <a:rPr lang="ko-KR" altLang="en-US" dirty="0">
                <a:solidFill>
                  <a:schemeClr val="accent2"/>
                </a:solidFill>
              </a:rPr>
              <a:t>종합 연습</a:t>
            </a:r>
            <a:r>
              <a:rPr lang="en-US" altLang="ko-KR" dirty="0">
                <a:solidFill>
                  <a:schemeClr val="accent2"/>
                </a:solidFill>
              </a:rPr>
              <a:t>(2)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57B478D-EF5E-26AA-E754-A3B38099AD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1711612" cy="4963972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sz="2400" dirty="0"/>
              <a:t>0~9 </a:t>
            </a:r>
            <a:r>
              <a:rPr lang="ko-KR" altLang="en-US" sz="2400" dirty="0"/>
              <a:t>난수로 이루어진 </a:t>
            </a:r>
            <a:r>
              <a:rPr lang="en-US" altLang="ko-KR" sz="2400" dirty="0"/>
              <a:t>(4, 4) </a:t>
            </a:r>
            <a:r>
              <a:rPr lang="ko-KR" altLang="en-US" sz="2400" dirty="0"/>
              <a:t>배열을 생성하고</a:t>
            </a:r>
            <a:r>
              <a:rPr lang="en-US" altLang="ko-KR" sz="2400" dirty="0"/>
              <a:t>,</a:t>
            </a:r>
            <a:r>
              <a:rPr lang="ko-KR" altLang="en-US" sz="2400" dirty="0"/>
              <a:t> 각각 인덱싱으로 추출해 출력하세요</a:t>
            </a:r>
            <a:r>
              <a:rPr lang="en-US" altLang="ko-KR" sz="2400" dirty="0"/>
              <a:t>.(for</a:t>
            </a:r>
            <a:r>
              <a:rPr lang="ko-KR" altLang="en-US" sz="2400" dirty="0"/>
              <a:t> 이용</a:t>
            </a:r>
            <a:r>
              <a:rPr lang="en-US" altLang="ko-KR" sz="2400" dirty="0"/>
              <a:t>)</a:t>
            </a:r>
          </a:p>
          <a:p>
            <a:pPr lvl="1">
              <a:lnSpc>
                <a:spcPct val="150000"/>
              </a:lnSpc>
            </a:pPr>
            <a:r>
              <a:rPr lang="ko-KR" altLang="en-US" sz="2000" b="1" dirty="0" err="1"/>
              <a:t>주대각선</a:t>
            </a:r>
            <a:r>
              <a:rPr lang="ko-KR" altLang="en-US" sz="2000" b="1" dirty="0"/>
              <a:t> 요소</a:t>
            </a:r>
            <a:r>
              <a:rPr lang="ko-KR" altLang="en-US" sz="2000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왼쪽 위 → 오른쪽 아래</a:t>
            </a:r>
            <a:r>
              <a:rPr lang="en-US" altLang="ko-KR" sz="2000" dirty="0"/>
              <a:t>)</a:t>
            </a:r>
          </a:p>
          <a:p>
            <a:pPr lvl="1">
              <a:lnSpc>
                <a:spcPct val="150000"/>
              </a:lnSpc>
            </a:pPr>
            <a:r>
              <a:rPr lang="ko-KR" altLang="en-US" sz="2000" b="1" dirty="0"/>
              <a:t>부대각선 요소</a:t>
            </a:r>
            <a:r>
              <a:rPr lang="ko-KR" altLang="en-US" sz="2000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오른쪽 위 → 왼쪽 아래</a:t>
            </a:r>
            <a:r>
              <a:rPr lang="en-US" altLang="ko-KR" sz="2000" dirty="0"/>
              <a:t>)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 startAt="4"/>
            </a:pPr>
            <a:endParaRPr lang="en-US" altLang="ko-KR" sz="2000" dirty="0"/>
          </a:p>
          <a:p>
            <a:pPr marL="457200" indent="-45720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sz="2400" dirty="0"/>
              <a:t>0~9 </a:t>
            </a:r>
            <a:r>
              <a:rPr lang="ko-KR" altLang="en-US" sz="2400" dirty="0"/>
              <a:t>난수로 이루어진 </a:t>
            </a:r>
            <a:r>
              <a:rPr lang="en-US" altLang="ko-KR" sz="2400" dirty="0"/>
              <a:t>(3, 4, 5) 3</a:t>
            </a:r>
            <a:r>
              <a:rPr lang="ko-KR" altLang="en-US" sz="2400" dirty="0"/>
              <a:t>차원 배열을 생성하고</a:t>
            </a:r>
            <a:r>
              <a:rPr lang="en-US" altLang="ko-KR" sz="2400" dirty="0"/>
              <a:t>, </a:t>
            </a:r>
            <a:r>
              <a:rPr lang="ko-KR" altLang="en-US" sz="2400" dirty="0"/>
              <a:t>두 번째 층에서 첫 번째 행과 마지막 열의 값을 출력하세요</a:t>
            </a:r>
            <a:r>
              <a:rPr lang="en-US" altLang="ko-KR" sz="2400" dirty="0"/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B7DF6E-B14D-1680-7AFB-7BC0C7F49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2025-11-05</a:t>
            </a:fld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E3B5DE8-53A4-4B05-CC7D-A88D409793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9588" y="1881181"/>
            <a:ext cx="5572903" cy="81926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67E861BF-C513-93A3-ACBA-A74623A7F6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4642" y="4049954"/>
            <a:ext cx="2781688" cy="543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310333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D47CD4-27E5-E73D-6C78-AB16372E9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1FFF9A-F52B-E6CD-BD85-0045DFF2D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3. NumPy </a:t>
            </a:r>
            <a:r>
              <a:rPr lang="ko-KR" altLang="en-US" dirty="0">
                <a:solidFill>
                  <a:schemeClr val="accent2"/>
                </a:solidFill>
              </a:rPr>
              <a:t>종합 연습</a:t>
            </a:r>
            <a:r>
              <a:rPr lang="en-US" altLang="ko-KR" dirty="0">
                <a:solidFill>
                  <a:schemeClr val="accent2"/>
                </a:solidFill>
              </a:rPr>
              <a:t>(3)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4CA009DB-1B8B-AD06-F872-A4C32F02E8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271728"/>
            <a:ext cx="11610012" cy="3822786"/>
          </a:xfrm>
        </p:spPr>
        <p:txBody>
          <a:bodyPr>
            <a:noAutofit/>
          </a:bodyPr>
          <a:lstStyle/>
          <a:p>
            <a:pPr marL="514350" indent="-514350">
              <a:buFont typeface="+mj-lt"/>
              <a:buAutoNum type="arabicPeriod" startAt="6"/>
            </a:pPr>
            <a:r>
              <a:rPr lang="en-US" altLang="ko-KR" sz="2400" dirty="0"/>
              <a:t>35</a:t>
            </a:r>
            <a:r>
              <a:rPr lang="ko-KR" altLang="en-US" sz="2400" dirty="0"/>
              <a:t>부터 </a:t>
            </a:r>
            <a:r>
              <a:rPr lang="en-US" altLang="ko-KR" sz="2400" dirty="0"/>
              <a:t>74</a:t>
            </a:r>
            <a:r>
              <a:rPr lang="ko-KR" altLang="en-US" sz="2400" dirty="0"/>
              <a:t>까지의 순차적인 수로 이루어진 </a:t>
            </a:r>
            <a:r>
              <a:rPr lang="en-US" altLang="ko-KR" sz="2400" dirty="0"/>
              <a:t>1</a:t>
            </a:r>
            <a:r>
              <a:rPr lang="ko-KR" altLang="en-US" sz="2400" dirty="0"/>
              <a:t>차원 배열을 만들고 </a:t>
            </a:r>
            <a:r>
              <a:rPr lang="en-US" altLang="ko-KR" sz="2400" dirty="0"/>
              <a:t>10x4 </a:t>
            </a:r>
            <a:r>
              <a:rPr lang="ko-KR" altLang="en-US" sz="2400" dirty="0"/>
              <a:t>행렬로 변환 후 출력해주세요</a:t>
            </a:r>
            <a:r>
              <a:rPr lang="en-US" altLang="ko-KR" sz="2400" dirty="0"/>
              <a:t>.</a:t>
            </a:r>
          </a:p>
          <a:p>
            <a:pPr marL="514350" indent="-514350">
              <a:buFont typeface="+mj-lt"/>
              <a:buAutoNum type="arabicPeriod" startAt="6"/>
            </a:pPr>
            <a:r>
              <a:rPr lang="en-US" altLang="ko-KR" sz="2400" dirty="0"/>
              <a:t>6</a:t>
            </a:r>
            <a:r>
              <a:rPr lang="ko-KR" altLang="en-US" sz="2400" dirty="0"/>
              <a:t>번에서 만든 배열을 맨 끝의 행부터 역순으로 출력해주세요</a:t>
            </a:r>
            <a:r>
              <a:rPr lang="en-US" altLang="ko-KR" sz="2400" dirty="0"/>
              <a:t>.</a:t>
            </a:r>
          </a:p>
          <a:p>
            <a:pPr marL="514350" indent="-514350">
              <a:buFont typeface="+mj-lt"/>
              <a:buAutoNum type="arabicPeriod" startAt="6"/>
            </a:pPr>
            <a:r>
              <a:rPr lang="en-US" altLang="ko-KR" sz="2400" dirty="0"/>
              <a:t>6</a:t>
            </a:r>
            <a:r>
              <a:rPr lang="ko-KR" altLang="en-US" sz="2400" dirty="0"/>
              <a:t>번에서 만든 배열 중 두 번째 행부터 마지막 직전 행까지</a:t>
            </a:r>
            <a:r>
              <a:rPr lang="en-US" altLang="ko-KR" sz="2400" dirty="0"/>
              <a:t>, </a:t>
            </a:r>
            <a:r>
              <a:rPr lang="ko-KR" altLang="en-US" sz="2400" dirty="0"/>
              <a:t>세번째 열부터 마지막 열까지 </a:t>
            </a:r>
            <a:r>
              <a:rPr lang="ko-KR" altLang="en-US" sz="2400" dirty="0" err="1"/>
              <a:t>슬라이싱해서</a:t>
            </a:r>
            <a:r>
              <a:rPr lang="ko-KR" altLang="en-US" sz="2400" dirty="0"/>
              <a:t> 출력해주세요</a:t>
            </a:r>
            <a:r>
              <a:rPr lang="en-US" altLang="ko-KR" sz="2400" dirty="0"/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B56167-A115-550A-012D-22ABDF1548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2025-11-05</a:t>
            </a:fld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AAA3DE2-44E0-3DC0-39D1-526AA601C6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3697" y="3748138"/>
            <a:ext cx="1476581" cy="251495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3B25154-7CD8-4F96-EB12-5A2BC21827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5776" y="3748138"/>
            <a:ext cx="1452028" cy="251495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2FB40C5-CF8D-58C8-589A-8F82AF96F7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3302" y="3748138"/>
            <a:ext cx="905001" cy="2029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194751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55E33B-ABBC-39DE-33BD-1EB6370A5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2D2B34-A181-6614-027C-11FE157C82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3. NumPy </a:t>
            </a:r>
            <a:r>
              <a:rPr lang="ko-KR" altLang="en-US" dirty="0">
                <a:solidFill>
                  <a:schemeClr val="accent2"/>
                </a:solidFill>
              </a:rPr>
              <a:t>종합 연습</a:t>
            </a:r>
            <a:r>
              <a:rPr lang="en-US" altLang="ko-KR" dirty="0">
                <a:solidFill>
                  <a:schemeClr val="accent2"/>
                </a:solidFill>
              </a:rPr>
              <a:t>(4)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34FCD250-E5E1-82AA-DF7F-ACF7F4828D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0994" y="1145406"/>
            <a:ext cx="11610012" cy="4048893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9"/>
            </a:pPr>
            <a:r>
              <a:rPr lang="en-US" altLang="ko-KR" sz="2400" dirty="0"/>
              <a:t>1</a:t>
            </a:r>
            <a:r>
              <a:rPr lang="ko-KR" altLang="en-US" sz="2400" dirty="0"/>
              <a:t>부터 </a:t>
            </a:r>
            <a:r>
              <a:rPr lang="en-US" altLang="ko-KR" sz="2400" dirty="0"/>
              <a:t>50</a:t>
            </a:r>
            <a:r>
              <a:rPr lang="ko-KR" altLang="en-US" sz="2400" dirty="0"/>
              <a:t>까지의 난수로 된 </a:t>
            </a:r>
            <a:r>
              <a:rPr lang="en-US" altLang="ko-KR" sz="2400" dirty="0"/>
              <a:t>5x6 </a:t>
            </a:r>
            <a:r>
              <a:rPr lang="ko-KR" altLang="en-US" sz="2400" dirty="0"/>
              <a:t>배열을 만들고</a:t>
            </a:r>
            <a:r>
              <a:rPr lang="en-US" altLang="ko-KR" sz="2400" dirty="0"/>
              <a:t>, </a:t>
            </a:r>
            <a:r>
              <a:rPr lang="ko-KR" altLang="en-US" sz="2400" dirty="0"/>
              <a:t>배열에서 짝수만 선택하여 출력하는 코드를 작성하세요</a:t>
            </a:r>
            <a:r>
              <a:rPr lang="en-US" altLang="ko-KR" sz="2400" dirty="0"/>
              <a:t>.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9"/>
            </a:pPr>
            <a:r>
              <a:rPr lang="en-US" altLang="ko-KR" sz="2400" dirty="0"/>
              <a:t>0</a:t>
            </a:r>
            <a:r>
              <a:rPr lang="ko-KR" altLang="en-US" sz="2400" dirty="0"/>
              <a:t>부터 </a:t>
            </a:r>
            <a:r>
              <a:rPr lang="en-US" altLang="ko-KR" sz="2400" dirty="0"/>
              <a:t>99</a:t>
            </a:r>
            <a:r>
              <a:rPr lang="ko-KR" altLang="en-US" sz="2400" dirty="0"/>
              <a:t>까지의 정수로 이루어진 </a:t>
            </a:r>
            <a:r>
              <a:rPr lang="en-US" altLang="ko-KR" sz="2400" dirty="0"/>
              <a:t>(10, 10) </a:t>
            </a:r>
            <a:r>
              <a:rPr lang="ko-KR" altLang="en-US" sz="2400" dirty="0"/>
              <a:t>배열을 생성한 후</a:t>
            </a:r>
            <a:r>
              <a:rPr lang="en-US" altLang="ko-KR" sz="2400" dirty="0"/>
              <a:t>,</a:t>
            </a:r>
            <a:br>
              <a:rPr lang="en-US" altLang="ko-KR" sz="2400" dirty="0"/>
            </a:br>
            <a:r>
              <a:rPr lang="en-US" altLang="ko-KR" sz="2400" b="1" dirty="0"/>
              <a:t>[1, 3, 5]</a:t>
            </a:r>
            <a:r>
              <a:rPr lang="ko-KR" altLang="en-US" sz="2400" b="1" dirty="0"/>
              <a:t>번째 행과 </a:t>
            </a:r>
            <a:r>
              <a:rPr lang="en-US" altLang="ko-KR" sz="2400" b="1" dirty="0"/>
              <a:t>[2, 4, 6]</a:t>
            </a:r>
            <a:r>
              <a:rPr lang="ko-KR" altLang="en-US" sz="2400" b="1" dirty="0"/>
              <a:t>번째 열</a:t>
            </a:r>
            <a:r>
              <a:rPr lang="ko-KR" altLang="en-US" sz="2400" dirty="0"/>
              <a:t>의 교차하는 원소들만 선택하여 출력하세요</a:t>
            </a:r>
            <a:r>
              <a:rPr lang="en-US" altLang="ko-KR" sz="2400" dirty="0"/>
              <a:t>.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9"/>
            </a:pPr>
            <a:r>
              <a:rPr lang="en-US" altLang="ko-KR" sz="2400" dirty="0"/>
              <a:t>0~9 </a:t>
            </a:r>
            <a:r>
              <a:rPr lang="ko-KR" altLang="en-US" sz="2400" dirty="0"/>
              <a:t>난수로 이루어진 </a:t>
            </a:r>
            <a:r>
              <a:rPr lang="en-US" altLang="ko-KR" sz="2400" dirty="0"/>
              <a:t>1</a:t>
            </a:r>
            <a:r>
              <a:rPr lang="ko-KR" altLang="en-US" sz="2400" dirty="0"/>
              <a:t>차원 배열</a:t>
            </a:r>
            <a:r>
              <a:rPr lang="en-US" altLang="ko-KR" sz="2400" dirty="0"/>
              <a:t>(</a:t>
            </a:r>
            <a:r>
              <a:rPr lang="ko-KR" altLang="en-US" sz="2400" dirty="0"/>
              <a:t>길이 </a:t>
            </a:r>
            <a:r>
              <a:rPr lang="en-US" altLang="ko-KR" sz="2400" dirty="0"/>
              <a:t>15)</a:t>
            </a:r>
            <a:r>
              <a:rPr lang="ko-KR" altLang="en-US" sz="2400" dirty="0"/>
              <a:t>을 생성하고</a:t>
            </a:r>
            <a:r>
              <a:rPr lang="en-US" altLang="ko-KR" sz="2400" dirty="0"/>
              <a:t>,</a:t>
            </a:r>
            <a:br>
              <a:rPr lang="en-US" altLang="ko-KR" sz="2400" dirty="0"/>
            </a:br>
            <a:r>
              <a:rPr lang="ko-KR" altLang="en-US" sz="2400" b="1" dirty="0"/>
              <a:t>짝수 인덱스</a:t>
            </a:r>
            <a:r>
              <a:rPr lang="ko-KR" altLang="en-US" sz="2400" dirty="0"/>
              <a:t> 위치에 있는 값들 중에서 </a:t>
            </a:r>
            <a:r>
              <a:rPr lang="en-US" altLang="ko-KR" sz="2400" b="1" dirty="0"/>
              <a:t>5 </a:t>
            </a:r>
            <a:r>
              <a:rPr lang="ko-KR" altLang="en-US" sz="2400" b="1" dirty="0"/>
              <a:t>이상인 값만</a:t>
            </a:r>
            <a:r>
              <a:rPr lang="ko-KR" altLang="en-US" sz="2400" dirty="0"/>
              <a:t> 선택해 출력하세요</a:t>
            </a:r>
            <a:r>
              <a:rPr lang="en-US" altLang="ko-KR" sz="2400" dirty="0"/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B1CE071-C7A4-ADB7-D837-CF01134F43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2025-11-05</a:t>
            </a:fld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6AE8C4A5-84A7-0C2E-BE55-4B5DA0F890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3169" y="1835094"/>
            <a:ext cx="4996331" cy="595308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302BDAF3-B63A-68C0-0D24-FBD1478AD3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86893" y="2509197"/>
            <a:ext cx="1362819" cy="1321312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264A77AB-ADE0-8DA0-0710-1FF9D74188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5029" y="4780160"/>
            <a:ext cx="3981772" cy="970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120897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48508-AAA0-ABBB-4AA1-756029F1E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A3E9F74D-109B-6AF9-777B-3CFA92906B71}"/>
              </a:ext>
            </a:extLst>
          </p:cNvPr>
          <p:cNvSpPr txBox="1">
            <a:spLocks/>
          </p:cNvSpPr>
          <p:nvPr/>
        </p:nvSpPr>
        <p:spPr>
          <a:xfrm>
            <a:off x="1524000" y="2555530"/>
            <a:ext cx="9144000" cy="11161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2959371439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">
      <a:majorFont>
        <a:latin typeface="Pretendard Black"/>
        <a:ea typeface="Pretendard Black"/>
        <a:cs typeface=""/>
      </a:majorFont>
      <a:minorFont>
        <a:latin typeface="Pretendard Medium"/>
        <a:ea typeface="Pretendard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7674</TotalTime>
  <Words>3013</Words>
  <Application>Microsoft Office PowerPoint</Application>
  <PresentationFormat>와이드스크린</PresentationFormat>
  <Paragraphs>465</Paragraphs>
  <Slides>71</Slides>
  <Notes>57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71</vt:i4>
      </vt:variant>
    </vt:vector>
  </HeadingPairs>
  <TitlesOfParts>
    <vt:vector size="81" baseType="lpstr">
      <vt:lpstr>Wingdings</vt:lpstr>
      <vt:lpstr>Arial</vt:lpstr>
      <vt:lpstr>메이플스토리</vt:lpstr>
      <vt:lpstr>Pretendard Medium</vt:lpstr>
      <vt:lpstr>G마켓 산스 TTF Bold</vt:lpstr>
      <vt:lpstr>Pretendard Black</vt:lpstr>
      <vt:lpstr>Pretendard Light</vt:lpstr>
      <vt:lpstr>맑은 고딕</vt:lpstr>
      <vt:lpstr>Kim jung chul Gothic Regular</vt:lpstr>
      <vt:lpstr>1_Office 테마</vt:lpstr>
      <vt:lpstr>PowerPoint 프레젠테이션</vt:lpstr>
      <vt:lpstr>PowerPoint 프레젠테이션</vt:lpstr>
      <vt:lpstr>가상환경이 필요한 이유?</vt:lpstr>
      <vt:lpstr>가상 환경 vs 글로벌 환경</vt:lpstr>
      <vt:lpstr>가상환경 사용 방법</vt:lpstr>
      <vt:lpstr>Python vs Anaconda</vt:lpstr>
      <vt:lpstr>VS Code 가상환경 설정</vt:lpstr>
      <vt:lpstr>가상환경 사용</vt:lpstr>
      <vt:lpstr>PowerPoint 프레젠테이션</vt:lpstr>
      <vt:lpstr>NumPy</vt:lpstr>
      <vt:lpstr>행렬?</vt:lpstr>
      <vt:lpstr>NumPy의 필요성</vt:lpstr>
      <vt:lpstr>NumPy의 활용분야</vt:lpstr>
      <vt:lpstr>NumPy 공식 문서</vt:lpstr>
      <vt:lpstr>NumPy 설치 및 기본 사용법</vt:lpstr>
      <vt:lpstr>NumPy 사용 준비</vt:lpstr>
      <vt:lpstr>NumPy 배열 생성</vt:lpstr>
      <vt:lpstr>PowerPoint 프레젠테이션</vt:lpstr>
      <vt:lpstr>ndarray 개념과 특징</vt:lpstr>
      <vt:lpstr>Python List vs ndarray</vt:lpstr>
      <vt:lpstr>Python List vs ndarray</vt:lpstr>
      <vt:lpstr>Python List vs ndarray</vt:lpstr>
      <vt:lpstr>Python List vs ndarray</vt:lpstr>
      <vt:lpstr>Python List vs ndarray</vt:lpstr>
      <vt:lpstr>차원(Dimension)과 축(Axis)</vt:lpstr>
      <vt:lpstr>ndarray 구조 </vt:lpstr>
      <vt:lpstr>ndarray 데이터 타입(1)</vt:lpstr>
      <vt:lpstr>ndarray 데이터 타입(2)</vt:lpstr>
      <vt:lpstr>PowerPoint 프레젠테이션</vt:lpstr>
      <vt:lpstr>배열 초기화 함수(1) – zeros</vt:lpstr>
      <vt:lpstr>배열 초기화 함수(2) - ones</vt:lpstr>
      <vt:lpstr>배열 초기화 함수(3) - empty</vt:lpstr>
      <vt:lpstr>배열 초기화 함수(4) - full</vt:lpstr>
      <vt:lpstr>배열 초기화 함수(5) - eye</vt:lpstr>
      <vt:lpstr>배열 초기화 함수(5) - eye</vt:lpstr>
      <vt:lpstr>배열 초기화 함수(5) - eye</vt:lpstr>
      <vt:lpstr>PowerPoint 프레젠테이션</vt:lpstr>
      <vt:lpstr>범위 기반 배열 생성(1) - arange</vt:lpstr>
      <vt:lpstr>범위 기반 배열 생성(2) - linspace</vt:lpstr>
      <vt:lpstr>PowerPoint 프레젠테이션</vt:lpstr>
      <vt:lpstr>랜덤 배열 생성(1) – rand</vt:lpstr>
      <vt:lpstr>랜덤 배열 생성(2) – randn</vt:lpstr>
      <vt:lpstr>랜덤 배열 생성(3) – randint</vt:lpstr>
      <vt:lpstr>랜덤 배열 생성(4) – seed</vt:lpstr>
      <vt:lpstr>RNG(Random Number Generator)</vt:lpstr>
      <vt:lpstr>RNG(Random Number Generator)</vt:lpstr>
      <vt:lpstr>RNG(Random Number Generator)</vt:lpstr>
      <vt:lpstr>실습1. 배열 초기화 및 생성(1)</vt:lpstr>
      <vt:lpstr>실습1. 배열 초기화 및 생성(2)</vt:lpstr>
      <vt:lpstr>PowerPoint 프레젠테이션</vt:lpstr>
      <vt:lpstr>NumPy의 인덱싱과 슬라이싱</vt:lpstr>
      <vt:lpstr>인덱싱</vt:lpstr>
      <vt:lpstr>인덱싱</vt:lpstr>
      <vt:lpstr>인덱싱</vt:lpstr>
      <vt:lpstr>인덱싱</vt:lpstr>
      <vt:lpstr>슬라이싱과 뷰</vt:lpstr>
      <vt:lpstr>슬라이싱</vt:lpstr>
      <vt:lpstr>슬라이싱</vt:lpstr>
      <vt:lpstr>슬라이싱</vt:lpstr>
      <vt:lpstr>배열의 복사 (Copy)와 참조 (View)</vt:lpstr>
      <vt:lpstr>배열의 복사(Copy)와 참조 (View)</vt:lpstr>
      <vt:lpstr>Fancy Indexing</vt:lpstr>
      <vt:lpstr>Boolean Indexing</vt:lpstr>
      <vt:lpstr>실습2. 인덱싱과 슬라이싱(1)</vt:lpstr>
      <vt:lpstr>실습2. 인덱싱과 슬라이싱(2)</vt:lpstr>
      <vt:lpstr>실습2. 인덱싱과 슬라이싱(3)</vt:lpstr>
      <vt:lpstr>실습3. NumPy 종합 연습(1)</vt:lpstr>
      <vt:lpstr>실습3. NumPy 종합 연습(2)</vt:lpstr>
      <vt:lpstr>실습3. NumPy 종합 연습(3)</vt:lpstr>
      <vt:lpstr>실습3. NumPy 종합 연습(4)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</dc:title>
  <dc:creator>spreatics</dc:creator>
  <cp:lastModifiedBy>On Coding</cp:lastModifiedBy>
  <cp:revision>495</cp:revision>
  <dcterms:created xsi:type="dcterms:W3CDTF">2023-01-31T04:26:23Z</dcterms:created>
  <dcterms:modified xsi:type="dcterms:W3CDTF">2025-11-05T08:07:13Z</dcterms:modified>
</cp:coreProperties>
</file>