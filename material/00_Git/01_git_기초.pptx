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85"/>
  </p:notesMasterIdLst>
  <p:sldIdLst>
    <p:sldId id="790" r:id="rId2"/>
    <p:sldId id="295" r:id="rId3"/>
    <p:sldId id="296" r:id="rId4"/>
    <p:sldId id="963" r:id="rId5"/>
    <p:sldId id="964" r:id="rId6"/>
    <p:sldId id="965" r:id="rId7"/>
    <p:sldId id="659" r:id="rId8"/>
    <p:sldId id="723" r:id="rId9"/>
    <p:sldId id="966" r:id="rId10"/>
    <p:sldId id="726" r:id="rId11"/>
    <p:sldId id="718" r:id="rId12"/>
    <p:sldId id="719" r:id="rId13"/>
    <p:sldId id="721" r:id="rId14"/>
    <p:sldId id="722" r:id="rId15"/>
    <p:sldId id="978" r:id="rId16"/>
    <p:sldId id="795" r:id="rId17"/>
    <p:sldId id="265" r:id="rId18"/>
    <p:sldId id="688" r:id="rId19"/>
    <p:sldId id="689" r:id="rId20"/>
    <p:sldId id="793" r:id="rId21"/>
    <p:sldId id="706" r:id="rId22"/>
    <p:sldId id="967" r:id="rId23"/>
    <p:sldId id="705" r:id="rId24"/>
    <p:sldId id="708" r:id="rId25"/>
    <p:sldId id="798" r:id="rId26"/>
    <p:sldId id="961" r:id="rId27"/>
    <p:sldId id="797" r:id="rId28"/>
    <p:sldId id="264" r:id="rId29"/>
    <p:sldId id="968" r:id="rId30"/>
    <p:sldId id="969" r:id="rId31"/>
    <p:sldId id="801" r:id="rId32"/>
    <p:sldId id="806" r:id="rId33"/>
    <p:sldId id="802" r:id="rId34"/>
    <p:sldId id="972" r:id="rId35"/>
    <p:sldId id="803" r:id="rId36"/>
    <p:sldId id="804" r:id="rId37"/>
    <p:sldId id="805" r:id="rId38"/>
    <p:sldId id="807" r:id="rId39"/>
    <p:sldId id="809" r:id="rId40"/>
    <p:sldId id="810" r:id="rId41"/>
    <p:sldId id="811" r:id="rId42"/>
    <p:sldId id="970" r:id="rId43"/>
    <p:sldId id="971" r:id="rId44"/>
    <p:sldId id="812" r:id="rId45"/>
    <p:sldId id="814" r:id="rId46"/>
    <p:sldId id="962" r:id="rId47"/>
    <p:sldId id="815" r:id="rId48"/>
    <p:sldId id="973" r:id="rId49"/>
    <p:sldId id="974" r:id="rId50"/>
    <p:sldId id="975" r:id="rId51"/>
    <p:sldId id="976" r:id="rId52"/>
    <p:sldId id="827" r:id="rId53"/>
    <p:sldId id="816" r:id="rId54"/>
    <p:sldId id="817" r:id="rId55"/>
    <p:sldId id="821" r:id="rId56"/>
    <p:sldId id="825" r:id="rId57"/>
    <p:sldId id="826" r:id="rId58"/>
    <p:sldId id="818" r:id="rId59"/>
    <p:sldId id="819" r:id="rId60"/>
    <p:sldId id="823" r:id="rId61"/>
    <p:sldId id="822" r:id="rId62"/>
    <p:sldId id="828" r:id="rId63"/>
    <p:sldId id="829" r:id="rId64"/>
    <p:sldId id="830" r:id="rId65"/>
    <p:sldId id="849" r:id="rId66"/>
    <p:sldId id="840" r:id="rId67"/>
    <p:sldId id="841" r:id="rId68"/>
    <p:sldId id="842" r:id="rId69"/>
    <p:sldId id="831" r:id="rId70"/>
    <p:sldId id="832" r:id="rId71"/>
    <p:sldId id="833" r:id="rId72"/>
    <p:sldId id="834" r:id="rId73"/>
    <p:sldId id="843" r:id="rId74"/>
    <p:sldId id="844" r:id="rId75"/>
    <p:sldId id="847" r:id="rId76"/>
    <p:sldId id="848" r:id="rId77"/>
    <p:sldId id="835" r:id="rId78"/>
    <p:sldId id="836" r:id="rId79"/>
    <p:sldId id="837" r:id="rId80"/>
    <p:sldId id="838" r:id="rId81"/>
    <p:sldId id="839" r:id="rId82"/>
    <p:sldId id="977" r:id="rId83"/>
    <p:sldId id="813" r:id="rId8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86"/>
    </p:embeddedFont>
    <p:embeddedFont>
      <p:font typeface="G마켓 산스 TTF Medium" panose="02000000000000000000" pitchFamily="2" charset="-127"/>
      <p:regular r:id="rId87"/>
    </p:embeddedFont>
    <p:embeddedFont>
      <p:font typeface="Pretendard" panose="02000503000000020004" pitchFamily="2" charset="-127"/>
      <p:regular r:id="rId88"/>
      <p:bold r:id="rId89"/>
    </p:embeddedFont>
    <p:embeddedFont>
      <p:font typeface="Pretendard Black" panose="02000A03000000020004" pitchFamily="2" charset="-127"/>
      <p:bold r:id="rId90"/>
    </p:embeddedFont>
    <p:embeddedFont>
      <p:font typeface="Pretendard ExtraBold" panose="02000903000000020004" pitchFamily="2" charset="-127"/>
      <p:bold r:id="rId91"/>
    </p:embeddedFont>
    <p:embeddedFont>
      <p:font typeface="Pretendard Light" panose="02000403000000020004" pitchFamily="2" charset="-127"/>
      <p:regular r:id="rId92"/>
    </p:embeddedFont>
    <p:embeddedFont>
      <p:font typeface="Pretendard Medium" panose="02000603000000020004" pitchFamily="2" charset="-127"/>
      <p:regular r:id="rId93"/>
    </p:embeddedFont>
    <p:embeddedFont>
      <p:font typeface="맑은 고딕" panose="020B0503020000020004" pitchFamily="50" charset="-127"/>
      <p:regular r:id="rId94"/>
      <p:bold r:id="rId95"/>
    </p:embeddedFont>
    <p:embeddedFont>
      <p:font typeface="메이플스토리" panose="02000300000000000000" pitchFamily="2" charset="-127"/>
      <p:regular r:id="rId96"/>
      <p:bold r:id="rId9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2B2B2B"/>
    <a:srgbClr val="00B050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81181" autoAdjust="0"/>
  </p:normalViewPr>
  <p:slideViewPr>
    <p:cSldViewPr snapToGrid="0">
      <p:cViewPr varScale="1">
        <p:scale>
          <a:sx n="125" d="100"/>
          <a:sy n="125" d="100"/>
        </p:scale>
        <p:origin x="120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5.fntdata"/><Relationship Id="rId95" Type="http://schemas.openxmlformats.org/officeDocument/2006/relationships/font" Target="fonts/font10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3.fntdata"/><Relationship Id="rId91" Type="http://schemas.openxmlformats.org/officeDocument/2006/relationships/font" Target="fonts/font6.fntdata"/><Relationship Id="rId96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1.fntdata"/><Relationship Id="rId94" Type="http://schemas.openxmlformats.org/officeDocument/2006/relationships/font" Target="fonts/font9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8.fntdata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214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963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F916-B784-27DF-F490-70D0DDD6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027377-E158-1653-B709-515ED9DBF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9674F-0A1E-B30A-5267-1DB714AF5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385E78-C8A3-1F8D-87E4-E7C2029C9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473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E092-E3A5-F49A-D6C4-CCE3BB72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B61265-D7C9-8372-6215-6E65E9F59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78BD6-667C-1CEE-294C-4C74F752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575AD-2DEA-7AEC-91E4-30243F227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443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208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266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E3F4-6F6D-6351-0E4E-2AA00B03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3AF6BB-96AC-ABF5-38DB-53C202EE5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E96645-EEAE-D198-E98B-02406AA5F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DB8EA-FA60-F9C5-C094-27D8F8017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114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316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444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064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왼쪽은 파일을 가지고 다른 작업자들이 가져오고 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오른쪽은 양방향 화살표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552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205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F991-F90F-2A0B-BDCC-AA8783E4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34EA5A-B312-31E1-C8E5-1F389D7D1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1C8049-502D-F7A2-C28D-755E81D5C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Subversion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중앙 서버</a:t>
            </a:r>
            <a:r>
              <a:rPr lang="en-US" altLang="ko-KR" dirty="0"/>
              <a:t>(repository)</a:t>
            </a:r>
            <a:r>
              <a:rPr lang="ko-KR" altLang="en-US" dirty="0"/>
              <a:t>가 ‘진짜’ 원본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개발자는 매번 서버에서 코드를 받아오거나</a:t>
            </a:r>
            <a:r>
              <a:rPr lang="en-US" altLang="ko-KR" dirty="0"/>
              <a:t>(checkout), </a:t>
            </a:r>
            <a:r>
              <a:rPr lang="ko-KR" altLang="en-US" dirty="0"/>
              <a:t>다시 올려야</a:t>
            </a:r>
            <a:r>
              <a:rPr lang="en-US" altLang="ko-KR" dirty="0"/>
              <a:t>(commit) </a:t>
            </a:r>
            <a:r>
              <a:rPr lang="ko-KR" altLang="en-US" dirty="0"/>
              <a:t>함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서버가 다운되면 버전 관리도 중단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협업 시 충돌의 가능성이 있어 한 사람씩 차례로 수정해야 함</a:t>
            </a:r>
          </a:p>
          <a:p>
            <a:endParaRPr lang="ko-KR" altLang="en-US" dirty="0"/>
          </a:p>
          <a:p>
            <a:r>
              <a:rPr lang="en-US" altLang="ko-KR" b="1" dirty="0"/>
              <a:t>Git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모든 개발자가 저장소 전체를 복제</a:t>
            </a:r>
            <a:r>
              <a:rPr lang="en-US" altLang="ko-KR" dirty="0"/>
              <a:t>(clone)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인터넷이 없어도 </a:t>
            </a:r>
            <a:r>
              <a:rPr lang="ko-KR" altLang="en-US" dirty="0" err="1"/>
              <a:t>커밋</a:t>
            </a:r>
            <a:r>
              <a:rPr lang="en-US" altLang="ko-KR" dirty="0"/>
              <a:t>·</a:t>
            </a:r>
            <a:r>
              <a:rPr lang="ko-KR" altLang="en-US" dirty="0" err="1"/>
              <a:t>브랜치</a:t>
            </a:r>
            <a:r>
              <a:rPr lang="en-US" altLang="ko-KR" dirty="0"/>
              <a:t>·</a:t>
            </a:r>
            <a:r>
              <a:rPr lang="ko-KR" altLang="en-US" dirty="0"/>
              <a:t>이력 확인 모두 가능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나중에 네트워크 연결 시 원격 저장소</a:t>
            </a:r>
            <a:r>
              <a:rPr lang="en-US" altLang="ko-KR" dirty="0"/>
              <a:t>(origin)</a:t>
            </a:r>
            <a:r>
              <a:rPr lang="ko-KR" altLang="en-US" dirty="0"/>
              <a:t>에 </a:t>
            </a:r>
            <a:r>
              <a:rPr lang="en-US" altLang="ko-KR" dirty="0"/>
              <a:t>push </a:t>
            </a:r>
            <a:r>
              <a:rPr lang="ko-KR" altLang="en-US" dirty="0"/>
              <a:t>하면 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협업 시 여러 명이 동시에 작성하고 나중에 병합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---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b="1" dirty="0"/>
              <a:t>정리</a:t>
            </a: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Subversion = </a:t>
            </a:r>
            <a:r>
              <a:rPr lang="ko-KR" altLang="en-US" dirty="0"/>
              <a:t>하나의 중앙 서버에서 버전을 관리하는 시스템</a:t>
            </a: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Git = </a:t>
            </a:r>
            <a:r>
              <a:rPr lang="ko-KR" altLang="en-US" dirty="0"/>
              <a:t>모든 사용자가 전체 버전을 갖고 있는 분산 시스템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DE9D2-47A5-F1E9-BBE7-BC003D7E3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89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557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943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289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ko-KR" altLang="en-US" dirty="0"/>
              <a:t>직접적으로 </a:t>
            </a:r>
            <a:r>
              <a:rPr lang="en-US" altLang="ko-KR" dirty="0"/>
              <a:t>Git</a:t>
            </a:r>
            <a:r>
              <a:rPr lang="ko-KR" altLang="en-US" dirty="0"/>
              <a:t>을 다뤄보기 전에 알아야 할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3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716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101CC-39A7-1E1B-94EF-34279378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15B2FE-54BF-8CD6-11A1-4296681BD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4193D-0598-6E88-F1E4-2D60136BB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F94E8-AF55-C9F5-DF34-251B60613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561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959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Tree:</a:t>
            </a:r>
            <a:r>
              <a:rPr lang="en-US" altLang="ko-KR" baseline="0" dirty="0"/>
              <a:t> </a:t>
            </a:r>
            <a:r>
              <a:rPr lang="ko-KR" altLang="en-US" baseline="0" dirty="0"/>
              <a:t>디렉터리와 파일을 트리 구조로 시각적으로 보여주는 유틸리티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기본적으로 </a:t>
            </a:r>
            <a:r>
              <a:rPr lang="en-US" altLang="ko-KR" baseline="0" dirty="0" err="1"/>
              <a:t>git</a:t>
            </a:r>
            <a:r>
              <a:rPr lang="en-US" altLang="ko-KR" baseline="0" dirty="0"/>
              <a:t> bash </a:t>
            </a:r>
            <a:r>
              <a:rPr lang="ko-KR" altLang="en-US" baseline="0" dirty="0"/>
              <a:t>에서는 파일까지 포함해서 </a:t>
            </a:r>
            <a:r>
              <a:rPr lang="ko-KR" altLang="en-US" baseline="0" dirty="0" err="1"/>
              <a:t>출력해줌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디렉토리 구조만 보고 싶을 때</a:t>
            </a:r>
            <a:r>
              <a:rPr lang="en-US" altLang="ko-KR" baseline="0" dirty="0"/>
              <a:t>,</a:t>
            </a:r>
          </a:p>
          <a:p>
            <a:r>
              <a:rPr lang="en-US" altLang="ko-KR" baseline="0" dirty="0"/>
              <a:t>Tree –d</a:t>
            </a:r>
          </a:p>
          <a:p>
            <a:endParaRPr lang="en-US" altLang="ko-KR" baseline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Tree </a:t>
            </a:r>
            <a:r>
              <a:rPr lang="en-US" altLang="ko-KR" baseline="0" dirty="0"/>
              <a:t>: </a:t>
            </a:r>
            <a:r>
              <a:rPr lang="ko-KR" altLang="en-US" baseline="0" dirty="0"/>
              <a:t>파일까지 포함해서 출력</a:t>
            </a:r>
            <a:endParaRPr lang="en-US" altLang="ko-KR" baseline="0" dirty="0"/>
          </a:p>
          <a:p>
            <a:r>
              <a:rPr lang="en-US" altLang="ko-KR" dirty="0"/>
              <a:t>Tree –d : </a:t>
            </a:r>
            <a:r>
              <a:rPr lang="ko-KR" altLang="en-US" dirty="0"/>
              <a:t>기본 디렉토리 구조만 출력</a:t>
            </a:r>
            <a:endParaRPr lang="en-US" altLang="ko-KR" dirty="0"/>
          </a:p>
          <a:p>
            <a:endParaRPr lang="en-US" altLang="ko-KR" baseline="0" dirty="0"/>
          </a:p>
          <a:p>
            <a:r>
              <a:rPr lang="ko-KR" altLang="en-US" baseline="0" dirty="0"/>
              <a:t>맥에서 </a:t>
            </a:r>
            <a:r>
              <a:rPr lang="en-US" altLang="ko-KR" baseline="0" dirty="0"/>
              <a:t>tree </a:t>
            </a:r>
            <a:r>
              <a:rPr lang="ko-KR" altLang="en-US" baseline="0" dirty="0"/>
              <a:t>명령어 사용 안된다면</a:t>
            </a:r>
            <a:br>
              <a:rPr lang="en-US" altLang="ko-KR" baseline="0" dirty="0"/>
            </a:br>
            <a:r>
              <a:rPr lang="en-US" altLang="ko-KR" baseline="0" dirty="0"/>
              <a:t>brew install tree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033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DECC-3FBE-F777-0713-C1172D23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1397C1-3799-39F0-EE79-D1CD59105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E8DDBC-B4BE-F568-5E5C-6E55ABBFD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1E610-3265-2FCD-6475-1C55DC556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352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413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8832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9CCF-3CCF-493F-E95F-60BE41A2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44B677-6697-45B7-B9FE-29A0FA31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25539-7F11-2F00-F9C8-6BF24694A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90C1D1-2FAC-15AF-EA84-B37D20CBF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10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1201-4572-DC16-4423-1ABBC68F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D0945D-9515-0B90-BF11-54F73415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F04293-4FF7-F417-E91A-1D0294F25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0DB32-AD4B-1A55-A772-2EE7ACA0A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882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5288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4092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4073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CCBC-74C2-EAED-156A-B078FC1F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C9CF61-ADD9-AD62-7FDF-70B9E056F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DF647B-401A-3E23-6EC3-7EC50D54F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DD18D-DDDC-2146-FC8C-DDAF27BDC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091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 = </a:t>
            </a:r>
            <a:r>
              <a:rPr lang="ko-KR" altLang="en-US" dirty="0" err="1"/>
              <a:t>원격저장소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316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0641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172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67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7794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5319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8441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EC33-46BB-79B1-7A69-F04B0B67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E1274E-6BD9-5051-CC4E-1C7201DD2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334215-B2CB-CBF2-B67C-AD0B7BBE1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005B-4BD1-239E-15B9-B6DAC27D0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6049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B146-4552-3D61-244D-67938CE8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DE609-E19A-78A4-EE17-29455D4F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2F4D3A-EAFA-6F10-4C71-092E950EC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FC70A3-0CC5-DA64-6CC9-60576ECCE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3359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584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6856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22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4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FFB1-FBD0-3DE7-9E14-1F50D9DC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028021-FFCC-92EA-698A-EF7FB8CC5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26A25C-30F5-D758-28B8-BAC96DF24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65FDB9-1B30-6D49-D46A-D75CCE442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48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D8F8-1706-97D2-9457-7A7F8E1C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A446BC-BB3D-50C4-58C2-4870338FF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AB89A4-C9F2-C22B-A725-51E4DC79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06602-192B-F8D2-6D8C-CB95FC320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5220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4216-9A6B-C105-7DA6-DAAB3DDC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6683A-08C3-A2E8-D520-A49AFFBBA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87670E-5FC0-4AAB-F177-CE328009D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38D8FE-6E65-D002-2B87-88C985DB3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7506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836E-E714-3AF3-0A13-50214215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C2241E-F5AB-5080-8FDC-77A5381A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6E5EBF-E7BF-61D9-89DB-61C5281C2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6DA5B-D33B-0522-10AC-4C1AC9A99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8125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767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8400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6678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터미널에서 </a:t>
            </a:r>
            <a:r>
              <a:rPr lang="en-US" altLang="ko-KR" dirty="0"/>
              <a:t>.txt </a:t>
            </a:r>
            <a:r>
              <a:rPr lang="ko-KR" altLang="en-US" dirty="0"/>
              <a:t>파일에 텍스트를 저장하는 명령어</a:t>
            </a:r>
            <a:endParaRPr lang="en-US" altLang="ko-KR" dirty="0"/>
          </a:p>
          <a:p>
            <a:r>
              <a:rPr lang="en-US" altLang="ko-KR" dirty="0"/>
              <a:t>`echo`</a:t>
            </a:r>
          </a:p>
          <a:p>
            <a:endParaRPr lang="en-US" altLang="ko-KR" dirty="0"/>
          </a:p>
          <a:p>
            <a:r>
              <a:rPr lang="en-US" altLang="ko-KR" dirty="0"/>
              <a:t>ex) echo “</a:t>
            </a:r>
            <a:r>
              <a:rPr lang="ko-KR" altLang="en-US" dirty="0"/>
              <a:t>안녕하세요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&gt; hello.txt</a:t>
            </a:r>
          </a:p>
          <a:p>
            <a:r>
              <a:rPr lang="ko-KR" altLang="en-US" dirty="0"/>
              <a:t>이렇게</a:t>
            </a:r>
            <a:r>
              <a:rPr lang="en-US" altLang="ko-KR" dirty="0"/>
              <a:t> </a:t>
            </a:r>
            <a:r>
              <a:rPr lang="ko-KR" altLang="en-US" dirty="0"/>
              <a:t>하면 파일 내용 </a:t>
            </a:r>
            <a:r>
              <a:rPr lang="ko-KR" altLang="en-US" dirty="0" err="1"/>
              <a:t>덮어씌워짐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기존 내용 유지하면서 가장 마지막에 내용을 추가하고 싶은 경우</a:t>
            </a:r>
            <a:endParaRPr lang="en-US" altLang="ko-KR" dirty="0"/>
          </a:p>
          <a:p>
            <a:r>
              <a:rPr lang="en-US" altLang="ko-KR" dirty="0"/>
              <a:t>`&gt;&gt;`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ex) echo </a:t>
            </a:r>
            <a:r>
              <a:rPr lang="ko-KR" altLang="en-US" dirty="0"/>
              <a:t>안녕하세요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&gt;&gt; hello.txt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516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2774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9036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6261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385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5304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0224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017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9689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5542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030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Scope = </a:t>
            </a:r>
            <a:r>
              <a:rPr lang="ko-KR" altLang="en-US" dirty="0"/>
              <a:t>토큰이 가질 수 있는 권한의 범위</a:t>
            </a:r>
            <a:endParaRPr lang="en-US" altLang="ko-KR" dirty="0"/>
          </a:p>
          <a:p>
            <a:r>
              <a:rPr lang="ko-KR" altLang="en-US" dirty="0"/>
              <a:t>많이 선택할수록 보안 위험 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repo</a:t>
            </a:r>
          </a:p>
          <a:p>
            <a:r>
              <a:rPr lang="en-US" altLang="ko-KR" dirty="0"/>
              <a:t>workflow (</a:t>
            </a:r>
            <a:r>
              <a:rPr lang="ko-KR" altLang="en-US" dirty="0"/>
              <a:t>옵션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read:user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210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58261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491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25868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Þ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77181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50931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원격에서 파일 수정하고 </a:t>
            </a:r>
            <a:r>
              <a:rPr lang="en-US" altLang="ko-KR" dirty="0"/>
              <a:t>push</a:t>
            </a:r>
            <a:r>
              <a:rPr lang="ko-KR" altLang="en-US" dirty="0"/>
              <a:t>해서 실습 진행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5026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git fetch: </a:t>
            </a:r>
            <a:r>
              <a:rPr lang="ko-KR" altLang="en-US" dirty="0"/>
              <a:t>원격 변경 사항만 가져오기</a:t>
            </a:r>
            <a:endParaRPr lang="en-US" altLang="ko-KR" dirty="0"/>
          </a:p>
          <a:p>
            <a:r>
              <a:rPr lang="en-US" altLang="ko-KR" b="1" dirty="0"/>
              <a:t>git pull: </a:t>
            </a:r>
            <a:r>
              <a:rPr lang="en-US" altLang="ko-KR" dirty="0"/>
              <a:t>fetch + merge </a:t>
            </a:r>
            <a:r>
              <a:rPr lang="ko-KR" altLang="en-US" dirty="0"/>
              <a:t>동시 실행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236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15140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78515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09287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94CA-DCB6-CB32-120B-A577753A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142626-F5F2-5AA3-18F4-7536B5633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3434A9-EB8B-B0ED-F1C4-CE1C90945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17CF8-14E6-E9F4-4DC9-2876DE459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67970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F0C9-D4DF-4E9E-ACB3-BA827B2F4CFB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38F86A-2CFE-40C3-9710-9CEDA8F7CDCA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799B9-B112-309E-7EB0-E22B3537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ED819-B7B6-AF85-2CFA-FC9C20092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39A6BA-E746-7DE8-D728-4A8E186A6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F7A20A-F3DC-6680-88FD-68218B4F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74CFA929-C720-4E9C-8DDB-420ACD500ACF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E50220-B0B6-840E-1D44-492BF7CC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616DAC-A7E2-DDFB-B6BA-745D9680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D75B-6746-402F-ACA5-E0A1D7BEE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7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0FD9C-0382-4742-95A0-98CF64CCBD3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14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rew.sh/ko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nuwin32.sourceforge.net/packages/tree.ht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&#51060;&#47492;/&#51200;&#51109;&#49548;&#47749;.git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inpa.tistory.com/entry/MarkDown-%F0%9F%93%9A-Emoji-%EC%9D%B4%EB%AA%A8%ED%8B%B0%EC%BD%98-%EC%82%AC%EC%9A%A9%ED%95%98%EA%B8%B0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oka1313/Github-%EA%B9%83%ED%97%88%EB%B8%8C-%ED%94%84%EB%A1%9C%ED%95%84-%EA%BE%B8%EB%AF%B8%EA%B8%B0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5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시작하기 | Git / GitHub 안내서">
            <a:extLst>
              <a:ext uri="{FF2B5EF4-FFF2-40B4-BE49-F238E27FC236}">
                <a16:creationId xmlns:a16="http://schemas.microsoft.com/office/drawing/2014/main" id="{A9176E68-E03D-EE95-F547-0E6BA87DA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1" y="1828876"/>
            <a:ext cx="3126658" cy="130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GitHub README.me에서 소스코드를 링크하는 방법">
            <a:extLst>
              <a:ext uri="{FF2B5EF4-FFF2-40B4-BE49-F238E27FC236}">
                <a16:creationId xmlns:a16="http://schemas.microsoft.com/office/drawing/2014/main" id="{482C0AFD-D9CA-A850-71FA-15A44CBF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000" y="3633353"/>
            <a:ext cx="4343694" cy="24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React, Vue 개발자를 위한 VSCode Extension. VSCode를 사용하는 웹 개발자를 위한 Extension 추천 |  by Bora Lee | Medium | Medium">
            <a:extLst>
              <a:ext uri="{FF2B5EF4-FFF2-40B4-BE49-F238E27FC236}">
                <a16:creationId xmlns:a16="http://schemas.microsoft.com/office/drawing/2014/main" id="{CEDAD023-7AB6-1046-37F7-41A8FDD8E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705" y="1828876"/>
            <a:ext cx="5248734" cy="262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92E0E7-1980-4FA0-F385-D5B01B75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8977-E297-4678-8163-CB780B568F3E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25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6E9C3-F38A-C050-9987-AB0FD984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65125"/>
            <a:ext cx="8269515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VS Code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1A939-FE7B-998D-D137-A17BEC8FC6BF}"/>
              </a:ext>
            </a:extLst>
          </p:cNvPr>
          <p:cNvSpPr txBox="1"/>
          <p:nvPr/>
        </p:nvSpPr>
        <p:spPr>
          <a:xfrm>
            <a:off x="1037167" y="2112433"/>
            <a:ext cx="7744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https://code.visualstudio.com/download</a:t>
            </a:r>
            <a:endParaRPr lang="en-US" altLang="ko-KR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ko-KR" alt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6" name="Picture 2" descr="Visual Studio Code 설치하기">
            <a:extLst>
              <a:ext uri="{FF2B5EF4-FFF2-40B4-BE49-F238E27FC236}">
                <a16:creationId xmlns:a16="http://schemas.microsoft.com/office/drawing/2014/main" id="{3C630138-B798-22CB-F1C1-DEDCCC2AD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677" y="3000929"/>
            <a:ext cx="7374486" cy="309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F6D264-7AA9-4E16-AA0E-24A85AD0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41869-9605-4841-A74A-2C750FD7A572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66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884C2-6529-B9A4-7170-0245CA20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1AA09C-8824-B756-04D5-4E8208D17A1E}"/>
              </a:ext>
            </a:extLst>
          </p:cNvPr>
          <p:cNvSpPr txBox="1"/>
          <p:nvPr/>
        </p:nvSpPr>
        <p:spPr>
          <a:xfrm>
            <a:off x="3656071" y="2600493"/>
            <a:ext cx="48798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A56CA7-8427-FFB9-6BD9-53572BDA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DAD57-EADF-45D6-B8B5-EFB7E1587E58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73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24FD-4DD3-4C6C-D916-71501357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E19CEAF-2884-DE02-C682-A8EE57B5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40807-A18B-99D1-040D-3EF5EA253F9C}"/>
              </a:ext>
            </a:extLst>
          </p:cNvPr>
          <p:cNvSpPr txBox="1"/>
          <p:nvPr/>
        </p:nvSpPr>
        <p:spPr>
          <a:xfrm>
            <a:off x="490331" y="2184204"/>
            <a:ext cx="7427033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Git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 기초와 사용법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Git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 </a:t>
            </a: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브랜치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전략과 협업 방법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Git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을 통한 협업 실습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89C6CA-5171-F22D-1DD0-0C30CA1F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4243-5956-4586-86FE-B879135BDCD1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11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14B2C-10BE-A40D-1F0F-6C8184A0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9BF866D-7A09-27FF-C135-E664A6E1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EA5D160-5619-7603-8F2D-E04A34ED5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20827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기초와 명령어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브랜치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전략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활용법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</a:t>
                      </a:r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을 통한 협업 실습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A8D1273D-396F-0524-E94F-FE248BF0035B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078CB4D-E324-9C7A-B92D-263BCAAD3198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517E68E7-BDF8-DC41-FD3C-9C9C7B73C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49654A93-DD45-AC6C-7096-B8B70586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A5625C-D533-FBCE-22AE-7CC604AC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4101-3A76-4866-B7EB-CDB9EE814EF4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09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15EB-C4C7-4FF9-9049-073C3A09552B}" type="datetime6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2025년 11월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ersion Control/Git - Wikiversity">
            <a:extLst>
              <a:ext uri="{FF2B5EF4-FFF2-40B4-BE49-F238E27FC236}">
                <a16:creationId xmlns:a16="http://schemas.microsoft.com/office/drawing/2014/main" id="{CBD85C01-4637-4405-208B-C0FCB2338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01" y="2417940"/>
            <a:ext cx="4843398" cy="202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56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DE483-7003-205F-DF9F-4E037487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30EC-37F7-4D4A-AABA-431412932373}" type="datetime6">
              <a:rPr lang="ko-KR" altLang="en-US" smtClean="0"/>
              <a:t>2025년 11월</a:t>
            </a:fld>
            <a:endParaRPr lang="ko-KR" altLang="en-US" dirty="0"/>
          </a:p>
        </p:txBody>
      </p:sp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0DF41375-192F-F237-769E-3F0AA4EE3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뭐래는거야 - 뽐뿌:짤방갤러리">
            <a:extLst>
              <a:ext uri="{FF2B5EF4-FFF2-40B4-BE49-F238E27FC236}">
                <a16:creationId xmlns:a16="http://schemas.microsoft.com/office/drawing/2014/main" id="{2631418A-C195-4108-3DC2-FD438C48F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433" y="3903298"/>
            <a:ext cx="2743200" cy="21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86289EF7-6452-7A9C-11FE-13872637C963}"/>
              </a:ext>
            </a:extLst>
          </p:cNvPr>
          <p:cNvSpPr txBox="1">
            <a:spLocks/>
          </p:cNvSpPr>
          <p:nvPr/>
        </p:nvSpPr>
        <p:spPr>
          <a:xfrm>
            <a:off x="251788" y="1038064"/>
            <a:ext cx="11688424" cy="463883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💡분산형 버전 관리 시스템</a:t>
            </a:r>
            <a:r>
              <a:rPr lang="en-US" altLang="ko-KR" dirty="0"/>
              <a:t>, </a:t>
            </a:r>
            <a:r>
              <a:rPr lang="ko-KR" altLang="en-US" dirty="0"/>
              <a:t>소스 코드의 변경 이력을 효율적으로 관리하고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여러 개발자 간 협업을 가능하게 해주는 도구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리눅스 개발자</a:t>
            </a:r>
            <a:r>
              <a:rPr lang="en-US" altLang="ko-KR" dirty="0"/>
              <a:t>, </a:t>
            </a:r>
            <a:r>
              <a:rPr lang="ko-KR" altLang="en-US" dirty="0" err="1"/>
              <a:t>리누스</a:t>
            </a:r>
            <a:r>
              <a:rPr lang="ko-KR" altLang="en-US" dirty="0"/>
              <a:t> </a:t>
            </a:r>
            <a:r>
              <a:rPr lang="ko-KR" altLang="en-US" dirty="0" err="1"/>
              <a:t>토발즈가</a:t>
            </a:r>
            <a:r>
              <a:rPr lang="ko-KR" altLang="en-US" dirty="0"/>
              <a:t> 리눅스 버전 관리를 위해 개발</a:t>
            </a:r>
            <a:r>
              <a:rPr lang="en-US" altLang="ko-KR" dirty="0"/>
              <a:t>(2005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당시 사용하던 버전 관리 시스템의 라이선스 이슈와 성능 한계가 계기가 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268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13C6-BC4D-92BE-6EC4-78C62C72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82ADE-AC39-A93E-8D60-D85A6471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FDD3-BA4A-44D4-9970-2FDAEB26BB5B}" type="datetime6">
              <a:rPr lang="ko-KR" altLang="en-US" smtClean="0"/>
              <a:t>2025년 11월</a:t>
            </a:fld>
            <a:endParaRPr lang="ko-KR" altLang="en-US" dirty="0"/>
          </a:p>
        </p:txBody>
      </p:sp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1BD467CB-6553-B2B8-68CF-D88B9361F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뭐래는거야 - 뽐뿌:짤방갤러리">
            <a:extLst>
              <a:ext uri="{FF2B5EF4-FFF2-40B4-BE49-F238E27FC236}">
                <a16:creationId xmlns:a16="http://schemas.microsoft.com/office/drawing/2014/main" id="{F80C55F4-84D8-446B-06C1-224FAE31A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433" y="3903298"/>
            <a:ext cx="2743200" cy="21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E89BCF00-A270-53C9-18E3-08E2A6780E28}"/>
              </a:ext>
            </a:extLst>
          </p:cNvPr>
          <p:cNvSpPr txBox="1">
            <a:spLocks/>
          </p:cNvSpPr>
          <p:nvPr/>
        </p:nvSpPr>
        <p:spPr>
          <a:xfrm>
            <a:off x="251788" y="1038064"/>
            <a:ext cx="11688424" cy="388466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</a:t>
            </a:r>
            <a:r>
              <a:rPr lang="en-US" altLang="ko-KR" dirty="0"/>
              <a:t>Git</a:t>
            </a:r>
            <a:r>
              <a:rPr lang="ko-KR" altLang="en-US" dirty="0"/>
              <a:t>의 주요 특징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분산형 구조 </a:t>
            </a:r>
            <a:r>
              <a:rPr lang="en-US" altLang="ko-KR" dirty="0"/>
              <a:t>: </a:t>
            </a:r>
            <a:r>
              <a:rPr lang="ko-KR" altLang="en-US" dirty="0"/>
              <a:t>모든 사용자가 전체 이력을 복제</a:t>
            </a:r>
            <a:r>
              <a:rPr lang="en-US" altLang="ko-KR" dirty="0"/>
              <a:t>, </a:t>
            </a:r>
            <a:r>
              <a:rPr lang="ko-KR" altLang="en-US" dirty="0"/>
              <a:t>오프라인에서도 모든 작업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무결성 </a:t>
            </a:r>
            <a:r>
              <a:rPr lang="en-US" altLang="ko-KR" dirty="0"/>
              <a:t>: </a:t>
            </a:r>
            <a:r>
              <a:rPr lang="ko-KR" altLang="en-US" dirty="0"/>
              <a:t>모든 변경</a:t>
            </a:r>
            <a:r>
              <a:rPr lang="en-US" altLang="ko-KR" dirty="0"/>
              <a:t>(</a:t>
            </a:r>
            <a:r>
              <a:rPr lang="ko-KR" altLang="en-US" dirty="0" err="1"/>
              <a:t>커밋</a:t>
            </a:r>
            <a:r>
              <a:rPr lang="en-US" altLang="ko-KR" dirty="0"/>
              <a:t>)</a:t>
            </a:r>
            <a:r>
              <a:rPr lang="ko-KR" altLang="en-US" dirty="0"/>
              <a:t>에 대해 해시</a:t>
            </a:r>
            <a:r>
              <a:rPr lang="en-US" altLang="ko-KR" dirty="0"/>
              <a:t>(SHA-1) </a:t>
            </a:r>
            <a:r>
              <a:rPr lang="ko-KR" altLang="en-US" dirty="0"/>
              <a:t>기반으로 관리</a:t>
            </a:r>
            <a:r>
              <a:rPr lang="en-US" altLang="ko-KR" dirty="0"/>
              <a:t>, </a:t>
            </a:r>
            <a:r>
              <a:rPr lang="ko-KR" altLang="en-US" dirty="0"/>
              <a:t>변조 방지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강력한 </a:t>
            </a:r>
            <a:r>
              <a:rPr lang="ko-KR" altLang="en-US" dirty="0" err="1"/>
              <a:t>브랜치</a:t>
            </a:r>
            <a:r>
              <a:rPr lang="en-US" altLang="ko-KR" dirty="0"/>
              <a:t>/</a:t>
            </a:r>
            <a:r>
              <a:rPr lang="ko-KR" altLang="en-US" dirty="0"/>
              <a:t>병합 기능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r>
              <a:rPr lang="en-US" altLang="ko-KR" dirty="0"/>
              <a:t>, </a:t>
            </a:r>
            <a:r>
              <a:rPr lang="ko-KR" altLang="en-US" dirty="0"/>
              <a:t>병합</a:t>
            </a:r>
            <a:r>
              <a:rPr lang="en-US" altLang="ko-KR" dirty="0"/>
              <a:t>, </a:t>
            </a:r>
            <a:r>
              <a:rPr lang="ko-KR" altLang="en-US" dirty="0"/>
              <a:t>롤백 등이 쉽고 효율적임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빠른 성능 </a:t>
            </a:r>
            <a:r>
              <a:rPr lang="en-US" altLang="ko-KR" dirty="0"/>
              <a:t>: </a:t>
            </a:r>
            <a:r>
              <a:rPr lang="ko-KR" altLang="en-US" dirty="0"/>
              <a:t>대부분의 작업이 로컬에서 처리되므로 속도가 매우 빠름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오픈소스 </a:t>
            </a:r>
            <a:r>
              <a:rPr lang="en-US" altLang="ko-KR" dirty="0"/>
              <a:t>: </a:t>
            </a:r>
            <a:r>
              <a:rPr lang="ko-KR" altLang="en-US" dirty="0"/>
              <a:t>누구나 무료로 사용 가능</a:t>
            </a:r>
            <a:r>
              <a:rPr lang="en-US" altLang="ko-KR" dirty="0"/>
              <a:t>, </a:t>
            </a:r>
            <a:r>
              <a:rPr lang="ko-KR" altLang="en-US" dirty="0"/>
              <a:t>다양한 확장성</a:t>
            </a:r>
          </a:p>
        </p:txBody>
      </p:sp>
    </p:spTree>
    <p:extLst>
      <p:ext uri="{BB962C8B-B14F-4D97-AF65-F5344CB8AC3E}">
        <p14:creationId xmlns:p14="http://schemas.microsoft.com/office/powerpoint/2010/main" val="382537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FEB8-25FB-4DD9-9A05-AF7373022759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06D7A5-3C7D-F4AF-554E-6B01619F8296}"/>
              </a:ext>
            </a:extLst>
          </p:cNvPr>
          <p:cNvGrpSpPr/>
          <p:nvPr/>
        </p:nvGrpSpPr>
        <p:grpSpPr>
          <a:xfrm>
            <a:off x="1110555" y="3336878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265402EA-0D0F-EF4C-1270-E3CA4C880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1CD28-130F-0B7F-7B16-58AE80D8C5CC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0EB44A-5F94-01B6-0B86-E3DA302579EA}"/>
              </a:ext>
            </a:extLst>
          </p:cNvPr>
          <p:cNvGrpSpPr/>
          <p:nvPr/>
        </p:nvGrpSpPr>
        <p:grpSpPr>
          <a:xfrm>
            <a:off x="6498609" y="3336878"/>
            <a:ext cx="1449436" cy="1283732"/>
            <a:chOff x="987725" y="2514600"/>
            <a:chExt cx="1449436" cy="1283732"/>
          </a:xfrm>
        </p:grpSpPr>
        <p:pic>
          <p:nvPicPr>
            <p:cNvPr id="11" name="그래픽 10" descr="용지 단색으로 채워진">
              <a:extLst>
                <a:ext uri="{FF2B5EF4-FFF2-40B4-BE49-F238E27FC236}">
                  <a16:creationId xmlns:a16="http://schemas.microsoft.com/office/drawing/2014/main" id="{958DACED-4AC7-CD01-6D5B-87E18BEE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F47D3-97C4-D020-0404-860575EC9AA0}"/>
                </a:ext>
              </a:extLst>
            </p:cNvPr>
            <p:cNvSpPr txBox="1"/>
            <p:nvPr/>
          </p:nvSpPr>
          <p:spPr>
            <a:xfrm>
              <a:off x="987725" y="3429000"/>
              <a:ext cx="1449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memo(1).txt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D6BA563-E719-7FD0-8E84-41D858F6D04E}"/>
              </a:ext>
            </a:extLst>
          </p:cNvPr>
          <p:cNvSpPr txBox="1"/>
          <p:nvPr/>
        </p:nvSpPr>
        <p:spPr>
          <a:xfrm>
            <a:off x="1038760" y="1495264"/>
            <a:ext cx="74975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+mj-ea"/>
                <a:ea typeface="+mj-ea"/>
              </a:rPr>
              <a:t>보통의 파일 관리</a:t>
            </a:r>
            <a:endParaRPr lang="en-US" altLang="ko-KR" sz="3200" dirty="0">
              <a:latin typeface="+mj-ea"/>
              <a:ea typeface="+mj-ea"/>
            </a:endParaRPr>
          </a:p>
          <a:p>
            <a:r>
              <a:rPr lang="en-US" altLang="ko-KR" sz="3200" dirty="0">
                <a:latin typeface="+mj-ea"/>
                <a:ea typeface="+mj-ea"/>
              </a:rPr>
              <a:t> &gt; </a:t>
            </a:r>
            <a:r>
              <a:rPr lang="ko-KR" altLang="en-US" sz="3200" dirty="0">
                <a:latin typeface="+mj-ea"/>
                <a:ea typeface="+mj-ea"/>
              </a:rPr>
              <a:t>파일 복사</a:t>
            </a:r>
            <a:r>
              <a:rPr lang="en-US" altLang="ko-KR" sz="3200" dirty="0">
                <a:latin typeface="+mj-ea"/>
                <a:ea typeface="+mj-ea"/>
              </a:rPr>
              <a:t>, </a:t>
            </a:r>
            <a:r>
              <a:rPr lang="ko-KR" altLang="en-US" sz="3200" dirty="0">
                <a:latin typeface="+mj-ea"/>
                <a:ea typeface="+mj-ea"/>
              </a:rPr>
              <a:t>덮어쓰기</a:t>
            </a:r>
            <a:r>
              <a:rPr lang="en-US" altLang="ko-KR" sz="3200" dirty="0">
                <a:latin typeface="+mj-ea"/>
                <a:ea typeface="+mj-ea"/>
              </a:rPr>
              <a:t>, </a:t>
            </a:r>
            <a:r>
              <a:rPr lang="ko-KR" altLang="en-US" sz="3200" dirty="0">
                <a:latin typeface="+mj-ea"/>
                <a:ea typeface="+mj-ea"/>
              </a:rPr>
              <a:t>다른 이름으로 저장 등</a:t>
            </a:r>
            <a:endParaRPr lang="en-US" altLang="ko-KR" sz="2000" dirty="0">
              <a:latin typeface="+mj-ea"/>
              <a:ea typeface="+mj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21778-A89D-E809-41C7-D23F661094C1}"/>
              </a:ext>
            </a:extLst>
          </p:cNvPr>
          <p:cNvGrpSpPr/>
          <p:nvPr/>
        </p:nvGrpSpPr>
        <p:grpSpPr>
          <a:xfrm>
            <a:off x="3804582" y="3336878"/>
            <a:ext cx="1181734" cy="1283732"/>
            <a:chOff x="987725" y="2514600"/>
            <a:chExt cx="1181734" cy="1283732"/>
          </a:xfrm>
        </p:grpSpPr>
        <p:pic>
          <p:nvPicPr>
            <p:cNvPr id="15" name="그래픽 14" descr="용지 단색으로 채워진">
              <a:extLst>
                <a:ext uri="{FF2B5EF4-FFF2-40B4-BE49-F238E27FC236}">
                  <a16:creationId xmlns:a16="http://schemas.microsoft.com/office/drawing/2014/main" id="{233BDD9B-C1BF-B767-C75E-25C5D1405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B4EC01-FD9B-8809-0C97-1EAB85CE1E98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1C0B75-7A8A-FF95-32CE-194B44221089}"/>
              </a:ext>
            </a:extLst>
          </p:cNvPr>
          <p:cNvGrpSpPr/>
          <p:nvPr/>
        </p:nvGrpSpPr>
        <p:grpSpPr>
          <a:xfrm>
            <a:off x="9326303" y="3326546"/>
            <a:ext cx="1568058" cy="1283732"/>
            <a:chOff x="987725" y="2514600"/>
            <a:chExt cx="1568058" cy="1283732"/>
          </a:xfrm>
        </p:grpSpPr>
        <p:pic>
          <p:nvPicPr>
            <p:cNvPr id="18" name="그래픽 17" descr="용지 단색으로 채워진">
              <a:extLst>
                <a:ext uri="{FF2B5EF4-FFF2-40B4-BE49-F238E27FC236}">
                  <a16:creationId xmlns:a16="http://schemas.microsoft.com/office/drawing/2014/main" id="{DCAD3EE9-F852-4E44-61FB-0CA297661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AF1EF3-5213-B10E-E56D-A8C01CAE305E}"/>
                </a:ext>
              </a:extLst>
            </p:cNvPr>
            <p:cNvSpPr txBox="1"/>
            <p:nvPr/>
          </p:nvSpPr>
          <p:spPr>
            <a:xfrm>
              <a:off x="987725" y="3429000"/>
              <a:ext cx="1568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memo123.txt</a:t>
              </a:r>
              <a:endParaRPr lang="ko-KR" altLang="en-US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904AA9D-F614-1D9B-4D03-6BBFE7FD4FDB}"/>
              </a:ext>
            </a:extLst>
          </p:cNvPr>
          <p:cNvCxnSpPr/>
          <p:nvPr/>
        </p:nvCxnSpPr>
        <p:spPr>
          <a:xfrm>
            <a:off x="2483893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A988DCD-6A7F-9BE4-BDEF-983F55DCC66F}"/>
              </a:ext>
            </a:extLst>
          </p:cNvPr>
          <p:cNvCxnSpPr/>
          <p:nvPr/>
        </p:nvCxnSpPr>
        <p:spPr>
          <a:xfrm>
            <a:off x="5229367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9A855B-E123-F219-BDFE-B4D8E4317E53}"/>
              </a:ext>
            </a:extLst>
          </p:cNvPr>
          <p:cNvCxnSpPr/>
          <p:nvPr/>
        </p:nvCxnSpPr>
        <p:spPr>
          <a:xfrm>
            <a:off x="7988489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2549111" y="343230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덮어쓰기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22716-82ED-AAA6-1DC9-CA75A8DE275D}"/>
              </a:ext>
            </a:extLst>
          </p:cNvPr>
          <p:cNvSpPr txBox="1"/>
          <p:nvPr/>
        </p:nvSpPr>
        <p:spPr>
          <a:xfrm>
            <a:off x="5504643" y="3430715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4118-6A27-3BE3-3C16-6BC5F3E2A00C}"/>
              </a:ext>
            </a:extLst>
          </p:cNvPr>
          <p:cNvSpPr txBox="1"/>
          <p:nvPr/>
        </p:nvSpPr>
        <p:spPr>
          <a:xfrm>
            <a:off x="7403556" y="3424746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다른 이름으로 저장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545BDE-08FA-43C4-FC7B-7B5AE2D629E6}"/>
              </a:ext>
            </a:extLst>
          </p:cNvPr>
          <p:cNvSpPr txBox="1"/>
          <p:nvPr/>
        </p:nvSpPr>
        <p:spPr>
          <a:xfrm>
            <a:off x="1271687" y="294589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68CF3C-775B-1BD4-B54D-CFADC8B07873}"/>
              </a:ext>
            </a:extLst>
          </p:cNvPr>
          <p:cNvSpPr txBox="1"/>
          <p:nvPr/>
        </p:nvSpPr>
        <p:spPr>
          <a:xfrm>
            <a:off x="4037017" y="294589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17C5-D33B-C6DC-5F29-A31F81ADDD74}"/>
              </a:ext>
            </a:extLst>
          </p:cNvPr>
          <p:cNvSpPr txBox="1"/>
          <p:nvPr/>
        </p:nvSpPr>
        <p:spPr>
          <a:xfrm>
            <a:off x="6714213" y="294589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Ver.3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DFA33-FEA0-3D5A-A9FD-0BFE12C5CFB5}"/>
              </a:ext>
            </a:extLst>
          </p:cNvPr>
          <p:cNvSpPr txBox="1"/>
          <p:nvPr/>
        </p:nvSpPr>
        <p:spPr>
          <a:xfrm>
            <a:off x="9468273" y="295721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Ver.4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1110555" y="5226371"/>
            <a:ext cx="420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최종의</a:t>
            </a:r>
            <a:r>
              <a:rPr lang="en-US" altLang="ko-KR" dirty="0"/>
              <a:t>.. </a:t>
            </a:r>
            <a:r>
              <a:rPr lang="ko-KR" altLang="en-US" dirty="0"/>
              <a:t>최종의</a:t>
            </a:r>
            <a:r>
              <a:rPr lang="en-US" altLang="ko-KR" dirty="0"/>
              <a:t>..</a:t>
            </a:r>
            <a:r>
              <a:rPr lang="ko-KR" altLang="en-US" dirty="0"/>
              <a:t>최종의</a:t>
            </a:r>
            <a:r>
              <a:rPr lang="en-US" altLang="ko-KR" dirty="0"/>
              <a:t>.. </a:t>
            </a:r>
            <a:r>
              <a:rPr lang="ko-KR" altLang="en-US" dirty="0"/>
              <a:t>진짜 최종 제발 최종</a:t>
            </a:r>
          </a:p>
        </p:txBody>
      </p:sp>
      <p:pic>
        <p:nvPicPr>
          <p:cNvPr id="2" name="Picture 2" descr="Version Control/Git - Wikiversity">
            <a:extLst>
              <a:ext uri="{FF2B5EF4-FFF2-40B4-BE49-F238E27FC236}">
                <a16:creationId xmlns:a16="http://schemas.microsoft.com/office/drawing/2014/main" id="{C862E950-E7D8-600A-F6C1-01B932C83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37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D70E-9203-462A-874A-114BE365CC20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06D7A5-3C7D-F4AF-554E-6B01619F8296}"/>
              </a:ext>
            </a:extLst>
          </p:cNvPr>
          <p:cNvGrpSpPr/>
          <p:nvPr/>
        </p:nvGrpSpPr>
        <p:grpSpPr>
          <a:xfrm>
            <a:off x="1110555" y="3336878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265402EA-0D0F-EF4C-1270-E3CA4C880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1CD28-130F-0B7F-7B16-58AE80D8C5CC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0EB44A-5F94-01B6-0B86-E3DA302579EA}"/>
              </a:ext>
            </a:extLst>
          </p:cNvPr>
          <p:cNvGrpSpPr/>
          <p:nvPr/>
        </p:nvGrpSpPr>
        <p:grpSpPr>
          <a:xfrm>
            <a:off x="6498609" y="3336878"/>
            <a:ext cx="1181734" cy="1283732"/>
            <a:chOff x="987725" y="2514600"/>
            <a:chExt cx="1181734" cy="1283732"/>
          </a:xfrm>
        </p:grpSpPr>
        <p:pic>
          <p:nvPicPr>
            <p:cNvPr id="11" name="그래픽 10" descr="용지 단색으로 채워진">
              <a:extLst>
                <a:ext uri="{FF2B5EF4-FFF2-40B4-BE49-F238E27FC236}">
                  <a16:creationId xmlns:a16="http://schemas.microsoft.com/office/drawing/2014/main" id="{958DACED-4AC7-CD01-6D5B-87E18BEE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F47D3-97C4-D020-0404-860575EC9AA0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21778-A89D-E809-41C7-D23F661094C1}"/>
              </a:ext>
            </a:extLst>
          </p:cNvPr>
          <p:cNvGrpSpPr/>
          <p:nvPr/>
        </p:nvGrpSpPr>
        <p:grpSpPr>
          <a:xfrm>
            <a:off x="3804582" y="3336878"/>
            <a:ext cx="1181734" cy="1283732"/>
            <a:chOff x="987725" y="2514600"/>
            <a:chExt cx="1181734" cy="1283732"/>
          </a:xfrm>
        </p:grpSpPr>
        <p:pic>
          <p:nvPicPr>
            <p:cNvPr id="15" name="그래픽 14" descr="용지 단색으로 채워진">
              <a:extLst>
                <a:ext uri="{FF2B5EF4-FFF2-40B4-BE49-F238E27FC236}">
                  <a16:creationId xmlns:a16="http://schemas.microsoft.com/office/drawing/2014/main" id="{233BDD9B-C1BF-B767-C75E-25C5D1405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B4EC01-FD9B-8809-0C97-1EAB85CE1E98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1C0B75-7A8A-FF95-32CE-194B44221089}"/>
              </a:ext>
            </a:extLst>
          </p:cNvPr>
          <p:cNvGrpSpPr/>
          <p:nvPr/>
        </p:nvGrpSpPr>
        <p:grpSpPr>
          <a:xfrm>
            <a:off x="9326303" y="3326546"/>
            <a:ext cx="1181734" cy="1283732"/>
            <a:chOff x="987725" y="2514600"/>
            <a:chExt cx="1181734" cy="1283732"/>
          </a:xfrm>
        </p:grpSpPr>
        <p:pic>
          <p:nvPicPr>
            <p:cNvPr id="18" name="그래픽 17" descr="용지 단색으로 채워진">
              <a:extLst>
                <a:ext uri="{FF2B5EF4-FFF2-40B4-BE49-F238E27FC236}">
                  <a16:creationId xmlns:a16="http://schemas.microsoft.com/office/drawing/2014/main" id="{DCAD3EE9-F852-4E44-61FB-0CA297661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AF1EF3-5213-B10E-E56D-A8C01CAE305E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904AA9D-F614-1D9B-4D03-6BBFE7FD4FDB}"/>
              </a:ext>
            </a:extLst>
          </p:cNvPr>
          <p:cNvCxnSpPr/>
          <p:nvPr/>
        </p:nvCxnSpPr>
        <p:spPr>
          <a:xfrm>
            <a:off x="2483893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A988DCD-6A7F-9BE4-BDEF-983F55DCC66F}"/>
              </a:ext>
            </a:extLst>
          </p:cNvPr>
          <p:cNvCxnSpPr/>
          <p:nvPr/>
        </p:nvCxnSpPr>
        <p:spPr>
          <a:xfrm>
            <a:off x="5229367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9A855B-E123-F219-BDFE-B4D8E4317E53}"/>
              </a:ext>
            </a:extLst>
          </p:cNvPr>
          <p:cNvCxnSpPr/>
          <p:nvPr/>
        </p:nvCxnSpPr>
        <p:spPr>
          <a:xfrm>
            <a:off x="7988489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2743200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22716-82ED-AAA6-1DC9-CA75A8DE275D}"/>
              </a:ext>
            </a:extLst>
          </p:cNvPr>
          <p:cNvSpPr txBox="1"/>
          <p:nvPr/>
        </p:nvSpPr>
        <p:spPr>
          <a:xfrm>
            <a:off x="5504643" y="3430715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4118-6A27-3BE3-3C16-6BC5F3E2A00C}"/>
              </a:ext>
            </a:extLst>
          </p:cNvPr>
          <p:cNvSpPr txBox="1"/>
          <p:nvPr/>
        </p:nvSpPr>
        <p:spPr>
          <a:xfrm>
            <a:off x="8212217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545BDE-08FA-43C4-FC7B-7B5AE2D629E6}"/>
              </a:ext>
            </a:extLst>
          </p:cNvPr>
          <p:cNvSpPr txBox="1"/>
          <p:nvPr/>
        </p:nvSpPr>
        <p:spPr>
          <a:xfrm>
            <a:off x="1271687" y="294589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Ver.1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68CF3C-775B-1BD4-B54D-CFADC8B07873}"/>
              </a:ext>
            </a:extLst>
          </p:cNvPr>
          <p:cNvSpPr txBox="1"/>
          <p:nvPr/>
        </p:nvSpPr>
        <p:spPr>
          <a:xfrm>
            <a:off x="4037017" y="294589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Ver.2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17C5-D33B-C6DC-5F29-A31F81ADDD74}"/>
              </a:ext>
            </a:extLst>
          </p:cNvPr>
          <p:cNvSpPr txBox="1"/>
          <p:nvPr/>
        </p:nvSpPr>
        <p:spPr>
          <a:xfrm>
            <a:off x="6714213" y="294589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Ver.3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DFA33-FEA0-3D5A-A9FD-0BFE12C5CFB5}"/>
              </a:ext>
            </a:extLst>
          </p:cNvPr>
          <p:cNvSpPr txBox="1"/>
          <p:nvPr/>
        </p:nvSpPr>
        <p:spPr>
          <a:xfrm>
            <a:off x="9468273" y="295721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Ver.4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FED38-39C8-DE39-15BA-6553FA62C3E9}"/>
              </a:ext>
            </a:extLst>
          </p:cNvPr>
          <p:cNvSpPr txBox="1"/>
          <p:nvPr/>
        </p:nvSpPr>
        <p:spPr>
          <a:xfrm>
            <a:off x="1110555" y="5059275"/>
            <a:ext cx="5715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&gt; </a:t>
            </a:r>
            <a:r>
              <a:rPr lang="ko-KR" altLang="en-US" sz="2000" dirty="0"/>
              <a:t>전체 파일을 복사하는 것이 아니라 수정된 내용을 기록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82C38-AF93-3F2D-B5FD-973F63EE2499}"/>
              </a:ext>
            </a:extLst>
          </p:cNvPr>
          <p:cNvSpPr txBox="1"/>
          <p:nvPr/>
        </p:nvSpPr>
        <p:spPr>
          <a:xfrm>
            <a:off x="1110555" y="1374821"/>
            <a:ext cx="98155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형상 관리 도구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(Configuration Management Tool)</a:t>
            </a:r>
          </a:p>
          <a:p>
            <a:r>
              <a:rPr lang="en-US" altLang="ko-KR" sz="3200" dirty="0">
                <a:latin typeface="+mj-ea"/>
                <a:ea typeface="+mj-ea"/>
              </a:rPr>
              <a:t>    </a:t>
            </a:r>
            <a:r>
              <a:rPr lang="en-US" altLang="ko-KR" sz="4800" dirty="0">
                <a:latin typeface="+mj-ea"/>
                <a:ea typeface="+mj-ea"/>
              </a:rPr>
              <a:t>≈ </a:t>
            </a:r>
            <a:r>
              <a:rPr lang="ko-KR" altLang="en-US" sz="3600" dirty="0">
                <a:latin typeface="+mj-ea"/>
                <a:ea typeface="+mj-ea"/>
              </a:rPr>
              <a:t>버전 관리 시스템</a:t>
            </a:r>
            <a:r>
              <a:rPr lang="en-US" altLang="ko-KR" sz="3600" dirty="0">
                <a:latin typeface="+mj-ea"/>
                <a:ea typeface="+mj-ea"/>
              </a:rPr>
              <a:t>(Version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Control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System)</a:t>
            </a:r>
            <a:endParaRPr lang="en-US" altLang="ko-KR" sz="2000" dirty="0">
              <a:latin typeface="+mj-ea"/>
              <a:ea typeface="+mj-ea"/>
            </a:endParaRPr>
          </a:p>
        </p:txBody>
      </p:sp>
      <p:pic>
        <p:nvPicPr>
          <p:cNvPr id="3" name="Picture 2" descr="Version Control/Git - Wikiversity">
            <a:extLst>
              <a:ext uri="{FF2B5EF4-FFF2-40B4-BE49-F238E27FC236}">
                <a16:creationId xmlns:a16="http://schemas.microsoft.com/office/drawing/2014/main" id="{E2BD2B40-9263-4026-9142-474B7F02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957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9E83-EB86-4684-AA23-FD5AD805F741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06D7A5-3C7D-F4AF-554E-6B01619F8296}"/>
              </a:ext>
            </a:extLst>
          </p:cNvPr>
          <p:cNvGrpSpPr/>
          <p:nvPr/>
        </p:nvGrpSpPr>
        <p:grpSpPr>
          <a:xfrm>
            <a:off x="1110555" y="3336878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265402EA-0D0F-EF4C-1270-E3CA4C880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1CD28-130F-0B7F-7B16-58AE80D8C5CC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0EB44A-5F94-01B6-0B86-E3DA302579EA}"/>
              </a:ext>
            </a:extLst>
          </p:cNvPr>
          <p:cNvGrpSpPr/>
          <p:nvPr/>
        </p:nvGrpSpPr>
        <p:grpSpPr>
          <a:xfrm>
            <a:off x="6498609" y="3336878"/>
            <a:ext cx="1181734" cy="1283732"/>
            <a:chOff x="987725" y="2514600"/>
            <a:chExt cx="1181734" cy="1283732"/>
          </a:xfrm>
        </p:grpSpPr>
        <p:pic>
          <p:nvPicPr>
            <p:cNvPr id="11" name="그래픽 10" descr="용지 단색으로 채워진">
              <a:extLst>
                <a:ext uri="{FF2B5EF4-FFF2-40B4-BE49-F238E27FC236}">
                  <a16:creationId xmlns:a16="http://schemas.microsoft.com/office/drawing/2014/main" id="{958DACED-4AC7-CD01-6D5B-87E18BEE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F47D3-97C4-D020-0404-860575EC9AA0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21778-A89D-E809-41C7-D23F661094C1}"/>
              </a:ext>
            </a:extLst>
          </p:cNvPr>
          <p:cNvGrpSpPr/>
          <p:nvPr/>
        </p:nvGrpSpPr>
        <p:grpSpPr>
          <a:xfrm>
            <a:off x="3804582" y="3336878"/>
            <a:ext cx="1181734" cy="1283732"/>
            <a:chOff x="987725" y="2514600"/>
            <a:chExt cx="1181734" cy="1283732"/>
          </a:xfrm>
        </p:grpSpPr>
        <p:pic>
          <p:nvPicPr>
            <p:cNvPr id="15" name="그래픽 14" descr="용지 단색으로 채워진">
              <a:extLst>
                <a:ext uri="{FF2B5EF4-FFF2-40B4-BE49-F238E27FC236}">
                  <a16:creationId xmlns:a16="http://schemas.microsoft.com/office/drawing/2014/main" id="{233BDD9B-C1BF-B767-C75E-25C5D1405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B4EC01-FD9B-8809-0C97-1EAB85CE1E98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1C0B75-7A8A-FF95-32CE-194B44221089}"/>
              </a:ext>
            </a:extLst>
          </p:cNvPr>
          <p:cNvGrpSpPr/>
          <p:nvPr/>
        </p:nvGrpSpPr>
        <p:grpSpPr>
          <a:xfrm>
            <a:off x="9326303" y="3326546"/>
            <a:ext cx="1181734" cy="1283732"/>
            <a:chOff x="987725" y="2514600"/>
            <a:chExt cx="1181734" cy="1283732"/>
          </a:xfrm>
        </p:grpSpPr>
        <p:pic>
          <p:nvPicPr>
            <p:cNvPr id="18" name="그래픽 17" descr="용지 단색으로 채워진">
              <a:extLst>
                <a:ext uri="{FF2B5EF4-FFF2-40B4-BE49-F238E27FC236}">
                  <a16:creationId xmlns:a16="http://schemas.microsoft.com/office/drawing/2014/main" id="{DCAD3EE9-F852-4E44-61FB-0CA297661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AF1EF3-5213-B10E-E56D-A8C01CAE305E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904AA9D-F614-1D9B-4D03-6BBFE7FD4FDB}"/>
              </a:ext>
            </a:extLst>
          </p:cNvPr>
          <p:cNvCxnSpPr/>
          <p:nvPr/>
        </p:nvCxnSpPr>
        <p:spPr>
          <a:xfrm>
            <a:off x="2483893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A988DCD-6A7F-9BE4-BDEF-983F55DCC66F}"/>
              </a:ext>
            </a:extLst>
          </p:cNvPr>
          <p:cNvCxnSpPr/>
          <p:nvPr/>
        </p:nvCxnSpPr>
        <p:spPr>
          <a:xfrm>
            <a:off x="5229367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9A855B-E123-F219-BDFE-B4D8E4317E53}"/>
              </a:ext>
            </a:extLst>
          </p:cNvPr>
          <p:cNvCxnSpPr/>
          <p:nvPr/>
        </p:nvCxnSpPr>
        <p:spPr>
          <a:xfrm>
            <a:off x="7988489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2743200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22716-82ED-AAA6-1DC9-CA75A8DE275D}"/>
              </a:ext>
            </a:extLst>
          </p:cNvPr>
          <p:cNvSpPr txBox="1"/>
          <p:nvPr/>
        </p:nvSpPr>
        <p:spPr>
          <a:xfrm>
            <a:off x="5504643" y="3430715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4118-6A27-3BE3-3C16-6BC5F3E2A00C}"/>
              </a:ext>
            </a:extLst>
          </p:cNvPr>
          <p:cNvSpPr txBox="1"/>
          <p:nvPr/>
        </p:nvSpPr>
        <p:spPr>
          <a:xfrm>
            <a:off x="8212217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545BDE-08FA-43C4-FC7B-7B5AE2D629E6}"/>
              </a:ext>
            </a:extLst>
          </p:cNvPr>
          <p:cNvSpPr txBox="1"/>
          <p:nvPr/>
        </p:nvSpPr>
        <p:spPr>
          <a:xfrm>
            <a:off x="1271687" y="294589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68CF3C-775B-1BD4-B54D-CFADC8B07873}"/>
              </a:ext>
            </a:extLst>
          </p:cNvPr>
          <p:cNvSpPr txBox="1"/>
          <p:nvPr/>
        </p:nvSpPr>
        <p:spPr>
          <a:xfrm>
            <a:off x="4037017" y="294589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17C5-D33B-C6DC-5F29-A31F81ADDD74}"/>
              </a:ext>
            </a:extLst>
          </p:cNvPr>
          <p:cNvSpPr txBox="1"/>
          <p:nvPr/>
        </p:nvSpPr>
        <p:spPr>
          <a:xfrm>
            <a:off x="6714213" y="294589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Ver.3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DFA33-FEA0-3D5A-A9FD-0BFE12C5CFB5}"/>
              </a:ext>
            </a:extLst>
          </p:cNvPr>
          <p:cNvSpPr txBox="1"/>
          <p:nvPr/>
        </p:nvSpPr>
        <p:spPr>
          <a:xfrm>
            <a:off x="9468273" y="295721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Ver.4</a:t>
            </a:r>
            <a:endParaRPr lang="ko-KR" altLang="en-US" dirty="0"/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5A6ABFE-E881-5096-4AEE-5DF0D826B5EF}"/>
              </a:ext>
            </a:extLst>
          </p:cNvPr>
          <p:cNvSpPr/>
          <p:nvPr/>
        </p:nvSpPr>
        <p:spPr>
          <a:xfrm>
            <a:off x="4490113" y="4136569"/>
            <a:ext cx="5427057" cy="1111450"/>
          </a:xfrm>
          <a:prstGeom prst="arc">
            <a:avLst>
              <a:gd name="adj1" fmla="val 21593973"/>
              <a:gd name="adj2" fmla="val 10731909"/>
            </a:avLst>
          </a:prstGeom>
          <a:ln w="38100">
            <a:solidFill>
              <a:srgbClr val="00B050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D69E61-B29C-E258-8352-4EF7A1E7732A}"/>
              </a:ext>
            </a:extLst>
          </p:cNvPr>
          <p:cNvSpPr txBox="1"/>
          <p:nvPr/>
        </p:nvSpPr>
        <p:spPr>
          <a:xfrm>
            <a:off x="6542242" y="5330891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복원 가능</a:t>
            </a:r>
          </a:p>
        </p:txBody>
      </p:sp>
      <p:pic>
        <p:nvPicPr>
          <p:cNvPr id="3" name="Picture 2" descr="Version Control/Git - Wikiversity">
            <a:extLst>
              <a:ext uri="{FF2B5EF4-FFF2-40B4-BE49-F238E27FC236}">
                <a16:creationId xmlns:a16="http://schemas.microsoft.com/office/drawing/2014/main" id="{516C512F-5EBB-E2B6-2BA4-76831DBB3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0197FE-4558-4D64-E6B9-F90F79207193}"/>
              </a:ext>
            </a:extLst>
          </p:cNvPr>
          <p:cNvSpPr txBox="1"/>
          <p:nvPr/>
        </p:nvSpPr>
        <p:spPr>
          <a:xfrm>
            <a:off x="1110555" y="1374821"/>
            <a:ext cx="98155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형상 관리 도구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(Configuration Management Tool)</a:t>
            </a:r>
          </a:p>
          <a:p>
            <a:r>
              <a:rPr lang="en-US" altLang="ko-KR" sz="3200" dirty="0">
                <a:latin typeface="+mj-ea"/>
                <a:ea typeface="+mj-ea"/>
              </a:rPr>
              <a:t>    </a:t>
            </a:r>
            <a:r>
              <a:rPr lang="en-US" altLang="ko-KR" sz="4800" dirty="0">
                <a:latin typeface="+mj-ea"/>
                <a:ea typeface="+mj-ea"/>
              </a:rPr>
              <a:t>≈ </a:t>
            </a:r>
            <a:r>
              <a:rPr lang="ko-KR" altLang="en-US" sz="3600" dirty="0">
                <a:latin typeface="+mj-ea"/>
                <a:ea typeface="+mj-ea"/>
              </a:rPr>
              <a:t>버전 관리 시스템</a:t>
            </a:r>
            <a:r>
              <a:rPr lang="en-US" altLang="ko-KR" sz="3600" dirty="0">
                <a:latin typeface="+mj-ea"/>
                <a:ea typeface="+mj-ea"/>
              </a:rPr>
              <a:t>(Version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Control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System)</a:t>
            </a:r>
            <a:endParaRPr lang="en-US" altLang="ko-KR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4768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A245-F7B5-4AE3-BDA7-6F464DBC43E4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6BA563-E719-7FD0-8E84-41D858F6D04E}"/>
              </a:ext>
            </a:extLst>
          </p:cNvPr>
          <p:cNvSpPr txBox="1"/>
          <p:nvPr/>
        </p:nvSpPr>
        <p:spPr>
          <a:xfrm>
            <a:off x="1487206" y="1165379"/>
            <a:ext cx="9217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중앙집중식 버전 관리 시스템 </a:t>
            </a:r>
            <a:r>
              <a:rPr lang="en-US" altLang="ko-KR" sz="3200" dirty="0"/>
              <a:t>vs</a:t>
            </a:r>
            <a:r>
              <a:rPr lang="ko-KR" altLang="en-US" sz="3200" dirty="0"/>
              <a:t> 분산형 버전 관리 시스템</a:t>
            </a:r>
            <a:endParaRPr lang="en-US" altLang="ko-KR" sz="2000" dirty="0"/>
          </a:p>
        </p:txBody>
      </p:sp>
      <p:pic>
        <p:nvPicPr>
          <p:cNvPr id="3" name="그래픽 2" descr="데이터베이스 윤곽선">
            <a:extLst>
              <a:ext uri="{FF2B5EF4-FFF2-40B4-BE49-F238E27FC236}">
                <a16:creationId xmlns:a16="http://schemas.microsoft.com/office/drawing/2014/main" id="{84CA0F2D-F4AB-8381-FB17-3CC7B6E8A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2654414"/>
            <a:ext cx="1217815" cy="1217815"/>
          </a:xfrm>
          <a:prstGeom prst="rect">
            <a:avLst/>
          </a:prstGeom>
        </p:spPr>
      </p:pic>
      <p:pic>
        <p:nvPicPr>
          <p:cNvPr id="20" name="그래픽 19" descr="지팡이를 든 여자 단색으로 채워진">
            <a:extLst>
              <a:ext uri="{FF2B5EF4-FFF2-40B4-BE49-F238E27FC236}">
                <a16:creationId xmlns:a16="http://schemas.microsoft.com/office/drawing/2014/main" id="{CCE2D698-D379-FDDF-EE31-494D6CED178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9433" y="5010108"/>
            <a:ext cx="914400" cy="914400"/>
          </a:xfrm>
          <a:prstGeom prst="rect">
            <a:avLst/>
          </a:prstGeom>
        </p:spPr>
      </p:pic>
      <p:pic>
        <p:nvPicPr>
          <p:cNvPr id="22" name="그래픽 21" descr="요정 여성 단색으로 채워진">
            <a:extLst>
              <a:ext uri="{FF2B5EF4-FFF2-40B4-BE49-F238E27FC236}">
                <a16:creationId xmlns:a16="http://schemas.microsoft.com/office/drawing/2014/main" id="{BFB6494D-3F61-8290-2371-E081F1923E5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6780" y="1894397"/>
            <a:ext cx="914400" cy="914400"/>
          </a:xfrm>
          <a:prstGeom prst="rect">
            <a:avLst/>
          </a:prstGeom>
        </p:spPr>
      </p:pic>
      <p:pic>
        <p:nvPicPr>
          <p:cNvPr id="36" name="그래픽 35" descr="스케이팅 단색으로 채워진">
            <a:extLst>
              <a:ext uri="{FF2B5EF4-FFF2-40B4-BE49-F238E27FC236}">
                <a16:creationId xmlns:a16="http://schemas.microsoft.com/office/drawing/2014/main" id="{3F382A89-0D03-1040-56A6-0C1F3CC409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8836" y="3263322"/>
            <a:ext cx="914400" cy="914400"/>
          </a:xfrm>
          <a:prstGeom prst="rect">
            <a:avLst/>
          </a:prstGeom>
        </p:spPr>
      </p:pic>
      <p:pic>
        <p:nvPicPr>
          <p:cNvPr id="38" name="그래픽 37" descr="영웅 남자 단색으로 채워진">
            <a:extLst>
              <a:ext uri="{FF2B5EF4-FFF2-40B4-BE49-F238E27FC236}">
                <a16:creationId xmlns:a16="http://schemas.microsoft.com/office/drawing/2014/main" id="{31EBF890-3A3B-4422-6649-A8B1E8618EC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0716" y="4552908"/>
            <a:ext cx="914400" cy="914400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3C1E9DA-F1AC-D1DD-5AAD-A0FEE5F2A1BA}"/>
              </a:ext>
            </a:extLst>
          </p:cNvPr>
          <p:cNvCxnSpPr/>
          <p:nvPr/>
        </p:nvCxnSpPr>
        <p:spPr>
          <a:xfrm flipH="1">
            <a:off x="1806633" y="3872229"/>
            <a:ext cx="173874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721D11A-1EC1-9536-BDCF-80301FCA6613}"/>
              </a:ext>
            </a:extLst>
          </p:cNvPr>
          <p:cNvCxnSpPr>
            <a:cxnSpLocks/>
          </p:cNvCxnSpPr>
          <p:nvPr/>
        </p:nvCxnSpPr>
        <p:spPr>
          <a:xfrm>
            <a:off x="2377011" y="3872229"/>
            <a:ext cx="932579" cy="74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D8E1665-7B1A-6D22-8A47-59553B9963EB}"/>
              </a:ext>
            </a:extLst>
          </p:cNvPr>
          <p:cNvCxnSpPr>
            <a:cxnSpLocks/>
          </p:cNvCxnSpPr>
          <p:nvPr/>
        </p:nvCxnSpPr>
        <p:spPr>
          <a:xfrm>
            <a:off x="2589415" y="3577467"/>
            <a:ext cx="1116679" cy="7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E6400C5-9436-B557-5679-997077C543F7}"/>
              </a:ext>
            </a:extLst>
          </p:cNvPr>
          <p:cNvCxnSpPr>
            <a:cxnSpLocks/>
          </p:cNvCxnSpPr>
          <p:nvPr/>
        </p:nvCxnSpPr>
        <p:spPr>
          <a:xfrm flipV="1">
            <a:off x="2571237" y="2439588"/>
            <a:ext cx="1267599" cy="678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그래픽 50" descr="용지 단색으로 채워진">
            <a:extLst>
              <a:ext uri="{FF2B5EF4-FFF2-40B4-BE49-F238E27FC236}">
                <a16:creationId xmlns:a16="http://schemas.microsoft.com/office/drawing/2014/main" id="{A977CC1F-42B3-B2B4-B063-3290D025848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39948" y="2113290"/>
            <a:ext cx="642700" cy="642700"/>
          </a:xfrm>
          <a:prstGeom prst="rect">
            <a:avLst/>
          </a:prstGeom>
        </p:spPr>
      </p:pic>
      <p:pic>
        <p:nvPicPr>
          <p:cNvPr id="53" name="그래픽 52" descr="요정 여성 단색으로 채워진">
            <a:extLst>
              <a:ext uri="{FF2B5EF4-FFF2-40B4-BE49-F238E27FC236}">
                <a16:creationId xmlns:a16="http://schemas.microsoft.com/office/drawing/2014/main" id="{109CD1EB-4707-0BA8-9133-BEC31B1C085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3373" y="2971800"/>
            <a:ext cx="914400" cy="914400"/>
          </a:xfrm>
          <a:prstGeom prst="rect">
            <a:avLst/>
          </a:prstGeom>
        </p:spPr>
      </p:pic>
      <p:pic>
        <p:nvPicPr>
          <p:cNvPr id="54" name="그래픽 53" descr="용지 단색으로 채워진">
            <a:extLst>
              <a:ext uri="{FF2B5EF4-FFF2-40B4-BE49-F238E27FC236}">
                <a16:creationId xmlns:a16="http://schemas.microsoft.com/office/drawing/2014/main" id="{BDBDF315-0AB4-A41B-3804-1067E00652B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8122" y="2434640"/>
            <a:ext cx="642700" cy="642700"/>
          </a:xfrm>
          <a:prstGeom prst="rect">
            <a:avLst/>
          </a:prstGeom>
        </p:spPr>
      </p:pic>
      <p:pic>
        <p:nvPicPr>
          <p:cNvPr id="55" name="그래픽 54" descr="스케이팅 단색으로 채워진">
            <a:extLst>
              <a:ext uri="{FF2B5EF4-FFF2-40B4-BE49-F238E27FC236}">
                <a16:creationId xmlns:a16="http://schemas.microsoft.com/office/drawing/2014/main" id="{B1579356-8CA2-41D3-25F1-35CA34D2F7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2272" y="4246405"/>
            <a:ext cx="914400" cy="914400"/>
          </a:xfrm>
          <a:prstGeom prst="rect">
            <a:avLst/>
          </a:prstGeom>
        </p:spPr>
      </p:pic>
      <p:pic>
        <p:nvPicPr>
          <p:cNvPr id="56" name="그래픽 55" descr="용지 단색으로 채워진">
            <a:extLst>
              <a:ext uri="{FF2B5EF4-FFF2-40B4-BE49-F238E27FC236}">
                <a16:creationId xmlns:a16="http://schemas.microsoft.com/office/drawing/2014/main" id="{BA1BF480-4306-83EF-FFA2-04E6BF5F1A3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78748" y="4533859"/>
            <a:ext cx="642700" cy="642700"/>
          </a:xfrm>
          <a:prstGeom prst="rect">
            <a:avLst/>
          </a:prstGeom>
        </p:spPr>
      </p:pic>
      <p:pic>
        <p:nvPicPr>
          <p:cNvPr id="57" name="그래픽 56" descr="영웅 남자 단색으로 채워진">
            <a:extLst>
              <a:ext uri="{FF2B5EF4-FFF2-40B4-BE49-F238E27FC236}">
                <a16:creationId xmlns:a16="http://schemas.microsoft.com/office/drawing/2014/main" id="{10896BAF-61B3-4D10-E188-0E00029A223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924" y="5010108"/>
            <a:ext cx="914400" cy="914400"/>
          </a:xfrm>
          <a:prstGeom prst="rect">
            <a:avLst/>
          </a:prstGeom>
        </p:spPr>
      </p:pic>
      <p:pic>
        <p:nvPicPr>
          <p:cNvPr id="58" name="그래픽 57" descr="용지 단색으로 채워진">
            <a:extLst>
              <a:ext uri="{FF2B5EF4-FFF2-40B4-BE49-F238E27FC236}">
                <a16:creationId xmlns:a16="http://schemas.microsoft.com/office/drawing/2014/main" id="{DB3841E9-DC17-DC02-CD1D-D386E7616D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8048" y="5284871"/>
            <a:ext cx="642700" cy="642700"/>
          </a:xfrm>
          <a:prstGeom prst="rect">
            <a:avLst/>
          </a:prstGeom>
        </p:spPr>
      </p:pic>
      <p:pic>
        <p:nvPicPr>
          <p:cNvPr id="59" name="그래픽 58" descr="지팡이를 든 여자 단색으로 채워진">
            <a:extLst>
              <a:ext uri="{FF2B5EF4-FFF2-40B4-BE49-F238E27FC236}">
                <a16:creationId xmlns:a16="http://schemas.microsoft.com/office/drawing/2014/main" id="{44B47B94-488F-935C-99C7-7E1E005A5BB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2154" y="3872229"/>
            <a:ext cx="914400" cy="914400"/>
          </a:xfrm>
          <a:prstGeom prst="rect">
            <a:avLst/>
          </a:prstGeom>
        </p:spPr>
      </p:pic>
      <p:pic>
        <p:nvPicPr>
          <p:cNvPr id="60" name="그래픽 59" descr="용지 단색으로 채워진">
            <a:extLst>
              <a:ext uri="{FF2B5EF4-FFF2-40B4-BE49-F238E27FC236}">
                <a16:creationId xmlns:a16="http://schemas.microsoft.com/office/drawing/2014/main" id="{14FFCFB6-DC0C-C6DB-3C8B-20066B74F20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67680" y="4382255"/>
            <a:ext cx="642700" cy="642700"/>
          </a:xfrm>
          <a:prstGeom prst="rect">
            <a:avLst/>
          </a:prstGeom>
        </p:spPr>
      </p:pic>
      <p:pic>
        <p:nvPicPr>
          <p:cNvPr id="61" name="그래픽 60" descr="데이터베이스 윤곽선">
            <a:extLst>
              <a:ext uri="{FF2B5EF4-FFF2-40B4-BE49-F238E27FC236}">
                <a16:creationId xmlns:a16="http://schemas.microsoft.com/office/drawing/2014/main" id="{D4CD7B01-F627-F29F-E7E4-6A9C50077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369" y="2502707"/>
            <a:ext cx="1217815" cy="1217815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85AF360-9BCC-1CEC-C949-BA36AA7FCB4D}"/>
              </a:ext>
            </a:extLst>
          </p:cNvPr>
          <p:cNvCxnSpPr>
            <a:cxnSpLocks/>
          </p:cNvCxnSpPr>
          <p:nvPr/>
        </p:nvCxnSpPr>
        <p:spPr>
          <a:xfrm flipV="1">
            <a:off x="7260052" y="3217872"/>
            <a:ext cx="1122317" cy="1046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08A89D7-6433-2711-4319-797B8E543AFE}"/>
              </a:ext>
            </a:extLst>
          </p:cNvPr>
          <p:cNvCxnSpPr>
            <a:cxnSpLocks/>
          </p:cNvCxnSpPr>
          <p:nvPr/>
        </p:nvCxnSpPr>
        <p:spPr>
          <a:xfrm flipV="1">
            <a:off x="7821210" y="3720522"/>
            <a:ext cx="771573" cy="6431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63FAF99-D178-D1FB-73BC-DA2FCCDC514D}"/>
              </a:ext>
            </a:extLst>
          </p:cNvPr>
          <p:cNvCxnSpPr>
            <a:cxnSpLocks/>
          </p:cNvCxnSpPr>
          <p:nvPr/>
        </p:nvCxnSpPr>
        <p:spPr>
          <a:xfrm flipH="1" flipV="1">
            <a:off x="9109306" y="3826764"/>
            <a:ext cx="136737" cy="1075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947D5DE-3CDE-B2F5-AC2C-4C485B8B7F40}"/>
              </a:ext>
            </a:extLst>
          </p:cNvPr>
          <p:cNvCxnSpPr>
            <a:cxnSpLocks/>
          </p:cNvCxnSpPr>
          <p:nvPr/>
        </p:nvCxnSpPr>
        <p:spPr>
          <a:xfrm flipH="1" flipV="1">
            <a:off x="9541837" y="3574660"/>
            <a:ext cx="950797" cy="53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래픽 1" descr="용지 단색으로 채워진">
            <a:extLst>
              <a:ext uri="{FF2B5EF4-FFF2-40B4-BE49-F238E27FC236}">
                <a16:creationId xmlns:a16="http://schemas.microsoft.com/office/drawing/2014/main" id="{D5F23FA2-7DBD-88C0-ACE2-747949E0584E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82359" y="1910689"/>
            <a:ext cx="642700" cy="642700"/>
          </a:xfrm>
          <a:prstGeom prst="rect">
            <a:avLst/>
          </a:prstGeom>
        </p:spPr>
      </p:pic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B2696621-E4FA-30A5-20D8-8C8E8CC3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508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ABFE-DF70-4780-8E51-B25B9CE77329}" type="datetime6">
              <a:rPr lang="ko-KR" altLang="en-US" smtClean="0"/>
              <a:t>2025년 11월</a:t>
            </a:fld>
            <a:endParaRPr lang="ko-KR" altLang="en-US"/>
          </a:p>
        </p:txBody>
      </p:sp>
      <p:pic>
        <p:nvPicPr>
          <p:cNvPr id="3" name="그래픽 2" descr="데이터베이스 윤곽선">
            <a:extLst>
              <a:ext uri="{FF2B5EF4-FFF2-40B4-BE49-F238E27FC236}">
                <a16:creationId xmlns:a16="http://schemas.microsoft.com/office/drawing/2014/main" id="{84CA0F2D-F4AB-8381-FB17-3CC7B6E8A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2654414"/>
            <a:ext cx="1217815" cy="1217815"/>
          </a:xfrm>
          <a:prstGeom prst="rect">
            <a:avLst/>
          </a:prstGeom>
        </p:spPr>
      </p:pic>
      <p:pic>
        <p:nvPicPr>
          <p:cNvPr id="20" name="그래픽 19" descr="지팡이를 든 여자 단색으로 채워진">
            <a:extLst>
              <a:ext uri="{FF2B5EF4-FFF2-40B4-BE49-F238E27FC236}">
                <a16:creationId xmlns:a16="http://schemas.microsoft.com/office/drawing/2014/main" id="{CCE2D698-D379-FDDF-EE31-494D6CED178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9433" y="5010108"/>
            <a:ext cx="914400" cy="914400"/>
          </a:xfrm>
          <a:prstGeom prst="rect">
            <a:avLst/>
          </a:prstGeom>
        </p:spPr>
      </p:pic>
      <p:pic>
        <p:nvPicPr>
          <p:cNvPr id="22" name="그래픽 21" descr="요정 여성 단색으로 채워진">
            <a:extLst>
              <a:ext uri="{FF2B5EF4-FFF2-40B4-BE49-F238E27FC236}">
                <a16:creationId xmlns:a16="http://schemas.microsoft.com/office/drawing/2014/main" id="{BFB6494D-3F61-8290-2371-E081F1923E5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6780" y="1894397"/>
            <a:ext cx="914400" cy="914400"/>
          </a:xfrm>
          <a:prstGeom prst="rect">
            <a:avLst/>
          </a:prstGeom>
        </p:spPr>
      </p:pic>
      <p:pic>
        <p:nvPicPr>
          <p:cNvPr id="36" name="그래픽 35" descr="스케이팅 단색으로 채워진">
            <a:extLst>
              <a:ext uri="{FF2B5EF4-FFF2-40B4-BE49-F238E27FC236}">
                <a16:creationId xmlns:a16="http://schemas.microsoft.com/office/drawing/2014/main" id="{3F382A89-0D03-1040-56A6-0C1F3CC409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8836" y="3263322"/>
            <a:ext cx="914400" cy="914400"/>
          </a:xfrm>
          <a:prstGeom prst="rect">
            <a:avLst/>
          </a:prstGeom>
        </p:spPr>
      </p:pic>
      <p:pic>
        <p:nvPicPr>
          <p:cNvPr id="38" name="그래픽 37" descr="영웅 남자 단색으로 채워진">
            <a:extLst>
              <a:ext uri="{FF2B5EF4-FFF2-40B4-BE49-F238E27FC236}">
                <a16:creationId xmlns:a16="http://schemas.microsoft.com/office/drawing/2014/main" id="{31EBF890-3A3B-4422-6649-A8B1E8618EC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0716" y="4552908"/>
            <a:ext cx="914400" cy="914400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3C1E9DA-F1AC-D1DD-5AAD-A0FEE5F2A1BA}"/>
              </a:ext>
            </a:extLst>
          </p:cNvPr>
          <p:cNvCxnSpPr/>
          <p:nvPr/>
        </p:nvCxnSpPr>
        <p:spPr>
          <a:xfrm flipH="1">
            <a:off x="1806633" y="3872229"/>
            <a:ext cx="173874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721D11A-1EC1-9536-BDCF-80301FCA6613}"/>
              </a:ext>
            </a:extLst>
          </p:cNvPr>
          <p:cNvCxnSpPr>
            <a:cxnSpLocks/>
          </p:cNvCxnSpPr>
          <p:nvPr/>
        </p:nvCxnSpPr>
        <p:spPr>
          <a:xfrm>
            <a:off x="2377011" y="3872229"/>
            <a:ext cx="932579" cy="74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D8E1665-7B1A-6D22-8A47-59553B9963EB}"/>
              </a:ext>
            </a:extLst>
          </p:cNvPr>
          <p:cNvCxnSpPr>
            <a:cxnSpLocks/>
          </p:cNvCxnSpPr>
          <p:nvPr/>
        </p:nvCxnSpPr>
        <p:spPr>
          <a:xfrm>
            <a:off x="2589415" y="3577467"/>
            <a:ext cx="1116679" cy="7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E6400C5-9436-B557-5679-997077C543F7}"/>
              </a:ext>
            </a:extLst>
          </p:cNvPr>
          <p:cNvCxnSpPr>
            <a:cxnSpLocks/>
          </p:cNvCxnSpPr>
          <p:nvPr/>
        </p:nvCxnSpPr>
        <p:spPr>
          <a:xfrm flipV="1">
            <a:off x="2571237" y="2439588"/>
            <a:ext cx="1267599" cy="678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그래픽 50" descr="용지 단색으로 채워진">
            <a:extLst>
              <a:ext uri="{FF2B5EF4-FFF2-40B4-BE49-F238E27FC236}">
                <a16:creationId xmlns:a16="http://schemas.microsoft.com/office/drawing/2014/main" id="{A977CC1F-42B3-B2B4-B063-3290D025848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39948" y="2113290"/>
            <a:ext cx="642700" cy="642700"/>
          </a:xfrm>
          <a:prstGeom prst="rect">
            <a:avLst/>
          </a:prstGeom>
        </p:spPr>
      </p:pic>
      <p:pic>
        <p:nvPicPr>
          <p:cNvPr id="53" name="그래픽 52" descr="요정 여성 단색으로 채워진">
            <a:extLst>
              <a:ext uri="{FF2B5EF4-FFF2-40B4-BE49-F238E27FC236}">
                <a16:creationId xmlns:a16="http://schemas.microsoft.com/office/drawing/2014/main" id="{109CD1EB-4707-0BA8-9133-BEC31B1C085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3373" y="2971800"/>
            <a:ext cx="914400" cy="914400"/>
          </a:xfrm>
          <a:prstGeom prst="rect">
            <a:avLst/>
          </a:prstGeom>
        </p:spPr>
      </p:pic>
      <p:pic>
        <p:nvPicPr>
          <p:cNvPr id="54" name="그래픽 53" descr="용지 단색으로 채워진">
            <a:extLst>
              <a:ext uri="{FF2B5EF4-FFF2-40B4-BE49-F238E27FC236}">
                <a16:creationId xmlns:a16="http://schemas.microsoft.com/office/drawing/2014/main" id="{BDBDF315-0AB4-A41B-3804-1067E00652B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8122" y="2434640"/>
            <a:ext cx="642700" cy="642700"/>
          </a:xfrm>
          <a:prstGeom prst="rect">
            <a:avLst/>
          </a:prstGeom>
        </p:spPr>
      </p:pic>
      <p:pic>
        <p:nvPicPr>
          <p:cNvPr id="55" name="그래픽 54" descr="스케이팅 단색으로 채워진">
            <a:extLst>
              <a:ext uri="{FF2B5EF4-FFF2-40B4-BE49-F238E27FC236}">
                <a16:creationId xmlns:a16="http://schemas.microsoft.com/office/drawing/2014/main" id="{B1579356-8CA2-41D3-25F1-35CA34D2F7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2272" y="4246405"/>
            <a:ext cx="914400" cy="914400"/>
          </a:xfrm>
          <a:prstGeom prst="rect">
            <a:avLst/>
          </a:prstGeom>
        </p:spPr>
      </p:pic>
      <p:pic>
        <p:nvPicPr>
          <p:cNvPr id="56" name="그래픽 55" descr="용지 단색으로 채워진">
            <a:extLst>
              <a:ext uri="{FF2B5EF4-FFF2-40B4-BE49-F238E27FC236}">
                <a16:creationId xmlns:a16="http://schemas.microsoft.com/office/drawing/2014/main" id="{BA1BF480-4306-83EF-FFA2-04E6BF5F1A3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78748" y="4533859"/>
            <a:ext cx="642700" cy="642700"/>
          </a:xfrm>
          <a:prstGeom prst="rect">
            <a:avLst/>
          </a:prstGeom>
        </p:spPr>
      </p:pic>
      <p:pic>
        <p:nvPicPr>
          <p:cNvPr id="57" name="그래픽 56" descr="영웅 남자 단색으로 채워진">
            <a:extLst>
              <a:ext uri="{FF2B5EF4-FFF2-40B4-BE49-F238E27FC236}">
                <a16:creationId xmlns:a16="http://schemas.microsoft.com/office/drawing/2014/main" id="{10896BAF-61B3-4D10-E188-0E00029A223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924" y="5010108"/>
            <a:ext cx="914400" cy="914400"/>
          </a:xfrm>
          <a:prstGeom prst="rect">
            <a:avLst/>
          </a:prstGeom>
        </p:spPr>
      </p:pic>
      <p:pic>
        <p:nvPicPr>
          <p:cNvPr id="58" name="그래픽 57" descr="용지 단색으로 채워진">
            <a:extLst>
              <a:ext uri="{FF2B5EF4-FFF2-40B4-BE49-F238E27FC236}">
                <a16:creationId xmlns:a16="http://schemas.microsoft.com/office/drawing/2014/main" id="{DB3841E9-DC17-DC02-CD1D-D386E7616D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8048" y="5284871"/>
            <a:ext cx="642700" cy="642700"/>
          </a:xfrm>
          <a:prstGeom prst="rect">
            <a:avLst/>
          </a:prstGeom>
        </p:spPr>
      </p:pic>
      <p:pic>
        <p:nvPicPr>
          <p:cNvPr id="59" name="그래픽 58" descr="지팡이를 든 여자 단색으로 채워진">
            <a:extLst>
              <a:ext uri="{FF2B5EF4-FFF2-40B4-BE49-F238E27FC236}">
                <a16:creationId xmlns:a16="http://schemas.microsoft.com/office/drawing/2014/main" id="{44B47B94-488F-935C-99C7-7E1E005A5BB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2154" y="3872229"/>
            <a:ext cx="914400" cy="914400"/>
          </a:xfrm>
          <a:prstGeom prst="rect">
            <a:avLst/>
          </a:prstGeom>
        </p:spPr>
      </p:pic>
      <p:pic>
        <p:nvPicPr>
          <p:cNvPr id="60" name="그래픽 59" descr="용지 단색으로 채워진">
            <a:extLst>
              <a:ext uri="{FF2B5EF4-FFF2-40B4-BE49-F238E27FC236}">
                <a16:creationId xmlns:a16="http://schemas.microsoft.com/office/drawing/2014/main" id="{14FFCFB6-DC0C-C6DB-3C8B-20066B74F20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67680" y="4382255"/>
            <a:ext cx="642700" cy="642700"/>
          </a:xfrm>
          <a:prstGeom prst="rect">
            <a:avLst/>
          </a:prstGeom>
        </p:spPr>
      </p:pic>
      <p:pic>
        <p:nvPicPr>
          <p:cNvPr id="61" name="그래픽 60" descr="데이터베이스 윤곽선">
            <a:extLst>
              <a:ext uri="{FF2B5EF4-FFF2-40B4-BE49-F238E27FC236}">
                <a16:creationId xmlns:a16="http://schemas.microsoft.com/office/drawing/2014/main" id="{D4CD7B01-F627-F29F-E7E4-6A9C50077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369" y="2502707"/>
            <a:ext cx="1217815" cy="1217815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85AF360-9BCC-1CEC-C949-BA36AA7FCB4D}"/>
              </a:ext>
            </a:extLst>
          </p:cNvPr>
          <p:cNvCxnSpPr>
            <a:cxnSpLocks/>
          </p:cNvCxnSpPr>
          <p:nvPr/>
        </p:nvCxnSpPr>
        <p:spPr>
          <a:xfrm flipV="1">
            <a:off x="7260052" y="3217872"/>
            <a:ext cx="1122317" cy="1046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08A89D7-6433-2711-4319-797B8E543AFE}"/>
              </a:ext>
            </a:extLst>
          </p:cNvPr>
          <p:cNvCxnSpPr>
            <a:cxnSpLocks/>
          </p:cNvCxnSpPr>
          <p:nvPr/>
        </p:nvCxnSpPr>
        <p:spPr>
          <a:xfrm flipV="1">
            <a:off x="7821210" y="3720522"/>
            <a:ext cx="771573" cy="6431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63FAF99-D178-D1FB-73BC-DA2FCCDC514D}"/>
              </a:ext>
            </a:extLst>
          </p:cNvPr>
          <p:cNvCxnSpPr>
            <a:cxnSpLocks/>
          </p:cNvCxnSpPr>
          <p:nvPr/>
        </p:nvCxnSpPr>
        <p:spPr>
          <a:xfrm flipH="1" flipV="1">
            <a:off x="9109306" y="3826764"/>
            <a:ext cx="136737" cy="1075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947D5DE-3CDE-B2F5-AC2C-4C485B8B7F40}"/>
              </a:ext>
            </a:extLst>
          </p:cNvPr>
          <p:cNvCxnSpPr>
            <a:cxnSpLocks/>
          </p:cNvCxnSpPr>
          <p:nvPr/>
        </p:nvCxnSpPr>
        <p:spPr>
          <a:xfrm flipH="1" flipV="1">
            <a:off x="9541837" y="3574660"/>
            <a:ext cx="950797" cy="53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Apache Subversion - Wikipedia">
            <a:extLst>
              <a:ext uri="{FF2B5EF4-FFF2-40B4-BE49-F238E27FC236}">
                <a16:creationId xmlns:a16="http://schemas.microsoft.com/office/drawing/2014/main" id="{098DEF8A-C531-BDAD-943E-8F7480BF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61" y="2755990"/>
            <a:ext cx="1340676" cy="115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ersion Control/Git - Wikiversity">
            <a:extLst>
              <a:ext uri="{FF2B5EF4-FFF2-40B4-BE49-F238E27FC236}">
                <a16:creationId xmlns:a16="http://schemas.microsoft.com/office/drawing/2014/main" id="{5F93C01E-D537-DB8F-02A9-0FCF070AC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430" y="2602137"/>
            <a:ext cx="2592204" cy="108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204729EA-29BD-282C-08A5-16108BAC7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2C6600-AEE2-0527-C372-8924EC20782E}"/>
              </a:ext>
            </a:extLst>
          </p:cNvPr>
          <p:cNvSpPr txBox="1"/>
          <p:nvPr/>
        </p:nvSpPr>
        <p:spPr>
          <a:xfrm>
            <a:off x="1487206" y="1165379"/>
            <a:ext cx="9217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중앙집중식 버전 관리 시스템 </a:t>
            </a:r>
            <a:r>
              <a:rPr lang="en-US" altLang="ko-KR" sz="3200" dirty="0"/>
              <a:t>vs</a:t>
            </a:r>
            <a:r>
              <a:rPr lang="ko-KR" altLang="en-US" sz="3200" dirty="0"/>
              <a:t> 분산형 버전 관리 시스템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71909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6B65-0BE1-DCC4-4A92-71F7BED4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684B5-1475-88DB-A490-7833F3C5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0F988-9203-4792-9104-BC4C4D3A5A93}" type="datetime6">
              <a:rPr lang="ko-KR" altLang="en-US" smtClean="0"/>
              <a:t>2025년 11월</a:t>
            </a:fld>
            <a:endParaRPr lang="ko-KR" altLang="en-US"/>
          </a:p>
        </p:txBody>
      </p:sp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ED1734B4-1855-31AF-2444-CC6FEED8D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CC7E44-0184-805C-7165-C57872DA7421}"/>
              </a:ext>
            </a:extLst>
          </p:cNvPr>
          <p:cNvSpPr txBox="1"/>
          <p:nvPr/>
        </p:nvSpPr>
        <p:spPr>
          <a:xfrm>
            <a:off x="1487206" y="1165379"/>
            <a:ext cx="9217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중앙집중식 버전 관리 시스템 </a:t>
            </a:r>
            <a:r>
              <a:rPr lang="en-US" altLang="ko-KR" sz="3200" dirty="0"/>
              <a:t>vs</a:t>
            </a:r>
            <a:r>
              <a:rPr lang="ko-KR" altLang="en-US" sz="3200" dirty="0"/>
              <a:t> 분산형 버전 관리 시스템</a:t>
            </a:r>
            <a:endParaRPr lang="en-US" altLang="ko-KR" sz="20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2E6B01F-6EF2-0693-C96E-BA3C28DDD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762023"/>
              </p:ext>
            </p:extLst>
          </p:nvPr>
        </p:nvGraphicFramePr>
        <p:xfrm>
          <a:off x="1601162" y="2134976"/>
          <a:ext cx="8989676" cy="3715489"/>
        </p:xfrm>
        <a:graphic>
          <a:graphicData uri="http://schemas.openxmlformats.org/drawingml/2006/table">
            <a:tbl>
              <a:tblPr/>
              <a:tblGrid>
                <a:gridCol w="1618830">
                  <a:extLst>
                    <a:ext uri="{9D8B030D-6E8A-4147-A177-3AD203B41FA5}">
                      <a16:colId xmlns:a16="http://schemas.microsoft.com/office/drawing/2014/main" val="1408904740"/>
                    </a:ext>
                  </a:extLst>
                </a:gridCol>
                <a:gridCol w="3685423">
                  <a:extLst>
                    <a:ext uri="{9D8B030D-6E8A-4147-A177-3AD203B41FA5}">
                      <a16:colId xmlns:a16="http://schemas.microsoft.com/office/drawing/2014/main" val="3387844140"/>
                    </a:ext>
                  </a:extLst>
                </a:gridCol>
                <a:gridCol w="3685423">
                  <a:extLst>
                    <a:ext uri="{9D8B030D-6E8A-4147-A177-3AD203B41FA5}">
                      <a16:colId xmlns:a16="http://schemas.microsoft.com/office/drawing/2014/main" val="123302239"/>
                    </a:ext>
                  </a:extLst>
                </a:gridCol>
              </a:tblGrid>
              <a:tr h="4952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SVN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Git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77532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중앙집중형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분산형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263820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서버 연결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항상 필요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없어도 작업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057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작업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서버에서 받아서 수정 후 다시 업로드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로컬에서 자유롭게 작업 후 푸시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365317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느릴 수 있음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항상 서버 접속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로컬 위주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973265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협업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충돌 관리 어려움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브랜치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병합 기능 강력함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56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145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설치 및 환경설정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CFC01C-ECD2-C85D-97AE-B90F15680BF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3186A7-A375-4909-A903-0CAEF9D5E27A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31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01A78-C83D-08E2-1410-5949959766F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1A28EE-0410-492A-A46C-4FA4E204D88B}" type="datetime6">
              <a:rPr lang="ko-KR" altLang="en-US" smtClean="0"/>
              <a:t>2025년 11월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DAAF1-1F81-F801-573C-162F16159398}"/>
              </a:ext>
            </a:extLst>
          </p:cNvPr>
          <p:cNvSpPr txBox="1"/>
          <p:nvPr/>
        </p:nvSpPr>
        <p:spPr>
          <a:xfrm>
            <a:off x="623928" y="1293215"/>
            <a:ext cx="774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2"/>
              </a:rPr>
              <a:t>https://git-scm.com/</a:t>
            </a:r>
            <a:endParaRPr lang="ko-KR" altLang="en-US" sz="2400" dirty="0"/>
          </a:p>
        </p:txBody>
      </p:sp>
      <p:pic>
        <p:nvPicPr>
          <p:cNvPr id="16" name="그림 15" descr="텍스트, 전자제품, 디스플레이, 디스플레이 장치이(가) 표시된 사진&#10;&#10;자동 생성된 설명">
            <a:extLst>
              <a:ext uri="{FF2B5EF4-FFF2-40B4-BE49-F238E27FC236}">
                <a16:creationId xmlns:a16="http://schemas.microsoft.com/office/drawing/2014/main" id="{700BF2ED-340F-8FF0-22AA-2A33746F5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945" y="2078363"/>
            <a:ext cx="3019846" cy="2553056"/>
          </a:xfrm>
          <a:prstGeom prst="rect">
            <a:avLst/>
          </a:prstGeom>
        </p:spPr>
      </p:pic>
      <p:pic>
        <p:nvPicPr>
          <p:cNvPr id="18" name="그림 1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E873D0A-5EE7-1AF0-A7C3-5D83864FD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24" y="2078363"/>
            <a:ext cx="5054893" cy="362934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8432E8C-8EF0-9F4E-5E5D-6D377B647543}"/>
              </a:ext>
            </a:extLst>
          </p:cNvPr>
          <p:cNvSpPr/>
          <p:nvPr/>
        </p:nvSpPr>
        <p:spPr>
          <a:xfrm>
            <a:off x="1810834" y="3246007"/>
            <a:ext cx="2350857" cy="50537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9AE7-5FA6-D3B3-5FEF-6902B2DD688F}"/>
              </a:ext>
            </a:extLst>
          </p:cNvPr>
          <p:cNvSpPr/>
          <p:nvPr/>
        </p:nvSpPr>
        <p:spPr>
          <a:xfrm>
            <a:off x="5404725" y="3246006"/>
            <a:ext cx="1863584" cy="6695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E3F47BE8-7A12-FEC3-1686-959AA18B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b="1" dirty="0"/>
              <a:t>Git </a:t>
            </a:r>
            <a:r>
              <a:rPr lang="ko-KR" altLang="en-US" b="1" dirty="0"/>
              <a:t>설치하기 </a:t>
            </a:r>
            <a:r>
              <a:rPr lang="en-US" altLang="ko-KR" b="1" dirty="0"/>
              <a:t>(Window)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41050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01A78-C83D-08E2-1410-5949959766F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4CE65-582D-4CF9-8939-D802D0704EDC}" type="datetime6">
              <a:rPr lang="ko-KR" altLang="en-US" smtClean="0"/>
              <a:t>2025년 11월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DAAF1-1F81-F801-573C-162F16159398}"/>
              </a:ext>
            </a:extLst>
          </p:cNvPr>
          <p:cNvSpPr txBox="1"/>
          <p:nvPr/>
        </p:nvSpPr>
        <p:spPr>
          <a:xfrm>
            <a:off x="3134775" y="1368073"/>
            <a:ext cx="3509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https://brew.sh/ko/</a:t>
            </a:r>
            <a:endParaRPr lang="ko-KR" altLang="en-US" sz="2400" dirty="0"/>
          </a:p>
        </p:txBody>
      </p:sp>
      <p:pic>
        <p:nvPicPr>
          <p:cNvPr id="3" name="그림 2" descr="텍스트, 스크린샷, 폰트, 로고이(가) 표시된 사진&#10;&#10;자동 생성된 설명">
            <a:extLst>
              <a:ext uri="{FF2B5EF4-FFF2-40B4-BE49-F238E27FC236}">
                <a16:creationId xmlns:a16="http://schemas.microsoft.com/office/drawing/2014/main" id="{76A8C7DD-6E6A-7942-B3E3-5CBB6DCEC4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08" y="1829738"/>
            <a:ext cx="4640159" cy="35194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67756D-DD4C-6FEE-7C60-34BB72D85E57}"/>
              </a:ext>
            </a:extLst>
          </p:cNvPr>
          <p:cNvSpPr/>
          <p:nvPr/>
        </p:nvSpPr>
        <p:spPr>
          <a:xfrm>
            <a:off x="3348417" y="4918661"/>
            <a:ext cx="4388814" cy="43052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E82F7-98B5-3862-99A1-DC213670B8A2}"/>
              </a:ext>
            </a:extLst>
          </p:cNvPr>
          <p:cNvSpPr txBox="1"/>
          <p:nvPr/>
        </p:nvSpPr>
        <p:spPr>
          <a:xfrm>
            <a:off x="2667016" y="5673731"/>
            <a:ext cx="6857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🚀 </a:t>
            </a:r>
            <a:r>
              <a:rPr lang="en-US" altLang="ko-KR" sz="2400" dirty="0">
                <a:latin typeface="+mn-ea"/>
                <a:cs typeface="Pretendard ExtraBold" panose="02000903000000020004" pitchFamily="2" charset="-127"/>
              </a:rPr>
              <a:t>Homebrew</a:t>
            </a:r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설치 후 명령어 </a:t>
            </a:r>
            <a:r>
              <a:rPr lang="en-US" altLang="ko-KR" sz="2400" dirty="0">
                <a:latin typeface="+mn-ea"/>
                <a:cs typeface="Pretendard ExtraBold" panose="02000903000000020004" pitchFamily="2" charset="-127"/>
              </a:rPr>
              <a:t>brew install git </a:t>
            </a:r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입력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EF9DE-FE2F-669B-4E35-0250C2E74F2B}"/>
              </a:ext>
            </a:extLst>
          </p:cNvPr>
          <p:cNvSpPr txBox="1"/>
          <p:nvPr/>
        </p:nvSpPr>
        <p:spPr>
          <a:xfrm>
            <a:off x="7882054" y="4949071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터미널에서 실행하여 설치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FC82D41C-8835-B9D9-77FC-F9D0A628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b="1" dirty="0"/>
              <a:t>Git </a:t>
            </a:r>
            <a:r>
              <a:rPr lang="ko-KR" altLang="en-US" b="1" dirty="0"/>
              <a:t>설치하기 </a:t>
            </a:r>
            <a:r>
              <a:rPr lang="en-US" altLang="ko-KR" b="1" dirty="0"/>
              <a:t>(Mac)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60795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C792F-C050-8930-7E37-2B8DEB4B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dirty="0"/>
              <a:t>Git </a:t>
            </a:r>
            <a:r>
              <a:rPr lang="ko-KR" altLang="en-US" sz="4800" dirty="0"/>
              <a:t>설치확인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38AD4-90D8-C71F-69ED-C9CE3115003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2CFA23-68D1-4EA8-BDEF-41568950DFAD}" type="datetime6">
              <a:rPr lang="ko-KR" altLang="en-US" smtClean="0"/>
              <a:t>2025년 11월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35D8122-5B9C-D645-DA09-019240C0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8543" y="1818993"/>
            <a:ext cx="7734912" cy="1069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✅설치 확인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✔️터미널 실행 →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 --version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294819-82ED-269F-8127-BB7D6C0D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349" y="3261141"/>
            <a:ext cx="7337766" cy="11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1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폴더 구조 이해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447082-F7F1-D682-C6B7-FAD4F790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1F0CF-B166-4D27-95E2-29A6403CB9A3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82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폴더 구조의 이해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9F8E6B-34C8-16FD-8B9F-D0FCBB9C54C3}"/>
              </a:ext>
            </a:extLst>
          </p:cNvPr>
          <p:cNvSpPr txBox="1"/>
          <p:nvPr/>
        </p:nvSpPr>
        <p:spPr>
          <a:xfrm>
            <a:off x="1495307" y="5005274"/>
            <a:ext cx="9201386" cy="106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💡트리구조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자료구조에서 사용하는 용어로 계층적 관계를 나타나는데 사용하는 비선형 자료구조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232E7E-06AB-58E9-4861-0EBC1B851903}"/>
              </a:ext>
            </a:extLst>
          </p:cNvPr>
          <p:cNvGrpSpPr/>
          <p:nvPr/>
        </p:nvGrpSpPr>
        <p:grpSpPr>
          <a:xfrm>
            <a:off x="2805924" y="1201012"/>
            <a:ext cx="6580151" cy="3611130"/>
            <a:chOff x="4660439" y="2022173"/>
            <a:chExt cx="7285893" cy="3998435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4F3C1A1-2AC8-9EE0-22B7-AB04F34AF342}"/>
                </a:ext>
              </a:extLst>
            </p:cNvPr>
            <p:cNvSpPr/>
            <p:nvPr/>
          </p:nvSpPr>
          <p:spPr>
            <a:xfrm>
              <a:off x="7995653" y="202217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4B91079-3F86-35FB-FAFA-0855F80F8609}"/>
                </a:ext>
              </a:extLst>
            </p:cNvPr>
            <p:cNvSpPr/>
            <p:nvPr/>
          </p:nvSpPr>
          <p:spPr>
            <a:xfrm>
              <a:off x="6119960" y="311833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4840597-4225-20A1-8451-6B78D8ABEA2D}"/>
                </a:ext>
              </a:extLst>
            </p:cNvPr>
            <p:cNvSpPr/>
            <p:nvPr/>
          </p:nvSpPr>
          <p:spPr>
            <a:xfrm>
              <a:off x="9847898" y="311833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6FF8D6C-AD63-EFBD-EEB9-ABB52B837046}"/>
                </a:ext>
              </a:extLst>
            </p:cNvPr>
            <p:cNvSpPr/>
            <p:nvPr/>
          </p:nvSpPr>
          <p:spPr>
            <a:xfrm>
              <a:off x="5199699" y="421450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ED53F92-242D-2E30-2E96-FFB6983BC646}"/>
                </a:ext>
              </a:extLst>
            </p:cNvPr>
            <p:cNvSpPr/>
            <p:nvPr/>
          </p:nvSpPr>
          <p:spPr>
            <a:xfrm>
              <a:off x="7040219" y="420089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97DC21A-A782-8216-CC0D-808173436139}"/>
                </a:ext>
              </a:extLst>
            </p:cNvPr>
            <p:cNvSpPr/>
            <p:nvPr/>
          </p:nvSpPr>
          <p:spPr>
            <a:xfrm>
              <a:off x="8927634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F7BAF71-0333-3E99-62D5-4E9FC16A7E2A}"/>
                </a:ext>
              </a:extLst>
            </p:cNvPr>
            <p:cNvSpPr/>
            <p:nvPr/>
          </p:nvSpPr>
          <p:spPr>
            <a:xfrm>
              <a:off x="10815050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F253111-CB44-CAE4-66B2-951F880AE2B3}"/>
                </a:ext>
              </a:extLst>
            </p:cNvPr>
            <p:cNvCxnSpPr>
              <a:stCxn id="7" idx="3"/>
              <a:endCxn id="9" idx="7"/>
            </p:cNvCxnSpPr>
            <p:nvPr/>
          </p:nvCxnSpPr>
          <p:spPr>
            <a:xfrm flipH="1">
              <a:off x="6650292" y="2552505"/>
              <a:ext cx="1436352" cy="656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598F75DF-58CA-85CC-D893-4D73386D256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8502537" y="2552505"/>
              <a:ext cx="1436352" cy="65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39148465-5BDE-2B94-AE5F-74F698738BF1}"/>
                </a:ext>
              </a:extLst>
            </p:cNvPr>
            <p:cNvCxnSpPr>
              <a:cxnSpLocks/>
              <a:stCxn id="9" idx="3"/>
              <a:endCxn id="15" idx="0"/>
            </p:cNvCxnSpPr>
            <p:nvPr/>
          </p:nvCxnSpPr>
          <p:spPr>
            <a:xfrm flipH="1">
              <a:off x="5510361" y="3648669"/>
              <a:ext cx="700590" cy="565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7E98C822-A147-C041-3B76-64D2FAA0A35A}"/>
                </a:ext>
              </a:extLst>
            </p:cNvPr>
            <p:cNvCxnSpPr>
              <a:stCxn id="9" idx="5"/>
              <a:endCxn id="19" idx="0"/>
            </p:cNvCxnSpPr>
            <p:nvPr/>
          </p:nvCxnSpPr>
          <p:spPr>
            <a:xfrm>
              <a:off x="6650292" y="3648669"/>
              <a:ext cx="700589" cy="552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50413ED-8202-A284-69F8-3D962C4F18B0}"/>
                </a:ext>
              </a:extLst>
            </p:cNvPr>
            <p:cNvCxnSpPr>
              <a:stCxn id="13" idx="3"/>
              <a:endCxn id="20" idx="0"/>
            </p:cNvCxnSpPr>
            <p:nvPr/>
          </p:nvCxnSpPr>
          <p:spPr>
            <a:xfrm flipH="1">
              <a:off x="9238296" y="3648670"/>
              <a:ext cx="700593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E2333584-0489-D8C1-4C83-2FD01EB674F4}"/>
                </a:ext>
              </a:extLst>
            </p:cNvPr>
            <p:cNvCxnSpPr>
              <a:stCxn id="13" idx="5"/>
              <a:endCxn id="21" idx="0"/>
            </p:cNvCxnSpPr>
            <p:nvPr/>
          </p:nvCxnSpPr>
          <p:spPr>
            <a:xfrm>
              <a:off x="10378230" y="3648670"/>
              <a:ext cx="747482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6950112-58E7-CF32-D37D-BBBA43F18CBD}"/>
                </a:ext>
              </a:extLst>
            </p:cNvPr>
            <p:cNvSpPr/>
            <p:nvPr/>
          </p:nvSpPr>
          <p:spPr>
            <a:xfrm>
              <a:off x="4660439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21EF898-8654-12A7-1539-054FFBF20AB7}"/>
                </a:ext>
              </a:extLst>
            </p:cNvPr>
            <p:cNvSpPr/>
            <p:nvPr/>
          </p:nvSpPr>
          <p:spPr>
            <a:xfrm>
              <a:off x="5659966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DF86639-331B-EAC7-A553-B8D3064E4D22}"/>
                </a:ext>
              </a:extLst>
            </p:cNvPr>
            <p:cNvSpPr/>
            <p:nvPr/>
          </p:nvSpPr>
          <p:spPr>
            <a:xfrm>
              <a:off x="6524408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C027849-9799-0FE3-968C-94A37726E7BE}"/>
                </a:ext>
              </a:extLst>
            </p:cNvPr>
            <p:cNvSpPr/>
            <p:nvPr/>
          </p:nvSpPr>
          <p:spPr>
            <a:xfrm>
              <a:off x="7523935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275CD4D-E68B-9224-6266-E3B6992FB4E1}"/>
                </a:ext>
              </a:extLst>
            </p:cNvPr>
            <p:cNvSpPr/>
            <p:nvPr/>
          </p:nvSpPr>
          <p:spPr>
            <a:xfrm>
              <a:off x="8461513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5245800-8AB3-E3E1-4596-B2A781C88190}"/>
                </a:ext>
              </a:extLst>
            </p:cNvPr>
            <p:cNvSpPr/>
            <p:nvPr/>
          </p:nvSpPr>
          <p:spPr>
            <a:xfrm>
              <a:off x="9461040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1BBE21B-C07B-C8FA-A84A-58556274FDA6}"/>
                </a:ext>
              </a:extLst>
            </p:cNvPr>
            <p:cNvSpPr/>
            <p:nvPr/>
          </p:nvSpPr>
          <p:spPr>
            <a:xfrm>
              <a:off x="10325482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157705B-826A-B451-E4C3-54A04B331495}"/>
                </a:ext>
              </a:extLst>
            </p:cNvPr>
            <p:cNvSpPr/>
            <p:nvPr/>
          </p:nvSpPr>
          <p:spPr>
            <a:xfrm>
              <a:off x="11325009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0B20EA29-2187-4CF9-8765-D944C24A4B38}"/>
                </a:ext>
              </a:extLst>
            </p:cNvPr>
            <p:cNvCxnSpPr>
              <a:cxnSpLocks/>
              <a:stCxn id="15" idx="3"/>
              <a:endCxn id="38" idx="0"/>
            </p:cNvCxnSpPr>
            <p:nvPr/>
          </p:nvCxnSpPr>
          <p:spPr>
            <a:xfrm flipH="1">
              <a:off x="4971101" y="4744835"/>
              <a:ext cx="319589" cy="654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F5DCE683-96CD-DBB0-E96D-06BC1F8BDE76}"/>
                </a:ext>
              </a:extLst>
            </p:cNvPr>
            <p:cNvCxnSpPr>
              <a:stCxn id="15" idx="5"/>
              <a:endCxn id="39" idx="0"/>
            </p:cNvCxnSpPr>
            <p:nvPr/>
          </p:nvCxnSpPr>
          <p:spPr>
            <a:xfrm>
              <a:off x="5730031" y="4744835"/>
              <a:ext cx="240597" cy="654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0F293D39-2341-98A2-3841-3333D04C613F}"/>
                </a:ext>
              </a:extLst>
            </p:cNvPr>
            <p:cNvCxnSpPr>
              <a:stCxn id="19" idx="3"/>
              <a:endCxn id="40" idx="0"/>
            </p:cNvCxnSpPr>
            <p:nvPr/>
          </p:nvCxnSpPr>
          <p:spPr>
            <a:xfrm flipH="1">
              <a:off x="6835070" y="4731230"/>
              <a:ext cx="296140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E04B1DA0-6158-A1C4-566B-9549B2F24518}"/>
                </a:ext>
              </a:extLst>
            </p:cNvPr>
            <p:cNvCxnSpPr>
              <a:stCxn id="19" idx="5"/>
              <a:endCxn id="41" idx="0"/>
            </p:cNvCxnSpPr>
            <p:nvPr/>
          </p:nvCxnSpPr>
          <p:spPr>
            <a:xfrm>
              <a:off x="7570551" y="4731230"/>
              <a:ext cx="264046" cy="656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E47FC913-2455-21F5-1555-2FF8C378B9B5}"/>
                </a:ext>
              </a:extLst>
            </p:cNvPr>
            <p:cNvCxnSpPr>
              <a:stCxn id="20" idx="3"/>
              <a:endCxn id="42" idx="0"/>
            </p:cNvCxnSpPr>
            <p:nvPr/>
          </p:nvCxnSpPr>
          <p:spPr>
            <a:xfrm flipH="1">
              <a:off x="8772175" y="4731229"/>
              <a:ext cx="246450" cy="66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344DA47-3EAE-B270-7A0E-BD4FE94E84D3}"/>
                </a:ext>
              </a:extLst>
            </p:cNvPr>
            <p:cNvCxnSpPr>
              <a:stCxn id="20" idx="5"/>
              <a:endCxn id="43" idx="0"/>
            </p:cNvCxnSpPr>
            <p:nvPr/>
          </p:nvCxnSpPr>
          <p:spPr>
            <a:xfrm>
              <a:off x="9457966" y="4731229"/>
              <a:ext cx="313736" cy="6680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46E7F627-7D58-2203-F5B1-BA41A3149770}"/>
                </a:ext>
              </a:extLst>
            </p:cNvPr>
            <p:cNvCxnSpPr>
              <a:stCxn id="21" idx="3"/>
              <a:endCxn id="44" idx="0"/>
            </p:cNvCxnSpPr>
            <p:nvPr/>
          </p:nvCxnSpPr>
          <p:spPr>
            <a:xfrm flipH="1">
              <a:off x="10636144" y="4731229"/>
              <a:ext cx="269897" cy="6563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611FF40A-2381-ADB6-DC4A-0F5DDAAE23C0}"/>
                </a:ext>
              </a:extLst>
            </p:cNvPr>
            <p:cNvCxnSpPr>
              <a:stCxn id="21" idx="5"/>
              <a:endCxn id="45" idx="0"/>
            </p:cNvCxnSpPr>
            <p:nvPr/>
          </p:nvCxnSpPr>
          <p:spPr>
            <a:xfrm>
              <a:off x="11345382" y="4731229"/>
              <a:ext cx="290289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B4CA163-D00E-BF3B-872C-CDB3534E8ACF}"/>
                </a:ext>
              </a:extLst>
            </p:cNvPr>
            <p:cNvSpPr txBox="1"/>
            <p:nvPr/>
          </p:nvSpPr>
          <p:spPr>
            <a:xfrm>
              <a:off x="8572831" y="2148168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루트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58ABD6-6DB5-2F56-154A-F2E26803523F}"/>
                </a:ext>
              </a:extLst>
            </p:cNvPr>
            <p:cNvSpPr txBox="1"/>
            <p:nvPr/>
          </p:nvSpPr>
          <p:spPr>
            <a:xfrm>
              <a:off x="6690077" y="3228943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32A2AF2-D327-4686-1503-D2DC029D04D4}"/>
                </a:ext>
              </a:extLst>
            </p:cNvPr>
            <p:cNvSpPr txBox="1"/>
            <p:nvPr/>
          </p:nvSpPr>
          <p:spPr>
            <a:xfrm>
              <a:off x="10412775" y="3250586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8616E8-0C51-023F-22E8-90AAD3F8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4E64E-EF48-4F79-8D5A-5457DAAC48B4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04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8F74-1033-B680-65E2-A8ECB855D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1ABD50B-D835-B766-3B73-DAA7C5B7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폴더 구조의 이해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CF92B73-5921-CAC8-6E9D-7D204D8CAEA4}"/>
              </a:ext>
            </a:extLst>
          </p:cNvPr>
          <p:cNvGrpSpPr/>
          <p:nvPr/>
        </p:nvGrpSpPr>
        <p:grpSpPr>
          <a:xfrm>
            <a:off x="2805924" y="1201012"/>
            <a:ext cx="6580151" cy="3611130"/>
            <a:chOff x="4660439" y="2022173"/>
            <a:chExt cx="7285893" cy="3998435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CBB4BC0-6A25-1A43-83E8-1A30F5F25DED}"/>
                </a:ext>
              </a:extLst>
            </p:cNvPr>
            <p:cNvSpPr/>
            <p:nvPr/>
          </p:nvSpPr>
          <p:spPr>
            <a:xfrm>
              <a:off x="7995653" y="202217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3E4036B-95B2-962E-B1AA-4B1C11F558D9}"/>
                </a:ext>
              </a:extLst>
            </p:cNvPr>
            <p:cNvSpPr/>
            <p:nvPr/>
          </p:nvSpPr>
          <p:spPr>
            <a:xfrm>
              <a:off x="6119960" y="311833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FCBCFD8-8610-FB0C-948A-D3CBCE1FE3F2}"/>
                </a:ext>
              </a:extLst>
            </p:cNvPr>
            <p:cNvSpPr/>
            <p:nvPr/>
          </p:nvSpPr>
          <p:spPr>
            <a:xfrm>
              <a:off x="9847898" y="311833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B38271B-B494-5E95-4867-05375432E898}"/>
                </a:ext>
              </a:extLst>
            </p:cNvPr>
            <p:cNvSpPr/>
            <p:nvPr/>
          </p:nvSpPr>
          <p:spPr>
            <a:xfrm>
              <a:off x="5199699" y="421450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F604C19-A1EF-E907-D85A-0B018B187218}"/>
                </a:ext>
              </a:extLst>
            </p:cNvPr>
            <p:cNvSpPr/>
            <p:nvPr/>
          </p:nvSpPr>
          <p:spPr>
            <a:xfrm>
              <a:off x="7040219" y="420089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F1F8B3C-0FCE-BF2B-019C-E6440F27D802}"/>
                </a:ext>
              </a:extLst>
            </p:cNvPr>
            <p:cNvSpPr/>
            <p:nvPr/>
          </p:nvSpPr>
          <p:spPr>
            <a:xfrm>
              <a:off x="8927634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121E980-841D-11D1-5B65-2B06684F9F3E}"/>
                </a:ext>
              </a:extLst>
            </p:cNvPr>
            <p:cNvSpPr/>
            <p:nvPr/>
          </p:nvSpPr>
          <p:spPr>
            <a:xfrm>
              <a:off x="10815050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21E2A93E-3064-2F0D-4B9E-5A875EC7EE08}"/>
                </a:ext>
              </a:extLst>
            </p:cNvPr>
            <p:cNvCxnSpPr>
              <a:stCxn id="5" idx="3"/>
              <a:endCxn id="8" idx="7"/>
            </p:cNvCxnSpPr>
            <p:nvPr/>
          </p:nvCxnSpPr>
          <p:spPr>
            <a:xfrm flipH="1">
              <a:off x="6650292" y="2552505"/>
              <a:ext cx="1436352" cy="656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072A4793-9F45-3F70-1913-D69BC7F757FD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8502537" y="2552505"/>
              <a:ext cx="1436352" cy="65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EB433C9-7370-7EA1-D7CE-C89D3EE338DF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510361" y="3648669"/>
              <a:ext cx="700590" cy="565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92A6056-7B7E-2A0A-1BDE-7D0811BBCE11}"/>
                </a:ext>
              </a:extLst>
            </p:cNvPr>
            <p:cNvCxnSpPr>
              <a:stCxn id="8" idx="5"/>
              <a:endCxn id="12" idx="0"/>
            </p:cNvCxnSpPr>
            <p:nvPr/>
          </p:nvCxnSpPr>
          <p:spPr>
            <a:xfrm>
              <a:off x="6650292" y="3648669"/>
              <a:ext cx="700589" cy="552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E0CA5540-65F6-07B6-BBDB-612E3B36FBA7}"/>
                </a:ext>
              </a:extLst>
            </p:cNvPr>
            <p:cNvCxnSpPr>
              <a:stCxn id="10" idx="3"/>
              <a:endCxn id="14" idx="0"/>
            </p:cNvCxnSpPr>
            <p:nvPr/>
          </p:nvCxnSpPr>
          <p:spPr>
            <a:xfrm flipH="1">
              <a:off x="9238296" y="3648670"/>
              <a:ext cx="700593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5AED2C6-22D5-5CDB-E0B3-C623038024A1}"/>
                </a:ext>
              </a:extLst>
            </p:cNvPr>
            <p:cNvCxnSpPr>
              <a:stCxn id="10" idx="5"/>
              <a:endCxn id="16" idx="0"/>
            </p:cNvCxnSpPr>
            <p:nvPr/>
          </p:nvCxnSpPr>
          <p:spPr>
            <a:xfrm>
              <a:off x="10378230" y="3648670"/>
              <a:ext cx="747482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8C93B0F-6388-FC9B-DC68-BC7F590595C4}"/>
                </a:ext>
              </a:extLst>
            </p:cNvPr>
            <p:cNvSpPr/>
            <p:nvPr/>
          </p:nvSpPr>
          <p:spPr>
            <a:xfrm>
              <a:off x="4660439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C5500A9-C98B-28B0-3242-774F904A95ED}"/>
                </a:ext>
              </a:extLst>
            </p:cNvPr>
            <p:cNvSpPr/>
            <p:nvPr/>
          </p:nvSpPr>
          <p:spPr>
            <a:xfrm>
              <a:off x="5659966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401E042-A45D-2A4A-B5CF-40F8D5A80B4B}"/>
                </a:ext>
              </a:extLst>
            </p:cNvPr>
            <p:cNvSpPr/>
            <p:nvPr/>
          </p:nvSpPr>
          <p:spPr>
            <a:xfrm>
              <a:off x="6524408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551A2A9-CEB6-134C-576E-579B03DA79DE}"/>
                </a:ext>
              </a:extLst>
            </p:cNvPr>
            <p:cNvSpPr/>
            <p:nvPr/>
          </p:nvSpPr>
          <p:spPr>
            <a:xfrm>
              <a:off x="7523935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F4F41C48-36BD-7609-A133-199D9804472D}"/>
                </a:ext>
              </a:extLst>
            </p:cNvPr>
            <p:cNvSpPr/>
            <p:nvPr/>
          </p:nvSpPr>
          <p:spPr>
            <a:xfrm>
              <a:off x="8461513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3BDE5BF-54DF-8AC4-C719-F46D51A7950B}"/>
                </a:ext>
              </a:extLst>
            </p:cNvPr>
            <p:cNvSpPr/>
            <p:nvPr/>
          </p:nvSpPr>
          <p:spPr>
            <a:xfrm>
              <a:off x="9461040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81EADCC-F3CA-EBF6-0BA8-4F8B749B2CD9}"/>
                </a:ext>
              </a:extLst>
            </p:cNvPr>
            <p:cNvSpPr/>
            <p:nvPr/>
          </p:nvSpPr>
          <p:spPr>
            <a:xfrm>
              <a:off x="10325482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E744BF9-54A7-CF99-3F91-E68E4673070D}"/>
                </a:ext>
              </a:extLst>
            </p:cNvPr>
            <p:cNvSpPr/>
            <p:nvPr/>
          </p:nvSpPr>
          <p:spPr>
            <a:xfrm>
              <a:off x="11325009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F5CDCA23-47B2-5DA8-04EB-EEC822C7EA20}"/>
                </a:ext>
              </a:extLst>
            </p:cNvPr>
            <p:cNvCxnSpPr>
              <a:cxnSpLocks/>
              <a:stCxn id="11" idx="3"/>
              <a:endCxn id="29" idx="0"/>
            </p:cNvCxnSpPr>
            <p:nvPr/>
          </p:nvCxnSpPr>
          <p:spPr>
            <a:xfrm flipH="1">
              <a:off x="4971101" y="4744835"/>
              <a:ext cx="319589" cy="654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533EE85A-95E5-C003-4CBB-B3A844CD8300}"/>
                </a:ext>
              </a:extLst>
            </p:cNvPr>
            <p:cNvCxnSpPr>
              <a:stCxn id="11" idx="5"/>
              <a:endCxn id="30" idx="0"/>
            </p:cNvCxnSpPr>
            <p:nvPr/>
          </p:nvCxnSpPr>
          <p:spPr>
            <a:xfrm>
              <a:off x="5730031" y="4744835"/>
              <a:ext cx="240597" cy="654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3F1965D7-C296-5776-FE67-884BAD67C9C0}"/>
                </a:ext>
              </a:extLst>
            </p:cNvPr>
            <p:cNvCxnSpPr>
              <a:stCxn id="12" idx="3"/>
              <a:endCxn id="31" idx="0"/>
            </p:cNvCxnSpPr>
            <p:nvPr/>
          </p:nvCxnSpPr>
          <p:spPr>
            <a:xfrm flipH="1">
              <a:off x="6835070" y="4731230"/>
              <a:ext cx="296140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43DEA8C1-D2FC-4DDB-578D-50D5837148A8}"/>
                </a:ext>
              </a:extLst>
            </p:cNvPr>
            <p:cNvCxnSpPr>
              <a:stCxn id="12" idx="5"/>
              <a:endCxn id="32" idx="0"/>
            </p:cNvCxnSpPr>
            <p:nvPr/>
          </p:nvCxnSpPr>
          <p:spPr>
            <a:xfrm>
              <a:off x="7570551" y="4731230"/>
              <a:ext cx="264046" cy="656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ACFCA640-F303-1221-088F-C6D0A26C55D9}"/>
                </a:ext>
              </a:extLst>
            </p:cNvPr>
            <p:cNvCxnSpPr>
              <a:stCxn id="14" idx="3"/>
              <a:endCxn id="34" idx="0"/>
            </p:cNvCxnSpPr>
            <p:nvPr/>
          </p:nvCxnSpPr>
          <p:spPr>
            <a:xfrm flipH="1">
              <a:off x="8772175" y="4731229"/>
              <a:ext cx="246450" cy="66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920E63A9-D83A-D123-8A54-9FA0F8F33E27}"/>
                </a:ext>
              </a:extLst>
            </p:cNvPr>
            <p:cNvCxnSpPr>
              <a:stCxn id="14" idx="5"/>
              <a:endCxn id="36" idx="0"/>
            </p:cNvCxnSpPr>
            <p:nvPr/>
          </p:nvCxnSpPr>
          <p:spPr>
            <a:xfrm>
              <a:off x="9457966" y="4731229"/>
              <a:ext cx="313736" cy="6680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4D68D1C-B2D7-FEE0-D5FD-BA2B653FFB7D}"/>
                </a:ext>
              </a:extLst>
            </p:cNvPr>
            <p:cNvCxnSpPr>
              <a:stCxn id="16" idx="3"/>
              <a:endCxn id="46" idx="0"/>
            </p:cNvCxnSpPr>
            <p:nvPr/>
          </p:nvCxnSpPr>
          <p:spPr>
            <a:xfrm flipH="1">
              <a:off x="10636144" y="4731229"/>
              <a:ext cx="269897" cy="6563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F24F89B8-F78D-BDDC-289C-4892C18A132F}"/>
                </a:ext>
              </a:extLst>
            </p:cNvPr>
            <p:cNvCxnSpPr>
              <a:stCxn id="16" idx="5"/>
              <a:endCxn id="47" idx="0"/>
            </p:cNvCxnSpPr>
            <p:nvPr/>
          </p:nvCxnSpPr>
          <p:spPr>
            <a:xfrm>
              <a:off x="11345382" y="4731229"/>
              <a:ext cx="290289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A00C16E-0570-1DE0-E105-9BD9F951583E}"/>
                </a:ext>
              </a:extLst>
            </p:cNvPr>
            <p:cNvSpPr txBox="1"/>
            <p:nvPr/>
          </p:nvSpPr>
          <p:spPr>
            <a:xfrm>
              <a:off x="8572831" y="2148168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루트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1E5A12-F784-0AC2-5868-E03ECE2A2F97}"/>
                </a:ext>
              </a:extLst>
            </p:cNvPr>
            <p:cNvSpPr txBox="1"/>
            <p:nvPr/>
          </p:nvSpPr>
          <p:spPr>
            <a:xfrm>
              <a:off x="6690077" y="3228943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84EE90C-3CED-5766-3F39-59EE8F0D4AA0}"/>
                </a:ext>
              </a:extLst>
            </p:cNvPr>
            <p:cNvSpPr txBox="1"/>
            <p:nvPr/>
          </p:nvSpPr>
          <p:spPr>
            <a:xfrm>
              <a:off x="10412775" y="3250586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811C563-1A0D-A708-5F29-9AE0358EC4EF}"/>
              </a:ext>
            </a:extLst>
          </p:cNvPr>
          <p:cNvSpPr txBox="1"/>
          <p:nvPr/>
        </p:nvSpPr>
        <p:spPr>
          <a:xfrm>
            <a:off x="3802599" y="5095850"/>
            <a:ext cx="4600693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✅루트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 폴더 구조 상의 최상위 폴더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➡️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루트 폴더 하나가 프로젝트단위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43A7340-1590-CE8E-5F0B-C7BE063BCB45}"/>
              </a:ext>
            </a:extLst>
          </p:cNvPr>
          <p:cNvSpPr/>
          <p:nvPr/>
        </p:nvSpPr>
        <p:spPr>
          <a:xfrm>
            <a:off x="5672619" y="1118836"/>
            <a:ext cx="1297221" cy="72789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10D40-96CE-5F3E-4B37-5DE0F52A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8324-FBED-4AF5-9CFB-898A5D2002BA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5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폴더 구조의 이해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451802-4B00-FA98-CC42-62A87DAD74A1}"/>
              </a:ext>
            </a:extLst>
          </p:cNvPr>
          <p:cNvSpPr txBox="1"/>
          <p:nvPr/>
        </p:nvSpPr>
        <p:spPr>
          <a:xfrm>
            <a:off x="2298163" y="1152824"/>
            <a:ext cx="6808274" cy="1515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✅ 프로젝트에서 폴더 구조는 매우 중요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루트 폴더 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저장소와 연결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현재 작업하는 파일의 폴더가 어디인지 확인하는 습관 필요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3BCBDC3-1C96-5D4B-D87A-4AEB81D728BA}"/>
              </a:ext>
            </a:extLst>
          </p:cNvPr>
          <p:cNvGrpSpPr/>
          <p:nvPr/>
        </p:nvGrpSpPr>
        <p:grpSpPr>
          <a:xfrm>
            <a:off x="2482622" y="2944219"/>
            <a:ext cx="7226756" cy="3050643"/>
            <a:chOff x="2273381" y="2855319"/>
            <a:chExt cx="7226756" cy="3050643"/>
          </a:xfrm>
        </p:grpSpPr>
        <p:pic>
          <p:nvPicPr>
            <p:cNvPr id="72" name="그림 71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AEE51A5B-EE97-19F2-4B31-83C3891D6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3381" y="2967205"/>
              <a:ext cx="3900834" cy="282687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497FB7F-5BE5-8638-C586-CCE02AB6836A}"/>
                </a:ext>
              </a:extLst>
            </p:cNvPr>
            <p:cNvSpPr txBox="1"/>
            <p:nvPr/>
          </p:nvSpPr>
          <p:spPr>
            <a:xfrm>
              <a:off x="6366248" y="2855319"/>
              <a:ext cx="3133889" cy="3050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📌프로젝트 폴더 구조 예시</a:t>
              </a:r>
              <a:endPara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루트 폴더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git-test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a, b, c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: 1, 2, 3</a:t>
              </a:r>
            </a:p>
            <a:p>
              <a:pPr marL="1257300" lvl="2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 &gt; 3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</a:t>
              </a:r>
              <a:endPara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: 1, 2</a:t>
              </a:r>
            </a:p>
            <a:p>
              <a:pPr marL="1257300" lvl="2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 &gt; 1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</a:t>
              </a:r>
              <a:endPara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1</a:t>
              </a:r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FEF9BF-0995-F953-6C43-DADD5858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B5912-19C6-422C-8F30-33CF6FE2009B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98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폴더 구조 확인하기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62CC2-397F-EADC-3748-59E7B6C97698}"/>
              </a:ext>
            </a:extLst>
          </p:cNvPr>
          <p:cNvSpPr txBox="1"/>
          <p:nvPr/>
        </p:nvSpPr>
        <p:spPr>
          <a:xfrm>
            <a:off x="251788" y="949687"/>
            <a:ext cx="11577355" cy="420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+mn-ea"/>
                <a:cs typeface="Pretendard ExtraBold" panose="02000903000000020004" pitchFamily="2" charset="-127"/>
              </a:rPr>
              <a:t>1️⃣ </a:t>
            </a:r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터미널 실행</a:t>
            </a:r>
            <a:endParaRPr lang="en-US" altLang="ko-KR" sz="2400" dirty="0">
              <a:latin typeface="+mn-ea"/>
              <a:cs typeface="Pretendard ExtraBold" panose="020009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/>
              <a:t>2️⃣ </a:t>
            </a:r>
            <a:r>
              <a:rPr lang="ko-KR" altLang="en-US" sz="2400" dirty="0"/>
              <a:t>폴더 구조 확인 명령어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구조를 볼 폴더의 부모 폴더에서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tree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폴더명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🔎명령어 실행이 안된다면</a:t>
            </a:r>
            <a:r>
              <a:rPr lang="en-US" altLang="ko-KR" sz="2400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(mac) brew install tree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(window) </a:t>
            </a:r>
            <a:r>
              <a:rPr lang="en-US" altLang="ko-KR" sz="2000" dirty="0">
                <a:hlinkClick r:id="rId3"/>
              </a:rPr>
              <a:t>https://gnuwin32.sourceforge.net/packages/tree.htm</a:t>
            </a:r>
            <a:r>
              <a:rPr lang="en-US" altLang="ko-KR" sz="2000" dirty="0"/>
              <a:t> </a:t>
            </a:r>
            <a:r>
              <a:rPr lang="ko-KR" altLang="en-US" sz="2000" dirty="0"/>
              <a:t>접속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중간</a:t>
            </a:r>
            <a:r>
              <a:rPr lang="en-US" altLang="ko-KR" sz="1600" dirty="0"/>
              <a:t> Download</a:t>
            </a:r>
            <a:r>
              <a:rPr lang="ko-KR" altLang="en-US" sz="1600" dirty="0"/>
              <a:t>의 </a:t>
            </a:r>
            <a:r>
              <a:rPr lang="en-US" altLang="ko-KR" sz="1600" dirty="0"/>
              <a:t>Binaries</a:t>
            </a:r>
            <a:r>
              <a:rPr lang="ko-KR" altLang="en-US" sz="1600" dirty="0"/>
              <a:t>에</a:t>
            </a:r>
            <a:r>
              <a:rPr lang="en-US" altLang="ko-KR" sz="1600" dirty="0"/>
              <a:t> zip </a:t>
            </a:r>
            <a:r>
              <a:rPr lang="ko-KR" altLang="en-US" sz="1600" dirty="0"/>
              <a:t>파일 다운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압축해제하면</a:t>
            </a:r>
            <a:r>
              <a:rPr lang="ko-KR" altLang="en-US" sz="1600" dirty="0"/>
              <a:t> </a:t>
            </a:r>
            <a:r>
              <a:rPr lang="en-US" altLang="ko-KR" sz="1600" dirty="0"/>
              <a:t>bin</a:t>
            </a:r>
            <a:r>
              <a:rPr lang="ko-KR" altLang="en-US" sz="1600" dirty="0"/>
              <a:t>폴더 안에 </a:t>
            </a:r>
            <a:r>
              <a:rPr lang="en-US" altLang="ko-KR" sz="1600" dirty="0"/>
              <a:t>tree.exe</a:t>
            </a:r>
            <a:r>
              <a:rPr lang="ko-KR" altLang="en-US" sz="1600" dirty="0"/>
              <a:t>가 존재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ko-KR" sz="1600" dirty="0"/>
              <a:t>C:\Program Files\Git\usr\bin</a:t>
            </a:r>
            <a:r>
              <a:rPr lang="ko-KR" altLang="en-US" sz="1600" dirty="0"/>
              <a:t>에</a:t>
            </a:r>
            <a:r>
              <a:rPr lang="en-US" altLang="ko-KR" sz="1600" dirty="0"/>
              <a:t> tree.exe</a:t>
            </a:r>
            <a:r>
              <a:rPr lang="ko-KR" altLang="en-US" sz="1600" dirty="0"/>
              <a:t>파일을 옮겨 넣어 줌</a:t>
            </a:r>
            <a:endParaRPr lang="en-US" altLang="ko-KR" sz="24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E0E19B-E338-59FA-50C6-47EDACD27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71" y="4108405"/>
            <a:ext cx="4210638" cy="2667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BD84EE7-FCB5-41C5-8EC7-6DFFC4E5AB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71" y="4451342"/>
            <a:ext cx="781159" cy="276264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039092-FC02-551A-5BC4-76AF27FC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DE2B-B552-4DBD-8EBA-B40A228B4C17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913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011B7-2613-0A30-5114-AA378CEB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4779-5D47-43B9-8C2E-E53D4D0991FA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A1283-0C02-8EC8-E708-34D3162D53F2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GUI &amp; CLI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4622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6A87-B4D8-BFC3-1DF8-9FF9C308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C707AEE-B429-DBCD-C9A9-60EB9A2E3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85648"/>
            <a:ext cx="11701221" cy="2746272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800" dirty="0">
                <a:latin typeface="+mn-lt"/>
                <a:ea typeface="+mj-ea"/>
              </a:rPr>
              <a:t>💡</a:t>
            </a:r>
            <a:r>
              <a:rPr lang="en-US" altLang="ko-KR" sz="2800" dirty="0">
                <a:latin typeface="+mn-lt"/>
                <a:ea typeface="+mj-ea"/>
              </a:rPr>
              <a:t>GUI(Graphical</a:t>
            </a:r>
            <a:r>
              <a:rPr lang="ko-KR" altLang="en-US" sz="2800" dirty="0">
                <a:latin typeface="+mn-lt"/>
                <a:ea typeface="+mj-ea"/>
              </a:rPr>
              <a:t> </a:t>
            </a:r>
            <a:r>
              <a:rPr lang="en-US" altLang="ko-KR" sz="2800" dirty="0">
                <a:latin typeface="+mn-lt"/>
                <a:ea typeface="+mj-ea"/>
              </a:rPr>
              <a:t>User Interface)</a:t>
            </a:r>
          </a:p>
          <a:p>
            <a:pPr marL="800100" lvl="2" indent="-342900">
              <a:lnSpc>
                <a:spcPct val="150000"/>
              </a:lnSpc>
            </a:pPr>
            <a:r>
              <a:rPr lang="ko-KR" altLang="en-US" sz="2400" dirty="0"/>
              <a:t>사용자가 아이콘</a:t>
            </a:r>
            <a:r>
              <a:rPr lang="en-US" altLang="ko-KR" sz="2400" dirty="0"/>
              <a:t>, </a:t>
            </a:r>
            <a:r>
              <a:rPr lang="ko-KR" altLang="en-US" sz="2400" dirty="0"/>
              <a:t>버튼</a:t>
            </a:r>
            <a:r>
              <a:rPr lang="en-US" altLang="ko-KR" sz="2400" dirty="0"/>
              <a:t>, </a:t>
            </a:r>
            <a:r>
              <a:rPr lang="ko-KR" altLang="en-US" sz="2400" dirty="0"/>
              <a:t>메뉴</a:t>
            </a:r>
            <a:r>
              <a:rPr lang="en-US" altLang="ko-KR" sz="2400" dirty="0"/>
              <a:t>, </a:t>
            </a:r>
            <a:r>
              <a:rPr lang="ko-KR" altLang="en-US" sz="2400" dirty="0"/>
              <a:t>창 등 시각적 요소를 마우스나 터치로 조작하여</a:t>
            </a:r>
            <a:br>
              <a:rPr lang="en-US" altLang="ko-KR" sz="2400" dirty="0"/>
            </a:br>
            <a:r>
              <a:rPr lang="ko-KR" altLang="en-US" sz="2400" dirty="0"/>
              <a:t>컴퓨터와 상호작용하는 방식</a:t>
            </a:r>
            <a:endParaRPr lang="en-US" altLang="ko-KR" sz="2400" dirty="0"/>
          </a:p>
          <a:p>
            <a:pPr marL="800100" lvl="2" indent="-342900">
              <a:lnSpc>
                <a:spcPct val="150000"/>
              </a:lnSpc>
            </a:pPr>
            <a:r>
              <a:rPr lang="ko-KR" altLang="en-US" sz="2400" dirty="0">
                <a:sym typeface="Wingdings" panose="05000000000000000000" pitchFamily="2" charset="2"/>
              </a:rPr>
              <a:t>직관적이고 쉬움</a:t>
            </a:r>
            <a:endParaRPr lang="en-US" altLang="ko-KR" sz="24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E583C9-F028-9D73-6BA7-B571EFBF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GUI</a:t>
            </a:r>
            <a:endParaRPr lang="ko-KR" altLang="en-US" sz="48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83F8B8-5195-FFB3-EEB7-B31F48B2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7C52-9756-4428-81AC-54A7C3429FF8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24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76254"/>
            <a:ext cx="11688424" cy="2862346"/>
          </a:xfrm>
        </p:spPr>
        <p:txBody>
          <a:bodyPr>
            <a:normAutofit/>
          </a:bodyPr>
          <a:lstStyle/>
          <a:p>
            <a:pPr marL="0" lvl="1" indent="0">
              <a:lnSpc>
                <a:spcPct val="160000"/>
              </a:lnSpc>
              <a:buNone/>
            </a:pPr>
            <a:r>
              <a:rPr lang="ko-KR" altLang="en-US" sz="2800" dirty="0">
                <a:latin typeface="+mn-ea"/>
                <a:ea typeface="+mn-ea"/>
              </a:rPr>
              <a:t>💡 </a:t>
            </a:r>
            <a:r>
              <a:rPr lang="en-US" altLang="ko-KR" sz="2800" dirty="0">
                <a:latin typeface="+mn-ea"/>
                <a:ea typeface="+mn-ea"/>
              </a:rPr>
              <a:t>CLI(Command Line Interface)</a:t>
            </a:r>
          </a:p>
          <a:p>
            <a:pPr marL="800100" lvl="2" indent="-342900">
              <a:lnSpc>
                <a:spcPct val="160000"/>
              </a:lnSpc>
            </a:pPr>
            <a:r>
              <a:rPr lang="ko-KR" altLang="en-US" sz="2400" dirty="0"/>
              <a:t>터미널 창에서 텍스트 기반으로 명령어를 입력하여 컴퓨터와 상호작용하는 방식을 말함</a:t>
            </a:r>
            <a:endParaRPr lang="en-US" altLang="ko-KR" sz="2400" dirty="0"/>
          </a:p>
          <a:p>
            <a:pPr marL="800100" lvl="2" indent="-342900">
              <a:lnSpc>
                <a:spcPct val="160000"/>
              </a:lnSpc>
            </a:pPr>
            <a:r>
              <a:rPr lang="en-US" altLang="ko-KR" sz="2400" dirty="0"/>
              <a:t>GUI </a:t>
            </a:r>
            <a:r>
              <a:rPr lang="ko-KR" altLang="en-US" sz="2400" dirty="0"/>
              <a:t>사용보다 상대적으로 어려움 </a:t>
            </a:r>
            <a:endParaRPr lang="en-US" altLang="ko-KR" sz="2400" dirty="0"/>
          </a:p>
          <a:p>
            <a:pPr marL="457200" lvl="2" indent="0">
              <a:lnSpc>
                <a:spcPct val="160000"/>
              </a:lnSpc>
              <a:buNone/>
            </a:pPr>
            <a:r>
              <a:rPr lang="ko-KR" altLang="en-US" sz="2400" dirty="0"/>
              <a:t>➡️ 작업속도와 </a:t>
            </a:r>
            <a:r>
              <a:rPr lang="en-US" altLang="ko-KR" sz="2400" dirty="0"/>
              <a:t>Git</a:t>
            </a:r>
            <a:r>
              <a:rPr lang="ko-KR" altLang="en-US" sz="2400" dirty="0"/>
              <a:t>의 모든 기능을 사용하기 위해서는 </a:t>
            </a:r>
            <a:r>
              <a:rPr lang="en-US" altLang="ko-KR" sz="2400" dirty="0"/>
              <a:t>CLI</a:t>
            </a:r>
            <a:r>
              <a:rPr lang="ko-KR" altLang="en-US" sz="2400" dirty="0"/>
              <a:t>를 사용하는 것을 권장</a:t>
            </a:r>
            <a:endParaRPr lang="en-US" altLang="ko-KR" sz="24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CLI</a:t>
            </a:r>
            <a:endParaRPr lang="ko-KR" altLang="en-US" sz="48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A1C34A-F9D6-985B-1300-F686175C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85609-2FE3-4209-9076-11D4274E52C3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83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1028"/>
            <a:ext cx="10515600" cy="50532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✅자주 사용하는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pwd</a:t>
            </a:r>
            <a:r>
              <a:rPr lang="en-US" altLang="ko-KR" dirty="0"/>
              <a:t> (print working directory) : </a:t>
            </a:r>
            <a:r>
              <a:rPr lang="ko-KR" altLang="en-US" dirty="0"/>
              <a:t>현재 나의 위치 출력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ls (list) :  </a:t>
            </a:r>
            <a:r>
              <a:rPr lang="ko-KR" altLang="en-US" dirty="0"/>
              <a:t>현재 위치 폴더에 있는 모든 파일</a:t>
            </a:r>
            <a:r>
              <a:rPr lang="en-US" altLang="ko-KR" dirty="0"/>
              <a:t>/</a:t>
            </a:r>
            <a:r>
              <a:rPr lang="ko-KR" altLang="en-US" dirty="0"/>
              <a:t>폴더 검색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sz="2400" dirty="0"/>
              <a:t>ls -l (long) : </a:t>
            </a:r>
            <a:r>
              <a:rPr lang="ko-KR" altLang="en-US" sz="2400" dirty="0"/>
              <a:t>상세 정보까지 보기</a:t>
            </a:r>
            <a:endParaRPr lang="en-US" altLang="ko-KR" sz="2400" dirty="0"/>
          </a:p>
          <a:p>
            <a:pPr lvl="2">
              <a:lnSpc>
                <a:spcPct val="150000"/>
              </a:lnSpc>
            </a:pPr>
            <a:r>
              <a:rPr lang="en-US" altLang="ko-KR" sz="2400" dirty="0"/>
              <a:t>ls –a (all) : </a:t>
            </a:r>
            <a:r>
              <a:rPr lang="ko-KR" altLang="en-US" sz="2400" dirty="0" err="1"/>
              <a:t>숨김파일도</a:t>
            </a:r>
            <a:r>
              <a:rPr lang="ko-KR" altLang="en-US" sz="2400" dirty="0"/>
              <a:t> 보기 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clear : </a:t>
            </a:r>
            <a:r>
              <a:rPr lang="ko-KR" altLang="en-US" dirty="0"/>
              <a:t>터미널 화면을 깨끗하게 지움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mkdir</a:t>
            </a:r>
            <a:r>
              <a:rPr lang="en-US" altLang="ko-KR" dirty="0"/>
              <a:t> (make directory) : </a:t>
            </a:r>
            <a:r>
              <a:rPr lang="ko-KR" altLang="en-US" dirty="0"/>
              <a:t>새 폴더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touch : </a:t>
            </a:r>
            <a:r>
              <a:rPr lang="ko-KR" altLang="en-US" dirty="0"/>
              <a:t>새 파일 만들기</a:t>
            </a:r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71C6AB9B-8029-FE0F-D751-4045E1538DF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CLI </a:t>
            </a:r>
            <a:r>
              <a:rPr lang="ko-KR" altLang="en-US" b="1" dirty="0"/>
              <a:t>명령어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B5D30C-489E-676F-3FF1-6DB5473F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9CB2-86BB-430C-97A9-39C5635628B6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754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BACE-09BB-A969-0D0F-CC42B0D8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0EDD5C-D08C-EB16-D3CC-D486A8596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917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✅자주 사용하는 명령어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sz="2000" dirty="0"/>
              <a:t>✔️</a:t>
            </a:r>
            <a:r>
              <a:rPr lang="en-US" altLang="ko-KR" sz="2000" dirty="0"/>
              <a:t>cd (change directory) : </a:t>
            </a:r>
            <a:r>
              <a:rPr lang="ko-KR" altLang="en-US" sz="2000" dirty="0"/>
              <a:t>폴더 위치 변경 </a:t>
            </a:r>
            <a:r>
              <a:rPr lang="en-US" altLang="ko-KR" sz="2000" dirty="0"/>
              <a:t>(</a:t>
            </a:r>
            <a:r>
              <a:rPr lang="ko-KR" altLang="en-US" sz="2000" dirty="0"/>
              <a:t>다른 폴더로 이동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폴더를 의미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자기 자신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 ./</a:t>
            </a:r>
            <a:r>
              <a:rPr lang="ko-KR" altLang="en-US" dirty="0">
                <a:sym typeface="Wingdings" panose="05000000000000000000" pitchFamily="2" charset="2"/>
              </a:rPr>
              <a:t>파일명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위치의 파일 실행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..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폴더의 바로 위 폴더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부모 디렉토리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 cd ..  </a:t>
            </a:r>
            <a:r>
              <a:rPr lang="ko-KR" altLang="en-US" dirty="0">
                <a:sym typeface="Wingdings" panose="05000000000000000000" pitchFamily="2" charset="2"/>
              </a:rPr>
              <a:t>한 단계 상위 폴더로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~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 err="1">
                <a:sym typeface="Wingdings" panose="05000000000000000000" pitchFamily="2" charset="2"/>
              </a:rPr>
              <a:t>틸드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로그인한 사용자의 홈 디렉토리를 의미</a:t>
            </a:r>
            <a:r>
              <a:rPr lang="en-US" altLang="ko-KR" dirty="0">
                <a:sym typeface="Wingdings" panose="05000000000000000000" pitchFamily="2" charset="2"/>
              </a:rPr>
              <a:t> (home)</a:t>
            </a:r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98E1F666-03D6-32A5-0F21-6E100B8B9F1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CLI </a:t>
            </a:r>
            <a:r>
              <a:rPr lang="ko-KR" altLang="en-US" b="1" dirty="0"/>
              <a:t>명령어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5BDCC8-F028-5443-9C46-085DDB0A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5AAC-DD88-4A01-BEBF-E14A2742C5F0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931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3793-6FA4-83AE-44E1-328C4D6C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265B214-B765-1FC3-30EA-6BB505C18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20236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파일</a:t>
            </a:r>
            <a:r>
              <a:rPr lang="en-US" altLang="ko-KR" dirty="0"/>
              <a:t>, </a:t>
            </a:r>
            <a:r>
              <a:rPr lang="ko-KR" altLang="en-US" dirty="0"/>
              <a:t>폴더</a:t>
            </a:r>
            <a:r>
              <a:rPr lang="en-US" altLang="ko-KR" dirty="0"/>
              <a:t>, </a:t>
            </a:r>
            <a:r>
              <a:rPr lang="ko-KR" altLang="en-US" dirty="0"/>
              <a:t>이름 지을 때 </a:t>
            </a:r>
            <a:r>
              <a:rPr lang="ko-KR" altLang="en-US" dirty="0">
                <a:solidFill>
                  <a:srgbClr val="FF5050"/>
                </a:solidFill>
              </a:rPr>
              <a:t>주의할 점</a:t>
            </a:r>
            <a:r>
              <a:rPr lang="en-US" altLang="ko-KR" dirty="0">
                <a:solidFill>
                  <a:srgbClr val="FF5050"/>
                </a:solidFill>
              </a:rPr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✔️공백</a:t>
            </a:r>
            <a:r>
              <a:rPr lang="en-US" altLang="ko-KR" dirty="0"/>
              <a:t>(space bar) </a:t>
            </a:r>
            <a:r>
              <a:rPr lang="ko-KR" altLang="en-US" dirty="0"/>
              <a:t>대신에 </a:t>
            </a:r>
            <a:r>
              <a:rPr lang="ko-KR" altLang="en-US" dirty="0" err="1"/>
              <a:t>언더스코어</a:t>
            </a:r>
            <a:r>
              <a:rPr lang="en-US" altLang="ko-KR" dirty="0"/>
              <a:t>(_) </a:t>
            </a:r>
            <a:r>
              <a:rPr lang="ko-KR" altLang="en-US" dirty="0"/>
              <a:t>혹은 하이픈</a:t>
            </a:r>
            <a:r>
              <a:rPr lang="en-US" altLang="ko-KR" dirty="0"/>
              <a:t>(-)</a:t>
            </a:r>
            <a:r>
              <a:rPr lang="ko-KR" altLang="en-US" dirty="0"/>
              <a:t>을 사용해서 단어 조합</a:t>
            </a:r>
            <a:r>
              <a:rPr lang="en-US" altLang="ko-KR" dirty="0"/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✔️한글 제발 쓰지 마세요</a:t>
            </a:r>
            <a:r>
              <a:rPr lang="en-US" altLang="ko-KR" dirty="0"/>
              <a:t>! </a:t>
            </a:r>
            <a:r>
              <a:rPr lang="ko-KR" altLang="en-US" dirty="0"/>
              <a:t>영어</a:t>
            </a:r>
            <a:r>
              <a:rPr lang="en-US" altLang="ko-KR" dirty="0"/>
              <a:t>, </a:t>
            </a:r>
            <a:r>
              <a:rPr lang="ko-KR" altLang="en-US" dirty="0"/>
              <a:t>대소문자를 사용하고 숫자도 상관없음</a:t>
            </a:r>
            <a:r>
              <a:rPr lang="en-US" altLang="ko-KR" dirty="0"/>
              <a:t>.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4A35BEEF-8CD6-59D8-5531-ABABD52E17A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CLI </a:t>
            </a:r>
            <a:r>
              <a:rPr lang="ko-KR" altLang="en-US" b="1" dirty="0"/>
              <a:t>명령어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185C72-CCEC-E0A8-764B-E47FF823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55CAD-910D-4506-84D3-B59C9D0200A8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295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101316" cy="44276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처음 켰을 때 위치가 어디인지 찾아보기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(home)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윈도우 상에서 바탕화면에 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MyRepo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폴더 생성하기 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Cd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사용하여 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MyRepo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폴더로 이동하기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Git Bash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복사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&amp;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붙여넣기는 마우스 </a:t>
            </a:r>
            <a:r>
              <a:rPr lang="ko-KR" alt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우클릭을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이용 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Ctrl + Insert (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복사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Shift + Insert (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붙여넣기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MyRepo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폴더 안에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file1.txt, file2.txt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라는 빈 파일 만들기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Tree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폴더구조 확인하기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8EB6F-E2AD-F03C-779B-6BEB5EBD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E9A5-53EF-4241-B137-562EEC467F81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68716F-42D4-5FAD-C44D-D5D5CACB7F1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터미널 명령어 연습하기</a:t>
            </a:r>
            <a:r>
              <a:rPr lang="en-US" altLang="ko-KR" dirty="0">
                <a:solidFill>
                  <a:srgbClr val="ED7D31"/>
                </a:solidFill>
              </a:rPr>
              <a:t>!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242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DA088E-56DD-4664-FC1C-3C1C503A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7A3A2-4EA0-43F5-B66E-7EC10BEF5EC8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226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0E3E1-AF15-F5A4-FA80-D97F4E11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BEAA-DD9B-48F2-893B-07C0BCA31A02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38BBDF-519C-DC7D-EF56-1125C1928FEA}"/>
              </a:ext>
            </a:extLst>
          </p:cNvPr>
          <p:cNvGrpSpPr/>
          <p:nvPr/>
        </p:nvGrpSpPr>
        <p:grpSpPr>
          <a:xfrm>
            <a:off x="794409" y="3684885"/>
            <a:ext cx="4076992" cy="1895740"/>
            <a:chOff x="1488558" y="2800107"/>
            <a:chExt cx="4076992" cy="18957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B83C23E-418E-0D8E-AC15-7AFF9D912D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34"/>
            <a:stretch/>
          </p:blipFill>
          <p:spPr>
            <a:xfrm>
              <a:off x="1488558" y="2800107"/>
              <a:ext cx="4076992" cy="189574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99B50AC-0C62-D021-955B-CEB2C9BE796A}"/>
                </a:ext>
              </a:extLst>
            </p:cNvPr>
            <p:cNvSpPr/>
            <p:nvPr/>
          </p:nvSpPr>
          <p:spPr>
            <a:xfrm>
              <a:off x="1828800" y="2964946"/>
              <a:ext cx="361507" cy="16484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92A5711-80F1-BE5B-1B8B-4C4F8435E78B}"/>
              </a:ext>
            </a:extLst>
          </p:cNvPr>
          <p:cNvSpPr txBox="1"/>
          <p:nvPr/>
        </p:nvSpPr>
        <p:spPr>
          <a:xfrm>
            <a:off x="251788" y="1013667"/>
            <a:ext cx="9352240" cy="1781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💡 프로젝트의 모든 파일과 변경 이력</a:t>
            </a:r>
            <a:r>
              <a:rPr lang="en-US" altLang="ko-KR" sz="2800" dirty="0"/>
              <a:t>(History)</a:t>
            </a:r>
            <a:r>
              <a:rPr lang="ko-KR" altLang="en-US" sz="2800" dirty="0"/>
              <a:t>을 저장하는 공간 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의해 관찰되고 있는 폴더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즉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버전 관리되고 있는 코드 저장소 전체를 의미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0759E53-EF71-A88C-2291-0A26B90E7326}"/>
              </a:ext>
            </a:extLst>
          </p:cNvPr>
          <p:cNvGrpSpPr/>
          <p:nvPr/>
        </p:nvGrpSpPr>
        <p:grpSpPr>
          <a:xfrm>
            <a:off x="7029494" y="2963439"/>
            <a:ext cx="4368097" cy="3186199"/>
            <a:chOff x="6810486" y="2499079"/>
            <a:chExt cx="4651412" cy="360536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C2CB0C2-A778-55A3-5E83-DEF6D75EC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0486" y="2499079"/>
              <a:ext cx="4651412" cy="3605367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FF6775E-DE51-369A-F18C-9A8DC19FF959}"/>
                </a:ext>
              </a:extLst>
            </p:cNvPr>
            <p:cNvSpPr/>
            <p:nvPr/>
          </p:nvSpPr>
          <p:spPr>
            <a:xfrm>
              <a:off x="7126941" y="2506900"/>
              <a:ext cx="321609" cy="16484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7E95B17-D3B1-2FF8-3116-3F7AF0AD8E7D}"/>
              </a:ext>
            </a:extLst>
          </p:cNvPr>
          <p:cNvCxnSpPr>
            <a:cxnSpLocks/>
          </p:cNvCxnSpPr>
          <p:nvPr/>
        </p:nvCxnSpPr>
        <p:spPr>
          <a:xfrm>
            <a:off x="5484628" y="4556539"/>
            <a:ext cx="1222744" cy="0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6">
            <a:extLst>
              <a:ext uri="{FF2B5EF4-FFF2-40B4-BE49-F238E27FC236}">
                <a16:creationId xmlns:a16="http://schemas.microsoft.com/office/drawing/2014/main" id="{FA508B3B-9643-CEA9-BD87-90CAB7AC2A7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b="1" dirty="0" err="1"/>
              <a:t>레포지토리</a:t>
            </a:r>
            <a:r>
              <a:rPr lang="ko-KR" altLang="en-US" b="1" dirty="0"/>
              <a:t> </a:t>
            </a:r>
            <a:r>
              <a:rPr lang="en-US" altLang="ko-KR" b="1" dirty="0"/>
              <a:t>(Repository, Repo.)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416CB0-97F0-C4BA-3F95-218E231E1EA7}"/>
              </a:ext>
            </a:extLst>
          </p:cNvPr>
          <p:cNvSpPr/>
          <p:nvPr/>
        </p:nvSpPr>
        <p:spPr>
          <a:xfrm>
            <a:off x="1028700" y="4432300"/>
            <a:ext cx="565150" cy="31115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225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29AD-340B-1F32-E26D-A1DB08AD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F34A2-B2D9-E27A-839B-36E6A6FF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2928-5D77-4C11-ADDE-852D7FF898FE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61817-6A7A-09DD-0814-FC369BDBEB30}"/>
              </a:ext>
            </a:extLst>
          </p:cNvPr>
          <p:cNvSpPr txBox="1"/>
          <p:nvPr/>
        </p:nvSpPr>
        <p:spPr>
          <a:xfrm>
            <a:off x="251788" y="1013667"/>
            <a:ext cx="11688424" cy="464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✅저장소의 종류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로컬 저장소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(Local Repository):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 컴퓨터에 존재하는 저장소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원격 저장소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(Remote Repository): GitHub, GitLab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서버에 존재하는 저장소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/>
              <a:t>✅저장소의 필요성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사람이 협업할 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파일의 변경 이력을 추적할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과거 상태로 쉽게 되돌릴 수 있어 실수에 유연하게 대처할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백업 및 코드 관리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배포에 용이함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5D676EA1-9FFF-47BC-E243-6CB2ECE3C1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b="1" dirty="0" err="1"/>
              <a:t>레포지토리</a:t>
            </a:r>
            <a:r>
              <a:rPr lang="ko-KR" altLang="en-US" b="1" dirty="0"/>
              <a:t> </a:t>
            </a:r>
            <a:r>
              <a:rPr lang="en-US" altLang="ko-KR" b="1" dirty="0"/>
              <a:t>(Repository, Repo)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44998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F0FB3-685E-4356-1DFA-7D1D074C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회원가입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9D4DF-CCD1-D043-1426-C546704D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74365"/>
            <a:ext cx="11701221" cy="15681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hlinkClick r:id="rId3"/>
              </a:rPr>
              <a:t>https://github.com/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회원가입에 사용한 </a:t>
            </a:r>
            <a:r>
              <a:rPr lang="ko-KR" altLang="en-US" dirty="0">
                <a:solidFill>
                  <a:srgbClr val="00B050"/>
                </a:solidFill>
              </a:rPr>
              <a:t>이메일과 닉네임</a:t>
            </a:r>
            <a:r>
              <a:rPr lang="ko-KR" altLang="en-US" dirty="0"/>
              <a:t>을 꼭 적어두기</a:t>
            </a:r>
            <a:r>
              <a:rPr lang="en-US" altLang="ko-KR" dirty="0"/>
              <a:t>! </a:t>
            </a:r>
            <a:r>
              <a:rPr lang="ko-KR" altLang="en-US" sz="2000" dirty="0"/>
              <a:t>나중에 필요해요</a:t>
            </a:r>
            <a:r>
              <a:rPr lang="en-US" altLang="ko-KR" sz="2000" dirty="0"/>
              <a:t>~!</a:t>
            </a:r>
            <a:r>
              <a:rPr lang="ko-KR" altLang="en-US" sz="2000" dirty="0"/>
              <a:t>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B1FD1-C8CC-28BB-14EF-FC97EE12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BB81-7D08-4620-AB7B-10789E897987}" type="datetime6">
              <a:rPr lang="ko-KR" altLang="en-US" smtClean="0"/>
              <a:t>2025년 11월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6A4064-972D-6E1B-D20A-04AD49FF76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71"/>
          <a:stretch/>
        </p:blipFill>
        <p:spPr>
          <a:xfrm>
            <a:off x="2285468" y="2922165"/>
            <a:ext cx="7621064" cy="298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861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03557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400" b="1" dirty="0"/>
              <a:t>✔️ 설정확인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git</a:t>
            </a:r>
            <a:r>
              <a:rPr lang="en-US" altLang="ko-KR" sz="2400" dirty="0"/>
              <a:t> </a:t>
            </a:r>
            <a:r>
              <a:rPr lang="en-US" altLang="ko-KR" sz="2400" dirty="0" err="1"/>
              <a:t>config</a:t>
            </a:r>
            <a:r>
              <a:rPr lang="en-US" altLang="ko-KR" sz="2400" dirty="0"/>
              <a:t> --global --list</a:t>
            </a:r>
          </a:p>
          <a:p>
            <a:pPr marL="0" indent="0">
              <a:buNone/>
            </a:pPr>
            <a:r>
              <a:rPr lang="ko-KR" altLang="en-US" sz="2400" b="1" dirty="0"/>
              <a:t>✔️ 이름등록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>
                <a:solidFill>
                  <a:srgbClr val="FF0000"/>
                </a:solidFill>
              </a:rPr>
              <a:t>git</a:t>
            </a: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 err="1">
                <a:solidFill>
                  <a:srgbClr val="FF0000"/>
                </a:solidFill>
              </a:rPr>
              <a:t>config</a:t>
            </a:r>
            <a:r>
              <a:rPr lang="en-US" altLang="ko-KR" sz="2400" dirty="0">
                <a:solidFill>
                  <a:srgbClr val="FF0000"/>
                </a:solidFill>
              </a:rPr>
              <a:t> --global user.name 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ko-KR" altLang="en-US" sz="2400" dirty="0">
                <a:solidFill>
                  <a:srgbClr val="FF0000"/>
                </a:solidFill>
              </a:rPr>
              <a:t>프로필 이름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ko-KR" altLang="en-US" sz="2000" dirty="0"/>
              <a:t>예</a:t>
            </a:r>
            <a:r>
              <a:rPr lang="en-US" altLang="ko-KR" sz="2000" dirty="0"/>
              <a:t>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config</a:t>
            </a:r>
            <a:r>
              <a:rPr lang="en-US" altLang="ko-KR" sz="2000" dirty="0"/>
              <a:t> --global user.name "</a:t>
            </a:r>
            <a:r>
              <a:rPr lang="en-US" altLang="ko-KR" sz="2000" dirty="0" err="1"/>
              <a:t>codingon</a:t>
            </a:r>
            <a:r>
              <a:rPr lang="en-US" altLang="ko-KR" sz="2000" dirty="0"/>
              <a:t>"</a:t>
            </a:r>
          </a:p>
          <a:p>
            <a:pPr marL="0" indent="0">
              <a:buNone/>
            </a:pPr>
            <a:r>
              <a:rPr lang="ko-KR" altLang="en-US" sz="2400" b="1" dirty="0"/>
              <a:t>✔️ 메일등록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>
                <a:solidFill>
                  <a:srgbClr val="FF0000"/>
                </a:solidFill>
              </a:rPr>
              <a:t>git</a:t>
            </a: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 err="1">
                <a:solidFill>
                  <a:srgbClr val="FF0000"/>
                </a:solidFill>
              </a:rPr>
              <a:t>config</a:t>
            </a:r>
            <a:r>
              <a:rPr lang="en-US" altLang="ko-KR" sz="2400" dirty="0">
                <a:solidFill>
                  <a:srgbClr val="FF0000"/>
                </a:solidFill>
              </a:rPr>
              <a:t> --global </a:t>
            </a:r>
            <a:r>
              <a:rPr lang="en-US" altLang="ko-KR" sz="2400" dirty="0" err="1">
                <a:solidFill>
                  <a:srgbClr val="FF0000"/>
                </a:solidFill>
              </a:rPr>
              <a:t>user.email</a:t>
            </a:r>
            <a:r>
              <a:rPr lang="en-US" altLang="ko-KR" sz="2400" dirty="0">
                <a:solidFill>
                  <a:srgbClr val="FF0000"/>
                </a:solidFill>
              </a:rPr>
              <a:t> "</a:t>
            </a:r>
            <a:r>
              <a:rPr lang="ko-KR" altLang="en-US" sz="2400" dirty="0">
                <a:solidFill>
                  <a:srgbClr val="FF0000"/>
                </a:solidFill>
              </a:rPr>
              <a:t>이메일 주소</a:t>
            </a:r>
            <a:r>
              <a:rPr lang="en-US" altLang="ko-KR" sz="2400" dirty="0">
                <a:solidFill>
                  <a:srgbClr val="FF0000"/>
                </a:solidFill>
              </a:rPr>
              <a:t>"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ko-KR" altLang="en-US" sz="2000" dirty="0"/>
              <a:t>예</a:t>
            </a:r>
            <a:r>
              <a:rPr lang="en-US" altLang="ko-KR" sz="2000" dirty="0"/>
              <a:t>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config</a:t>
            </a:r>
            <a:r>
              <a:rPr lang="en-US" altLang="ko-KR" sz="2000" dirty="0"/>
              <a:t> --global </a:t>
            </a:r>
            <a:r>
              <a:rPr lang="en-US" altLang="ko-KR" sz="2000" dirty="0" err="1"/>
              <a:t>user.email</a:t>
            </a:r>
            <a:r>
              <a:rPr lang="en-US" altLang="ko-KR" sz="2000" dirty="0"/>
              <a:t> "cogingon@gmail.com"</a:t>
            </a:r>
          </a:p>
          <a:p>
            <a:pPr marL="0" indent="0">
              <a:buNone/>
            </a:pPr>
            <a:r>
              <a:rPr lang="ko-KR" altLang="en-US" sz="2400" b="1" dirty="0"/>
              <a:t>✔️ </a:t>
            </a:r>
            <a:r>
              <a:rPr lang="en-US" altLang="ko-KR" sz="2400" dirty="0"/>
              <a:t>default </a:t>
            </a:r>
            <a:r>
              <a:rPr lang="ko-KR" altLang="en-US" sz="2400" dirty="0" err="1"/>
              <a:t>브랜치를</a:t>
            </a:r>
            <a:r>
              <a:rPr lang="ko-KR" altLang="en-US" sz="2400" dirty="0"/>
              <a:t> </a:t>
            </a:r>
            <a:r>
              <a:rPr lang="en-US" altLang="ko-KR" sz="2400" dirty="0"/>
              <a:t>main</a:t>
            </a:r>
            <a:r>
              <a:rPr lang="ko-KR" altLang="en-US" sz="2400" dirty="0"/>
              <a:t>으로 설정</a:t>
            </a:r>
            <a:endParaRPr lang="en-US" altLang="ko-KR" sz="2400" dirty="0"/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git config --global </a:t>
            </a:r>
            <a:r>
              <a:rPr lang="en-US" altLang="ko-KR" sz="2000" dirty="0" err="1"/>
              <a:t>init.defaultBranch</a:t>
            </a:r>
            <a:r>
              <a:rPr lang="en-US" altLang="ko-KR" sz="2000" dirty="0"/>
              <a:t> main</a:t>
            </a:r>
          </a:p>
          <a:p>
            <a:pPr lvl="1"/>
            <a:r>
              <a:rPr lang="en-US" altLang="ko-KR" sz="2000" dirty="0"/>
              <a:t>Git</a:t>
            </a:r>
            <a:r>
              <a:rPr lang="ko-KR" altLang="en-US" sz="2000" dirty="0"/>
              <a:t>은 기본적으로 </a:t>
            </a:r>
            <a:r>
              <a:rPr lang="en-US" altLang="ko-KR" sz="2000" dirty="0"/>
              <a:t>'master'</a:t>
            </a:r>
            <a:r>
              <a:rPr lang="ko-KR" altLang="en-US" sz="2000" dirty="0"/>
              <a:t>를 기본 </a:t>
            </a:r>
            <a:r>
              <a:rPr lang="ko-KR" altLang="en-US" sz="2000" dirty="0" err="1"/>
              <a:t>브랜치로</a:t>
            </a:r>
            <a:r>
              <a:rPr lang="ko-KR" altLang="en-US" sz="2000" dirty="0"/>
              <a:t> 사용해 왔지만</a:t>
            </a:r>
            <a:r>
              <a:rPr lang="en-US" altLang="ko-KR" sz="2000" dirty="0"/>
              <a:t>, </a:t>
            </a:r>
            <a:r>
              <a:rPr lang="ko-KR" altLang="en-US" sz="2000" dirty="0"/>
              <a:t>최근에는 </a:t>
            </a:r>
            <a:r>
              <a:rPr lang="en-US" altLang="ko-KR" sz="2000" dirty="0"/>
              <a:t>'main'</a:t>
            </a:r>
            <a:r>
              <a:rPr lang="ko-KR" altLang="en-US" sz="2000" dirty="0"/>
              <a:t>으로 변경되는 추세임</a:t>
            </a:r>
            <a:endParaRPr lang="en-US" altLang="ko-KR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714E764F-E183-AA2F-5172-6294CEB46A4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Git </a:t>
            </a:r>
            <a:r>
              <a:rPr lang="ko-KR" altLang="en-US" b="1" dirty="0"/>
              <a:t>설정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C0EB1E-F06E-EBE0-F8C8-CC3966E5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B130-2D43-47AC-B833-A37F46EDF59F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818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A6655-C8ED-4229-BB14-95CE1468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레포지토리</a:t>
            </a:r>
            <a:r>
              <a:rPr lang="ko-KR" altLang="en-US" sz="4800" dirty="0"/>
              <a:t>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15C8B-64BE-8D53-7298-4B7EEB0ADEB2}"/>
              </a:ext>
            </a:extLst>
          </p:cNvPr>
          <p:cNvSpPr txBox="1"/>
          <p:nvPr/>
        </p:nvSpPr>
        <p:spPr>
          <a:xfrm>
            <a:off x="5358277" y="4142033"/>
            <a:ext cx="1511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메인화면에서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B2726C4-EBE6-217F-DEF3-19AD53A5C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19" y="4879442"/>
            <a:ext cx="8849960" cy="8002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35F75A-0FF0-67C4-FB70-DE3E456A01E2}"/>
              </a:ext>
            </a:extLst>
          </p:cNvPr>
          <p:cNvSpPr txBox="1"/>
          <p:nvPr/>
        </p:nvSpPr>
        <p:spPr>
          <a:xfrm>
            <a:off x="4582604" y="5704199"/>
            <a:ext cx="3026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나의 저장소 리스트 화면에서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4154D4-D925-A03C-40B2-615FF3C329C4}"/>
              </a:ext>
            </a:extLst>
          </p:cNvPr>
          <p:cNvSpPr/>
          <p:nvPr/>
        </p:nvSpPr>
        <p:spPr>
          <a:xfrm>
            <a:off x="9512756" y="5025423"/>
            <a:ext cx="878405" cy="38068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974ADA6-85BA-4050-EE2D-25F0B5919244}"/>
              </a:ext>
            </a:extLst>
          </p:cNvPr>
          <p:cNvGrpSpPr/>
          <p:nvPr/>
        </p:nvGrpSpPr>
        <p:grpSpPr>
          <a:xfrm>
            <a:off x="2812157" y="1769503"/>
            <a:ext cx="6567683" cy="2328530"/>
            <a:chOff x="2642126" y="1891390"/>
            <a:chExt cx="6567683" cy="2328530"/>
          </a:xfrm>
        </p:grpSpPr>
        <p:pic>
          <p:nvPicPr>
            <p:cNvPr id="12" name="그림 11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865D1352-8CA9-D71C-36C6-AE006B237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126" y="1891390"/>
              <a:ext cx="3302096" cy="2328530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FA9AECA-2859-15EF-0FC1-8716BF51B154}"/>
                </a:ext>
              </a:extLst>
            </p:cNvPr>
            <p:cNvSpPr/>
            <p:nvPr/>
          </p:nvSpPr>
          <p:spPr>
            <a:xfrm>
              <a:off x="5027651" y="3351124"/>
              <a:ext cx="783366" cy="380686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9FB493-7109-355C-6111-686597215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6700" y="1891390"/>
              <a:ext cx="2753109" cy="224821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07C024-F6BE-8D11-EE63-D2AB3332D712}"/>
                </a:ext>
              </a:extLst>
            </p:cNvPr>
            <p:cNvSpPr/>
            <p:nvPr/>
          </p:nvSpPr>
          <p:spPr>
            <a:xfrm>
              <a:off x="6520841" y="3758918"/>
              <a:ext cx="1482142" cy="380686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534985-CB79-ADFB-D0C3-AE6D2132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FD0D-232A-4691-9312-80DEA937AD21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899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A6655-C8ED-4229-BB14-95CE1468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레포지토리</a:t>
            </a:r>
            <a:r>
              <a:rPr lang="ko-KR" altLang="en-US" sz="4800" dirty="0"/>
              <a:t> 생성</a:t>
            </a: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28B50F0-FE6E-44D9-1328-2D109657E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01" y="1325563"/>
            <a:ext cx="8079008" cy="47989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FCCDF86-8D64-B52E-19F8-787C5B04AF38}"/>
              </a:ext>
            </a:extLst>
          </p:cNvPr>
          <p:cNvSpPr/>
          <p:nvPr/>
        </p:nvSpPr>
        <p:spPr>
          <a:xfrm>
            <a:off x="3485073" y="3077754"/>
            <a:ext cx="2095112" cy="3693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4DB35-1005-77A8-39A3-D13183D336DB}"/>
              </a:ext>
            </a:extLst>
          </p:cNvPr>
          <p:cNvSpPr txBox="1"/>
          <p:nvPr/>
        </p:nvSpPr>
        <p:spPr>
          <a:xfrm>
            <a:off x="3461627" y="3106453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저장소 영문명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84A420-8807-CD06-3A22-3B5C9FE59219}"/>
              </a:ext>
            </a:extLst>
          </p:cNvPr>
          <p:cNvSpPr/>
          <p:nvPr/>
        </p:nvSpPr>
        <p:spPr>
          <a:xfrm>
            <a:off x="1945125" y="5017738"/>
            <a:ext cx="481552" cy="89798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8CBFA6-42CC-954F-390D-C88C8B21B2A0}"/>
              </a:ext>
            </a:extLst>
          </p:cNvPr>
          <p:cNvSpPr txBox="1"/>
          <p:nvPr/>
        </p:nvSpPr>
        <p:spPr>
          <a:xfrm>
            <a:off x="991829" y="5976687"/>
            <a:ext cx="286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원하는 저장 방식을 선택</a:t>
            </a:r>
          </a:p>
        </p:txBody>
      </p:sp>
      <p:pic>
        <p:nvPicPr>
          <p:cNvPr id="22" name="그림 21" descr="텍스트, 폰트, 로고, 그린이(가) 표시된 사진&#10;&#10;자동 생성된 설명">
            <a:extLst>
              <a:ext uri="{FF2B5EF4-FFF2-40B4-BE49-F238E27FC236}">
                <a16:creationId xmlns:a16="http://schemas.microsoft.com/office/drawing/2014/main" id="{E3D54DDB-4F9E-A953-E30D-E3EE6AA14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710" y="5762693"/>
            <a:ext cx="1600423" cy="56205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9A2467-5AD5-47F6-6289-5FBA4E2694FD}"/>
              </a:ext>
            </a:extLst>
          </p:cNvPr>
          <p:cNvSpPr/>
          <p:nvPr/>
        </p:nvSpPr>
        <p:spPr>
          <a:xfrm>
            <a:off x="8535580" y="5859613"/>
            <a:ext cx="1488553" cy="3693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E50BBA-D339-AEB9-2965-76FA8268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C9-557E-4939-8C1C-FDCDDFD27884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94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폰트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F7E83A02-4FDB-F32B-34F1-A4FF48BAC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8" y="1741906"/>
            <a:ext cx="11726912" cy="375337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1A6655-C8ED-4229-BB14-95CE1468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원격저장소와 내 폴더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ABC506-480A-CEAC-0FE6-8A3947E4C943}"/>
              </a:ext>
            </a:extLst>
          </p:cNvPr>
          <p:cNvSpPr/>
          <p:nvPr/>
        </p:nvSpPr>
        <p:spPr>
          <a:xfrm>
            <a:off x="586739" y="4673866"/>
            <a:ext cx="4427221" cy="2562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A489B-1A72-EE54-96DD-8611C1956925}"/>
              </a:ext>
            </a:extLst>
          </p:cNvPr>
          <p:cNvSpPr txBox="1"/>
          <p:nvPr/>
        </p:nvSpPr>
        <p:spPr>
          <a:xfrm>
            <a:off x="5744743" y="4620526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ctrl + v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복사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0CF698-41A2-D178-D8F0-01819F0C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C092-B1C4-4B29-89FC-0B8DA3160967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978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558" y="1308979"/>
            <a:ext cx="8468639" cy="3135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위에서 만든 프로젝트 루트 폴더로 이동 </a:t>
            </a:r>
            <a:endParaRPr lang="en-US" altLang="ko-KR" sz="2400" dirty="0"/>
          </a:p>
          <a:p>
            <a:pPr lvl="1"/>
            <a:r>
              <a:rPr lang="ko-KR" altLang="en-US" sz="2000" dirty="0"/>
              <a:t>예</a:t>
            </a:r>
            <a:r>
              <a:rPr lang="en-US" altLang="ko-KR" sz="2000" dirty="0"/>
              <a:t>) cd</a:t>
            </a:r>
            <a:r>
              <a:rPr lang="ko-KR" altLang="en-US" sz="2000" dirty="0"/>
              <a:t> </a:t>
            </a:r>
            <a:r>
              <a:rPr lang="en-US" altLang="ko-KR" sz="2000" dirty="0" err="1"/>
              <a:t>MyRepo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/>
              <a:t>2️⃣ Git </a:t>
            </a:r>
            <a:r>
              <a:rPr lang="ko-KR" altLang="en-US" sz="2400" dirty="0"/>
              <a:t>과 연결</a:t>
            </a:r>
            <a:r>
              <a:rPr lang="en-US" altLang="ko-KR" sz="2400" dirty="0"/>
              <a:t>(</a:t>
            </a:r>
            <a:r>
              <a:rPr lang="ko-KR" altLang="en-US" sz="2400" dirty="0"/>
              <a:t>명령어 차례대로 입력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dirty="0"/>
              <a:t>git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git</a:t>
            </a:r>
            <a:r>
              <a:rPr lang="en-US" altLang="ko-KR" dirty="0"/>
              <a:t> remote add origin </a:t>
            </a:r>
            <a:r>
              <a:rPr lang="en-US" altLang="ko-KR" dirty="0">
                <a:hlinkClick r:id="rId3"/>
              </a:rPr>
              <a:t>https://github.com/</a:t>
            </a:r>
            <a:r>
              <a:rPr lang="ko-KR" altLang="en-US" dirty="0">
                <a:hlinkClick r:id="rId3"/>
              </a:rPr>
              <a:t>이름</a:t>
            </a:r>
            <a:r>
              <a:rPr lang="en-US" altLang="ko-KR" dirty="0">
                <a:hlinkClick r:id="rId3"/>
              </a:rPr>
              <a:t>/</a:t>
            </a:r>
            <a:r>
              <a:rPr lang="ko-KR" altLang="en-US" dirty="0" err="1">
                <a:hlinkClick r:id="rId3"/>
              </a:rPr>
              <a:t>저장소명</a:t>
            </a:r>
            <a:r>
              <a:rPr lang="en-US" altLang="ko-KR" dirty="0">
                <a:hlinkClick r:id="rId3"/>
              </a:rPr>
              <a:t>.git</a:t>
            </a:r>
            <a:endParaRPr lang="en-US" altLang="ko-KR" dirty="0"/>
          </a:p>
          <a:p>
            <a:pPr lvl="1"/>
            <a:r>
              <a:rPr lang="en-US" altLang="ko-KR" dirty="0"/>
              <a:t>git remote –v </a:t>
            </a:r>
            <a:endParaRPr lang="ko-KR" altLang="en-US" dirty="0"/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71A3F20-61A9-5B92-D83B-05BD8A765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819" y="4607917"/>
            <a:ext cx="8800361" cy="1439464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B54C26AE-3D6F-FD42-2894-809A1384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원격저장소와 내 폴더 연결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59CD6B-793D-F6A9-843C-CD1EE988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062C0-C35C-4F13-8B4E-A4CBFFBADACF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927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03829"/>
            <a:ext cx="10515600" cy="4267068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</a:t>
            </a:r>
            <a:r>
              <a:rPr lang="en-US" altLang="ko-KR" dirty="0" err="1"/>
              <a:t>init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현재 디렉터리를 </a:t>
            </a:r>
            <a:r>
              <a:rPr lang="en-US" altLang="ko-KR" dirty="0"/>
              <a:t>Git </a:t>
            </a:r>
            <a:r>
              <a:rPr lang="ko-KR" altLang="en-US" dirty="0"/>
              <a:t>저장소로 초기화</a:t>
            </a:r>
            <a:r>
              <a:rPr lang="en-US" altLang="ko-KR" dirty="0"/>
              <a:t>(</a:t>
            </a:r>
            <a:r>
              <a:rPr lang="ko-KR" altLang="en-US" dirty="0"/>
              <a:t>변환</a:t>
            </a:r>
            <a:r>
              <a:rPr lang="en-US" altLang="ko-KR" dirty="0"/>
              <a:t>)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해당 명령어 실행 후 폴더에 </a:t>
            </a:r>
            <a:r>
              <a:rPr lang="en-US" altLang="ko-KR" dirty="0"/>
              <a:t>.</a:t>
            </a:r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폴더가 숨김 폴더로 생성됨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숨김 폴더 확인하기 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</a:pPr>
            <a:r>
              <a:rPr lang="ko-KR" altLang="en-US" dirty="0"/>
              <a:t>터미널에서 </a:t>
            </a:r>
            <a:r>
              <a:rPr lang="en-US" altLang="ko-KR" dirty="0"/>
              <a:t>ls –a </a:t>
            </a:r>
            <a:r>
              <a:rPr lang="ko-KR" altLang="en-US" dirty="0"/>
              <a:t>명령어로 확인 가능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</a:pPr>
            <a:r>
              <a:rPr lang="en-US" altLang="ko-KR" dirty="0"/>
              <a:t>(window) </a:t>
            </a:r>
            <a:r>
              <a:rPr lang="ko-KR" altLang="en-US" dirty="0"/>
              <a:t>탐색기에서 보기 </a:t>
            </a:r>
            <a:r>
              <a:rPr lang="en-US" altLang="ko-KR" dirty="0"/>
              <a:t>-&gt; </a:t>
            </a:r>
            <a:r>
              <a:rPr lang="ko-KR" altLang="en-US" dirty="0"/>
              <a:t>표시 </a:t>
            </a:r>
            <a:r>
              <a:rPr lang="en-US" altLang="ko-KR" dirty="0"/>
              <a:t>-&gt; </a:t>
            </a:r>
            <a:r>
              <a:rPr lang="ko-KR" altLang="en-US" dirty="0"/>
              <a:t>숨김 항목 체크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</a:pPr>
            <a:r>
              <a:rPr lang="en-US" altLang="ko-KR" dirty="0"/>
              <a:t>(mac) Finder</a:t>
            </a:r>
            <a:r>
              <a:rPr lang="ko-KR" altLang="en-US" dirty="0"/>
              <a:t>에서 </a:t>
            </a:r>
            <a:r>
              <a:rPr lang="en-US" altLang="ko-KR" dirty="0" err="1"/>
              <a:t>Cmd</a:t>
            </a:r>
            <a:r>
              <a:rPr lang="en-US" altLang="ko-KR" dirty="0"/>
              <a:t> + Shift + .  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main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endParaRPr lang="en-US" altLang="ko-KR" sz="2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FD4F5F-16C0-A896-6D40-CE103CE30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599" y="2165679"/>
            <a:ext cx="1697662" cy="578324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47D4D6B5-242D-C4FC-B6BD-E9E49D56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명령어 살펴보기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86C5A2-E83F-C5DB-0449-4F132DA4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A11D3-BB6E-42FF-95CC-691AD91DD44D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55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A06B-5799-FF60-15A4-5258AA31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7E24A7E-D8B1-18FE-310D-C9D57E92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104"/>
            <a:ext cx="10515600" cy="4816596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remote add origin </a:t>
            </a:r>
            <a:r>
              <a:rPr lang="en-US" altLang="ko-KR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ko-KR" altLang="en-US" u="sng" dirty="0">
                <a:solidFill>
                  <a:srgbClr val="0070C0"/>
                </a:solidFill>
              </a:rPr>
              <a:t>이름</a:t>
            </a:r>
            <a:r>
              <a:rPr lang="en-US" altLang="ko-KR" u="sng" dirty="0">
                <a:solidFill>
                  <a:srgbClr val="0070C0"/>
                </a:solidFill>
              </a:rPr>
              <a:t>/</a:t>
            </a:r>
            <a:r>
              <a:rPr lang="ko-KR" altLang="en-US" u="sng" dirty="0" err="1">
                <a:solidFill>
                  <a:srgbClr val="0070C0"/>
                </a:solidFill>
              </a:rPr>
              <a:t>저장소명</a:t>
            </a:r>
            <a:r>
              <a:rPr lang="en-US" altLang="ko-KR" u="sng" dirty="0">
                <a:solidFill>
                  <a:srgbClr val="0070C0"/>
                </a:solidFill>
              </a:rPr>
              <a:t>.</a:t>
            </a:r>
            <a:r>
              <a:rPr lang="en-US" altLang="ko-KR" u="sng" dirty="0" err="1">
                <a:solidFill>
                  <a:srgbClr val="0070C0"/>
                </a:solidFill>
              </a:rPr>
              <a:t>git</a:t>
            </a:r>
            <a:r>
              <a:rPr lang="en-US" altLang="ko-KR" u="sng" dirty="0">
                <a:solidFill>
                  <a:srgbClr val="0070C0"/>
                </a:solidFill>
              </a:rPr>
              <a:t> 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초기화된 </a:t>
            </a:r>
            <a:r>
              <a:rPr lang="en-US" altLang="ko-KR" dirty="0"/>
              <a:t>.</a:t>
            </a:r>
            <a:r>
              <a:rPr lang="en-US" altLang="ko-KR" dirty="0" err="1"/>
              <a:t>git</a:t>
            </a:r>
            <a:r>
              <a:rPr lang="ko-KR" altLang="en-US" dirty="0"/>
              <a:t>폴더에 원격저장소 연결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remote –v 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현재 디렉토리와 연결된 원격 저장소 확인</a:t>
            </a:r>
          </a:p>
        </p:txBody>
      </p:sp>
      <p:sp>
        <p:nvSpPr>
          <p:cNvPr id="7" name="제목 4">
            <a:extLst>
              <a:ext uri="{FF2B5EF4-FFF2-40B4-BE49-F238E27FC236}">
                <a16:creationId xmlns:a16="http://schemas.microsoft.com/office/drawing/2014/main" id="{273E943C-0F14-54A2-48CB-FBC32E88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명령어 살펴보기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C4F7C-F7F0-C7CA-3012-3D7124EFE40F}"/>
              </a:ext>
            </a:extLst>
          </p:cNvPr>
          <p:cNvSpPr txBox="1"/>
          <p:nvPr/>
        </p:nvSpPr>
        <p:spPr>
          <a:xfrm>
            <a:off x="251788" y="3661834"/>
            <a:ext cx="11499945" cy="1516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origin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 저장소의 </a:t>
            </a:r>
            <a:r>
              <a:rPr lang="ko-KR" altLang="en-US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별칭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생성한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별칭이 </a:t>
            </a:r>
            <a:r>
              <a:rPr lang="en-US" altLang="ko-KR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remote </a:t>
            </a:r>
            <a:r>
              <a:rPr lang="en-US" altLang="ko-KR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origin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raymond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같이 별칭을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raymond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변경 가능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81984D-2D4E-E2E4-3DAF-C52BBC53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62D5-B273-4A49-A253-17434758FA67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79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0F26-F68A-B7E6-F781-D1C67AC4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BFF8E29-A26A-76E7-29F7-7DDFD7607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104"/>
            <a:ext cx="11688424" cy="134651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원격저장소를 변경하고 싶으면 위</a:t>
            </a:r>
            <a:r>
              <a:rPr lang="en-US" altLang="ko-KR" dirty="0"/>
              <a:t>.git</a:t>
            </a:r>
            <a:r>
              <a:rPr lang="ko-KR" altLang="en-US" dirty="0"/>
              <a:t>폴더 삭제 후 다시 저장소 생성과 연결 진행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정상적으로 연결이 되었다면 </a:t>
            </a:r>
            <a:r>
              <a:rPr lang="ko-KR" altLang="en-US" dirty="0" err="1"/>
              <a:t>폴더명</a:t>
            </a:r>
            <a:r>
              <a:rPr lang="ko-KR" altLang="en-US" dirty="0"/>
              <a:t> 뒤에 </a:t>
            </a:r>
            <a:r>
              <a:rPr lang="en-US" altLang="ko-KR" dirty="0"/>
              <a:t>(main)</a:t>
            </a:r>
            <a:r>
              <a:rPr lang="ko-KR" altLang="en-US" dirty="0"/>
              <a:t>이 보임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259503-7CE1-A996-5562-31E6E20A6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16" y="2384615"/>
            <a:ext cx="6658383" cy="617118"/>
          </a:xfrm>
          <a:prstGeom prst="rect">
            <a:avLst/>
          </a:prstGeom>
        </p:spPr>
      </p:pic>
      <p:sp>
        <p:nvSpPr>
          <p:cNvPr id="7" name="제목 4">
            <a:extLst>
              <a:ext uri="{FF2B5EF4-FFF2-40B4-BE49-F238E27FC236}">
                <a16:creationId xmlns:a16="http://schemas.microsoft.com/office/drawing/2014/main" id="{F54C242F-F1AC-2C4E-647B-6F53F298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명령어 살펴보기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40E4BC-C9EC-D759-1C6C-BB83807D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5D83-27B6-477B-9DAB-90135F056234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480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원격저장소에 올리기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130994-C2E4-2F58-7C13-AF307F2A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56BD-29B9-42D1-BA05-EE31EFC9E21D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289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3236093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코드 백업 </a:t>
            </a:r>
            <a:r>
              <a:rPr lang="en-US" altLang="ko-KR" dirty="0"/>
              <a:t>: </a:t>
            </a:r>
            <a:r>
              <a:rPr lang="ko-KR" altLang="en-US" dirty="0"/>
              <a:t>작업한 코드를 안전하게 저장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협업 용이 </a:t>
            </a:r>
            <a:r>
              <a:rPr lang="en-US" altLang="ko-KR" dirty="0"/>
              <a:t>: </a:t>
            </a:r>
            <a:r>
              <a:rPr lang="ko-KR" altLang="en-US" dirty="0"/>
              <a:t>팀원들과 쉽게 코드를 공유하고 함께 작업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버전 관리 </a:t>
            </a:r>
            <a:r>
              <a:rPr lang="en-US" altLang="ko-KR" dirty="0"/>
              <a:t>: </a:t>
            </a:r>
            <a:r>
              <a:rPr lang="ko-KR" altLang="en-US" dirty="0"/>
              <a:t>코드 변경 이력을 남겨 언제든지 이전 버전으로 되돌리기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충돌 방지 </a:t>
            </a:r>
            <a:r>
              <a:rPr lang="en-US" altLang="ko-KR" dirty="0"/>
              <a:t>: </a:t>
            </a:r>
            <a:r>
              <a:rPr lang="ko-KR" altLang="en-US" dirty="0"/>
              <a:t>협업 시 변경 사항을 병합 → 코드가 중복</a:t>
            </a:r>
            <a:r>
              <a:rPr lang="en-US" altLang="ko-KR" dirty="0"/>
              <a:t>·</a:t>
            </a:r>
            <a:r>
              <a:rPr lang="ko-KR" altLang="en-US" dirty="0"/>
              <a:t>누락 현상</a:t>
            </a:r>
            <a:r>
              <a:rPr lang="en-US" altLang="ko-KR" dirty="0"/>
              <a:t>(</a:t>
            </a:r>
            <a:r>
              <a:rPr lang="ko-KR" altLang="en-US" dirty="0"/>
              <a:t>충돌</a:t>
            </a:r>
            <a:r>
              <a:rPr lang="en-US" altLang="ko-KR" dirty="0"/>
              <a:t>)</a:t>
            </a:r>
            <a:r>
              <a:rPr lang="ko-KR" altLang="en-US" dirty="0"/>
              <a:t>을 방지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문제 해결 용이 </a:t>
            </a:r>
            <a:r>
              <a:rPr lang="en-US" altLang="ko-KR" dirty="0"/>
              <a:t>: </a:t>
            </a:r>
            <a:r>
              <a:rPr lang="ko-KR" altLang="en-US" dirty="0"/>
              <a:t>문제 발생시 코드 버전 이력을 확인하여 변경 사항을 추적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480E73E-AA24-2859-16E3-49AE76B0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코드를 원격저장소에 올리는 이유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40BD9E-3C13-BAAF-95EB-9EF22EDB4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CD07-CC70-4253-8FC6-DD2AAA8EF8E9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216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DE14B-F590-5390-4ED0-85934CA6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E0EE-24D8-4AC4-B2E3-2EB6C87E3BB5}" type="datetime6">
              <a:rPr lang="ko-KR" altLang="en-US" smtClean="0"/>
              <a:t>2025년 11월</a:t>
            </a:fld>
            <a:endParaRPr lang="ko-KR" altLang="en-US"/>
          </a:p>
        </p:txBody>
      </p:sp>
      <p:pic>
        <p:nvPicPr>
          <p:cNvPr id="8" name="그림 7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81459821-95CF-3555-EA73-B302A2E83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18" y="1871584"/>
            <a:ext cx="9723963" cy="410906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312E734-2A6B-2684-0FF9-747A82C20C5B}"/>
              </a:ext>
            </a:extLst>
          </p:cNvPr>
          <p:cNvSpPr/>
          <p:nvPr/>
        </p:nvSpPr>
        <p:spPr>
          <a:xfrm>
            <a:off x="811924" y="1561285"/>
            <a:ext cx="7740870" cy="13952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7D987-75FA-F05A-5784-9A236377BD24}"/>
              </a:ext>
            </a:extLst>
          </p:cNvPr>
          <p:cNvSpPr txBox="1"/>
          <p:nvPr/>
        </p:nvSpPr>
        <p:spPr>
          <a:xfrm>
            <a:off x="748861" y="1114545"/>
            <a:ext cx="327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PC </a:t>
            </a:r>
            <a:r>
              <a:rPr lang="ko-KR" altLang="en-US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 </a:t>
            </a:r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(Repository)</a:t>
            </a:r>
            <a:endParaRPr lang="ko-KR" altLang="en-US" sz="2400" b="1" dirty="0">
              <a:solidFill>
                <a:schemeClr val="accent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51CC65-D0AD-8FCB-48C8-EB3EABAF5D2B}"/>
              </a:ext>
            </a:extLst>
          </p:cNvPr>
          <p:cNvSpPr/>
          <p:nvPr/>
        </p:nvSpPr>
        <p:spPr>
          <a:xfrm>
            <a:off x="8974887" y="1550938"/>
            <a:ext cx="2468251" cy="139524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C7309-27FB-BF8C-2566-5CB59117A603}"/>
              </a:ext>
            </a:extLst>
          </p:cNvPr>
          <p:cNvSpPr txBox="1"/>
          <p:nvPr/>
        </p:nvSpPr>
        <p:spPr>
          <a:xfrm>
            <a:off x="8713074" y="1076083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</a:t>
            </a:r>
            <a:r>
              <a:rPr lang="en-US" altLang="ko-KR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(GitHub)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</a:t>
            </a:r>
          </a:p>
        </p:txBody>
      </p:sp>
      <p:pic>
        <p:nvPicPr>
          <p:cNvPr id="13" name="그래픽 12" descr="배지 1 윤곽선">
            <a:extLst>
              <a:ext uri="{FF2B5EF4-FFF2-40B4-BE49-F238E27FC236}">
                <a16:creationId xmlns:a16="http://schemas.microsoft.com/office/drawing/2014/main" id="{C3B584B1-B0E4-0F03-D0B8-1A8FDEA25F0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7351" y="3064542"/>
            <a:ext cx="405849" cy="405849"/>
          </a:xfrm>
          <a:prstGeom prst="rect">
            <a:avLst/>
          </a:prstGeom>
        </p:spPr>
      </p:pic>
      <p:pic>
        <p:nvPicPr>
          <p:cNvPr id="15" name="그래픽 14" descr="배지 윤곽선">
            <a:extLst>
              <a:ext uri="{FF2B5EF4-FFF2-40B4-BE49-F238E27FC236}">
                <a16:creationId xmlns:a16="http://schemas.microsoft.com/office/drawing/2014/main" id="{D0A5762C-A94C-0779-6045-2680F1F5E7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699" y="3539857"/>
            <a:ext cx="423043" cy="423043"/>
          </a:xfrm>
          <a:prstGeom prst="rect">
            <a:avLst/>
          </a:prstGeom>
        </p:spPr>
      </p:pic>
      <p:pic>
        <p:nvPicPr>
          <p:cNvPr id="17" name="그래픽 16" descr="배지 3 윤곽선">
            <a:extLst>
              <a:ext uri="{FF2B5EF4-FFF2-40B4-BE49-F238E27FC236}">
                <a16:creationId xmlns:a16="http://schemas.microsoft.com/office/drawing/2014/main" id="{3C2AD771-BE73-11AF-75E8-9B05A1C3BBE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01151" y="4107417"/>
            <a:ext cx="449318" cy="449318"/>
          </a:xfrm>
          <a:prstGeom prst="rect">
            <a:avLst/>
          </a:prstGeom>
        </p:spPr>
      </p:pic>
      <p:pic>
        <p:nvPicPr>
          <p:cNvPr id="20" name="그래픽 19" descr="배지 4 윤곽선">
            <a:extLst>
              <a:ext uri="{FF2B5EF4-FFF2-40B4-BE49-F238E27FC236}">
                <a16:creationId xmlns:a16="http://schemas.microsoft.com/office/drawing/2014/main" id="{739C7520-CEC2-B913-C8A3-34475F7C2B4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1955" y="4990287"/>
            <a:ext cx="423043" cy="4230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3D1313-5C69-D88B-237E-3C3F20FF006F}"/>
              </a:ext>
            </a:extLst>
          </p:cNvPr>
          <p:cNvSpPr/>
          <p:nvPr/>
        </p:nvSpPr>
        <p:spPr>
          <a:xfrm>
            <a:off x="811924" y="3013743"/>
            <a:ext cx="10631214" cy="1687071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제목 4">
            <a:extLst>
              <a:ext uri="{FF2B5EF4-FFF2-40B4-BE49-F238E27FC236}">
                <a16:creationId xmlns:a16="http://schemas.microsoft.com/office/drawing/2014/main" id="{9DA105AD-F5E9-421C-BC5F-077792FEC92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</p:spTree>
    <p:extLst>
      <p:ext uri="{BB962C8B-B14F-4D97-AF65-F5344CB8AC3E}">
        <p14:creationId xmlns:p14="http://schemas.microsoft.com/office/powerpoint/2010/main" val="3254186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1788" y="1008155"/>
            <a:ext cx="10417090" cy="5302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원격저장소로 올리기 위해서는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해야함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순서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커밋할 파일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add </a:t>
            </a:r>
            <a:r>
              <a:rPr lang="ko-KR" altLang="en-US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 </a:t>
            </a:r>
            <a:r>
              <a:rPr lang="en-US" altLang="ko-KR" sz="2000" b="1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add  . 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 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한칸띄고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 전체라는 의미를 가짐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my.txt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 작성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commit –m “</a:t>
            </a:r>
            <a:r>
              <a:rPr lang="ko-KR" altLang="en-US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메시지 작성</a:t>
            </a: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git commit –m “first commit”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원격저장소의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파일 올리기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push origin </a:t>
            </a:r>
            <a:r>
              <a:rPr lang="ko-KR" altLang="en-US" sz="2000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브랜치명</a:t>
            </a:r>
            <a:endParaRPr lang="en-US" altLang="ko-KR" sz="20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push origin main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F57B7A-228D-EEA9-3822-41484DB5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DE97-8ABD-445C-A2D1-954774DAA736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5215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15B3-3026-2A1A-9CB9-94F71005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33FF4A5-4BAB-9128-8BCF-0EA88624D54B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552BE6A3-2314-2E9E-BBBC-05037E8B141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00E57-1511-DE9A-C049-B77AE6D51D99}"/>
              </a:ext>
            </a:extLst>
          </p:cNvPr>
          <p:cNvSpPr txBox="1"/>
          <p:nvPr/>
        </p:nvSpPr>
        <p:spPr>
          <a:xfrm>
            <a:off x="251788" y="1013667"/>
            <a:ext cx="11688424" cy="297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git add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(Staging Area)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추가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대상 파일을 지정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🔎 </a:t>
            </a:r>
            <a:r>
              <a:rPr lang="ko-KR" altLang="en-US" sz="2400" dirty="0" err="1">
                <a:latin typeface="+mn-ea"/>
              </a:rPr>
              <a:t>스테이징</a:t>
            </a:r>
            <a:r>
              <a:rPr lang="ko-KR" altLang="en-US" sz="2400" dirty="0">
                <a:latin typeface="+mn-ea"/>
              </a:rPr>
              <a:t> 영역 </a:t>
            </a:r>
            <a:r>
              <a:rPr lang="en-US" altLang="ko-KR" sz="2400" dirty="0"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커밋할 파일들을 임시로 모아두는 공간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F7F1A7-B16E-5566-B415-DC4DEF98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1F33-6796-4B91-A94D-78A3B1315B6A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4869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1F3D0-A5C5-5AEB-E434-8D11567C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93A5144-3E3E-AC5C-B9F2-45B87E508069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E835B18D-CAEA-D914-CC4F-ECDF5251F4A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C0075-E7A6-8B6A-7F0C-80B5F3A73185}"/>
              </a:ext>
            </a:extLst>
          </p:cNvPr>
          <p:cNvSpPr txBox="1"/>
          <p:nvPr/>
        </p:nvSpPr>
        <p:spPr>
          <a:xfrm>
            <a:off x="251788" y="1013667"/>
            <a:ext cx="11688424" cy="409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git commit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영역의 변경사항을 하나의 버전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저장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🔎 </a:t>
            </a:r>
            <a:r>
              <a:rPr lang="ko-KR" altLang="en-US" sz="2800" dirty="0" err="1">
                <a:latin typeface="+mn-ea"/>
              </a:rPr>
              <a:t>커밋</a:t>
            </a:r>
            <a:r>
              <a:rPr lang="ko-KR" altLang="en-US" sz="2800" dirty="0">
                <a:latin typeface="+mn-ea"/>
              </a:rPr>
              <a:t> </a:t>
            </a:r>
            <a:endParaRPr lang="en-US" altLang="ko-KR" sz="28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 트리에서 준비한 변경사항을 로컬 저장소에 영구적으로 기록하는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소스 코드의 특정 시점 상태를 저장하는 스냅샷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(Snapshot)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역할을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커밋마다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고유한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해시값으로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식별됨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409711-6990-D6FD-8FDB-DC8E4C68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9515-A0E5-4525-9150-DB8CCE5AF209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647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C66B-D3FC-F4D0-9844-AC34CD175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8634605-45B7-F0C8-0CCB-9A3E6AEEA6F1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575EDE4B-1E92-4D6A-5292-796F5346685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26C8C-3D33-DD5A-9703-9AE33DBEE0FA}"/>
              </a:ext>
            </a:extLst>
          </p:cNvPr>
          <p:cNvSpPr txBox="1"/>
          <p:nvPr/>
        </p:nvSpPr>
        <p:spPr>
          <a:xfrm>
            <a:off x="251788" y="1013667"/>
            <a:ext cx="11688424" cy="2335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ko-KR" altLang="en-US" sz="2800" dirty="0" err="1"/>
              <a:t>커밋의</a:t>
            </a:r>
            <a:r>
              <a:rPr lang="ko-KR" altLang="en-US" sz="2800" dirty="0"/>
              <a:t> 특징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변경 이력 관리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프로젝트의 변경 사항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 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영구적으로 기록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복원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롤백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실수나 오류 발생 시 언제든지 안전하게 상태를 복구할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협업 및 추적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누가 언제 어떤 내용을 변경했는지 명확하게 추적할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D1B73B-2484-DBDC-1BB3-768AD61A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0E14-81A2-4CF1-91D6-2D8C4B27BE7E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6366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FDD0-F9A2-3B8C-FD1D-BECDF15D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5D2324D-9653-90AF-C5D9-AEC732B0B5B2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1ED8C7B5-3C61-B99E-037F-4F5E1E171FC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8B965-56AE-1CA0-1A49-57106B19B0D1}"/>
              </a:ext>
            </a:extLst>
          </p:cNvPr>
          <p:cNvSpPr txBox="1"/>
          <p:nvPr/>
        </p:nvSpPr>
        <p:spPr>
          <a:xfrm>
            <a:off x="251788" y="1013667"/>
            <a:ext cx="11688424" cy="3444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ko-KR" altLang="en-US" sz="2800" dirty="0" err="1"/>
              <a:t>커밋의</a:t>
            </a:r>
            <a:r>
              <a:rPr lang="ko-KR" altLang="en-US" sz="2800" dirty="0"/>
              <a:t> 구조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사항에 대한 간단한 설명을 반드시 남김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작성자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만든 사람의 정보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타임스탬프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만들어진 시간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고유한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a1b2c3d…)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식별됨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참조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간의 연결 고리를 형성해 변경 이력을 트리 구조로 관리함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5E6028-99F4-6A09-D7F3-C52A7836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4B62-9347-41F6-A50E-D9754F1952A2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950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Git </a:t>
            </a:r>
            <a:r>
              <a:rPr lang="ko-KR" altLang="en-US" sz="4800" dirty="0"/>
              <a:t>주요 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67239"/>
            <a:ext cx="10515600" cy="52020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스테이징의</a:t>
            </a:r>
            <a:r>
              <a:rPr lang="ko-KR" altLang="en-US" dirty="0"/>
              <a:t> 작업 상태 확인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 status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add</a:t>
            </a:r>
            <a:r>
              <a:rPr lang="ko-KR" altLang="en-US" sz="1800" dirty="0"/>
              <a:t>가 필요한 상태 </a:t>
            </a:r>
            <a:r>
              <a:rPr lang="en-US" altLang="ko-KR" sz="1800" dirty="0"/>
              <a:t>= </a:t>
            </a:r>
            <a:r>
              <a:rPr lang="ko-KR" altLang="en-US" sz="1800" dirty="0">
                <a:solidFill>
                  <a:srgbClr val="FF0000"/>
                </a:solidFill>
              </a:rPr>
              <a:t>붉은색</a:t>
            </a:r>
            <a:r>
              <a:rPr lang="ko-KR" altLang="en-US" sz="1800" dirty="0"/>
              <a:t> 텍스트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add</a:t>
            </a:r>
            <a:r>
              <a:rPr lang="ko-KR" altLang="en-US" sz="1800" dirty="0"/>
              <a:t>가 필요 없는 상태 </a:t>
            </a:r>
            <a:r>
              <a:rPr lang="en-US" altLang="ko-KR" sz="1800" dirty="0"/>
              <a:t>= </a:t>
            </a:r>
            <a:r>
              <a:rPr lang="ko-KR" altLang="en-US" sz="1800" dirty="0">
                <a:solidFill>
                  <a:srgbClr val="00B050"/>
                </a:solidFill>
              </a:rPr>
              <a:t>초록색</a:t>
            </a:r>
            <a:r>
              <a:rPr lang="ko-KR" altLang="en-US" sz="1800" dirty="0"/>
              <a:t> 텍스트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커밋</a:t>
            </a:r>
            <a:r>
              <a:rPr lang="ko-KR" altLang="en-US" dirty="0"/>
              <a:t> 확인</a:t>
            </a:r>
            <a:r>
              <a:rPr lang="en-US" altLang="ko-KR" dirty="0"/>
              <a:t>(</a:t>
            </a:r>
            <a:r>
              <a:rPr lang="ko-KR" altLang="en-US" dirty="0" err="1"/>
              <a:t>최신순으로</a:t>
            </a:r>
            <a:r>
              <a:rPr lang="ko-KR" altLang="en-US" dirty="0"/>
              <a:t> 나옴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 log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en-US" altLang="ko-KR" dirty="0" err="1"/>
              <a:t>git</a:t>
            </a:r>
            <a:r>
              <a:rPr lang="en-US" altLang="ko-KR" dirty="0"/>
              <a:t> log --</a:t>
            </a:r>
            <a:r>
              <a:rPr lang="en-US" altLang="ko-KR" dirty="0" err="1"/>
              <a:t>oneline</a:t>
            </a:r>
            <a:r>
              <a:rPr lang="en-US" altLang="ko-KR" dirty="0"/>
              <a:t> --all --graph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--</a:t>
            </a:r>
            <a:r>
              <a:rPr lang="en-US" altLang="ko-KR" dirty="0" err="1"/>
              <a:t>oneline</a:t>
            </a:r>
            <a:r>
              <a:rPr lang="en-US" altLang="ko-KR" dirty="0"/>
              <a:t> : </a:t>
            </a:r>
            <a:r>
              <a:rPr lang="ko-KR" altLang="en-US" dirty="0"/>
              <a:t>로그 </a:t>
            </a:r>
            <a:r>
              <a:rPr lang="ko-KR" altLang="en-US" dirty="0" err="1"/>
              <a:t>한줄로</a:t>
            </a:r>
            <a:r>
              <a:rPr lang="ko-KR" altLang="en-US" dirty="0"/>
              <a:t> 보기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--all : </a:t>
            </a:r>
            <a:r>
              <a:rPr lang="ko-KR" altLang="en-US" dirty="0"/>
              <a:t>모든 </a:t>
            </a:r>
            <a:r>
              <a:rPr lang="ko-KR" altLang="en-US" dirty="0" err="1"/>
              <a:t>브랜치</a:t>
            </a:r>
            <a:r>
              <a:rPr lang="ko-KR" altLang="en-US" dirty="0"/>
              <a:t> 로그 보기</a:t>
            </a:r>
            <a:r>
              <a:rPr lang="en-US" altLang="ko-KR" dirty="0"/>
              <a:t>, </a:t>
            </a:r>
            <a:r>
              <a:rPr lang="ko-KR" altLang="en-US" dirty="0"/>
              <a:t>안쓰면 현재 </a:t>
            </a:r>
            <a:r>
              <a:rPr lang="ko-KR" altLang="en-US" dirty="0" err="1"/>
              <a:t>브랜치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--graph : </a:t>
            </a:r>
            <a:r>
              <a:rPr lang="ko-KR" altLang="en-US" dirty="0"/>
              <a:t>그래프 형태로 보기</a:t>
            </a:r>
            <a:endParaRPr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5A6690-0ED9-51E0-D323-E6C02267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F7A16-CF93-4333-B312-E598B6B4B5E5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645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1248201" y="215773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1548736" y="1640454"/>
            <a:ext cx="1814920" cy="498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ko-KR" altLang="en-US" sz="2400" b="1" dirty="0" err="1">
                <a:latin typeface="+mn-ea"/>
              </a:rPr>
              <a:t>커밋</a:t>
            </a:r>
            <a:r>
              <a:rPr lang="ko-KR" altLang="en-US" sz="2400" b="1" dirty="0">
                <a:latin typeface="+mn-ea"/>
              </a:rPr>
              <a:t> 예시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11A6F84-A1B5-23DA-41CF-2094404DA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50" y="2205274"/>
            <a:ext cx="4501928" cy="3513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1AA886-9980-EBB7-470B-6DAE9E09EF15}"/>
              </a:ext>
            </a:extLst>
          </p:cNvPr>
          <p:cNvSpPr txBox="1"/>
          <p:nvPr/>
        </p:nvSpPr>
        <p:spPr>
          <a:xfrm>
            <a:off x="6606245" y="2291781"/>
            <a:ext cx="4140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커밋할 파일 추가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영역에 등록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3DA5A-A1F1-0EBE-8CF1-BB09DAC87CCE}"/>
              </a:ext>
            </a:extLst>
          </p:cNvPr>
          <p:cNvSpPr txBox="1"/>
          <p:nvPr/>
        </p:nvSpPr>
        <p:spPr>
          <a:xfrm>
            <a:off x="6606245" y="2775259"/>
            <a:ext cx="3857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 작성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로컬저장소에 저장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A401A-A723-C572-AC2C-C8994E2E5744}"/>
              </a:ext>
            </a:extLst>
          </p:cNvPr>
          <p:cNvSpPr txBox="1"/>
          <p:nvPr/>
        </p:nvSpPr>
        <p:spPr>
          <a:xfrm>
            <a:off x="6606245" y="3805446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원격저장소의 브랜치로 파일 올리기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024808-1060-A22F-1008-85C3A9E69080}"/>
              </a:ext>
            </a:extLst>
          </p:cNvPr>
          <p:cNvSpPr/>
          <p:nvPr/>
        </p:nvSpPr>
        <p:spPr>
          <a:xfrm>
            <a:off x="1685107" y="2345283"/>
            <a:ext cx="1028310" cy="2741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80371D-3C4A-3F8A-F163-8A6A2227E2FD}"/>
              </a:ext>
            </a:extLst>
          </p:cNvPr>
          <p:cNvSpPr/>
          <p:nvPr/>
        </p:nvSpPr>
        <p:spPr>
          <a:xfrm>
            <a:off x="1685107" y="2851673"/>
            <a:ext cx="2277990" cy="2741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3318E-5A6F-0E63-9C72-87FCB3FEC46B}"/>
              </a:ext>
            </a:extLst>
          </p:cNvPr>
          <p:cNvSpPr/>
          <p:nvPr/>
        </p:nvSpPr>
        <p:spPr>
          <a:xfrm>
            <a:off x="1684369" y="3890832"/>
            <a:ext cx="1719927" cy="2741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E423422-E203-0DE8-2F01-FA4EE1FA85B8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921000" y="2482344"/>
            <a:ext cx="3685245" cy="94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93A5622-EB63-4BC2-B02A-B64357ACFBA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191000" y="2975314"/>
            <a:ext cx="241524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A96D2CE-E099-65B3-55CA-1B111A33517F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591560" y="4005501"/>
            <a:ext cx="30146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FC7D9C-7E71-0BEC-513A-8BA418374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C967-3A88-40DB-9238-7C3E273D522A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001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360892" y="1269723"/>
            <a:ext cx="6030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</a:rPr>
              <a:t>✅</a:t>
            </a:r>
            <a:r>
              <a:rPr lang="ko-KR" altLang="en-US" sz="2400" dirty="0" err="1">
                <a:latin typeface="+mn-ea"/>
              </a:rPr>
              <a:t>푸쉬</a:t>
            </a:r>
            <a:r>
              <a:rPr lang="ko-KR" altLang="en-US" sz="2400" dirty="0">
                <a:latin typeface="+mn-ea"/>
              </a:rPr>
              <a:t> 완료 후 </a:t>
            </a:r>
            <a:r>
              <a:rPr lang="en-US" altLang="ko-KR" sz="2400" dirty="0" err="1">
                <a:latin typeface="+mn-ea"/>
              </a:rPr>
              <a:t>github</a:t>
            </a:r>
            <a:r>
              <a:rPr lang="ko-KR" altLang="en-US" sz="2400" dirty="0">
                <a:latin typeface="+mn-ea"/>
              </a:rPr>
              <a:t>에 생성한 저장소로 이동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CBC9736-7A1A-7F58-ADB3-C89C8F9BF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497" y="1918144"/>
            <a:ext cx="7191006" cy="41441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19F2DC-23EA-2FCA-F9A6-D409C62CCC4D}"/>
              </a:ext>
            </a:extLst>
          </p:cNvPr>
          <p:cNvSpPr/>
          <p:nvPr/>
        </p:nvSpPr>
        <p:spPr>
          <a:xfrm>
            <a:off x="2537850" y="3309257"/>
            <a:ext cx="3950036" cy="33745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40C6A2-3BC3-DCC8-6048-85BC93D54739}"/>
              </a:ext>
            </a:extLst>
          </p:cNvPr>
          <p:cNvSpPr/>
          <p:nvPr/>
        </p:nvSpPr>
        <p:spPr>
          <a:xfrm>
            <a:off x="2286000" y="3735628"/>
            <a:ext cx="8481387" cy="990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71D9B-60AF-B5EA-775B-0820AF252A68}"/>
              </a:ext>
            </a:extLst>
          </p:cNvPr>
          <p:cNvSpPr txBox="1"/>
          <p:nvPr/>
        </p:nvSpPr>
        <p:spPr>
          <a:xfrm>
            <a:off x="2430480" y="3708647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✔️추가했던 파일들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3549F9-8F2F-EE2C-33AA-79FAE26AFBB4}"/>
              </a:ext>
            </a:extLst>
          </p:cNvPr>
          <p:cNvSpPr txBox="1"/>
          <p:nvPr/>
        </p:nvSpPr>
        <p:spPr>
          <a:xfrm>
            <a:off x="5372036" y="3578978"/>
            <a:ext cx="4669432" cy="12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✔️커밋했을 때 작성한 메시지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했을 때의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영역에</a:t>
            </a:r>
            <a:b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올라간 파일에만 작성됨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05DF46-7FF8-463B-0993-A0F6E7BA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E925-B1D9-4E6F-B251-A550927B33BB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66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2. </a:t>
            </a:r>
            <a:r>
              <a:rPr lang="ko-KR" altLang="en-US" sz="4800" dirty="0">
                <a:solidFill>
                  <a:schemeClr val="accent2"/>
                </a:solidFill>
              </a:rPr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55607" y="1693341"/>
            <a:ext cx="5917004" cy="1689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더 생성하기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hello.txt, test.txt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신규 생성한 파일에 텍스트로 글을 작성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생성된 모든 파일을 원격저장소로 올리기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pic>
        <p:nvPicPr>
          <p:cNvPr id="4" name="그림 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86704363-9E64-28FA-E538-30379C099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607" y="3806395"/>
            <a:ext cx="7080785" cy="1358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CC869B-21D4-9359-F13B-584AC9AC29A6}"/>
              </a:ext>
            </a:extLst>
          </p:cNvPr>
          <p:cNvSpPr txBox="1"/>
          <p:nvPr/>
        </p:nvSpPr>
        <p:spPr>
          <a:xfrm>
            <a:off x="4246776" y="5287366"/>
            <a:ext cx="369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실습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올라간 화면 예시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34AA1B-01D1-6DA0-E02A-1886460F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5EA-BBB0-48B9-AC0C-D45E9864B971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984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00A8D-EE34-6F5F-A052-BB692256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197C26-242E-1BAE-5402-3BD70571F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1835"/>
            <a:ext cx="11701221" cy="1346372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Commit</a:t>
            </a:r>
            <a:r>
              <a:rPr lang="ko-KR" altLang="en-US" dirty="0"/>
              <a:t> 을 수행하면 </a:t>
            </a:r>
            <a:r>
              <a:rPr lang="en-US" altLang="ko-KR" dirty="0"/>
              <a:t>Node </a:t>
            </a:r>
            <a:r>
              <a:rPr lang="ko-KR" altLang="en-US" dirty="0"/>
              <a:t>가 생성됨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✔️ 각 </a:t>
            </a:r>
            <a:r>
              <a:rPr lang="en-US" altLang="ko-KR" dirty="0"/>
              <a:t>Commit Node</a:t>
            </a:r>
            <a:r>
              <a:rPr lang="ko-KR" altLang="en-US" dirty="0"/>
              <a:t>는 고유한 </a:t>
            </a:r>
            <a:r>
              <a:rPr lang="en-US" altLang="ko-KR" dirty="0"/>
              <a:t>ID</a:t>
            </a:r>
            <a:r>
              <a:rPr lang="ko-KR" altLang="en-US" dirty="0"/>
              <a:t>를 가짐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B0AE9-4344-0C24-5A6B-DC6A4879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D738-4C91-4348-9D45-6AE9B485DCF5}" type="datetime6">
              <a:rPr lang="ko-KR" altLang="en-US" smtClean="0"/>
              <a:t>2025년 11월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12942C-996A-73B4-DFE6-A5F4175FAC32}"/>
              </a:ext>
            </a:extLst>
          </p:cNvPr>
          <p:cNvGrpSpPr/>
          <p:nvPr/>
        </p:nvGrpSpPr>
        <p:grpSpPr>
          <a:xfrm>
            <a:off x="1282005" y="3350422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783C5B2F-A64B-31A2-F339-0FABC383D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CFBCDD-4326-0A43-0748-53F6EEA2E427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118160-FEE4-EAA5-EC30-6182CFB364E0}"/>
              </a:ext>
            </a:extLst>
          </p:cNvPr>
          <p:cNvGrpSpPr/>
          <p:nvPr/>
        </p:nvGrpSpPr>
        <p:grpSpPr>
          <a:xfrm>
            <a:off x="6670059" y="3350422"/>
            <a:ext cx="1181734" cy="1283732"/>
            <a:chOff x="987725" y="2514600"/>
            <a:chExt cx="1181734" cy="1283732"/>
          </a:xfrm>
        </p:grpSpPr>
        <p:pic>
          <p:nvPicPr>
            <p:cNvPr id="10" name="그래픽 9" descr="용지 단색으로 채워진">
              <a:extLst>
                <a:ext uri="{FF2B5EF4-FFF2-40B4-BE49-F238E27FC236}">
                  <a16:creationId xmlns:a16="http://schemas.microsoft.com/office/drawing/2014/main" id="{864EB52D-378C-5604-B555-912482BCA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E65AFF-7717-B2A5-9779-DB9C70F2D8A3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827EC1D-C010-7A46-D0EF-C386F00942D3}"/>
              </a:ext>
            </a:extLst>
          </p:cNvPr>
          <p:cNvGrpSpPr/>
          <p:nvPr/>
        </p:nvGrpSpPr>
        <p:grpSpPr>
          <a:xfrm>
            <a:off x="3976032" y="3350422"/>
            <a:ext cx="1181734" cy="1283732"/>
            <a:chOff x="987725" y="2514600"/>
            <a:chExt cx="1181734" cy="1283732"/>
          </a:xfrm>
        </p:grpSpPr>
        <p:pic>
          <p:nvPicPr>
            <p:cNvPr id="13" name="그래픽 12" descr="용지 단색으로 채워진">
              <a:extLst>
                <a:ext uri="{FF2B5EF4-FFF2-40B4-BE49-F238E27FC236}">
                  <a16:creationId xmlns:a16="http://schemas.microsoft.com/office/drawing/2014/main" id="{D9D7680C-21CA-8899-6425-19335A902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DD5458-1DC5-53C0-88F5-978484823EC9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EFBCE23-E6CB-9546-A690-7DD2E6D74CD7}"/>
              </a:ext>
            </a:extLst>
          </p:cNvPr>
          <p:cNvGrpSpPr/>
          <p:nvPr/>
        </p:nvGrpSpPr>
        <p:grpSpPr>
          <a:xfrm>
            <a:off x="9497753" y="3340090"/>
            <a:ext cx="1181734" cy="1283732"/>
            <a:chOff x="987725" y="2514600"/>
            <a:chExt cx="1181734" cy="1283732"/>
          </a:xfrm>
        </p:grpSpPr>
        <p:pic>
          <p:nvPicPr>
            <p:cNvPr id="16" name="그래픽 15" descr="용지 단색으로 채워진">
              <a:extLst>
                <a:ext uri="{FF2B5EF4-FFF2-40B4-BE49-F238E27FC236}">
                  <a16:creationId xmlns:a16="http://schemas.microsoft.com/office/drawing/2014/main" id="{131772D9-96A5-40AD-B99C-C1C399A65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C45E39-8218-84A7-4CBD-96D7A23169B4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52084F3-10AE-5FCD-1EB4-E863EC0A2572}"/>
              </a:ext>
            </a:extLst>
          </p:cNvPr>
          <p:cNvCxnSpPr/>
          <p:nvPr/>
        </p:nvCxnSpPr>
        <p:spPr>
          <a:xfrm>
            <a:off x="2711837" y="4982011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880491E-B35A-D671-D9F8-14A46F610A0C}"/>
              </a:ext>
            </a:extLst>
          </p:cNvPr>
          <p:cNvCxnSpPr/>
          <p:nvPr/>
        </p:nvCxnSpPr>
        <p:spPr>
          <a:xfrm>
            <a:off x="5390913" y="4982011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128CD90-5304-02D5-871F-21A55FC60C02}"/>
              </a:ext>
            </a:extLst>
          </p:cNvPr>
          <p:cNvCxnSpPr/>
          <p:nvPr/>
        </p:nvCxnSpPr>
        <p:spPr>
          <a:xfrm>
            <a:off x="8156850" y="4982011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24C28A-C7DB-99A7-8897-60D6FE32C034}"/>
              </a:ext>
            </a:extLst>
          </p:cNvPr>
          <p:cNvSpPr txBox="1"/>
          <p:nvPr/>
        </p:nvSpPr>
        <p:spPr>
          <a:xfrm>
            <a:off x="2971144" y="449410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3D654D-B6B1-BFAD-64C8-8D31B9CF685B}"/>
              </a:ext>
            </a:extLst>
          </p:cNvPr>
          <p:cNvSpPr txBox="1"/>
          <p:nvPr/>
        </p:nvSpPr>
        <p:spPr>
          <a:xfrm>
            <a:off x="5666189" y="449581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E19A5-4FCA-D713-4EBE-8CB48509C49A}"/>
              </a:ext>
            </a:extLst>
          </p:cNvPr>
          <p:cNvSpPr txBox="1"/>
          <p:nvPr/>
        </p:nvSpPr>
        <p:spPr>
          <a:xfrm>
            <a:off x="8380578" y="449410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F561A9-3E9A-32A1-FEE4-7C8F887C63D4}"/>
              </a:ext>
            </a:extLst>
          </p:cNvPr>
          <p:cNvSpPr txBox="1"/>
          <p:nvPr/>
        </p:nvSpPr>
        <p:spPr>
          <a:xfrm>
            <a:off x="1443137" y="295943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Ver.1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56986F-4143-BBB5-A6DB-2FA6A543E634}"/>
              </a:ext>
            </a:extLst>
          </p:cNvPr>
          <p:cNvSpPr txBox="1"/>
          <p:nvPr/>
        </p:nvSpPr>
        <p:spPr>
          <a:xfrm>
            <a:off x="4208467" y="295943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03AF8-8021-3C6A-B404-92A3CD9DB956}"/>
              </a:ext>
            </a:extLst>
          </p:cNvPr>
          <p:cNvSpPr txBox="1"/>
          <p:nvPr/>
        </p:nvSpPr>
        <p:spPr>
          <a:xfrm>
            <a:off x="6885663" y="2959439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11FB00-F98C-5496-EE22-EB0843A7D9C8}"/>
              </a:ext>
            </a:extLst>
          </p:cNvPr>
          <p:cNvSpPr txBox="1"/>
          <p:nvPr/>
        </p:nvSpPr>
        <p:spPr>
          <a:xfrm>
            <a:off x="9639723" y="2970758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Ver.4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D6BDF67-ACC1-E7F7-B9B0-F4CCCB82D4D4}"/>
              </a:ext>
            </a:extLst>
          </p:cNvPr>
          <p:cNvSpPr/>
          <p:nvPr/>
        </p:nvSpPr>
        <p:spPr>
          <a:xfrm>
            <a:off x="1592972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E0B7757-22AB-D27C-1143-268654E3634F}"/>
              </a:ext>
            </a:extLst>
          </p:cNvPr>
          <p:cNvSpPr/>
          <p:nvPr/>
        </p:nvSpPr>
        <p:spPr>
          <a:xfrm>
            <a:off x="4303830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30CB470-33C5-B020-6FC4-AA5970774A73}"/>
              </a:ext>
            </a:extLst>
          </p:cNvPr>
          <p:cNvSpPr/>
          <p:nvPr/>
        </p:nvSpPr>
        <p:spPr>
          <a:xfrm>
            <a:off x="6974848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61C75FE-2DA1-FCED-94EB-1CEF073829DF}"/>
              </a:ext>
            </a:extLst>
          </p:cNvPr>
          <p:cNvSpPr/>
          <p:nvPr/>
        </p:nvSpPr>
        <p:spPr>
          <a:xfrm>
            <a:off x="9808720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9CE7DB-3489-F60D-730D-4F9A08980CFC}"/>
              </a:ext>
            </a:extLst>
          </p:cNvPr>
          <p:cNvSpPr txBox="1"/>
          <p:nvPr/>
        </p:nvSpPr>
        <p:spPr>
          <a:xfrm>
            <a:off x="1435893" y="529255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03d1a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5F85B8-C7A6-AC5B-6D35-4F69617D816E}"/>
              </a:ext>
            </a:extLst>
          </p:cNvPr>
          <p:cNvSpPr txBox="1"/>
          <p:nvPr/>
        </p:nvSpPr>
        <p:spPr>
          <a:xfrm>
            <a:off x="4169193" y="529255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a3b19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10DBD-5BDC-AEE9-D700-02EFD2F7D541}"/>
              </a:ext>
            </a:extLst>
          </p:cNvPr>
          <p:cNvSpPr txBox="1"/>
          <p:nvPr/>
        </p:nvSpPr>
        <p:spPr>
          <a:xfrm>
            <a:off x="6895800" y="529255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5ff31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F5485C-7C5D-8341-3587-8F09D3DF232B}"/>
              </a:ext>
            </a:extLst>
          </p:cNvPr>
          <p:cNvSpPr txBox="1"/>
          <p:nvPr/>
        </p:nvSpPr>
        <p:spPr>
          <a:xfrm>
            <a:off x="9675686" y="5260175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53cd1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4815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A2EED2-57EC-8EF8-25EB-7D35708AD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216847"/>
            <a:ext cx="11701221" cy="410022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메모장에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“ABC”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적고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레포지토리에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txt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저장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앞 페이지에서 학습한 명령어들을 사용하여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노드 생성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파일을 다시 열어서 내용을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“DEF”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바꾸고 또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노드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내역을 확인하는 명령어를 사용하여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 확인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내역을 스크린샷으로 찍어서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슬랙에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댓글로 제출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12184-AF0C-C4D9-7497-FFCF6836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A0ED-84BB-4B56-903A-25219C3F9028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 txBox="1">
            <a:spLocks/>
          </p:cNvSpPr>
          <p:nvPr/>
        </p:nvSpPr>
        <p:spPr>
          <a:xfrm>
            <a:off x="2517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ea"/>
                <a:ea typeface="+mj-ea"/>
                <a:cs typeface="Malgun Gothic Semilight" panose="020B0503020000020004" pitchFamily="34" charset="-127"/>
              </a:defRPr>
            </a:lvl1pPr>
          </a:lstStyle>
          <a:p>
            <a:r>
              <a:rPr lang="ko-KR" altLang="en-US" sz="4800" dirty="0">
                <a:solidFill>
                  <a:srgbClr val="ED7D31"/>
                </a:solidFill>
              </a:rPr>
              <a:t>실습</a:t>
            </a:r>
            <a:r>
              <a:rPr lang="en-US" altLang="ko-KR" sz="4800" dirty="0">
                <a:solidFill>
                  <a:srgbClr val="ED7D31"/>
                </a:solidFill>
              </a:rPr>
              <a:t>3. </a:t>
            </a:r>
            <a:r>
              <a:rPr lang="en-US" altLang="ko-KR" sz="4800" dirty="0" err="1">
                <a:solidFill>
                  <a:srgbClr val="ED7D31"/>
                </a:solidFill>
              </a:rPr>
              <a:t>Git</a:t>
            </a:r>
            <a:r>
              <a:rPr lang="en-US" altLang="ko-KR" sz="4800" dirty="0">
                <a:solidFill>
                  <a:srgbClr val="ED7D31"/>
                </a:solidFill>
              </a:rPr>
              <a:t> </a:t>
            </a:r>
            <a:r>
              <a:rPr lang="ko-KR" altLang="en-US" sz="4800" dirty="0">
                <a:solidFill>
                  <a:srgbClr val="ED7D31"/>
                </a:solidFill>
              </a:rPr>
              <a:t>테스트</a:t>
            </a:r>
          </a:p>
        </p:txBody>
      </p:sp>
    </p:spTree>
    <p:extLst>
      <p:ext uri="{BB962C8B-B14F-4D97-AF65-F5344CB8AC3E}">
        <p14:creationId xmlns:p14="http://schemas.microsoft.com/office/powerpoint/2010/main" val="4020637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Q &amp; A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1788" y="1184892"/>
            <a:ext cx="11606536" cy="4488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파일을 신규로 제작하고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하게 되면 원격저장소에 파일이 업로드됨</a:t>
            </a:r>
            <a:b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만약 기존 파일에서 코드만 수정만 한다면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다시 파일이 업로드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되는게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아닌 코드만 수정됨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스냅샷 방식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폴더에 아무 파일도 존재하지 않는다면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폴더는 원격저장소에 업로드 되지 않음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적어도 하나의 파일이 존재해야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폴더가 올라가는 게 아닌 파일이 올라가는 것이기 때문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중요한 정보가 담긴 파일도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저장소에 올려도 되나요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아니요</a:t>
            </a: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안됨</a:t>
            </a: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!!!!!!!!!!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gitignore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만들어서 파일을 무시하게 해야함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BF8009-6665-C76F-9C9B-00C9D626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FD36-0D4A-4200-85CC-4C0AE78C2E91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3545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.gitignore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1788" y="995353"/>
            <a:ext cx="11325474" cy="486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모든 파일이 전부 </a:t>
            </a:r>
            <a:r>
              <a:rPr lang="en-US" altLang="ko-KR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원격저장소에 올릴 필요가 없음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특히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key, DB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접속정보 등 외부에 노출하면 안되는 정보는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8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Git </a:t>
            </a:r>
            <a:r>
              <a:rPr lang="ko-KR" altLang="en-US" sz="28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원격저장소에 올리면 절대 안됨</a:t>
            </a:r>
            <a:endParaRPr lang="en-US" altLang="ko-KR" sz="28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올리면 안되는 파일들에 대한 정보를 담는 파일이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gitignore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8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gitignore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파일은 루트 폴더가 있는 곳에 있어야함</a:t>
            </a:r>
            <a:endParaRPr lang="en-US" altLang="ko-KR" sz="28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6B4AC0-4ED3-10BC-3827-7EB1FCA1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1E99B-3A55-433E-83A4-05BCF3CC1D48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788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.gitignore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396627" y="1596643"/>
            <a:ext cx="6595075" cy="3906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규칙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.txt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확장자가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끝나는 파일 모두 무시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text.txt : text.txt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무시되지 않음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</a:t>
            </a: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루트 폴더내 하위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폴더중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이름이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폴더의 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파일들은 무시한다는 뜻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상대 경로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루트 폴더내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폴더를 무시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경로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프로젝트 루트 기준으로 경로 지정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078A599-651A-34CA-83A9-5BAE985CFA31}"/>
              </a:ext>
            </a:extLst>
          </p:cNvPr>
          <p:cNvGrpSpPr/>
          <p:nvPr/>
        </p:nvGrpSpPr>
        <p:grpSpPr>
          <a:xfrm>
            <a:off x="7324419" y="1766657"/>
            <a:ext cx="4722829" cy="3736505"/>
            <a:chOff x="7315200" y="1262155"/>
            <a:chExt cx="4722829" cy="373650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663D100-9789-A5FD-B97B-8A6BB61EAD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7987" y="1325563"/>
              <a:ext cx="4520505" cy="1996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7A5143-FDF9-DDEE-E44A-0FB51B1956BA}"/>
                </a:ext>
              </a:extLst>
            </p:cNvPr>
            <p:cNvSpPr txBox="1"/>
            <p:nvPr/>
          </p:nvSpPr>
          <p:spPr>
            <a:xfrm>
              <a:off x="7407987" y="3429000"/>
              <a:ext cx="389160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무시되는 파일 예시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342900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test/ : b.exe, a.exe</a:t>
              </a:r>
            </a:p>
            <a:p>
              <a:pPr marL="342900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/test : b.exe</a:t>
              </a:r>
              <a:b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</a:b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a.exe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무시되지 </a:t>
              </a:r>
              <a:r>
                <a:rPr lang="ko-KR" altLang="en-US" sz="2000" dirty="0">
                  <a:solidFill>
                    <a:srgbClr val="FF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않음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195185A-1D2D-556E-7838-16824E3D631E}"/>
                </a:ext>
              </a:extLst>
            </p:cNvPr>
            <p:cNvSpPr/>
            <p:nvPr/>
          </p:nvSpPr>
          <p:spPr>
            <a:xfrm>
              <a:off x="7315200" y="1262155"/>
              <a:ext cx="4722829" cy="334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F01D5E-7986-AC56-9E64-E28EDFB7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EB38-B657-4D90-BE4F-D943E4583CCA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6250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80" y="1219517"/>
            <a:ext cx="10515600" cy="502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주의사항</a:t>
            </a:r>
          </a:p>
          <a:p>
            <a:pPr marL="457200" lvl="1" indent="0"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프로젝트에는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.git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폴더가 한 번만 생성되어야 함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실수 사례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D460F82-7798-D749-0381-59257B548B84}"/>
              </a:ext>
            </a:extLst>
          </p:cNvPr>
          <p:cNvGrpSpPr/>
          <p:nvPr/>
        </p:nvGrpSpPr>
        <p:grpSpPr>
          <a:xfrm>
            <a:off x="659788" y="2824213"/>
            <a:ext cx="10872424" cy="2709650"/>
            <a:chOff x="807292" y="2795337"/>
            <a:chExt cx="10872424" cy="2709650"/>
          </a:xfrm>
        </p:grpSpPr>
        <p:pic>
          <p:nvPicPr>
            <p:cNvPr id="2" name="그림 1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04B37F50-F754-83B2-5113-B3E8CD246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292" y="2795337"/>
              <a:ext cx="3739081" cy="27096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3D2974-7A01-89DF-0DFA-4C9F8D2AC47D}"/>
                </a:ext>
              </a:extLst>
            </p:cNvPr>
            <p:cNvSpPr txBox="1"/>
            <p:nvPr/>
          </p:nvSpPr>
          <p:spPr>
            <a:xfrm>
              <a:off x="5105852" y="3207243"/>
              <a:ext cx="6573864" cy="1885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루트 폴더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(git-test)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에서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init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후 정상적으로 버전 관리 중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(a)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에서 다시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init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→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또 다른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.git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생성됨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결과적으로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.git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디렉토리가 중복됨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루트에서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push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시 오류 발생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01254-E9A6-43BA-A27A-2C2D4599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95A4-3636-43BC-B59C-18C2264D33A9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429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 </a:t>
            </a:r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내려받기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89EFF5-0E9D-B198-42E3-53CE09D2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1B2-B59A-4A9D-8E8B-135952ED0AE8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222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DE14B-F590-5390-4ED0-85934CA6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48FE-F1A4-4C6E-A562-7C19E95ECFE5}" type="datetime6">
              <a:rPr lang="ko-KR" altLang="en-US" smtClean="0"/>
              <a:t>2025년 11월</a:t>
            </a:fld>
            <a:endParaRPr lang="ko-KR" altLang="en-US"/>
          </a:p>
        </p:txBody>
      </p:sp>
      <p:pic>
        <p:nvPicPr>
          <p:cNvPr id="8" name="그림 7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81459821-95CF-3555-EA73-B302A2E83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18" y="1374470"/>
            <a:ext cx="9723963" cy="410906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312E734-2A6B-2684-0FF9-747A82C20C5B}"/>
              </a:ext>
            </a:extLst>
          </p:cNvPr>
          <p:cNvSpPr/>
          <p:nvPr/>
        </p:nvSpPr>
        <p:spPr>
          <a:xfrm>
            <a:off x="811924" y="1064171"/>
            <a:ext cx="7740870" cy="13952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7D987-75FA-F05A-5784-9A236377BD24}"/>
              </a:ext>
            </a:extLst>
          </p:cNvPr>
          <p:cNvSpPr txBox="1"/>
          <p:nvPr/>
        </p:nvSpPr>
        <p:spPr>
          <a:xfrm>
            <a:off x="748861" y="617431"/>
            <a:ext cx="327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PC </a:t>
            </a:r>
            <a:r>
              <a:rPr lang="ko-KR" altLang="en-US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 </a:t>
            </a:r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(Repository)</a:t>
            </a:r>
            <a:endParaRPr lang="ko-KR" altLang="en-US" sz="2400" b="1" dirty="0">
              <a:solidFill>
                <a:schemeClr val="accent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51CC65-D0AD-8FCB-48C8-EB3EABAF5D2B}"/>
              </a:ext>
            </a:extLst>
          </p:cNvPr>
          <p:cNvSpPr/>
          <p:nvPr/>
        </p:nvSpPr>
        <p:spPr>
          <a:xfrm>
            <a:off x="8974887" y="1053824"/>
            <a:ext cx="2468251" cy="140559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C7309-27FB-BF8C-2566-5CB59117A603}"/>
              </a:ext>
            </a:extLst>
          </p:cNvPr>
          <p:cNvSpPr txBox="1"/>
          <p:nvPr/>
        </p:nvSpPr>
        <p:spPr>
          <a:xfrm>
            <a:off x="8713074" y="578969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</a:t>
            </a:r>
            <a:r>
              <a:rPr lang="en-US" altLang="ko-KR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(GitHub)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</a:t>
            </a:r>
          </a:p>
        </p:txBody>
      </p:sp>
      <p:pic>
        <p:nvPicPr>
          <p:cNvPr id="13" name="그래픽 12" descr="배지 1 윤곽선">
            <a:extLst>
              <a:ext uri="{FF2B5EF4-FFF2-40B4-BE49-F238E27FC236}">
                <a16:creationId xmlns:a16="http://schemas.microsoft.com/office/drawing/2014/main" id="{C3B584B1-B0E4-0F03-D0B8-1A8FDEA25F0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7351" y="2567428"/>
            <a:ext cx="405849" cy="405849"/>
          </a:xfrm>
          <a:prstGeom prst="rect">
            <a:avLst/>
          </a:prstGeom>
        </p:spPr>
      </p:pic>
      <p:pic>
        <p:nvPicPr>
          <p:cNvPr id="15" name="그래픽 14" descr="배지 윤곽선">
            <a:extLst>
              <a:ext uri="{FF2B5EF4-FFF2-40B4-BE49-F238E27FC236}">
                <a16:creationId xmlns:a16="http://schemas.microsoft.com/office/drawing/2014/main" id="{D0A5762C-A94C-0779-6045-2680F1F5E7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699" y="3042743"/>
            <a:ext cx="423043" cy="423043"/>
          </a:xfrm>
          <a:prstGeom prst="rect">
            <a:avLst/>
          </a:prstGeom>
        </p:spPr>
      </p:pic>
      <p:pic>
        <p:nvPicPr>
          <p:cNvPr id="17" name="그래픽 16" descr="배지 3 윤곽선">
            <a:extLst>
              <a:ext uri="{FF2B5EF4-FFF2-40B4-BE49-F238E27FC236}">
                <a16:creationId xmlns:a16="http://schemas.microsoft.com/office/drawing/2014/main" id="{3C2AD771-BE73-11AF-75E8-9B05A1C3BBE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01151" y="3610303"/>
            <a:ext cx="449318" cy="449318"/>
          </a:xfrm>
          <a:prstGeom prst="rect">
            <a:avLst/>
          </a:prstGeom>
        </p:spPr>
      </p:pic>
      <p:pic>
        <p:nvPicPr>
          <p:cNvPr id="20" name="그래픽 19" descr="배지 4 윤곽선">
            <a:extLst>
              <a:ext uri="{FF2B5EF4-FFF2-40B4-BE49-F238E27FC236}">
                <a16:creationId xmlns:a16="http://schemas.microsoft.com/office/drawing/2014/main" id="{739C7520-CEC2-B913-C8A3-34475F7C2B4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1955" y="4493173"/>
            <a:ext cx="423043" cy="4230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C2297B-E62A-D416-0040-F880C378E8DB}"/>
              </a:ext>
            </a:extLst>
          </p:cNvPr>
          <p:cNvSpPr/>
          <p:nvPr/>
        </p:nvSpPr>
        <p:spPr>
          <a:xfrm>
            <a:off x="811924" y="4278489"/>
            <a:ext cx="10631213" cy="1231974"/>
          </a:xfrm>
          <a:prstGeom prst="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F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95885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코드를 왜 받을까</a:t>
            </a:r>
            <a:r>
              <a:rPr lang="en-US" altLang="ko-KR" sz="4800" dirty="0"/>
              <a:t>?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2" y="1080031"/>
            <a:ext cx="11514667" cy="3297236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코드 복사 </a:t>
            </a:r>
            <a:r>
              <a:rPr lang="en-US" altLang="ko-KR" dirty="0"/>
              <a:t>: </a:t>
            </a:r>
            <a:r>
              <a:rPr lang="ko-KR" altLang="en-US" dirty="0"/>
              <a:t>원격저장소에 있는 코드를 내 컴퓨터에 백업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협업 용이 </a:t>
            </a:r>
            <a:r>
              <a:rPr lang="en-US" altLang="ko-KR" dirty="0"/>
              <a:t>: </a:t>
            </a:r>
            <a:r>
              <a:rPr lang="ko-KR" altLang="en-US" dirty="0"/>
              <a:t>팀원들이 작업중인 코드를 내 컴퓨터에서 작업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최신 상태 유지</a:t>
            </a:r>
            <a:r>
              <a:rPr lang="en-US" altLang="ko-KR" dirty="0"/>
              <a:t>: </a:t>
            </a:r>
            <a:r>
              <a:rPr lang="ko-KR" altLang="en-US" dirty="0"/>
              <a:t>항상 최신 버전의 코드를 가져와서 최신 상태로 작업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빠른 시작 </a:t>
            </a:r>
            <a:r>
              <a:rPr lang="en-US" altLang="ko-KR" dirty="0"/>
              <a:t>: </a:t>
            </a:r>
            <a:r>
              <a:rPr lang="ko-KR" altLang="en-US" dirty="0"/>
              <a:t>기존 프로젝트를 바로 내 컴퓨터에서 실행하고 테스트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프로젝트 설정 </a:t>
            </a:r>
            <a:r>
              <a:rPr lang="en-US" altLang="ko-KR" dirty="0"/>
              <a:t>: </a:t>
            </a:r>
            <a:r>
              <a:rPr lang="ko-KR" altLang="en-US" dirty="0"/>
              <a:t>프로젝트 처음 설정 시 필요한 파일과 폴더 구조를 한번에 가져 올 수 있음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CF605-ACAF-5BC3-0BC1-20946290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C137C-A204-4145-B4EB-07AC5CAA23DD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5575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5630-D2A3-34FF-344E-51F04829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원격 저장소 만들기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BB560-7802-EC16-9EA1-588CF0DC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308C-36A0-4618-A57F-2734D7FA9BF8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860F8E8-F2F7-5E14-B9F1-F76DF5256AAF}"/>
              </a:ext>
            </a:extLst>
          </p:cNvPr>
          <p:cNvGrpSpPr/>
          <p:nvPr/>
        </p:nvGrpSpPr>
        <p:grpSpPr>
          <a:xfrm>
            <a:off x="1057594" y="2257609"/>
            <a:ext cx="3772426" cy="2562583"/>
            <a:chOff x="1075427" y="1690688"/>
            <a:chExt cx="3772426" cy="25625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AD13DA3-89A3-FE18-A29A-35060F587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427" y="1690688"/>
              <a:ext cx="3772426" cy="256258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1CE2E90-359A-6317-7FEC-E9B4A9B7ED97}"/>
                </a:ext>
              </a:extLst>
            </p:cNvPr>
            <p:cNvSpPr/>
            <p:nvPr/>
          </p:nvSpPr>
          <p:spPr>
            <a:xfrm>
              <a:off x="3783330" y="3200400"/>
              <a:ext cx="1040130" cy="68580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328D384-C233-B85F-0731-FA47C5460C58}"/>
              </a:ext>
            </a:extLst>
          </p:cNvPr>
          <p:cNvGrpSpPr/>
          <p:nvPr/>
        </p:nvGrpSpPr>
        <p:grpSpPr>
          <a:xfrm>
            <a:off x="5635825" y="1145407"/>
            <a:ext cx="6058264" cy="4976897"/>
            <a:chOff x="5058309" y="1515978"/>
            <a:chExt cx="6058264" cy="497689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6DA7A59-A62B-7C46-EAA5-EC8FC5783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8309" y="1515978"/>
              <a:ext cx="6058264" cy="4976897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3C3BC4-D9BC-7B9B-94D9-1B11F9C10BEA}"/>
                </a:ext>
              </a:extLst>
            </p:cNvPr>
            <p:cNvSpPr/>
            <p:nvPr/>
          </p:nvSpPr>
          <p:spPr>
            <a:xfrm>
              <a:off x="5135880" y="4164330"/>
              <a:ext cx="4065270" cy="39624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942EE6B-0D9E-6456-6573-79943E733060}"/>
                </a:ext>
              </a:extLst>
            </p:cNvPr>
            <p:cNvSpPr/>
            <p:nvPr/>
          </p:nvSpPr>
          <p:spPr>
            <a:xfrm>
              <a:off x="5128260" y="5257800"/>
              <a:ext cx="1352550" cy="25146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A2179E8-4B4F-50E4-16D1-4B374038A6E0}"/>
                </a:ext>
              </a:extLst>
            </p:cNvPr>
            <p:cNvSpPr/>
            <p:nvPr/>
          </p:nvSpPr>
          <p:spPr>
            <a:xfrm>
              <a:off x="6734890" y="2628180"/>
              <a:ext cx="1734739" cy="52649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36544F-A033-0BE7-A9C9-0253976A89B7}"/>
                </a:ext>
              </a:extLst>
            </p:cNvPr>
            <p:cNvSpPr txBox="1"/>
            <p:nvPr/>
          </p:nvSpPr>
          <p:spPr>
            <a:xfrm>
              <a:off x="6819032" y="2778481"/>
              <a:ext cx="1566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err="1">
                  <a:solidFill>
                    <a:srgbClr val="00B050"/>
                  </a:solidFill>
                </a:rPr>
                <a:t>MyTestRepo</a:t>
              </a:r>
              <a:endParaRPr lang="ko-KR" altLang="en-US" b="1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54685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C53E-8EE7-A875-A4F0-F918F081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5FE17-867E-61AB-7183-38AB815C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clone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8017D0-AF27-A833-7DBB-CF24410A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569945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clone (Remote</a:t>
            </a:r>
            <a:r>
              <a:rPr lang="ko-KR" altLang="en-US" dirty="0"/>
              <a:t> </a:t>
            </a:r>
            <a:r>
              <a:rPr lang="en-US" altLang="ko-KR" dirty="0"/>
              <a:t>Repo.</a:t>
            </a:r>
            <a:r>
              <a:rPr lang="ko-KR" altLang="en-US" dirty="0"/>
              <a:t>의 </a:t>
            </a:r>
            <a:r>
              <a:rPr lang="en-US" altLang="ko-KR" dirty="0"/>
              <a:t>HTTPS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✔️ 원격 저장소의 파일과 </a:t>
            </a:r>
            <a:r>
              <a:rPr lang="en-US" altLang="ko-KR" dirty="0"/>
              <a:t>Git </a:t>
            </a:r>
            <a:r>
              <a:rPr lang="ko-KR" altLang="en-US" dirty="0"/>
              <a:t>히스토리</a:t>
            </a:r>
            <a:r>
              <a:rPr lang="en-US" altLang="ko-KR" dirty="0"/>
              <a:t>(.git </a:t>
            </a:r>
            <a:r>
              <a:rPr lang="ko-KR" altLang="en-US" dirty="0"/>
              <a:t>폴더까지 포함</a:t>
            </a:r>
            <a:r>
              <a:rPr lang="en-US" altLang="ko-KR" dirty="0"/>
              <a:t>)</a:t>
            </a:r>
            <a:r>
              <a:rPr lang="ko-KR" altLang="en-US" dirty="0"/>
              <a:t>를 복사하여</a:t>
            </a:r>
            <a:r>
              <a:rPr lang="en-US" altLang="ko-KR" dirty="0"/>
              <a:t>, </a:t>
            </a:r>
            <a:r>
              <a:rPr lang="ko-KR" altLang="en-US" dirty="0"/>
              <a:t>내 컴퓨터에 새로운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     로컬 저장소를 생성함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GitHub </a:t>
            </a:r>
            <a:r>
              <a:rPr lang="ko-KR" altLang="en-US" dirty="0"/>
              <a:t>로그인을 요청하는 경우도 있음 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>
                <a:solidFill>
                  <a:srgbClr val="00B050"/>
                </a:solidFill>
              </a:rPr>
              <a:t>Personal Access Token</a:t>
            </a:r>
            <a:r>
              <a:rPr lang="ko-KR" altLang="en-US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발급이 필요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5FA8F-EBE8-79AF-C712-3884B912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C0C6-43C2-4589-BFB7-806D908D5ABE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32C2AAB-2992-6804-3F22-54AEB9C6A631}"/>
              </a:ext>
            </a:extLst>
          </p:cNvPr>
          <p:cNvGrpSpPr/>
          <p:nvPr/>
        </p:nvGrpSpPr>
        <p:grpSpPr>
          <a:xfrm>
            <a:off x="1265426" y="4735243"/>
            <a:ext cx="9673944" cy="1175055"/>
            <a:chOff x="994226" y="3891216"/>
            <a:chExt cx="9673944" cy="117505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E879389-906B-ADEF-22B1-200ADBAE4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4226" y="3970743"/>
              <a:ext cx="6725589" cy="1095528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11C049F-754C-91A4-C8F5-632C29A38B76}"/>
                </a:ext>
              </a:extLst>
            </p:cNvPr>
            <p:cNvCxnSpPr>
              <a:cxnSpLocks/>
            </p:cNvCxnSpPr>
            <p:nvPr/>
          </p:nvCxnSpPr>
          <p:spPr>
            <a:xfrm>
              <a:off x="2128343" y="4144165"/>
              <a:ext cx="4721773" cy="0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A68288B-81B6-B54D-FDEA-C28BC177D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430" y="3891216"/>
              <a:ext cx="2438740" cy="1152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09681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B9B7-C209-7FE1-F0BD-EC8B4E52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F08EE-E062-B3B3-5D48-766B895E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Personal</a:t>
            </a:r>
            <a:r>
              <a:rPr lang="ko-KR" altLang="en-US" dirty="0"/>
              <a:t> </a:t>
            </a:r>
            <a:r>
              <a:rPr lang="en-US" altLang="ko-KR" dirty="0"/>
              <a:t>Access</a:t>
            </a:r>
            <a:r>
              <a:rPr lang="ko-KR" altLang="en-US" dirty="0"/>
              <a:t> </a:t>
            </a:r>
            <a:r>
              <a:rPr lang="en-US" altLang="ko-KR" dirty="0"/>
              <a:t>Token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AFD2C-A832-4DCF-0C73-6445FF8DB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655" y="1145407"/>
            <a:ext cx="11074690" cy="15346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GitHub </a:t>
            </a:r>
            <a:r>
              <a:rPr lang="ko-KR" altLang="en-US" sz="2400" dirty="0"/>
              <a:t>접근을 위한 임시 비밀번호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GitHub </a:t>
            </a:r>
            <a:r>
              <a:rPr lang="ko-KR" altLang="en-US" sz="2000" dirty="0"/>
              <a:t>계정 </a:t>
            </a:r>
            <a:r>
              <a:rPr lang="en-US" altLang="ko-KR" sz="2000" dirty="0"/>
              <a:t>-&gt; Settings -&gt; Developer settings -&gt; Personal access tokens -&gt; Tokens (classic) -&gt; Generate new token (classic) </a:t>
            </a:r>
            <a:r>
              <a:rPr lang="ko-KR" altLang="en-US" sz="2000" dirty="0"/>
              <a:t>으로 발급 가능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7DC836-F507-2E66-A97B-1746CC9E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C6BB-7DDE-4F39-920C-01511ECBE310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349CD18-C1AD-3393-61BD-734A315E74D1}"/>
              </a:ext>
            </a:extLst>
          </p:cNvPr>
          <p:cNvGrpSpPr/>
          <p:nvPr/>
        </p:nvGrpSpPr>
        <p:grpSpPr>
          <a:xfrm>
            <a:off x="901565" y="2998486"/>
            <a:ext cx="10388870" cy="2996162"/>
            <a:chOff x="1371600" y="3698942"/>
            <a:chExt cx="9625545" cy="27024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1917307-6C1A-59D5-F105-38EA27090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3698942"/>
              <a:ext cx="1628689" cy="270249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E84ACFD-8E40-E03B-539A-9473AE603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7116" y="4061548"/>
              <a:ext cx="1781850" cy="1977279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F108AE9-C1E4-DE60-E9F5-B1E8B6A23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5793" y="4362898"/>
              <a:ext cx="2354758" cy="138426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E73408-E85D-F83F-94E3-05A1A1975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7378" y="4138935"/>
              <a:ext cx="2879767" cy="1492562"/>
            </a:xfrm>
            <a:prstGeom prst="rect">
              <a:avLst/>
            </a:prstGeom>
          </p:spPr>
        </p:pic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FDB5285-3589-FAA1-FAA6-D9005DDFE53C}"/>
                </a:ext>
              </a:extLst>
            </p:cNvPr>
            <p:cNvCxnSpPr/>
            <p:nvPr/>
          </p:nvCxnSpPr>
          <p:spPr>
            <a:xfrm>
              <a:off x="1458310" y="6329855"/>
              <a:ext cx="488731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4D38FD5-179D-505E-764E-0A245148BF41}"/>
                </a:ext>
              </a:extLst>
            </p:cNvPr>
            <p:cNvCxnSpPr>
              <a:cxnSpLocks/>
            </p:cNvCxnSpPr>
            <p:nvPr/>
          </p:nvCxnSpPr>
          <p:spPr>
            <a:xfrm>
              <a:off x="3471041" y="5977758"/>
              <a:ext cx="864476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76E9784-1F10-7B2C-8658-8B819D680742}"/>
                </a:ext>
              </a:extLst>
            </p:cNvPr>
            <p:cNvCxnSpPr>
              <a:cxnSpLocks/>
            </p:cNvCxnSpPr>
            <p:nvPr/>
          </p:nvCxnSpPr>
          <p:spPr>
            <a:xfrm>
              <a:off x="5838497" y="5573690"/>
              <a:ext cx="63324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CAB3F4B-D608-E15C-316F-A26637CB2637}"/>
                </a:ext>
              </a:extLst>
            </p:cNvPr>
            <p:cNvCxnSpPr>
              <a:cxnSpLocks/>
            </p:cNvCxnSpPr>
            <p:nvPr/>
          </p:nvCxnSpPr>
          <p:spPr>
            <a:xfrm>
              <a:off x="8395138" y="5316186"/>
              <a:ext cx="162384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90035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0A22-270F-9A31-2A8E-2E1B1B84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C7257-1068-A5C6-E2FB-BD07115B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Scopes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8D94DF-4A5C-0F4A-1F0D-A566BFE2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420" y="1403627"/>
            <a:ext cx="8227676" cy="501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발급 받은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Token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창에서 비밀번호 대신 사용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909E5-3F85-B8C1-C16D-EE175678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16E0-4635-49A4-A729-813977190B6C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AF1105A-0BE7-19CD-CF9E-C58C6586A752}"/>
              </a:ext>
            </a:extLst>
          </p:cNvPr>
          <p:cNvGrpSpPr/>
          <p:nvPr/>
        </p:nvGrpSpPr>
        <p:grpSpPr>
          <a:xfrm>
            <a:off x="6712466" y="2243735"/>
            <a:ext cx="4160113" cy="3290413"/>
            <a:chOff x="6267580" y="2387330"/>
            <a:chExt cx="4160113" cy="329041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ACAB3A5-552E-C52C-AB52-969CD7122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9418" y="3855697"/>
              <a:ext cx="3005965" cy="140805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C6FE5EB-740E-CBB5-98E0-C91192C77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891" y="2387330"/>
              <a:ext cx="3015492" cy="140089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D3C285-6540-C22F-17FA-9243850059BA}"/>
                </a:ext>
              </a:extLst>
            </p:cNvPr>
            <p:cNvSpPr txBox="1"/>
            <p:nvPr/>
          </p:nvSpPr>
          <p:spPr>
            <a:xfrm>
              <a:off x="6267580" y="5308411"/>
              <a:ext cx="41601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실제 비밀번호 대신 발급 받은 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Token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사용</a:t>
              </a: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DFA823E-0B15-3677-7706-30960C45B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420" y="2243735"/>
            <a:ext cx="4843734" cy="316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187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 </a:t>
            </a:r>
            <a:r>
              <a:rPr lang="ko-KR" altLang="en-US" b="1" dirty="0"/>
              <a:t>로컬 컴퓨터로 복제하기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221" y="1556742"/>
            <a:ext cx="2734733" cy="528636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ko-KR" altLang="en-US" dirty="0"/>
              <a:t>✅저장소 주소 복사</a:t>
            </a: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ECCC88A-E471-1345-872F-7A306D9287F0}"/>
              </a:ext>
            </a:extLst>
          </p:cNvPr>
          <p:cNvGrpSpPr/>
          <p:nvPr/>
        </p:nvGrpSpPr>
        <p:grpSpPr>
          <a:xfrm>
            <a:off x="4291263" y="2094418"/>
            <a:ext cx="3609474" cy="3606829"/>
            <a:chOff x="5161547" y="2311385"/>
            <a:chExt cx="3609474" cy="3606829"/>
          </a:xfrm>
        </p:grpSpPr>
        <p:pic>
          <p:nvPicPr>
            <p:cNvPr id="5" name="그림 4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E13C6BD4-EED6-A445-9D1B-59E185C52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1547" y="2311386"/>
              <a:ext cx="3398742" cy="360682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3EA0AD7-8B97-486E-BEEC-3F13C4D109AB}"/>
                </a:ext>
              </a:extLst>
            </p:cNvPr>
            <p:cNvSpPr/>
            <p:nvPr/>
          </p:nvSpPr>
          <p:spPr>
            <a:xfrm>
              <a:off x="7572861" y="2311385"/>
              <a:ext cx="1198160" cy="450054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0CDFF04-0582-FCCC-92AB-A16C4AB70931}"/>
                </a:ext>
              </a:extLst>
            </p:cNvPr>
            <p:cNvSpPr/>
            <p:nvPr/>
          </p:nvSpPr>
          <p:spPr>
            <a:xfrm>
              <a:off x="5161547" y="3858563"/>
              <a:ext cx="3050701" cy="368968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3EBE9-69D7-CCC8-CB4C-D18B7243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7658-4748-4705-AB21-AE0EF58CA113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329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 </a:t>
            </a:r>
            <a:r>
              <a:rPr lang="ko-KR" altLang="en-US" b="1" dirty="0"/>
              <a:t>로컬 컴퓨터로 복제하기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26997"/>
            <a:ext cx="10515600" cy="502834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b="1" dirty="0"/>
              <a:t>✅ 방법</a:t>
            </a:r>
            <a:r>
              <a:rPr lang="en-US" altLang="ko-KR" b="1" dirty="0"/>
              <a:t>1. </a:t>
            </a:r>
            <a:r>
              <a:rPr lang="ko-KR" altLang="en-US" b="1" dirty="0"/>
              <a:t>신규 폴더 생성 후 내려 받기</a:t>
            </a:r>
            <a:endParaRPr lang="en-US" altLang="ko-KR" b="1" dirty="0"/>
          </a:p>
          <a:p>
            <a:pPr marL="457200" lvl="2" indent="0"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원하는 폴더를 생성 </a:t>
            </a:r>
            <a:endParaRPr lang="en-US" altLang="ko-KR" dirty="0"/>
          </a:p>
          <a:p>
            <a:pPr marL="1257300" lvl="3" indent="-342900"/>
            <a:r>
              <a:rPr lang="en-US" altLang="ko-KR" sz="2000" dirty="0" err="1"/>
              <a:t>mkdir</a:t>
            </a:r>
            <a:r>
              <a:rPr lang="en-US" altLang="ko-KR" sz="2000" dirty="0"/>
              <a:t> </a:t>
            </a:r>
            <a:r>
              <a:rPr lang="ko-KR" altLang="en-US" sz="2000" dirty="0" err="1"/>
              <a:t>폴더명</a:t>
            </a:r>
            <a:endParaRPr lang="en-US" altLang="ko-KR" sz="2000" dirty="0"/>
          </a:p>
          <a:p>
            <a:pPr marL="1257300" lvl="3" indent="-342900"/>
            <a:r>
              <a:rPr lang="en-US" altLang="ko-KR" sz="2000" dirty="0"/>
              <a:t>ex) </a:t>
            </a:r>
            <a:r>
              <a:rPr lang="en-US" altLang="ko-KR" sz="2000" dirty="0" err="1"/>
              <a:t>mkdir</a:t>
            </a:r>
            <a:r>
              <a:rPr lang="en-US" altLang="ko-KR" sz="2000" dirty="0"/>
              <a:t> git-clone</a:t>
            </a:r>
            <a:endParaRPr lang="en-US" altLang="ko-KR" dirty="0"/>
          </a:p>
          <a:p>
            <a:pPr marL="457200" lvl="2" indent="0"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원격저장소 복사하기</a:t>
            </a:r>
            <a:r>
              <a:rPr lang="en-US" altLang="ko-KR" dirty="0"/>
              <a:t>(</a:t>
            </a:r>
            <a:r>
              <a:rPr lang="ko-KR" altLang="en-US" dirty="0"/>
              <a:t>생성한 폴더로 이동 후</a:t>
            </a:r>
            <a:r>
              <a:rPr lang="en-US" altLang="ko-KR" dirty="0"/>
              <a:t>)</a:t>
            </a:r>
          </a:p>
          <a:p>
            <a:pPr marL="1257300" lvl="3" indent="-342900"/>
            <a:r>
              <a:rPr lang="en-US" altLang="ko-KR" sz="2000" dirty="0">
                <a:solidFill>
                  <a:srgbClr val="FF0000"/>
                </a:solidFill>
              </a:rPr>
              <a:t>git clone </a:t>
            </a:r>
            <a:r>
              <a:rPr lang="ko-KR" altLang="en-US" sz="2000" dirty="0">
                <a:solidFill>
                  <a:srgbClr val="FF0000"/>
                </a:solidFill>
              </a:rPr>
              <a:t>원격저장소 주소  </a:t>
            </a:r>
            <a:r>
              <a:rPr lang="en-US" altLang="ko-KR" sz="2000" dirty="0">
                <a:solidFill>
                  <a:srgbClr val="FF0000"/>
                </a:solidFill>
              </a:rPr>
              <a:t>.  </a:t>
            </a:r>
            <a:r>
              <a:rPr lang="en-US" altLang="ko-KR" sz="2000" dirty="0"/>
              <a:t>( . </a:t>
            </a:r>
            <a:r>
              <a:rPr lang="ko-KR" altLang="en-US" sz="2000" dirty="0"/>
              <a:t>은 한 칸 띄고</a:t>
            </a:r>
            <a:r>
              <a:rPr lang="en-US" altLang="ko-KR" sz="2000" dirty="0"/>
              <a:t>! </a:t>
            </a:r>
            <a:r>
              <a:rPr lang="ko-KR" altLang="en-US" sz="2000" dirty="0"/>
              <a:t>이 점이 중요 포인트</a:t>
            </a:r>
            <a:r>
              <a:rPr lang="en-US" altLang="ko-KR" sz="2000" dirty="0"/>
              <a:t>!)</a:t>
            </a:r>
          </a:p>
          <a:p>
            <a:pPr marL="1257300" lvl="3" indent="-342900"/>
            <a:r>
              <a:rPr lang="en-US" altLang="ko-KR" sz="2000" dirty="0"/>
              <a:t>ex) git clone https://github.com/</a:t>
            </a:r>
            <a:r>
              <a:rPr lang="ko-KR" altLang="en-US" sz="2000" dirty="0"/>
              <a:t>원격저장소 주소</a:t>
            </a:r>
            <a:r>
              <a:rPr lang="en-US" altLang="ko-KR" sz="2000" dirty="0"/>
              <a:t>.git  .</a:t>
            </a:r>
          </a:p>
          <a:p>
            <a:pPr marL="1257300" lvl="3" indent="-342900"/>
            <a:endParaRPr lang="en-US" altLang="ko-KR" sz="2000" dirty="0"/>
          </a:p>
          <a:p>
            <a:pPr marL="457200" lvl="1" indent="-457200">
              <a:buFont typeface="+mj-lt"/>
              <a:buAutoNum type="arabicPeriod"/>
            </a:pP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91C7B88-4EE6-2D5F-D7C9-B3455508F5FD}"/>
              </a:ext>
            </a:extLst>
          </p:cNvPr>
          <p:cNvGrpSpPr/>
          <p:nvPr/>
        </p:nvGrpSpPr>
        <p:grpSpPr>
          <a:xfrm>
            <a:off x="827372" y="4395608"/>
            <a:ext cx="6340640" cy="1797091"/>
            <a:chOff x="2177718" y="4489509"/>
            <a:chExt cx="6340640" cy="17970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F01670A-C476-0DD8-1A9C-DFF9FCD98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7718" y="4489509"/>
              <a:ext cx="6340640" cy="594967"/>
            </a:xfrm>
            <a:prstGeom prst="rect">
              <a:avLst/>
            </a:prstGeom>
          </p:spPr>
        </p:pic>
        <p:pic>
          <p:nvPicPr>
            <p:cNvPr id="11" name="그림 1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1E0AC699-D103-C94F-45A4-9F3A200EB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7718" y="5191072"/>
              <a:ext cx="1400370" cy="109552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46270E6-0885-A528-5EA9-8FBCC656848F}"/>
                </a:ext>
              </a:extLst>
            </p:cNvPr>
            <p:cNvSpPr/>
            <p:nvPr/>
          </p:nvSpPr>
          <p:spPr>
            <a:xfrm>
              <a:off x="8087360" y="4825999"/>
              <a:ext cx="264160" cy="258477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6F4CC1-7EC4-9DC1-88D7-0FDF513EA774}"/>
              </a:ext>
            </a:extLst>
          </p:cNvPr>
          <p:cNvSpPr txBox="1"/>
          <p:nvPr/>
        </p:nvSpPr>
        <p:spPr>
          <a:xfrm>
            <a:off x="2505932" y="5218802"/>
            <a:ext cx="5658921" cy="87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Clone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완료되면 폴더안에 원격저장소에 있던 파일들이 </a:t>
            </a:r>
            <a:b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전부 받아져 있는 것을 확인할 수 있습니다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CFD11A-8508-9FBA-73EA-F2D99548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627F6-D177-405F-A3EE-F161D8F3B74B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9006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 </a:t>
            </a:r>
            <a:r>
              <a:rPr lang="ko-KR" altLang="en-US" b="1" dirty="0"/>
              <a:t>로컬 컴퓨터로 복제하기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24562"/>
            <a:ext cx="10515600" cy="502834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b="1" dirty="0"/>
              <a:t>✅ 방법</a:t>
            </a:r>
            <a:r>
              <a:rPr lang="en-US" altLang="ko-KR" b="1" dirty="0"/>
              <a:t>2. </a:t>
            </a:r>
            <a:r>
              <a:rPr lang="ko-KR" altLang="en-US" b="1" dirty="0"/>
              <a:t>원격저장소의 이름으로 내려 받기</a:t>
            </a:r>
            <a:r>
              <a:rPr lang="en-US" altLang="ko-KR" b="1" dirty="0"/>
              <a:t>(</a:t>
            </a:r>
            <a:r>
              <a:rPr lang="ko-KR" altLang="en-US" b="1" dirty="0"/>
              <a:t>이름으로 폴더가 생성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457200" lvl="2" indent="0">
              <a:buNone/>
            </a:pPr>
            <a:r>
              <a:rPr lang="ko-KR" altLang="en-US" dirty="0"/>
              <a:t>✔️ 원격저장소 복사하기</a:t>
            </a:r>
            <a:endParaRPr lang="en-US" altLang="ko-KR" sz="2000" dirty="0"/>
          </a:p>
          <a:p>
            <a:pPr marL="1257300" lvl="3" indent="-342900"/>
            <a:r>
              <a:rPr lang="en-US" altLang="ko-KR" sz="2000" dirty="0">
                <a:solidFill>
                  <a:srgbClr val="FF0000"/>
                </a:solidFill>
              </a:rPr>
              <a:t>git clone </a:t>
            </a:r>
            <a:r>
              <a:rPr lang="ko-KR" altLang="en-US" sz="2000" dirty="0">
                <a:solidFill>
                  <a:srgbClr val="FF0000"/>
                </a:solidFill>
              </a:rPr>
              <a:t>원격저장소 주소 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1257300" lvl="3" indent="-342900"/>
            <a:r>
              <a:rPr lang="en-US" altLang="ko-KR" sz="2000" dirty="0"/>
              <a:t>ex) git clone https://github.com/</a:t>
            </a:r>
            <a:r>
              <a:rPr lang="ko-KR" altLang="en-US" sz="2000" dirty="0"/>
              <a:t>원격저장소 주소</a:t>
            </a:r>
            <a:r>
              <a:rPr lang="en-US" altLang="ko-KR" sz="2000" dirty="0"/>
              <a:t>.git</a:t>
            </a:r>
          </a:p>
          <a:p>
            <a:pPr marL="1257300" lvl="3" indent="-342900"/>
            <a:endParaRPr lang="en-US" altLang="ko-KR" sz="2000" dirty="0"/>
          </a:p>
          <a:p>
            <a:pPr marL="457200" lvl="1" indent="-457200">
              <a:buFont typeface="+mj-lt"/>
              <a:buAutoNum type="arabicPeriod" startAt="2"/>
            </a:pP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A12F71-B668-5821-FFAA-EFAA71E85A09}"/>
              </a:ext>
            </a:extLst>
          </p:cNvPr>
          <p:cNvGrpSpPr/>
          <p:nvPr/>
        </p:nvGrpSpPr>
        <p:grpSpPr>
          <a:xfrm>
            <a:off x="2916912" y="3194715"/>
            <a:ext cx="6358176" cy="2335315"/>
            <a:chOff x="2208308" y="3281342"/>
            <a:chExt cx="6358176" cy="23353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78E79DC-EAFC-FE55-E2C5-CF2A0CCC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8308" y="3281342"/>
              <a:ext cx="6358176" cy="549034"/>
            </a:xfrm>
            <a:prstGeom prst="rect">
              <a:avLst/>
            </a:prstGeom>
          </p:spPr>
        </p:pic>
        <p:pic>
          <p:nvPicPr>
            <p:cNvPr id="8" name="그림 7" descr="텍스트, 스크린샷, 폰트, 라인이(가) 표시된 사진&#10;&#10;자동 생성된 설명">
              <a:extLst>
                <a:ext uri="{FF2B5EF4-FFF2-40B4-BE49-F238E27FC236}">
                  <a16:creationId xmlns:a16="http://schemas.microsoft.com/office/drawing/2014/main" id="{40140ECB-4E82-A216-C986-5A64B7F6A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8308" y="4366625"/>
              <a:ext cx="6088391" cy="125003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E07CCEC-651B-5BE7-CF95-E615B88F7FC9}"/>
              </a:ext>
            </a:extLst>
          </p:cNvPr>
          <p:cNvSpPr txBox="1"/>
          <p:nvPr/>
        </p:nvSpPr>
        <p:spPr>
          <a:xfrm>
            <a:off x="2443397" y="5733438"/>
            <a:ext cx="7305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 생성시 작성했던 이름이 폴더명으로 생성된 것을 확인할 수 있습니다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389E69-0EEB-70F5-7E4C-7B162D8C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3494-4F7A-402A-8541-88253B8192DC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7274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저장소의 변경 내용 내려 받기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20" y="1268414"/>
            <a:ext cx="11539160" cy="1458074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ko-KR" altLang="en-US" dirty="0"/>
              <a:t>✅ 루트 폴더에서 명령어 실행</a:t>
            </a:r>
            <a:endParaRPr lang="en-US" altLang="ko-KR" dirty="0"/>
          </a:p>
          <a:p>
            <a:pPr marL="800100" lvl="2" indent="-342900"/>
            <a:r>
              <a:rPr lang="en-US" altLang="ko-KR" dirty="0">
                <a:solidFill>
                  <a:srgbClr val="FF0000"/>
                </a:solidFill>
              </a:rPr>
              <a:t>git pull origin </a:t>
            </a:r>
            <a:r>
              <a:rPr lang="ko-KR" altLang="en-US" dirty="0" err="1">
                <a:solidFill>
                  <a:srgbClr val="FF0000"/>
                </a:solidFill>
              </a:rPr>
              <a:t>브랜치명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/>
              <a:t>원격 저장소의 변경 내용을 현재 작업 중인 </a:t>
            </a:r>
            <a:r>
              <a:rPr lang="ko-KR" altLang="en-US" dirty="0" err="1"/>
              <a:t>브랜치로</a:t>
            </a:r>
            <a:r>
              <a:rPr lang="ko-KR" altLang="en-US" dirty="0"/>
              <a:t> 가져와 병합하는 명령어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2" indent="-342900"/>
            <a:r>
              <a:rPr lang="en-US" altLang="ko-KR" dirty="0"/>
              <a:t>ex) git pull origin main</a:t>
            </a:r>
          </a:p>
          <a:p>
            <a:pPr marL="0" lvl="1" indent="0">
              <a:buNone/>
            </a:pPr>
            <a:endParaRPr lang="en-US" altLang="ko-KR" sz="1200" dirty="0"/>
          </a:p>
          <a:p>
            <a:pPr marL="342900" lvl="1" indent="-342900"/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715D835-AA59-2DA3-D506-CE2F59DC6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66" y="2738141"/>
            <a:ext cx="7499911" cy="717383"/>
          </a:xfrm>
          <a:prstGeom prst="rect">
            <a:avLst/>
          </a:prstGeom>
        </p:spPr>
      </p:pic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2B2FF980-5480-B318-B51D-3593AA5CCC8A}"/>
              </a:ext>
            </a:extLst>
          </p:cNvPr>
          <p:cNvSpPr txBox="1">
            <a:spLocks/>
          </p:cNvSpPr>
          <p:nvPr/>
        </p:nvSpPr>
        <p:spPr>
          <a:xfrm>
            <a:off x="251788" y="3800368"/>
            <a:ext cx="6514772" cy="594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✅터미널에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log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명령어 작성 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 확인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lvl="1" indent="-342900"/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CF1DA0C-1C0F-DE6D-F9B2-DA14FBB3E82E}"/>
              </a:ext>
            </a:extLst>
          </p:cNvPr>
          <p:cNvGrpSpPr/>
          <p:nvPr/>
        </p:nvGrpSpPr>
        <p:grpSpPr>
          <a:xfrm>
            <a:off x="1756493" y="4394797"/>
            <a:ext cx="8679013" cy="1458074"/>
            <a:chOff x="1299294" y="4394797"/>
            <a:chExt cx="8679013" cy="1458074"/>
          </a:xfrm>
        </p:grpSpPr>
        <p:pic>
          <p:nvPicPr>
            <p:cNvPr id="5" name="그림 4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08956E67-C9BE-8B71-0AF2-95D9E0F7C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9294" y="4394797"/>
              <a:ext cx="8679013" cy="145807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7F11D9-DD0C-54AB-5B53-02FA4B0E756B}"/>
                </a:ext>
              </a:extLst>
            </p:cNvPr>
            <p:cNvSpPr/>
            <p:nvPr/>
          </p:nvSpPr>
          <p:spPr>
            <a:xfrm>
              <a:off x="5922908" y="4539049"/>
              <a:ext cx="3876000" cy="46934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3096EA-E014-61F4-C1FE-823D93912FAB}"/>
              </a:ext>
            </a:extLst>
          </p:cNvPr>
          <p:cNvSpPr txBox="1"/>
          <p:nvPr/>
        </p:nvSpPr>
        <p:spPr>
          <a:xfrm>
            <a:off x="2037363" y="5874796"/>
            <a:ext cx="8113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로컬저장소와 원격저장소의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최신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가리키고 있는 상태입니다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8C879-ACBD-9461-46F0-55B1DB63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FD508-7D33-4FDF-B31A-A126F1353A59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274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4276-0C23-D0E3-F7A5-7474FE93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push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495DC2-8447-79AC-1915-EB158644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96101"/>
            <a:ext cx="11701221" cy="43902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push : Local Repo.</a:t>
            </a:r>
            <a:r>
              <a:rPr lang="ko-KR" altLang="en-US" dirty="0"/>
              <a:t>의 변동 내역을 </a:t>
            </a:r>
            <a:r>
              <a:rPr lang="en-US" altLang="ko-KR" dirty="0"/>
              <a:t>Remote Repo.</a:t>
            </a:r>
            <a:r>
              <a:rPr lang="ko-KR" altLang="en-US" dirty="0"/>
              <a:t>에 적용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정확하게는 </a:t>
            </a:r>
            <a:r>
              <a:rPr lang="en-US" altLang="ko-KR" sz="2000" dirty="0"/>
              <a:t>Local Repo.</a:t>
            </a:r>
            <a:r>
              <a:rPr lang="ko-KR" altLang="en-US" sz="2000" dirty="0"/>
              <a:t>의 </a:t>
            </a:r>
            <a:r>
              <a:rPr lang="en-US" altLang="ko-KR" sz="2000" dirty="0"/>
              <a:t>Branch </a:t>
            </a:r>
            <a:r>
              <a:rPr lang="ko-KR" altLang="en-US" sz="2000" dirty="0"/>
              <a:t>하나를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의 </a:t>
            </a:r>
            <a:r>
              <a:rPr lang="en-US" altLang="ko-KR" sz="2000" dirty="0"/>
              <a:t>Branch </a:t>
            </a:r>
            <a:r>
              <a:rPr lang="ko-KR" altLang="en-US" sz="2000" dirty="0"/>
              <a:t>하나와 </a:t>
            </a:r>
            <a:r>
              <a:rPr lang="en-US" altLang="ko-KR" sz="2000" dirty="0"/>
              <a:t>Merge</a:t>
            </a:r>
            <a:r>
              <a:rPr lang="ko-KR" altLang="en-US" sz="2000" dirty="0"/>
              <a:t>를 수행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push -u origin main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현재 </a:t>
            </a:r>
            <a:r>
              <a:rPr lang="en-US" altLang="ko-KR" dirty="0"/>
              <a:t>Local Branch</a:t>
            </a:r>
            <a:r>
              <a:rPr lang="ko-KR" altLang="en-US" dirty="0"/>
              <a:t>를 </a:t>
            </a:r>
            <a:r>
              <a:rPr lang="en-US" altLang="ko-KR" dirty="0"/>
              <a:t>Remote Repo. (</a:t>
            </a:r>
            <a:r>
              <a:rPr lang="ko-KR" altLang="en-US" dirty="0"/>
              <a:t>별칭</a:t>
            </a:r>
            <a:r>
              <a:rPr lang="en-US" altLang="ko-KR" dirty="0"/>
              <a:t>: origin)</a:t>
            </a:r>
            <a:r>
              <a:rPr lang="ko-KR" altLang="en-US" dirty="0"/>
              <a:t>의 </a:t>
            </a:r>
            <a:r>
              <a:rPr lang="en-US" altLang="ko-KR" dirty="0"/>
              <a:t>main Branch</a:t>
            </a:r>
            <a:r>
              <a:rPr lang="ko-KR" altLang="en-US" dirty="0"/>
              <a:t>로 </a:t>
            </a:r>
            <a:r>
              <a:rPr lang="en-US" altLang="ko-KR" dirty="0"/>
              <a:t>Merge </a:t>
            </a:r>
            <a:r>
              <a:rPr lang="ko-KR" altLang="en-US" dirty="0"/>
              <a:t>수행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-u</a:t>
            </a:r>
            <a:r>
              <a:rPr lang="en-US" altLang="ko-KR" dirty="0"/>
              <a:t>: Remote Repo.</a:t>
            </a:r>
            <a:r>
              <a:rPr lang="ko-KR" altLang="en-US" dirty="0"/>
              <a:t>의 별칭과 </a:t>
            </a:r>
            <a:r>
              <a:rPr lang="en-US" altLang="ko-KR" dirty="0"/>
              <a:t>Branch</a:t>
            </a:r>
            <a:r>
              <a:rPr lang="ko-KR" altLang="en-US" dirty="0"/>
              <a:t>를 기억하여 이후부터는 </a:t>
            </a:r>
            <a:r>
              <a:rPr lang="en-US" altLang="ko-KR" dirty="0"/>
              <a:t>origin main</a:t>
            </a:r>
            <a:r>
              <a:rPr lang="ko-KR" altLang="en-US" dirty="0"/>
              <a:t>을 생략하고 </a:t>
            </a:r>
            <a:r>
              <a:rPr lang="en-US" altLang="ko-KR" dirty="0"/>
              <a:t>git push </a:t>
            </a:r>
            <a:r>
              <a:rPr lang="ko-KR" altLang="en-US" dirty="0"/>
              <a:t>만으로도 작동함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단</a:t>
            </a:r>
            <a:r>
              <a:rPr lang="en-US" altLang="ko-KR" dirty="0"/>
              <a:t>, 2</a:t>
            </a:r>
            <a:r>
              <a:rPr lang="ko-KR" altLang="en-US" dirty="0"/>
              <a:t>차 보안</a:t>
            </a:r>
            <a:r>
              <a:rPr lang="en-US" altLang="ko-KR" dirty="0"/>
              <a:t>(OTP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이 있을 경우 </a:t>
            </a:r>
            <a:r>
              <a:rPr lang="en-US" altLang="ko-KR" dirty="0">
                <a:solidFill>
                  <a:srgbClr val="00B050"/>
                </a:solidFill>
              </a:rPr>
              <a:t>Personal Access Token </a:t>
            </a:r>
            <a:r>
              <a:rPr lang="ko-KR" altLang="en-US" dirty="0"/>
              <a:t>이 필요함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DBE56B-1DCF-68D6-5046-15A5DF3E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34C99-461E-464E-AC62-36E804A11F23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854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B6B90-53A7-A309-7F6E-6EAD1E0A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clone </a:t>
            </a:r>
            <a:r>
              <a:rPr lang="ko-KR" altLang="en-US" dirty="0">
                <a:solidFill>
                  <a:srgbClr val="ED7D31"/>
                </a:solidFill>
              </a:rPr>
              <a:t>및 </a:t>
            </a:r>
            <a:r>
              <a:rPr lang="en-US" altLang="ko-KR" dirty="0">
                <a:solidFill>
                  <a:srgbClr val="ED7D31"/>
                </a:solidFill>
              </a:rPr>
              <a:t>push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B62D7-D6A9-20E7-3313-E9E445006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266909"/>
            <a:ext cx="11701221" cy="466579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GitHub</a:t>
            </a:r>
            <a:r>
              <a:rPr lang="ko-KR" altLang="en-US" dirty="0"/>
              <a:t>에 있는 </a:t>
            </a:r>
            <a:r>
              <a:rPr lang="en-US" altLang="ko-KR" dirty="0"/>
              <a:t>Remote Repo. </a:t>
            </a:r>
            <a:r>
              <a:rPr lang="ko-KR" altLang="en-US" dirty="0"/>
              <a:t>인 </a:t>
            </a:r>
            <a:r>
              <a:rPr lang="en-US" altLang="ko-KR" dirty="0" err="1"/>
              <a:t>MyTestRepo</a:t>
            </a:r>
            <a:r>
              <a:rPr lang="ko-KR" altLang="en-US" dirty="0"/>
              <a:t>를 </a:t>
            </a:r>
            <a:r>
              <a:rPr lang="en-US" altLang="ko-KR" dirty="0"/>
              <a:t>Local</a:t>
            </a:r>
            <a:r>
              <a:rPr lang="ko-KR" altLang="en-US" dirty="0"/>
              <a:t>에 </a:t>
            </a:r>
            <a:r>
              <a:rPr lang="en-US" altLang="ko-KR" dirty="0"/>
              <a:t>Clone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Local</a:t>
            </a:r>
            <a:r>
              <a:rPr lang="ko-KR" altLang="en-US" dirty="0"/>
              <a:t>에 새로운 폴더를 만들고 그곳에 </a:t>
            </a:r>
            <a:r>
              <a:rPr lang="en-US" altLang="ko-KR" dirty="0"/>
              <a:t>clone </a:t>
            </a:r>
            <a:r>
              <a:rPr lang="ko-KR" altLang="en-US" dirty="0"/>
              <a:t>해보기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Clone </a:t>
            </a:r>
            <a:r>
              <a:rPr lang="ko-KR" altLang="en-US" dirty="0"/>
              <a:t>된 </a:t>
            </a:r>
            <a:r>
              <a:rPr lang="en-US" altLang="ko-KR" dirty="0"/>
              <a:t>Local Repo.</a:t>
            </a:r>
            <a:r>
              <a:rPr lang="ko-KR" altLang="en-US" dirty="0"/>
              <a:t>에 </a:t>
            </a:r>
            <a:r>
              <a:rPr lang="en-US" altLang="ko-KR" dirty="0"/>
              <a:t>new_file.txt </a:t>
            </a:r>
            <a:r>
              <a:rPr lang="ko-KR" altLang="en-US" dirty="0"/>
              <a:t>파일 추가 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Push </a:t>
            </a:r>
            <a:r>
              <a:rPr lang="ko-KR" altLang="en-US" dirty="0"/>
              <a:t>기능을 사용하여  </a:t>
            </a:r>
            <a:r>
              <a:rPr lang="en-US" altLang="ko-KR" dirty="0"/>
              <a:t>new_file.txt</a:t>
            </a:r>
            <a:r>
              <a:rPr lang="ko-KR" altLang="en-US" dirty="0"/>
              <a:t>를 </a:t>
            </a:r>
            <a:r>
              <a:rPr lang="en-US" altLang="ko-KR" dirty="0"/>
              <a:t>Remote Repo.</a:t>
            </a:r>
            <a:r>
              <a:rPr lang="ko-KR" altLang="en-US" dirty="0"/>
              <a:t>로 </a:t>
            </a:r>
            <a:r>
              <a:rPr lang="en-US" altLang="ko-KR"/>
              <a:t>push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GitHub </a:t>
            </a:r>
            <a:r>
              <a:rPr lang="ko-KR" altLang="en-US" dirty="0"/>
              <a:t>웹 사이트에서 </a:t>
            </a:r>
            <a:r>
              <a:rPr lang="en-US" altLang="ko-KR" dirty="0" err="1"/>
              <a:t>MyTestRepo</a:t>
            </a:r>
            <a:r>
              <a:rPr lang="ko-KR" altLang="en-US" dirty="0"/>
              <a:t>에 파일이 올라간 것을 확인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파일이 올라간 화면을 캡처하여 </a:t>
            </a:r>
            <a:r>
              <a:rPr lang="ko-KR" altLang="en-US" dirty="0" err="1"/>
              <a:t>슬랙</a:t>
            </a:r>
            <a:r>
              <a:rPr lang="ko-KR" altLang="en-US" dirty="0"/>
              <a:t> 댓글로 제출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C53AC4-9892-1C2F-B30D-03DCB1C2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EE01-2D18-4F22-B55E-50AC1FAA2692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770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6CEB7-EDC3-DDBB-3E63-3F9BD411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push --force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820372-2B1E-76FA-708B-27813C77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904" y="1115959"/>
            <a:ext cx="11701221" cy="2716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지점이 없다면 바로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readme.md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파일이 존재하거나 다른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내역이 있다면 공통된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지점이 없기 때문에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push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불가능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push --force </a:t>
            </a:r>
          </a:p>
          <a:p>
            <a:pPr lvl="1"/>
            <a:r>
              <a:rPr lang="en-US" altLang="ko-KR" sz="2000" dirty="0"/>
              <a:t>Local Repo.</a:t>
            </a:r>
            <a:r>
              <a:rPr lang="ko-KR" altLang="en-US" sz="2000" dirty="0"/>
              <a:t>의 상태를 </a:t>
            </a:r>
            <a:r>
              <a:rPr lang="ko-KR" altLang="en-US" sz="2000" dirty="0">
                <a:solidFill>
                  <a:srgbClr val="00B050"/>
                </a:solidFill>
              </a:rPr>
              <a:t>강제로</a:t>
            </a:r>
            <a:r>
              <a:rPr lang="ko-KR" altLang="en-US" sz="2000" dirty="0"/>
              <a:t>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에 </a:t>
            </a:r>
            <a:r>
              <a:rPr lang="ko-KR" altLang="en-US" sz="2000" dirty="0">
                <a:solidFill>
                  <a:srgbClr val="00B050"/>
                </a:solidFill>
              </a:rPr>
              <a:t>덮어쓰기</a:t>
            </a:r>
            <a:endParaRPr lang="en-US" altLang="ko-KR" sz="2000" dirty="0">
              <a:solidFill>
                <a:srgbClr val="00B050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04594-BD3E-A7F9-31D4-3EEED54F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F16D-EB02-4067-8BF4-07C95FA0815D}" type="datetime6">
              <a:rPr lang="ko-KR" altLang="en-US" smtClean="0"/>
              <a:t>2025년 11월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F9164FB-BA62-58AD-C63B-4F6BB0D8CEC9}"/>
              </a:ext>
            </a:extLst>
          </p:cNvPr>
          <p:cNvGrpSpPr/>
          <p:nvPr/>
        </p:nvGrpSpPr>
        <p:grpSpPr>
          <a:xfrm>
            <a:off x="1574989" y="4036485"/>
            <a:ext cx="9225050" cy="2075697"/>
            <a:chOff x="1555531" y="4403524"/>
            <a:chExt cx="9225050" cy="2075697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65EBA9D-1568-0823-CBEC-50BDADA55E2D}"/>
                </a:ext>
              </a:extLst>
            </p:cNvPr>
            <p:cNvSpPr/>
            <p:nvPr/>
          </p:nvSpPr>
          <p:spPr>
            <a:xfrm>
              <a:off x="2900731" y="4403524"/>
              <a:ext cx="559800" cy="5598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7E3756-96C0-A34E-A939-A0F7AE1B9296}"/>
                </a:ext>
              </a:extLst>
            </p:cNvPr>
            <p:cNvSpPr txBox="1"/>
            <p:nvPr/>
          </p:nvSpPr>
          <p:spPr>
            <a:xfrm>
              <a:off x="2798154" y="4963324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412af</a:t>
              </a:r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4BB7EBD-1F32-57E1-BCF7-F84DCF1B6E08}"/>
                </a:ext>
              </a:extLst>
            </p:cNvPr>
            <p:cNvSpPr/>
            <p:nvPr/>
          </p:nvSpPr>
          <p:spPr>
            <a:xfrm>
              <a:off x="4628407" y="4403524"/>
              <a:ext cx="559800" cy="5598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1C1B4D-A345-66D3-F369-FB4BFB0055B4}"/>
                </a:ext>
              </a:extLst>
            </p:cNvPr>
            <p:cNvSpPr txBox="1"/>
            <p:nvPr/>
          </p:nvSpPr>
          <p:spPr>
            <a:xfrm>
              <a:off x="4553883" y="4963324"/>
              <a:ext cx="7088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3faf1</a:t>
              </a:r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72AC2-EF04-EECC-E9A4-29B0AE1F4FF0}"/>
                </a:ext>
              </a:extLst>
            </p:cNvPr>
            <p:cNvSpPr/>
            <p:nvPr/>
          </p:nvSpPr>
          <p:spPr>
            <a:xfrm>
              <a:off x="6332983" y="4403524"/>
              <a:ext cx="559800" cy="5598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B292E9-23AB-22B1-BB85-F8E121CF76E9}"/>
                </a:ext>
              </a:extLst>
            </p:cNvPr>
            <p:cNvSpPr txBox="1"/>
            <p:nvPr/>
          </p:nvSpPr>
          <p:spPr>
            <a:xfrm>
              <a:off x="6187515" y="4963324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302b1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EF5918-D9E5-F968-0B30-9596761ACC75}"/>
                </a:ext>
              </a:extLst>
            </p:cNvPr>
            <p:cNvSpPr txBox="1"/>
            <p:nvPr/>
          </p:nvSpPr>
          <p:spPr>
            <a:xfrm>
              <a:off x="1555531" y="4498758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Remote</a:t>
              </a:r>
              <a:endParaRPr lang="ko-KR" alt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747F12-916B-CC46-2A26-BDC0FD7D5DA3}"/>
                </a:ext>
              </a:extLst>
            </p:cNvPr>
            <p:cNvSpPr txBox="1"/>
            <p:nvPr/>
          </p:nvSpPr>
          <p:spPr>
            <a:xfrm>
              <a:off x="1683770" y="5597090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Local</a:t>
              </a:r>
              <a:endParaRPr lang="ko-KR" altLang="en-US" b="1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585A09-B833-9BFF-D40A-B2224CCD23AD}"/>
                </a:ext>
              </a:extLst>
            </p:cNvPr>
            <p:cNvSpPr/>
            <p:nvPr/>
          </p:nvSpPr>
          <p:spPr>
            <a:xfrm>
              <a:off x="2892848" y="5529131"/>
              <a:ext cx="559800" cy="5598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2F66B3-C2CD-15CA-ED36-53CC7E3F0A42}"/>
                </a:ext>
              </a:extLst>
            </p:cNvPr>
            <p:cNvSpPr txBox="1"/>
            <p:nvPr/>
          </p:nvSpPr>
          <p:spPr>
            <a:xfrm>
              <a:off x="2736037" y="6096673"/>
              <a:ext cx="885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484bb</a:t>
              </a:r>
              <a:endParaRPr lang="ko-KR" altLang="en-US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59B1AD7-4FEC-3DFC-6448-4389A80E8F74}"/>
                </a:ext>
              </a:extLst>
            </p:cNvPr>
            <p:cNvSpPr/>
            <p:nvPr/>
          </p:nvSpPr>
          <p:spPr>
            <a:xfrm>
              <a:off x="4620524" y="5529131"/>
              <a:ext cx="559800" cy="5598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04D0B6-3133-CD1C-53F5-9C0F028E2F67}"/>
                </a:ext>
              </a:extLst>
            </p:cNvPr>
            <p:cNvSpPr txBox="1"/>
            <p:nvPr/>
          </p:nvSpPr>
          <p:spPr>
            <a:xfrm>
              <a:off x="4503388" y="6109889"/>
              <a:ext cx="8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cd3a1</a:t>
              </a:r>
              <a:endParaRPr lang="ko-KR" altLang="en-US" dirty="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52884B3-7578-7922-5B1E-A201EC0001A7}"/>
                </a:ext>
              </a:extLst>
            </p:cNvPr>
            <p:cNvSpPr/>
            <p:nvPr/>
          </p:nvSpPr>
          <p:spPr>
            <a:xfrm>
              <a:off x="6325100" y="5529131"/>
              <a:ext cx="559800" cy="5598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987E93-6F51-2D3F-76EA-6D3837A25F31}"/>
                </a:ext>
              </a:extLst>
            </p:cNvPr>
            <p:cNvSpPr txBox="1"/>
            <p:nvPr/>
          </p:nvSpPr>
          <p:spPr>
            <a:xfrm>
              <a:off x="6252848" y="6096673"/>
              <a:ext cx="720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85ff1</a:t>
              </a:r>
              <a:endParaRPr lang="ko-KR" altLang="en-US" dirty="0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B2019BB0-FC85-26E0-47F7-48EF12E5D97E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3460531" y="4683424"/>
              <a:ext cx="11678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70A9CAF-6FC3-E2A2-F851-971ADF2A25F0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5188207" y="4683424"/>
              <a:ext cx="11447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398D64D-AE46-45AB-E308-5FB7D86D9173}"/>
                </a:ext>
              </a:extLst>
            </p:cNvPr>
            <p:cNvCxnSpPr>
              <a:cxnSpLocks/>
              <a:stCxn id="15" idx="6"/>
              <a:endCxn id="17" idx="2"/>
            </p:cNvCxnSpPr>
            <p:nvPr/>
          </p:nvCxnSpPr>
          <p:spPr>
            <a:xfrm>
              <a:off x="3452648" y="5809031"/>
              <a:ext cx="11678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05429FC1-891A-6FF8-5FFD-567DF49D17A0}"/>
                </a:ext>
              </a:extLst>
            </p:cNvPr>
            <p:cNvCxnSpPr>
              <a:cxnSpLocks/>
              <a:stCxn id="17" idx="6"/>
              <a:endCxn id="19" idx="2"/>
            </p:cNvCxnSpPr>
            <p:nvPr/>
          </p:nvCxnSpPr>
          <p:spPr>
            <a:xfrm>
              <a:off x="5180324" y="5809031"/>
              <a:ext cx="11447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8431996-7271-60E9-CCFA-FC0C07994F0D}"/>
                </a:ext>
              </a:extLst>
            </p:cNvPr>
            <p:cNvSpPr txBox="1"/>
            <p:nvPr/>
          </p:nvSpPr>
          <p:spPr>
            <a:xfrm>
              <a:off x="7159077" y="5009490"/>
              <a:ext cx="36215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⚠️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일치하는 </a:t>
              </a:r>
              <a:r>
                <a:rPr lang="ko-KR" altLang="en-US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노드가 전혀 없다면 </a:t>
              </a:r>
              <a:endPara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      push 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및 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pull 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모두 불가능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5465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C8B59-F47B-D413-EB73-BE036F30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remote </a:t>
            </a:r>
            <a:r>
              <a:rPr lang="ko-KR" altLang="en-US" dirty="0">
                <a:solidFill>
                  <a:srgbClr val="ED7D31"/>
                </a:solidFill>
              </a:rPr>
              <a:t>및 </a:t>
            </a:r>
            <a:r>
              <a:rPr lang="en-US" altLang="ko-KR" dirty="0">
                <a:solidFill>
                  <a:srgbClr val="ED7D31"/>
                </a:solidFill>
              </a:rPr>
              <a:t>pull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CDF862-8A32-03AD-4FE8-938BCC749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새로운 </a:t>
            </a:r>
            <a:r>
              <a:rPr lang="en-US" altLang="ko-KR" dirty="0"/>
              <a:t>Local Repo.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test.txt </a:t>
            </a:r>
            <a:r>
              <a:rPr lang="ko-KR" altLang="en-US" dirty="0"/>
              <a:t>파일을 추가하고 </a:t>
            </a:r>
            <a:r>
              <a:rPr lang="ko-KR" altLang="en-US" dirty="0" err="1"/>
              <a:t>커밋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Remote Repo.</a:t>
            </a:r>
            <a:r>
              <a:rPr lang="ko-KR" altLang="en-US" dirty="0"/>
              <a:t>인 </a:t>
            </a:r>
            <a:r>
              <a:rPr lang="en-US" altLang="ko-KR" dirty="0" err="1"/>
              <a:t>MyTestRepo</a:t>
            </a:r>
            <a:r>
              <a:rPr lang="ko-KR" altLang="en-US" dirty="0"/>
              <a:t>과 </a:t>
            </a:r>
            <a:r>
              <a:rPr lang="en-US" altLang="ko-KR" dirty="0"/>
              <a:t>remote </a:t>
            </a:r>
            <a:r>
              <a:rPr lang="ko-KR" altLang="en-US" dirty="0"/>
              <a:t>연결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pull </a:t>
            </a:r>
            <a:r>
              <a:rPr lang="ko-KR" altLang="en-US" dirty="0"/>
              <a:t>시도 </a:t>
            </a:r>
            <a:r>
              <a:rPr lang="en-US" altLang="ko-KR" dirty="0"/>
              <a:t>(</a:t>
            </a:r>
            <a:r>
              <a:rPr lang="ko-KR" altLang="en-US" dirty="0"/>
              <a:t>당연히 오류 발생</a:t>
            </a:r>
            <a:r>
              <a:rPr lang="en-US" altLang="ko-K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강제로 </a:t>
            </a:r>
            <a:r>
              <a:rPr lang="en-US" altLang="ko-KR" dirty="0"/>
              <a:t>push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GitHub</a:t>
            </a:r>
            <a:r>
              <a:rPr lang="ko-KR" altLang="en-US" dirty="0"/>
              <a:t>에서 </a:t>
            </a:r>
            <a:r>
              <a:rPr lang="en-US" altLang="ko-KR" dirty="0"/>
              <a:t>Add file </a:t>
            </a:r>
            <a:r>
              <a:rPr lang="ko-KR" altLang="en-US" dirty="0"/>
              <a:t>기능으로 </a:t>
            </a:r>
            <a:r>
              <a:rPr lang="en-US" altLang="ko-KR" dirty="0"/>
              <a:t>memo.txt </a:t>
            </a:r>
            <a:r>
              <a:rPr lang="ko-KR" altLang="en-US" dirty="0"/>
              <a:t>파일 추가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Local Repo.</a:t>
            </a:r>
            <a:r>
              <a:rPr lang="ko-KR" altLang="en-US" dirty="0"/>
              <a:t>에서 </a:t>
            </a:r>
            <a:r>
              <a:rPr lang="en-US" altLang="ko-KR" dirty="0"/>
              <a:t>fetch </a:t>
            </a:r>
            <a:r>
              <a:rPr lang="ko-KR" altLang="en-US" dirty="0"/>
              <a:t>및 </a:t>
            </a:r>
            <a:r>
              <a:rPr lang="en-US" altLang="ko-KR" dirty="0"/>
              <a:t>pull </a:t>
            </a:r>
            <a:r>
              <a:rPr lang="ko-KR" altLang="en-US" dirty="0"/>
              <a:t>수행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git log</a:t>
            </a:r>
            <a:r>
              <a:rPr lang="ko-KR" altLang="en-US" dirty="0"/>
              <a:t>를 캡처하여 </a:t>
            </a:r>
            <a:r>
              <a:rPr lang="ko-KR" altLang="en-US" dirty="0" err="1"/>
              <a:t>슬랙</a:t>
            </a:r>
            <a:r>
              <a:rPr lang="ko-KR" altLang="en-US" dirty="0"/>
              <a:t> 댓글로 제출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4B950-8E9A-7BEB-F129-3C275560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5F66-8A60-4787-969A-6EC7EC4DCCBC}" type="datetime6">
              <a:rPr lang="ko-KR" altLang="en-US" smtClean="0"/>
              <a:t>2025년 11월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F65427-5E7C-F469-A13D-DF730E02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008" y="4401307"/>
            <a:ext cx="4467849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891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README.md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5BC45C-949C-036D-CEF9-E0C1A87B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46E3-1CCB-4522-B9D6-C4EBE824C359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7096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AB2F2-A5E0-AB9D-38EA-35ADDFA2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README.md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C9AFAA-4049-7711-CFE3-FA8CAA188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89170"/>
            <a:ext cx="11510283" cy="46796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/>
              <a:t>README.md</a:t>
            </a:r>
            <a:r>
              <a:rPr lang="ko-KR" altLang="en-US" dirty="0"/>
              <a:t>는 마크다운 형식으로 작성된 안내 문서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README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이 파일을 먼저 읽으세요</a:t>
            </a:r>
            <a:r>
              <a:rPr lang="en-US" altLang="ko-KR" dirty="0"/>
              <a:t>(Read Me First)"</a:t>
            </a:r>
            <a:r>
              <a:rPr lang="ko-KR" altLang="en-US" dirty="0"/>
              <a:t>라는 의미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.md</a:t>
            </a:r>
            <a:r>
              <a:rPr lang="ko-KR" altLang="en-US" dirty="0"/>
              <a:t>는 </a:t>
            </a:r>
            <a:r>
              <a:rPr lang="en-US" altLang="ko-KR" dirty="0"/>
              <a:t>Markdown</a:t>
            </a:r>
            <a:r>
              <a:rPr lang="ko-KR" altLang="en-US" dirty="0"/>
              <a:t>파일 확장자로</a:t>
            </a:r>
            <a:r>
              <a:rPr lang="en-US" altLang="ko-KR" dirty="0"/>
              <a:t>, </a:t>
            </a:r>
            <a:r>
              <a:rPr lang="ko-KR" altLang="en-US" dirty="0"/>
              <a:t>간단한 문법으로 서식을 지정할 수 있는 텍스트 파일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en-US" altLang="ko-KR" dirty="0"/>
              <a:t>README.md</a:t>
            </a:r>
            <a:r>
              <a:rPr lang="ko-KR" altLang="en-US" dirty="0"/>
              <a:t>에 담는 내용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프로젝트 제목과 설명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설치 방법 </a:t>
            </a:r>
            <a:r>
              <a:rPr lang="en-US" altLang="ko-KR" dirty="0"/>
              <a:t>/ </a:t>
            </a:r>
            <a:r>
              <a:rPr lang="ko-KR" altLang="en-US" dirty="0"/>
              <a:t>사용 방법 </a:t>
            </a:r>
            <a:r>
              <a:rPr lang="en-US" altLang="ko-KR" dirty="0"/>
              <a:t>/ </a:t>
            </a:r>
            <a:r>
              <a:rPr lang="ko-KR" altLang="en-US" dirty="0"/>
              <a:t>예시 코드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스크린샷이나 데모 링크</a:t>
            </a: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C34295-2807-E1AA-81CD-42E120628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7FC-51F4-4601-A633-EBB625A4B8D2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718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593AB-5185-9820-C506-23272634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Markdown </a:t>
            </a:r>
            <a:r>
              <a:rPr lang="ko-KR" altLang="en-US"/>
              <a:t>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C32B3-44A7-DA1C-F752-26C1382BB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제목 </a:t>
            </a:r>
            <a:r>
              <a:rPr lang="en-US" altLang="ko-KR" dirty="0"/>
              <a:t>: # 1</a:t>
            </a:r>
            <a:r>
              <a:rPr lang="ko-KR" altLang="en-US" dirty="0"/>
              <a:t> 개</a:t>
            </a:r>
            <a:r>
              <a:rPr lang="en-US" altLang="ko-KR" dirty="0"/>
              <a:t>~ 6 </a:t>
            </a:r>
            <a:r>
              <a:rPr lang="ko-KR" altLang="en-US" dirty="0"/>
              <a:t>개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기울임 </a:t>
            </a:r>
            <a:r>
              <a:rPr lang="en-US" altLang="ko-KR" dirty="0"/>
              <a:t>: *</a:t>
            </a:r>
            <a:r>
              <a:rPr lang="ko-KR" altLang="en-US" dirty="0"/>
              <a:t>기울임</a:t>
            </a:r>
            <a:r>
              <a:rPr lang="en-US" altLang="ko-KR" dirty="0"/>
              <a:t>* or _</a:t>
            </a:r>
            <a:r>
              <a:rPr lang="ko-KR" altLang="en-US" dirty="0"/>
              <a:t>기울임</a:t>
            </a:r>
            <a:r>
              <a:rPr lang="en-US" altLang="ko-KR" dirty="0"/>
              <a:t>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굵게 </a:t>
            </a:r>
            <a:r>
              <a:rPr lang="en-US" altLang="ko-KR" dirty="0"/>
              <a:t>: **</a:t>
            </a:r>
            <a:r>
              <a:rPr lang="ko-KR" altLang="en-US" dirty="0"/>
              <a:t>굵게</a:t>
            </a:r>
            <a:r>
              <a:rPr lang="en-US" altLang="ko-KR" dirty="0"/>
              <a:t>** or</a:t>
            </a:r>
            <a:r>
              <a:rPr lang="ko-KR" altLang="en-US" dirty="0"/>
              <a:t> </a:t>
            </a:r>
            <a:r>
              <a:rPr lang="en-US" altLang="ko-KR" dirty="0"/>
              <a:t>__</a:t>
            </a:r>
            <a:r>
              <a:rPr lang="ko-KR" altLang="en-US" dirty="0"/>
              <a:t>굵게</a:t>
            </a:r>
            <a:r>
              <a:rPr lang="en-US" altLang="ko-KR" dirty="0"/>
              <a:t>__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기울임</a:t>
            </a:r>
            <a:r>
              <a:rPr lang="en-US" altLang="ko-KR" dirty="0"/>
              <a:t>+</a:t>
            </a:r>
            <a:r>
              <a:rPr lang="ko-KR" altLang="en-US" dirty="0"/>
              <a:t>굵게 </a:t>
            </a:r>
            <a:r>
              <a:rPr lang="en-US" altLang="ko-KR" dirty="0"/>
              <a:t>: ***</a:t>
            </a:r>
            <a:r>
              <a:rPr lang="ko-KR" altLang="en-US" dirty="0"/>
              <a:t>기울임과 굵게</a:t>
            </a:r>
            <a:r>
              <a:rPr lang="en-US" altLang="ko-KR" dirty="0"/>
              <a:t>*** or ___</a:t>
            </a:r>
            <a:r>
              <a:rPr lang="ko-KR" altLang="en-US" dirty="0"/>
              <a:t>기울임과 굵게</a:t>
            </a:r>
            <a:r>
              <a:rPr lang="en-US" altLang="ko-KR" dirty="0"/>
              <a:t>___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취소선 </a:t>
            </a:r>
            <a:r>
              <a:rPr lang="en-US" altLang="ko-KR" dirty="0"/>
              <a:t>: ~~</a:t>
            </a:r>
            <a:r>
              <a:rPr lang="ko-KR" altLang="en-US" dirty="0"/>
              <a:t>취소선</a:t>
            </a:r>
            <a:r>
              <a:rPr lang="en-US" altLang="ko-KR" dirty="0"/>
              <a:t>~~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이모지</a:t>
            </a:r>
            <a:r>
              <a:rPr lang="ko-KR" altLang="en-US" dirty="0"/>
              <a:t> </a:t>
            </a:r>
            <a:r>
              <a:rPr lang="en-US" altLang="ko-KR" dirty="0"/>
              <a:t>:  :smile:,  :heart:,  :rocket:</a:t>
            </a:r>
          </a:p>
          <a:p>
            <a:pPr lvl="1">
              <a:lnSpc>
                <a:spcPct val="120000"/>
              </a:lnSpc>
            </a:pPr>
            <a:r>
              <a:rPr lang="ko-KR" altLang="en-US" dirty="0" err="1">
                <a:hlinkClick r:id="rId2"/>
              </a:rPr>
              <a:t>이모지</a:t>
            </a:r>
            <a:r>
              <a:rPr lang="ko-KR" altLang="en-US" dirty="0">
                <a:hlinkClick r:id="rId2"/>
              </a:rPr>
              <a:t> 이름 찾기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줄바꿈은</a:t>
            </a:r>
            <a:r>
              <a:rPr lang="ko-KR" altLang="en-US" dirty="0"/>
              <a:t> </a:t>
            </a:r>
            <a:r>
              <a:rPr lang="ko-KR" altLang="en-US" dirty="0" err="1"/>
              <a:t>엔터</a:t>
            </a:r>
            <a:r>
              <a:rPr lang="ko-KR" altLang="en-US" dirty="0"/>
              <a:t> </a:t>
            </a:r>
            <a:r>
              <a:rPr lang="ko-KR" altLang="en-US" dirty="0" err="1"/>
              <a:t>두번을</a:t>
            </a:r>
            <a:r>
              <a:rPr lang="ko-KR" altLang="en-US" dirty="0"/>
              <a:t> 눌러서 공백을 만들어 주기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55D6A-12A1-7BBB-D024-EF8EA7E1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4583-AA97-47BB-94DC-52122D2B8F76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6284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1DAD8-3FEC-0342-A911-C67F4597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Markdown </a:t>
            </a:r>
            <a:r>
              <a:rPr lang="ko-KR" altLang="en-US"/>
              <a:t>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5ED10-9120-3C77-FBB0-F7DFAA4D6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인덱싱 </a:t>
            </a:r>
            <a:r>
              <a:rPr lang="en-US" altLang="ko-KR" dirty="0"/>
              <a:t>: </a:t>
            </a:r>
            <a:r>
              <a:rPr lang="ko-KR" altLang="en-US" dirty="0"/>
              <a:t>순서 있는 인덱싱은 </a:t>
            </a:r>
            <a:r>
              <a:rPr lang="en-US" altLang="ko-KR" dirty="0"/>
              <a:t>1</a:t>
            </a:r>
            <a:r>
              <a:rPr lang="ko-KR" altLang="en-US" dirty="0"/>
              <a:t>번부터 번호를 입력해주면 됨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+, *, - : </a:t>
            </a:r>
            <a:r>
              <a:rPr lang="ko-KR" altLang="en-US" dirty="0"/>
              <a:t>순서 없는 인덱싱 </a:t>
            </a:r>
            <a:r>
              <a:rPr lang="ko-KR" altLang="en-US" dirty="0" err="1"/>
              <a:t>만들때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TAB</a:t>
            </a:r>
            <a:r>
              <a:rPr lang="ko-KR" altLang="en-US" dirty="0"/>
              <a:t>을 사용하여 하위 인덱싱을 제작할 수 도 있음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하이퍼링크 </a:t>
            </a:r>
            <a:r>
              <a:rPr lang="en-US" altLang="ko-KR" dirty="0"/>
              <a:t>: &lt;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&gt;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링크 </a:t>
            </a:r>
            <a:r>
              <a:rPr lang="en-US" altLang="ko-KR" dirty="0"/>
              <a:t>: [</a:t>
            </a:r>
            <a:r>
              <a:rPr lang="ko-KR" altLang="en-US" dirty="0" err="1"/>
              <a:t>링크이름</a:t>
            </a:r>
            <a:r>
              <a:rPr lang="en-US" altLang="ko-KR" dirty="0"/>
              <a:t>](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/>
              <a:t>옵션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이미지 </a:t>
            </a:r>
            <a:r>
              <a:rPr lang="en-US" altLang="ko-KR" dirty="0"/>
              <a:t>: ![</a:t>
            </a:r>
            <a:r>
              <a:rPr lang="ko-KR" altLang="en-US" dirty="0" err="1"/>
              <a:t>이미지이름</a:t>
            </a:r>
            <a:r>
              <a:rPr lang="en-US" altLang="ko-KR" dirty="0"/>
              <a:t>](</a:t>
            </a:r>
            <a:r>
              <a:rPr lang="ko-KR" altLang="en-US" dirty="0"/>
              <a:t>이미지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인용 </a:t>
            </a:r>
            <a:r>
              <a:rPr lang="en-US" altLang="ko-KR" dirty="0"/>
              <a:t>: &gt; </a:t>
            </a:r>
            <a:r>
              <a:rPr lang="ko-KR" altLang="en-US" dirty="0" err="1"/>
              <a:t>인용내용</a:t>
            </a:r>
            <a:r>
              <a:rPr lang="en-US" altLang="ko-KR" dirty="0"/>
              <a:t>, &gt;&gt; </a:t>
            </a:r>
            <a:r>
              <a:rPr lang="ko-KR" altLang="en-US" dirty="0" err="1"/>
              <a:t>중첩인용</a:t>
            </a: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307C4C-A295-6D3C-906B-D1010E4B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CC51-9ED3-4C6D-AC2A-81804E4A85FF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792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EFF8F-CEFE-31A5-400F-CBEAD3C0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Markdown </a:t>
            </a:r>
            <a:r>
              <a:rPr lang="ko-KR" altLang="en-US"/>
              <a:t>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5FDCC4-5354-5AF3-E4E3-A25C34A7C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코드 </a:t>
            </a:r>
            <a:r>
              <a:rPr lang="en-US" altLang="ko-KR" dirty="0"/>
              <a:t>: `</a:t>
            </a:r>
            <a:r>
              <a:rPr lang="ko-KR" altLang="en-US" dirty="0" err="1"/>
              <a:t>한줄코드</a:t>
            </a:r>
            <a:r>
              <a:rPr lang="en-US" altLang="ko-KR" dirty="0"/>
              <a:t>`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여러줄</a:t>
            </a:r>
            <a:r>
              <a:rPr lang="ko-KR" altLang="en-US" dirty="0"/>
              <a:t> 코드 </a:t>
            </a:r>
            <a:r>
              <a:rPr lang="en-US" altLang="ko-KR" dirty="0"/>
              <a:t>: ```</a:t>
            </a:r>
            <a:r>
              <a:rPr lang="ko-KR" altLang="en-US" dirty="0" err="1"/>
              <a:t>언어명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수평선 </a:t>
            </a:r>
            <a:r>
              <a:rPr lang="en-US" altLang="ko-KR" dirty="0"/>
              <a:t>: ---, ***, ___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체크박스 </a:t>
            </a:r>
            <a:r>
              <a:rPr lang="en-US" altLang="ko-KR" dirty="0"/>
              <a:t>: [ ] </a:t>
            </a:r>
            <a:r>
              <a:rPr lang="ko-KR" altLang="en-US" dirty="0" err="1"/>
              <a:t>빈체크</a:t>
            </a:r>
            <a:r>
              <a:rPr lang="en-US" altLang="ko-KR" dirty="0"/>
              <a:t>, [x] </a:t>
            </a:r>
            <a:r>
              <a:rPr lang="ko-KR" altLang="en-US" dirty="0"/>
              <a:t>체크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표 </a:t>
            </a:r>
            <a:r>
              <a:rPr lang="en-US" altLang="ko-KR" dirty="0"/>
              <a:t>:  </a:t>
            </a:r>
          </a:p>
          <a:p>
            <a:endParaRPr lang="en-US" altLang="ko-KR" dirty="0"/>
          </a:p>
        </p:txBody>
      </p:sp>
      <p:pic>
        <p:nvPicPr>
          <p:cNvPr id="6" name="그림 5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AD0D23CA-A60F-60B5-1E19-93250CDEF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20" y="3698623"/>
            <a:ext cx="4435858" cy="1686875"/>
          </a:xfrm>
          <a:prstGeom prst="rect">
            <a:avLst/>
          </a:prstGeom>
        </p:spPr>
      </p:pic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5C1E1B-C535-2549-0B96-7666E5F4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FDA8-29A6-4404-8113-7606A8024551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290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6B5E-1AA8-39DF-8D27-CBC24400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984AB-9FAE-200A-4F02-D807C82B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en-US" altLang="ko-KR" dirty="0" err="1">
                <a:solidFill>
                  <a:srgbClr val="ED7D31"/>
                </a:solidFill>
              </a:rPr>
              <a:t>Github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프로필 꾸미기</a:t>
            </a:r>
            <a:r>
              <a:rPr lang="en-US" altLang="ko-KR" dirty="0">
                <a:solidFill>
                  <a:srgbClr val="ED7D31"/>
                </a:solidFill>
              </a:rPr>
              <a:t>!!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046D5-0DCF-EAB6-BE3C-3D7FF62C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6042"/>
            <a:ext cx="11701221" cy="3042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hlinkClick r:id="rId3"/>
              </a:rPr>
              <a:t>https://velog.io/@pjy707099/Github-%EA%B0%84%EC%A7%80%EB%82%98%EA%B2%8C-%ED%94%84%EB%A1%9C%ED%95%84-%EA%BE%B8%EB%AF%B8%EA%B8%B0</a:t>
            </a:r>
          </a:p>
          <a:p>
            <a:pPr marL="0" indent="0">
              <a:buNone/>
            </a:pPr>
            <a:r>
              <a:rPr lang="en-US" altLang="ko-KR" sz="2000" dirty="0">
                <a:hlinkClick r:id="rId3"/>
              </a:rPr>
              <a:t>https://velog.io/@oka1313/Github-%EA%B9%83%ED%97%88%EB%B8%8C-%ED%94%84%EB%A1%9C%ED%95%84-%EA%BE%B8%EB%AF%B8%EA%B8%B0</a:t>
            </a:r>
            <a:endParaRPr lang="en-US" altLang="ko-KR" sz="20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 링크의 글을 참조하여 내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프로필 꾸며보기</a:t>
            </a:r>
            <a:r>
              <a:rPr lang="en-US" altLang="ko-KR" dirty="0"/>
              <a:t>!</a:t>
            </a:r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ECCFBF-EACF-D46D-2E57-AB7B397D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1A01-D173-4F55-A8D1-83F830E08DBC}" type="datetime6">
              <a:rPr lang="ko-KR" altLang="en-US" smtClean="0"/>
              <a:t>2025년 11월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484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4074</TotalTime>
  <Words>3803</Words>
  <Application>Microsoft Office PowerPoint</Application>
  <PresentationFormat>와이드스크린</PresentationFormat>
  <Paragraphs>695</Paragraphs>
  <Slides>83</Slides>
  <Notes>75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96" baseType="lpstr">
      <vt:lpstr>G마켓 산스 TTF Bold</vt:lpstr>
      <vt:lpstr>Wingdings</vt:lpstr>
      <vt:lpstr>G마켓 산스 TTF Medium</vt:lpstr>
      <vt:lpstr>Arial</vt:lpstr>
      <vt:lpstr>Symbol</vt:lpstr>
      <vt:lpstr>Pretendard Medium</vt:lpstr>
      <vt:lpstr>Pretendard Light</vt:lpstr>
      <vt:lpstr>메이플스토리</vt:lpstr>
      <vt:lpstr>Pretendard</vt:lpstr>
      <vt:lpstr>Pretendard Black</vt:lpstr>
      <vt:lpstr>맑은 고딕</vt:lpstr>
      <vt:lpstr>Pretendard ExtraBold</vt:lpstr>
      <vt:lpstr>1_Office 테마</vt:lpstr>
      <vt:lpstr>x</vt:lpstr>
      <vt:lpstr>PowerPoint 프레젠테이션</vt:lpstr>
      <vt:lpstr>VS Code 설치</vt:lpstr>
      <vt:lpstr>PowerPoint 프레젠테이션</vt:lpstr>
      <vt:lpstr>학습목표🎓</vt:lpstr>
      <vt:lpstr>커리큘럼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 설치하기 (Window)</vt:lpstr>
      <vt:lpstr>Git 설치하기 (Mac)</vt:lpstr>
      <vt:lpstr>Git 설치확인</vt:lpstr>
      <vt:lpstr>PowerPoint 프레젠테이션</vt:lpstr>
      <vt:lpstr>폴더 구조의 이해</vt:lpstr>
      <vt:lpstr>폴더 구조의 이해</vt:lpstr>
      <vt:lpstr>폴더 구조의 이해</vt:lpstr>
      <vt:lpstr>폴더 구조 확인하기</vt:lpstr>
      <vt:lpstr>PowerPoint 프레젠테이션</vt:lpstr>
      <vt:lpstr>GUI</vt:lpstr>
      <vt:lpstr>CLI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GitHub 회원가입</vt:lpstr>
      <vt:lpstr>PowerPoint 프레젠테이션</vt:lpstr>
      <vt:lpstr>레포지토리 생성</vt:lpstr>
      <vt:lpstr>레포지토리 생성</vt:lpstr>
      <vt:lpstr>원격저장소와 내 폴더 연결</vt:lpstr>
      <vt:lpstr>원격저장소와 내 폴더 연결</vt:lpstr>
      <vt:lpstr>명령어 살펴보기</vt:lpstr>
      <vt:lpstr>명령어 살펴보기</vt:lpstr>
      <vt:lpstr>명령어 살펴보기</vt:lpstr>
      <vt:lpstr>PowerPoint 프레젠테이션</vt:lpstr>
      <vt:lpstr>코드를 원격저장소에 올리는 이유</vt:lpstr>
      <vt:lpstr>PowerPoint 프레젠테이션</vt:lpstr>
      <vt:lpstr>원격저장소에 파일 올리기</vt:lpstr>
      <vt:lpstr>PowerPoint 프레젠테이션</vt:lpstr>
      <vt:lpstr>PowerPoint 프레젠테이션</vt:lpstr>
      <vt:lpstr>PowerPoint 프레젠테이션</vt:lpstr>
      <vt:lpstr>PowerPoint 프레젠테이션</vt:lpstr>
      <vt:lpstr>Git 주요 명령어</vt:lpstr>
      <vt:lpstr>원격저장소에 파일 올리기</vt:lpstr>
      <vt:lpstr>원격저장소에 파일 올리기</vt:lpstr>
      <vt:lpstr>실습2. 원격저장소에 파일 올리기</vt:lpstr>
      <vt:lpstr>Commit Node</vt:lpstr>
      <vt:lpstr>PowerPoint 프레젠테이션</vt:lpstr>
      <vt:lpstr>Q &amp; A</vt:lpstr>
      <vt:lpstr>.gitignore</vt:lpstr>
      <vt:lpstr>.gitignore</vt:lpstr>
      <vt:lpstr>실수 사례</vt:lpstr>
      <vt:lpstr>PowerPoint 프레젠테이션</vt:lpstr>
      <vt:lpstr>PowerPoint 프레젠테이션</vt:lpstr>
      <vt:lpstr>코드를 왜 받을까?</vt:lpstr>
      <vt:lpstr>원격 저장소 만들기</vt:lpstr>
      <vt:lpstr>git clone</vt:lpstr>
      <vt:lpstr>Personal Access Token</vt:lpstr>
      <vt:lpstr>Select Scopes</vt:lpstr>
      <vt:lpstr>원격 저장소 로컬 컴퓨터로 복제하기</vt:lpstr>
      <vt:lpstr>원격 저장소 로컬 컴퓨터로 복제하기</vt:lpstr>
      <vt:lpstr>원격 저장소 로컬 컴퓨터로 복제하기</vt:lpstr>
      <vt:lpstr>원격 저장소의 변경 내용 내려 받기</vt:lpstr>
      <vt:lpstr>git push</vt:lpstr>
      <vt:lpstr>실습4. clone 및 push</vt:lpstr>
      <vt:lpstr>git push --force </vt:lpstr>
      <vt:lpstr>실습5. remote 및 pull</vt:lpstr>
      <vt:lpstr>PowerPoint 프레젠테이션</vt:lpstr>
      <vt:lpstr>README.md</vt:lpstr>
      <vt:lpstr>Markdown 문법</vt:lpstr>
      <vt:lpstr>Markdown 문법</vt:lpstr>
      <vt:lpstr>Markdown 문법</vt:lpstr>
      <vt:lpstr>실습6. Github 프로필 꾸미기!!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332</cp:revision>
  <dcterms:created xsi:type="dcterms:W3CDTF">2023-01-31T04:26:23Z</dcterms:created>
  <dcterms:modified xsi:type="dcterms:W3CDTF">2025-11-03T04:17:11Z</dcterms:modified>
</cp:coreProperties>
</file>