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1044" r:id="rId2"/>
    <p:sldId id="635" r:id="rId3"/>
    <p:sldId id="725" r:id="rId4"/>
    <p:sldId id="1028" r:id="rId5"/>
    <p:sldId id="1029" r:id="rId6"/>
    <p:sldId id="1045" r:id="rId7"/>
    <p:sldId id="1030" r:id="rId8"/>
    <p:sldId id="1031" r:id="rId9"/>
    <p:sldId id="1032" r:id="rId10"/>
    <p:sldId id="1033" r:id="rId11"/>
    <p:sldId id="671" r:id="rId12"/>
    <p:sldId id="732" r:id="rId13"/>
    <p:sldId id="713" r:id="rId14"/>
    <p:sldId id="714" r:id="rId15"/>
    <p:sldId id="715" r:id="rId16"/>
    <p:sldId id="716" r:id="rId17"/>
    <p:sldId id="717" r:id="rId18"/>
    <p:sldId id="718" r:id="rId19"/>
    <p:sldId id="687" r:id="rId20"/>
    <p:sldId id="719" r:id="rId21"/>
    <p:sldId id="1034" r:id="rId22"/>
    <p:sldId id="1035" r:id="rId23"/>
    <p:sldId id="1036" r:id="rId24"/>
    <p:sldId id="1037" r:id="rId25"/>
    <p:sldId id="1038" r:id="rId26"/>
    <p:sldId id="1040" r:id="rId27"/>
    <p:sldId id="751" r:id="rId28"/>
    <p:sldId id="1041" r:id="rId29"/>
    <p:sldId id="706" r:id="rId30"/>
    <p:sldId id="1042" r:id="rId31"/>
    <p:sldId id="1043" r:id="rId32"/>
    <p:sldId id="694" r:id="rId33"/>
    <p:sldId id="707" r:id="rId34"/>
    <p:sldId id="708" r:id="rId35"/>
    <p:sldId id="696" r:id="rId36"/>
    <p:sldId id="712" r:id="rId37"/>
    <p:sldId id="836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66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79315" autoAdjust="0"/>
  </p:normalViewPr>
  <p:slideViewPr>
    <p:cSldViewPr snapToGrid="0">
      <p:cViewPr varScale="1">
        <p:scale>
          <a:sx n="50" d="100"/>
          <a:sy n="50" d="100"/>
        </p:scale>
        <p:origin x="36" y="7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문제점 </a:t>
            </a:r>
            <a:r>
              <a:rPr lang="en-US" altLang="ko-KR" dirty="0"/>
              <a:t>1</a:t>
            </a:r>
          </a:p>
          <a:p>
            <a:r>
              <a:rPr lang="ko-KR" altLang="en-US" dirty="0"/>
              <a:t>“모델이 깊어질수록 학습이 안 되는 현상이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 원인 중 하나가 </a:t>
            </a:r>
            <a:r>
              <a:rPr lang="ko-KR" altLang="en-US" b="1" dirty="0"/>
              <a:t>기울기 소실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6040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/>
              <a:t>gradient</a:t>
            </a:r>
            <a:r>
              <a:rPr lang="ko-KR" altLang="en-US" dirty="0"/>
              <a:t>가 작아지면 가중치가 거의 안 움직입니다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학습이 멈춘 것처럼 보입니다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3148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74BC9-81E2-7D71-A6B3-53C7908E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915680-DEB0-C99A-5DF0-5964165CF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1CFFB-DEDB-AD93-CD42-2D6C0CC2E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문제점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AE84CA-FB48-34B4-5D0C-3BDEA79DC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824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렐루</a:t>
            </a:r>
            <a:r>
              <a:rPr lang="ko-KR" altLang="en-US" dirty="0"/>
              <a:t> 함수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 &gt; 0 → </a:t>
            </a:r>
            <a:r>
              <a:rPr lang="ko-KR" altLang="en-US" dirty="0"/>
              <a:t>기울기 </a:t>
            </a:r>
            <a:r>
              <a:rPr lang="en-US" altLang="ko-KR" dirty="0"/>
              <a:t>1</a:t>
            </a:r>
          </a:p>
          <a:p>
            <a:r>
              <a:rPr lang="en-US" altLang="ko-KR" dirty="0"/>
              <a:t>x &lt; 0 → 0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학습 속도가 빠르고 구현이 간단합니다</a:t>
            </a:r>
            <a:r>
              <a:rPr lang="en-US" altLang="ko-KR" dirty="0"/>
              <a:t>.”</a:t>
            </a:r>
          </a:p>
          <a:p>
            <a:r>
              <a:rPr lang="ko-KR" altLang="en-US" b="1" dirty="0"/>
              <a:t>단점</a:t>
            </a:r>
          </a:p>
          <a:p>
            <a:r>
              <a:rPr lang="ko-KR" altLang="en-US" dirty="0"/>
              <a:t>“하지만 음수 영역에서는 뉴런이 죽습니다</a:t>
            </a:r>
            <a:r>
              <a:rPr lang="en-US" altLang="ko-KR" dirty="0"/>
              <a:t>.”</a:t>
            </a:r>
          </a:p>
          <a:p>
            <a:r>
              <a:rPr lang="en-US" altLang="ko-KR" b="1" dirty="0"/>
              <a:t>Leaky </a:t>
            </a:r>
            <a:r>
              <a:rPr lang="en-US" altLang="ko-KR" b="1" dirty="0" err="1"/>
              <a:t>ReLU</a:t>
            </a:r>
            <a:r>
              <a:rPr lang="en-US" altLang="ko-KR" b="1" dirty="0"/>
              <a:t> (</a:t>
            </a:r>
            <a:r>
              <a:rPr lang="ko-KR" altLang="en-US" b="1" dirty="0"/>
              <a:t>리키 </a:t>
            </a:r>
            <a:r>
              <a:rPr lang="ko-KR" altLang="en-US" b="1" dirty="0" err="1"/>
              <a:t>렐루</a:t>
            </a:r>
            <a:r>
              <a:rPr lang="en-US" altLang="ko-KR" b="1" dirty="0"/>
              <a:t>)</a:t>
            </a:r>
          </a:p>
          <a:p>
            <a:r>
              <a:rPr lang="ko-KR" altLang="en-US" dirty="0"/>
              <a:t>“그래서 음수 쪽에 작은 기울기를 살려둔 게 </a:t>
            </a:r>
            <a:r>
              <a:rPr lang="en-US" altLang="ko-KR" dirty="0"/>
              <a:t>Leaky </a:t>
            </a:r>
            <a:r>
              <a:rPr lang="en-US" altLang="ko-KR" dirty="0" err="1"/>
              <a:t>ReLU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63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리키 </a:t>
            </a:r>
            <a:r>
              <a:rPr lang="ko-KR" altLang="en-US" dirty="0" err="1"/>
              <a:t>렐루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426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문제 </a:t>
            </a:r>
            <a:r>
              <a:rPr lang="en-US" altLang="ko-KR" b="1" dirty="0"/>
              <a:t>2: </a:t>
            </a:r>
            <a:r>
              <a:rPr lang="ko-KR" altLang="en-US" b="1" dirty="0"/>
              <a:t>내부 분포가 계속 바뀐다</a:t>
            </a:r>
          </a:p>
          <a:p>
            <a:r>
              <a:rPr lang="ko-KR" altLang="en-US" dirty="0"/>
              <a:t>층이 깊어질수록 입력 분포 변화</a:t>
            </a:r>
          </a:p>
          <a:p>
            <a:r>
              <a:rPr lang="ko-KR" altLang="en-US" dirty="0" err="1"/>
              <a:t>학습률</a:t>
            </a:r>
            <a:r>
              <a:rPr lang="ko-KR" altLang="en-US" dirty="0"/>
              <a:t> 민감도 증가</a:t>
            </a:r>
          </a:p>
          <a:p>
            <a:r>
              <a:rPr lang="ko-KR" altLang="en-US" dirty="0"/>
              <a:t>수렴 속도 저하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242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핵심 설명</a:t>
            </a:r>
          </a:p>
          <a:p>
            <a:r>
              <a:rPr lang="en-US" altLang="ko-KR" dirty="0"/>
              <a:t>BN</a:t>
            </a:r>
            <a:r>
              <a:rPr lang="ko-KR" altLang="en-US" dirty="0"/>
              <a:t>은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각 배치마다 평균 </a:t>
            </a:r>
            <a:r>
              <a:rPr lang="en-US" altLang="ko-KR" dirty="0"/>
              <a:t>0, </a:t>
            </a:r>
            <a:r>
              <a:rPr lang="ko-KR" altLang="en-US" dirty="0"/>
              <a:t>분산 </a:t>
            </a:r>
            <a:r>
              <a:rPr lang="en-US" altLang="ko-KR" dirty="0"/>
              <a:t>1</a:t>
            </a:r>
            <a:r>
              <a:rPr lang="ko-KR" altLang="en-US" dirty="0"/>
              <a:t>로 정규화</a:t>
            </a:r>
          </a:p>
          <a:p>
            <a:r>
              <a:rPr lang="ko-KR" altLang="en-US" dirty="0"/>
              <a:t>학습을 안정화</a:t>
            </a:r>
          </a:p>
          <a:p>
            <a:r>
              <a:rPr lang="ko-KR" altLang="en-US" dirty="0" err="1"/>
              <a:t>학습률을</a:t>
            </a:r>
            <a:r>
              <a:rPr lang="ko-KR" altLang="en-US" dirty="0"/>
              <a:t> 크게 써도 됨</a:t>
            </a:r>
          </a:p>
          <a:p>
            <a:r>
              <a:rPr lang="ko-KR" altLang="en-US" b="1" dirty="0"/>
              <a:t>강하게 말할 부분</a:t>
            </a:r>
          </a:p>
          <a:p>
            <a:r>
              <a:rPr lang="ko-KR" altLang="en-US" dirty="0"/>
              <a:t>“</a:t>
            </a:r>
            <a:r>
              <a:rPr lang="en-US" altLang="ko-KR" dirty="0"/>
              <a:t>BN</a:t>
            </a:r>
            <a:r>
              <a:rPr lang="ko-KR" altLang="en-US" dirty="0"/>
              <a:t>은 학습을 빠르게 만들기 위한 장치입니다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5860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렐루</a:t>
            </a:r>
            <a:r>
              <a:rPr lang="ko-KR" altLang="en-US" dirty="0"/>
              <a:t> 함수 </a:t>
            </a:r>
            <a:r>
              <a:rPr lang="en-US" altLang="ko-KR" dirty="0"/>
              <a:t>-&gt; f(x)=max(0,x)</a:t>
            </a:r>
          </a:p>
          <a:p>
            <a:endParaRPr lang="en-US" altLang="ko-KR" dirty="0"/>
          </a:p>
          <a:p>
            <a:r>
              <a:rPr lang="ko-KR" altLang="en-US" dirty="0"/>
              <a:t>그런데 빨간 막대</a:t>
            </a:r>
            <a:r>
              <a:rPr lang="en-US" altLang="ko-KR" dirty="0"/>
              <a:t>(</a:t>
            </a:r>
            <a:r>
              <a:rPr lang="ko-KR" altLang="en-US" dirty="0"/>
              <a:t>입력 데이터</a:t>
            </a:r>
            <a:r>
              <a:rPr lang="en-US" altLang="ko-KR" dirty="0"/>
              <a:t>)</a:t>
            </a:r>
            <a:r>
              <a:rPr lang="ko-KR" altLang="en-US" dirty="0"/>
              <a:t>가 어떤 배치에서는 오른쪽에 </a:t>
            </a:r>
            <a:r>
              <a:rPr lang="ko-KR" altLang="en-US" dirty="0" err="1"/>
              <a:t>몰려있고</a:t>
            </a:r>
            <a:endParaRPr lang="en-US" altLang="ko-KR" dirty="0"/>
          </a:p>
          <a:p>
            <a:r>
              <a:rPr lang="ko-KR" altLang="en-US" dirty="0"/>
              <a:t>어떤 배치에서는 왼쪽에 몰려 있음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dirty="0"/>
              <a:t>같은 모델이어도 입력 분포가 바뀌면 출력 특성이 달라진다는 것</a:t>
            </a:r>
            <a:endParaRPr lang="en-US" altLang="ko-KR" dirty="0"/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r>
              <a:rPr lang="ko-KR" altLang="en-US" dirty="0"/>
              <a:t>입력이 음수 쪽에 몰리면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→ </a:t>
            </a:r>
            <a:r>
              <a:rPr lang="en-US" altLang="ko-KR" dirty="0" err="1"/>
              <a:t>ReLU</a:t>
            </a:r>
            <a:r>
              <a:rPr lang="ko-KR" altLang="en-US" dirty="0"/>
              <a:t>에서 거의 다 </a:t>
            </a:r>
            <a:r>
              <a:rPr lang="en-US" altLang="ko-KR" dirty="0"/>
              <a:t>0</a:t>
            </a:r>
            <a:r>
              <a:rPr lang="ko-KR" altLang="en-US" dirty="0"/>
              <a:t>이 됨</a:t>
            </a:r>
            <a:br>
              <a:rPr lang="ko-KR" altLang="en-US" dirty="0"/>
            </a:br>
            <a:r>
              <a:rPr lang="ko-KR" altLang="en-US" dirty="0"/>
              <a:t>→ </a:t>
            </a:r>
            <a:r>
              <a:rPr lang="en-US" altLang="ko-KR" dirty="0"/>
              <a:t>gradient </a:t>
            </a:r>
            <a:r>
              <a:rPr lang="ko-KR" altLang="en-US" dirty="0"/>
              <a:t>거의 사라짐</a:t>
            </a:r>
            <a:br>
              <a:rPr lang="ko-KR" altLang="en-US" dirty="0"/>
            </a:br>
            <a:r>
              <a:rPr lang="ko-KR" altLang="en-US" dirty="0"/>
              <a:t>→ 학습이 느려지거나 멈춤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dirty="0"/>
          </a:p>
          <a:p>
            <a:r>
              <a:rPr lang="ko-KR" altLang="en-US" b="1" dirty="0"/>
              <a:t>🔹 오른쪽 그림 의미</a:t>
            </a:r>
          </a:p>
          <a:p>
            <a:r>
              <a:rPr lang="en-US" altLang="ko-KR" dirty="0"/>
              <a:t>Batch Normalization</a:t>
            </a:r>
            <a:r>
              <a:rPr lang="ko-KR" altLang="en-US" dirty="0"/>
              <a:t>을 적용하면</a:t>
            </a:r>
          </a:p>
          <a:p>
            <a:r>
              <a:rPr lang="ko-KR" altLang="en-US" dirty="0"/>
              <a:t>입력 분포를 중앙</a:t>
            </a:r>
            <a:r>
              <a:rPr lang="en-US" altLang="ko-KR" dirty="0"/>
              <a:t>(0 </a:t>
            </a:r>
            <a:r>
              <a:rPr lang="ko-KR" altLang="en-US" dirty="0"/>
              <a:t>근처</a:t>
            </a:r>
            <a:r>
              <a:rPr lang="en-US" altLang="ko-KR" dirty="0"/>
              <a:t>)</a:t>
            </a:r>
            <a:r>
              <a:rPr lang="ko-KR" altLang="en-US" dirty="0"/>
              <a:t>로 </a:t>
            </a:r>
            <a:r>
              <a:rPr lang="ko-KR" altLang="en-US" dirty="0" err="1"/>
              <a:t>맞춰줌</a:t>
            </a:r>
            <a:endParaRPr lang="ko-KR" altLang="en-US" dirty="0"/>
          </a:p>
          <a:p>
            <a:r>
              <a:rPr lang="ko-KR" altLang="en-US" dirty="0"/>
              <a:t>분포를 일정하게 유지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입력의 위치를 항상 적절한 영역으로 유지해준다”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4594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뒤에 설명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048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en-US" altLang="ko-KR" dirty="0"/>
              <a:t>feature</a:t>
            </a:r>
            <a:r>
              <a:rPr lang="ko-KR" altLang="en-US" dirty="0"/>
              <a:t>를</a:t>
            </a:r>
          </a:p>
          <a:p>
            <a:r>
              <a:rPr lang="ko-KR" altLang="en-US" dirty="0"/>
              <a:t>평균 </a:t>
            </a:r>
            <a:r>
              <a:rPr lang="en-US" altLang="ko-KR" dirty="0"/>
              <a:t>0</a:t>
            </a:r>
          </a:p>
          <a:p>
            <a:r>
              <a:rPr lang="ko-KR" altLang="en-US" dirty="0"/>
              <a:t>분산 </a:t>
            </a:r>
            <a:r>
              <a:rPr lang="en-US" altLang="ko-KR" dirty="0"/>
              <a:t>1</a:t>
            </a:r>
          </a:p>
          <a:p>
            <a:r>
              <a:rPr lang="ko-KR" altLang="en-US" dirty="0"/>
              <a:t>로 만들어주는 것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지금 이 배치 안에서 </a:t>
            </a:r>
            <a:r>
              <a:rPr lang="ko-KR" altLang="en-US" dirty="0" err="1"/>
              <a:t>표준화한다</a:t>
            </a:r>
            <a:r>
              <a:rPr lang="ko-KR" altLang="en-US" dirty="0"/>
              <a:t>”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567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모든 층에서 무조건 평균 </a:t>
                </a:r>
                <a:r>
                  <a:rPr lang="en-US" altLang="ko-KR" dirty="0"/>
                  <a:t>0, </a:t>
                </a:r>
                <a:r>
                  <a:rPr lang="ko-KR" altLang="en-US" dirty="0"/>
                  <a:t>분산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이 최적인가</a:t>
                </a:r>
                <a:r>
                  <a:rPr lang="en-US" altLang="ko-KR" dirty="0"/>
                  <a:t>?</a:t>
                </a:r>
              </a:p>
              <a:p>
                <a:r>
                  <a:rPr lang="ko-KR" altLang="en-US" dirty="0"/>
                  <a:t>그렇지 않다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그래서 </a:t>
                </a:r>
                <a:r>
                  <a:rPr lang="en-US" altLang="ko-KR" dirty="0"/>
                  <a:t>BN</a:t>
                </a:r>
                <a:r>
                  <a:rPr lang="ko-KR" altLang="en-US" dirty="0"/>
                  <a:t>은 다음 단계를 추가한다</a:t>
                </a:r>
                <a:r>
                  <a:rPr lang="en-US" altLang="ko-KR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200" i="1" kern="1200">
                          <a:solidFill>
                            <a:schemeClr val="tx1"/>
                          </a:solidFill>
                          <a:latin typeface="Kim jung chul Gothic Regular" panose="020B0503000000000000" pitchFamily="50" charset="-127"/>
                          <a:ea typeface="Kim jung chul Gothic Regular" panose="020B0503000000000000" pitchFamily="50" charset="-127"/>
                          <a:cs typeface="+mn-cs"/>
                        </a:rPr>
                        <m:t>𝑦</m:t>
                      </m:r>
                      <m:r>
                        <a:rPr lang="en-US" altLang="ko-KR" sz="1200" i="0" kern="1200">
                          <a:solidFill>
                            <a:schemeClr val="tx1"/>
                          </a:solidFill>
                          <a:latin typeface="Kim jung chul Gothic Regular" panose="020B0503000000000000" pitchFamily="50" charset="-127"/>
                          <a:ea typeface="Kim jung chul Gothic Regular" panose="020B0503000000000000" pitchFamily="50" charset="-127"/>
                          <a:cs typeface="+mn-cs"/>
                        </a:rPr>
                        <m:t>=</m:t>
                      </m:r>
                      <m:r>
                        <a:rPr lang="ko-KR" altLang="en-US" sz="1200" i="1" kern="1200">
                          <a:solidFill>
                            <a:schemeClr val="tx1"/>
                          </a:solidFill>
                          <a:latin typeface="Kim jung chul Gothic Regular" panose="020B0503000000000000" pitchFamily="50" charset="-127"/>
                          <a:ea typeface="Kim jung chul Gothic Regular" panose="020B0503000000000000" pitchFamily="50" charset="-127"/>
                          <a:cs typeface="+mn-cs"/>
                        </a:rPr>
                        <m:t>𝛾</m:t>
                      </m:r>
                      <m:acc>
                        <m:accPr>
                          <m:chr m:val="̂"/>
                          <m:ctrlPr>
                            <a:rPr lang="ko-KR" altLang="en-US" sz="1200" i="1" kern="1200">
                              <a:solidFill>
                                <a:schemeClr val="tx1"/>
                              </a:solidFill>
                              <a:latin typeface="Kim jung chul Gothic Regular" panose="020B0503000000000000" pitchFamily="50" charset="-127"/>
                              <a:ea typeface="Kim jung chul Gothic Regular" panose="020B0503000000000000" pitchFamily="50" charset="-127"/>
                              <a:cs typeface="+mn-cs"/>
                            </a:rPr>
                          </m:ctrlPr>
                        </m:accPr>
                        <m:e>
                          <m:r>
                            <a:rPr lang="ko-KR" altLang="en-US" sz="1200" i="1" kern="1200">
                              <a:solidFill>
                                <a:schemeClr val="tx1"/>
                              </a:solidFill>
                              <a:latin typeface="Kim jung chul Gothic Regular" panose="020B0503000000000000" pitchFamily="50" charset="-127"/>
                              <a:ea typeface="Kim jung chul Gothic Regular" panose="020B0503000000000000" pitchFamily="50" charset="-127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lang="en-US" altLang="ko-KR" sz="1200" i="0" kern="1200">
                          <a:solidFill>
                            <a:schemeClr val="tx1"/>
                          </a:solidFill>
                          <a:latin typeface="Kim jung chul Gothic Regular" panose="020B0503000000000000" pitchFamily="50" charset="-127"/>
                          <a:ea typeface="Kim jung chul Gothic Regular" panose="020B0503000000000000" pitchFamily="50" charset="-127"/>
                          <a:cs typeface="+mn-cs"/>
                        </a:rPr>
                        <m:t>+</m:t>
                      </m:r>
                      <m:r>
                        <a:rPr lang="ko-KR" altLang="en-US" sz="1200" i="1" kern="1200">
                          <a:solidFill>
                            <a:schemeClr val="tx1"/>
                          </a:solidFill>
                          <a:latin typeface="Kim jung chul Gothic Regular" panose="020B0503000000000000" pitchFamily="50" charset="-127"/>
                          <a:ea typeface="Kim jung chul Gothic Regular" panose="020B0503000000000000" pitchFamily="50" charset="-127"/>
                          <a:cs typeface="+mn-cs"/>
                        </a:rPr>
                        <m:t>𝛽</m:t>
                      </m:r>
                    </m:oMath>
                  </m:oMathPara>
                </a14:m>
                <a:endParaRPr lang="ko-KR" altLang="en-US" dirty="0"/>
              </a:p>
              <a:p>
                <a:r>
                  <a:rPr lang="en-US" altLang="ko-KR" dirty="0"/>
                  <a:t>γ: </a:t>
                </a:r>
                <a:r>
                  <a:rPr lang="ko-KR" altLang="en-US" dirty="0"/>
                  <a:t>스케일 조정</a:t>
                </a:r>
              </a:p>
              <a:p>
                <a:r>
                  <a:rPr lang="en-US" altLang="ko-KR" dirty="0"/>
                  <a:t>β: </a:t>
                </a:r>
                <a:r>
                  <a:rPr lang="ko-KR" altLang="en-US" dirty="0"/>
                  <a:t>위치 이동</a:t>
                </a:r>
              </a:p>
              <a:p>
                <a:r>
                  <a:rPr lang="ko-KR" altLang="en-US" dirty="0"/>
                  <a:t>즉</a:t>
                </a:r>
                <a:r>
                  <a:rPr lang="en-US" altLang="ko-KR" dirty="0"/>
                  <a:t>,</a:t>
                </a:r>
              </a:p>
              <a:p>
                <a:r>
                  <a:rPr lang="en-US" altLang="ko-KR" dirty="0"/>
                  <a:t>"</a:t>
                </a:r>
                <a:r>
                  <a:rPr lang="ko-KR" altLang="en-US" dirty="0"/>
                  <a:t>정규화는 하되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모델이 필요하면 다시 조정할 수 있게 해준다</a:t>
                </a:r>
                <a:r>
                  <a:rPr lang="en-US" altLang="ko-KR" dirty="0"/>
                  <a:t>."</a:t>
                </a:r>
              </a:p>
              <a:p>
                <a:r>
                  <a:rPr lang="ko-KR" altLang="en-US" dirty="0"/>
                  <a:t>이게 핵심이다</a:t>
                </a:r>
                <a:r>
                  <a:rPr lang="en-US" altLang="ko-KR" dirty="0"/>
                  <a:t>.</a:t>
                </a: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모든 층에서 무조건 평균 </a:t>
                </a:r>
                <a:r>
                  <a:rPr lang="en-US" altLang="ko-KR" dirty="0"/>
                  <a:t>0, </a:t>
                </a:r>
                <a:r>
                  <a:rPr lang="ko-KR" altLang="en-US" dirty="0"/>
                  <a:t>분산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이 최적인가</a:t>
                </a:r>
                <a:r>
                  <a:rPr lang="en-US" altLang="ko-KR" dirty="0"/>
                  <a:t>?</a:t>
                </a:r>
              </a:p>
              <a:p>
                <a:r>
                  <a:rPr lang="ko-KR" altLang="en-US" dirty="0"/>
                  <a:t>그렇지 않다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그래서 </a:t>
                </a:r>
                <a:r>
                  <a:rPr lang="en-US" altLang="ko-KR" dirty="0"/>
                  <a:t>BN</a:t>
                </a:r>
                <a:r>
                  <a:rPr lang="ko-KR" altLang="en-US" dirty="0"/>
                  <a:t>은 다음 단계를 추가한다</a:t>
                </a:r>
                <a:r>
                  <a:rPr lang="en-US" altLang="ko-KR" dirty="0"/>
                  <a:t>:</a:t>
                </a:r>
              </a:p>
              <a:p>
                <a:r>
                  <a:rPr lang="ko-KR" altLang="en-US" sz="1200" i="0" kern="1200">
                    <a:solidFill>
                      <a:schemeClr val="tx1"/>
                    </a:solidFill>
                    <a:latin typeface="Kim jung chul Gothic Regular" panose="020B0503000000000000" pitchFamily="50" charset="-127"/>
                    <a:ea typeface="Kim jung chul Gothic Regular" panose="020B0503000000000000" pitchFamily="50" charset="-127"/>
                    <a:cs typeface="+mn-cs"/>
                  </a:rPr>
                  <a:t>𝑦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Kim jung chul Gothic Regular" panose="020B0503000000000000" pitchFamily="50" charset="-127"/>
                    <a:ea typeface="Kim jung chul Gothic Regular" panose="020B0503000000000000" pitchFamily="50" charset="-127"/>
                    <a:cs typeface="+mn-cs"/>
                  </a:rPr>
                  <a:t>=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Kim jung chul Gothic Regular" panose="020B0503000000000000" pitchFamily="50" charset="-127"/>
                    <a:ea typeface="Kim jung chul Gothic Regular" panose="020B0503000000000000" pitchFamily="50" charset="-127"/>
                    <a:cs typeface="+mn-cs"/>
                  </a:rPr>
                  <a:t>𝛾𝑥 ̂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Kim jung chul Gothic Regular" panose="020B0503000000000000" pitchFamily="50" charset="-127"/>
                    <a:ea typeface="Kim jung chul Gothic Regular" panose="020B0503000000000000" pitchFamily="50" charset="-127"/>
                    <a:cs typeface="+mn-cs"/>
                  </a:rPr>
                  <a:t>+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Kim jung chul Gothic Regular" panose="020B0503000000000000" pitchFamily="50" charset="-127"/>
                    <a:ea typeface="Kim jung chul Gothic Regular" panose="020B0503000000000000" pitchFamily="50" charset="-127"/>
                    <a:cs typeface="+mn-cs"/>
                  </a:rPr>
                  <a:t>𝛽</a:t>
                </a:r>
                <a:endParaRPr lang="ko-KR" altLang="en-US" dirty="0"/>
              </a:p>
              <a:p>
                <a:r>
                  <a:rPr lang="en-US" altLang="ko-KR" dirty="0"/>
                  <a:t>γ: </a:t>
                </a:r>
                <a:r>
                  <a:rPr lang="ko-KR" altLang="en-US" dirty="0"/>
                  <a:t>스케일 조정</a:t>
                </a:r>
              </a:p>
              <a:p>
                <a:r>
                  <a:rPr lang="en-US" altLang="ko-KR" dirty="0"/>
                  <a:t>β: </a:t>
                </a:r>
                <a:r>
                  <a:rPr lang="ko-KR" altLang="en-US" dirty="0"/>
                  <a:t>위치 이동</a:t>
                </a:r>
              </a:p>
              <a:p>
                <a:r>
                  <a:rPr lang="ko-KR" altLang="en-US" dirty="0"/>
                  <a:t>즉</a:t>
                </a:r>
                <a:r>
                  <a:rPr lang="en-US" altLang="ko-KR" dirty="0"/>
                  <a:t>,</a:t>
                </a:r>
              </a:p>
              <a:p>
                <a:r>
                  <a:rPr lang="en-US" altLang="ko-KR" dirty="0"/>
                  <a:t>"</a:t>
                </a:r>
                <a:r>
                  <a:rPr lang="ko-KR" altLang="en-US" dirty="0"/>
                  <a:t>정규화는 하되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모델이 필요하면 다시 조정할 수 있게 해준다</a:t>
                </a:r>
                <a:r>
                  <a:rPr lang="en-US" altLang="ko-KR" dirty="0"/>
                  <a:t>."</a:t>
                </a:r>
              </a:p>
              <a:p>
                <a:r>
                  <a:rPr lang="ko-KR" altLang="en-US" dirty="0"/>
                  <a:t>이게 핵심이다</a:t>
                </a:r>
                <a:r>
                  <a:rPr lang="en-US" altLang="ko-KR" dirty="0"/>
                  <a:t>.</a:t>
                </a:r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189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74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990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693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/>
              <a:t>BN</a:t>
            </a:r>
            <a:r>
              <a:rPr lang="ko-KR" altLang="en-US" dirty="0"/>
              <a:t>은 배치 크기에 의존합니다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“RNN</a:t>
            </a:r>
            <a:r>
              <a:rPr lang="ko-KR" altLang="en-US" dirty="0"/>
              <a:t>처럼 순차 데이터에는 </a:t>
            </a:r>
            <a:r>
              <a:rPr lang="en-US" altLang="ko-KR" dirty="0"/>
              <a:t>BN</a:t>
            </a:r>
            <a:r>
              <a:rPr lang="ko-KR" altLang="en-US" dirty="0"/>
              <a:t>이 어렵습니다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LN:</a:t>
            </a:r>
          </a:p>
          <a:p>
            <a:r>
              <a:rPr lang="ko-KR" altLang="en-US" dirty="0"/>
              <a:t>각 샘플 단위 정규화</a:t>
            </a:r>
          </a:p>
          <a:p>
            <a:r>
              <a:rPr lang="en-US" altLang="ko-KR" dirty="0"/>
              <a:t>batch size</a:t>
            </a:r>
            <a:r>
              <a:rPr lang="ko-KR" altLang="en-US" dirty="0"/>
              <a:t>에 영향 없음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621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모델이 패턴이 아니라 데이터 자체를 암기했기 때문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3919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훈련할 때 일부 뉴런을 랜덤하게 끕니다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모델이 특정 경로에만 의존하지 못하게 하기 위해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5139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567106" y="2459504"/>
            <a:ext cx="50577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학습 안정 및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성능 향상 기법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62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904261" y="2571115"/>
            <a:ext cx="638347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기울기 소실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Vanishing Gradient</a:t>
            </a:r>
          </a:p>
        </p:txBody>
      </p:sp>
    </p:spTree>
    <p:extLst>
      <p:ext uri="{BB962C8B-B14F-4D97-AF65-F5344CB8AC3E}">
        <p14:creationId xmlns:p14="http://schemas.microsoft.com/office/powerpoint/2010/main" val="343331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938597"/>
            <a:ext cx="7118542" cy="3120421"/>
          </a:xfrm>
        </p:spPr>
        <p:txBody>
          <a:bodyPr>
            <a:noAutofit/>
          </a:bodyPr>
          <a:lstStyle/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sz="2400" dirty="0"/>
              <a:t>✔️ </a:t>
            </a:r>
            <a:r>
              <a:rPr lang="ko-KR" altLang="en-US" sz="2400" dirty="0" err="1"/>
              <a:t>시그모이드</a:t>
            </a:r>
            <a:r>
              <a:rPr lang="ko-KR" altLang="en-US" sz="2400" dirty="0"/>
              <a:t> 함수 접선의 기울기의 최대값은</a:t>
            </a:r>
            <a:r>
              <a:rPr lang="en-US" altLang="ko-KR" sz="2400" dirty="0"/>
              <a:t> 1/4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큰 입력 값에서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기울기 거의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이로 인해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역전파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과정에서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기울기가 점점 작아져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이전 층으로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전달되기 어렵게 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Gradient</a:t>
            </a:r>
            <a:r>
              <a:rPr lang="ko-KR" altLang="en-US" dirty="0"/>
              <a:t>가 작으면 이에 따라 가중치의 변동도 매우 작아지게 됨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Picture 2" descr="sig">
            <a:extLst>
              <a:ext uri="{FF2B5EF4-FFF2-40B4-BE49-F238E27FC236}">
                <a16:creationId xmlns:a16="http://schemas.microsoft.com/office/drawing/2014/main" id="{9DC3754F-59E1-AD9B-3765-3D9AB9D4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533" y="2067570"/>
            <a:ext cx="4506872" cy="286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시그모이드</a:t>
            </a:r>
            <a:r>
              <a:rPr lang="ko-KR" altLang="en-US" b="1" dirty="0"/>
              <a:t> 함수의 문제</a:t>
            </a:r>
          </a:p>
        </p:txBody>
      </p:sp>
    </p:spTree>
    <p:extLst>
      <p:ext uri="{BB962C8B-B14F-4D97-AF65-F5344CB8AC3E}">
        <p14:creationId xmlns:p14="http://schemas.microsoft.com/office/powerpoint/2010/main" val="18973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1425283" cy="3763403"/>
          </a:xfrm>
        </p:spPr>
        <p:txBody>
          <a:bodyPr>
            <a:noAutofit/>
          </a:bodyPr>
          <a:lstStyle/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sz="2400" dirty="0"/>
              <a:t>💡 신경망에서 </a:t>
            </a:r>
            <a:r>
              <a:rPr lang="ko-KR" altLang="en-US" sz="2400" dirty="0" err="1"/>
              <a:t>역전파</a:t>
            </a:r>
            <a:r>
              <a:rPr lang="ko-KR" altLang="en-US" sz="2400" dirty="0"/>
              <a:t> 중 </a:t>
            </a:r>
            <a:r>
              <a:rPr lang="ko-KR" altLang="en-US" sz="2400" b="1" dirty="0"/>
              <a:t>층이 깊어질수록</a:t>
            </a:r>
            <a:r>
              <a:rPr lang="ko-KR" altLang="en-US" sz="2400" dirty="0"/>
              <a:t> 초기 층으로 전파되는 기울기</a:t>
            </a:r>
            <a:r>
              <a:rPr lang="en-US" altLang="ko-KR" sz="2400" dirty="0"/>
              <a:t>(</a:t>
            </a:r>
            <a:r>
              <a:rPr lang="en-US" altLang="ko-KR" sz="2400" dirty="0" err="1"/>
              <a:t>Gradinet</a:t>
            </a:r>
            <a:r>
              <a:rPr lang="en-US" altLang="ko-KR" sz="2400" dirty="0"/>
              <a:t>)</a:t>
            </a:r>
            <a:r>
              <a:rPr lang="ko-KR" altLang="en-US" sz="2400" dirty="0"/>
              <a:t>가 </a:t>
            </a:r>
            <a:r>
              <a:rPr lang="ko-KR" altLang="en-US" sz="2400" b="1" dirty="0"/>
              <a:t>작아져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ko-KR" sz="2400" dirty="0"/>
              <a:t>       </a:t>
            </a:r>
            <a:r>
              <a:rPr lang="ko-KR" altLang="en-US" sz="2400" dirty="0"/>
              <a:t>학습이 제대로 이루어지지 않는 문제</a:t>
            </a:r>
            <a:r>
              <a:rPr lang="en-US" altLang="ko-KR" sz="2400" dirty="0"/>
              <a:t>.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sz="2400" b="1" dirty="0">
                <a:latin typeface="+mn-ea"/>
              </a:rPr>
              <a:t>✅ 문제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초기 층 학습 어려움</a:t>
            </a:r>
            <a:r>
              <a:rPr lang="en-US" altLang="ko-KR" dirty="0"/>
              <a:t>: </a:t>
            </a:r>
            <a:r>
              <a:rPr lang="ko-KR" altLang="en-US" dirty="0"/>
              <a:t>네트워크의 깊은 층은 거의 업데이트되지 않음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학습 속도 저하</a:t>
            </a:r>
            <a:r>
              <a:rPr lang="en-US" altLang="ko-KR" dirty="0"/>
              <a:t>: </a:t>
            </a:r>
            <a:r>
              <a:rPr lang="ko-KR" altLang="en-US" dirty="0"/>
              <a:t>학습 과정이 비효율적이 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정확도 하락</a:t>
            </a:r>
            <a:r>
              <a:rPr lang="en-US" altLang="ko-KR" dirty="0"/>
              <a:t>: </a:t>
            </a:r>
            <a:r>
              <a:rPr lang="ko-KR" altLang="en-US" dirty="0"/>
              <a:t>모델의 성능 저하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/>
              <a:t>기울기 소실 </a:t>
            </a:r>
            <a:r>
              <a:rPr lang="en-US" altLang="ko-KR" b="1" dirty="0"/>
              <a:t>Vanishing Gradient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0655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95A26-416C-57BB-8CDC-AC3418DAC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CBA01-7882-77FE-1255-09E54CCF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DEFBDF-E970-DCBD-7316-995675E1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EAA07-9AEB-5322-507B-649A52F54156}"/>
              </a:ext>
            </a:extLst>
          </p:cNvPr>
          <p:cNvSpPr txBox="1"/>
          <p:nvPr/>
        </p:nvSpPr>
        <p:spPr>
          <a:xfrm>
            <a:off x="3378750" y="2571115"/>
            <a:ext cx="54345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해결 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b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활성화 함수 변경</a:t>
            </a:r>
            <a:endParaRPr lang="en-US" altLang="ko-KR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5552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>
                <a:latin typeface="+mj-ea"/>
              </a:rPr>
              <a:t>ReLU</a:t>
            </a:r>
            <a:r>
              <a:rPr lang="en-US" altLang="ko-KR" b="1" dirty="0">
                <a:latin typeface="+mj-ea"/>
              </a:rPr>
              <a:t>(Rectified Linear Unit)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06274"/>
            <a:ext cx="6669900" cy="481732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C00000"/>
                </a:solidFill>
                <a:latin typeface="+mn-ea"/>
              </a:rPr>
              <a:t>💡 </a:t>
            </a:r>
            <a:r>
              <a:rPr lang="ko-KR" altLang="en-US" sz="2400" dirty="0"/>
              <a:t>입력이 </a:t>
            </a:r>
            <a:r>
              <a:rPr lang="en-US" altLang="ko-KR" sz="2400" dirty="0"/>
              <a:t>0</a:t>
            </a:r>
            <a:r>
              <a:rPr lang="ko-KR" altLang="en-US" sz="2400" dirty="0"/>
              <a:t>보다 크면 그대로 출력하고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      0</a:t>
            </a:r>
            <a:r>
              <a:rPr lang="ko-KR" altLang="en-US" sz="2400" dirty="0"/>
              <a:t>이하이면</a:t>
            </a:r>
            <a:r>
              <a:rPr lang="en-US" altLang="ko-KR" sz="2400" dirty="0"/>
              <a:t> 0</a:t>
            </a:r>
            <a:r>
              <a:rPr lang="ko-KR" altLang="en-US" sz="2400" dirty="0"/>
              <a:t>을 출력하는 활성화 함수</a:t>
            </a:r>
            <a:endParaRPr lang="en-US" altLang="ko-KR" sz="2400" b="1" dirty="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F(x) = max(0,x)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최근 가장 많이 사용되는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활성화 함수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특징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학습 속도가 빠르고</a:t>
            </a:r>
            <a:r>
              <a:rPr lang="en-US" altLang="ko-KR" sz="2000" dirty="0"/>
              <a:t>, </a:t>
            </a:r>
            <a:r>
              <a:rPr lang="ko-KR" altLang="en-US" sz="2000" dirty="0"/>
              <a:t>구현이 간단함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X &gt; 0 </a:t>
            </a:r>
            <a:r>
              <a:rPr lang="ko-KR" altLang="en-US" sz="2000" dirty="0"/>
              <a:t>이면 기울기가 </a:t>
            </a:r>
            <a:r>
              <a:rPr lang="en-US" altLang="ko-KR" sz="2000" dirty="0"/>
              <a:t>1</a:t>
            </a:r>
            <a:r>
              <a:rPr lang="ko-KR" altLang="en-US" sz="2000" dirty="0"/>
              <a:t>인 직선</a:t>
            </a:r>
            <a:r>
              <a:rPr lang="en-US" altLang="ko-KR" sz="2000" dirty="0"/>
              <a:t>, X &lt; 0 </a:t>
            </a:r>
            <a:r>
              <a:rPr lang="ko-KR" altLang="en-US" sz="2000" dirty="0"/>
              <a:t>이면 기울기가 </a:t>
            </a:r>
            <a:r>
              <a:rPr lang="en-US" altLang="ko-KR" sz="2000" dirty="0"/>
              <a:t>0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/>
              <a:t>X &lt; 0</a:t>
            </a:r>
            <a:r>
              <a:rPr lang="ko-KR" altLang="en-US" sz="1600" b="1" dirty="0"/>
              <a:t>에서 기울기가 </a:t>
            </a:r>
            <a:r>
              <a:rPr lang="en-US" altLang="ko-KR" sz="1600" b="1" dirty="0"/>
              <a:t>0</a:t>
            </a:r>
            <a:r>
              <a:rPr lang="ko-KR" altLang="en-US" sz="1600" b="1" dirty="0"/>
              <a:t> → 노드가 학습에 사용되지 않는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뉴런이 죽는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 단점 발생</a:t>
            </a:r>
            <a:endParaRPr lang="en-US" altLang="ko-KR" sz="16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 dirty="0"/>
          </a:p>
        </p:txBody>
      </p:sp>
      <p:pic>
        <p:nvPicPr>
          <p:cNvPr id="21506" name="Picture 2" descr="relu">
            <a:extLst>
              <a:ext uri="{FF2B5EF4-FFF2-40B4-BE49-F238E27FC236}">
                <a16:creationId xmlns:a16="http://schemas.microsoft.com/office/drawing/2014/main" id="{0210935B-8B07-904E-302D-0BF5F9F03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866" y="1851036"/>
            <a:ext cx="4851400" cy="315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192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Leakly</a:t>
            </a:r>
            <a:r>
              <a:rPr lang="en-US" altLang="ko-KR" b="1" dirty="0">
                <a:latin typeface="+mj-ea"/>
              </a:rPr>
              <a:t> </a:t>
            </a:r>
            <a:r>
              <a:rPr lang="en-US" altLang="ko-KR" b="1" dirty="0" err="1">
                <a:latin typeface="+mj-ea"/>
              </a:rPr>
              <a:t>ReLU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449263"/>
            <a:ext cx="6673945" cy="39594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입력이 </a:t>
            </a:r>
            <a:r>
              <a:rPr lang="en-US" altLang="ko-KR" sz="2400" dirty="0"/>
              <a:t>0</a:t>
            </a:r>
            <a:r>
              <a:rPr lang="ko-KR" altLang="en-US" sz="2400" dirty="0"/>
              <a:t>보다 크면 그대로 출력하고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       0 </a:t>
            </a:r>
            <a:r>
              <a:rPr lang="ko-KR" altLang="en-US" sz="2400" dirty="0"/>
              <a:t>이하이면 작은 기울기</a:t>
            </a:r>
            <a:r>
              <a:rPr lang="en-US" altLang="ko-KR" sz="2400" dirty="0"/>
              <a:t>(α)</a:t>
            </a:r>
            <a:r>
              <a:rPr lang="ko-KR" altLang="en-US" sz="2400" dirty="0"/>
              <a:t>를 곱해 출력하는 함수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/>
              <a:t>ReLU</a:t>
            </a:r>
            <a:r>
              <a:rPr lang="ko-KR" altLang="en-US" sz="2000" dirty="0"/>
              <a:t>의 뉴런이 죽는</a:t>
            </a:r>
            <a:r>
              <a:rPr lang="en-US" altLang="ko-KR" sz="2000" dirty="0"/>
              <a:t>(Dying </a:t>
            </a:r>
            <a:r>
              <a:rPr lang="en-US" altLang="ko-KR" sz="2000" dirty="0" err="1"/>
              <a:t>ReLU</a:t>
            </a:r>
            <a:r>
              <a:rPr lang="en-US" altLang="ko-KR" sz="2000" dirty="0"/>
              <a:t>) </a:t>
            </a:r>
            <a:r>
              <a:rPr lang="ko-KR" altLang="en-US" sz="2000" dirty="0"/>
              <a:t>문제를 해결하기 위해 나온 함수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/>
              <a:t>X &lt; 0 </a:t>
            </a:r>
            <a:r>
              <a:rPr lang="ko-KR" altLang="en-US" sz="2000" dirty="0"/>
              <a:t>에서의 기울기를 </a:t>
            </a:r>
            <a:r>
              <a:rPr lang="en-US" altLang="ko-KR" sz="2000" dirty="0"/>
              <a:t>1/100</a:t>
            </a:r>
            <a:r>
              <a:rPr lang="ko-KR" altLang="en-US" sz="2000" dirty="0"/>
              <a:t>로 살려둠</a:t>
            </a:r>
            <a:endParaRPr lang="en-US" altLang="ko-KR" sz="2000" dirty="0"/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dirty="0"/>
              <a:t>F(x) = max(0.01x, x)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/>
              <a:t>X &lt; 0 </a:t>
            </a:r>
            <a:r>
              <a:rPr lang="ko-KR" altLang="en-US" sz="2000" dirty="0"/>
              <a:t>값에 대해 </a:t>
            </a:r>
            <a:r>
              <a:rPr lang="ko-KR" altLang="en-US" sz="2000" dirty="0" err="1"/>
              <a:t>미분값이</a:t>
            </a:r>
            <a:r>
              <a:rPr lang="ko-KR" altLang="en-US" sz="2000" dirty="0"/>
              <a:t> </a:t>
            </a:r>
            <a:r>
              <a:rPr lang="en-US" altLang="ko-KR" sz="2000" dirty="0"/>
              <a:t>0</a:t>
            </a:r>
            <a:r>
              <a:rPr lang="ko-KR" altLang="en-US" sz="2000" dirty="0"/>
              <a:t>이 아님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7F11E8EF-D761-EAB5-9DA9-63F9D0DFF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322" y="1728787"/>
            <a:ext cx="40195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618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sz="4000" b="1" dirty="0" err="1">
                <a:latin typeface="+mj-ea"/>
              </a:rPr>
              <a:t>ReLU</a:t>
            </a:r>
            <a:r>
              <a:rPr lang="en-US" altLang="ko-KR" sz="4000" b="1" dirty="0">
                <a:latin typeface="+mj-ea"/>
              </a:rPr>
              <a:t> </a:t>
            </a:r>
            <a:r>
              <a:rPr lang="ko-KR" altLang="en-US" sz="4000" b="1" dirty="0">
                <a:latin typeface="+mj-ea"/>
              </a:rPr>
              <a:t>함수의 종류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8" name="그룹 7"/>
          <p:cNvGrpSpPr/>
          <p:nvPr/>
        </p:nvGrpSpPr>
        <p:grpSpPr>
          <a:xfrm>
            <a:off x="3406815" y="960099"/>
            <a:ext cx="5378370" cy="5167449"/>
            <a:chOff x="3406815" y="960099"/>
            <a:chExt cx="5378370" cy="5167449"/>
          </a:xfrm>
        </p:grpSpPr>
        <p:pic>
          <p:nvPicPr>
            <p:cNvPr id="2050" name="Picture 2" descr="[DL] 6. 인공 신경망이 깊어질 때 발생하는 고질적 문제 (gradient vanishing &amp; overfitting)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6815" y="960099"/>
              <a:ext cx="5378370" cy="4937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/>
            <p:cNvSpPr/>
            <p:nvPr/>
          </p:nvSpPr>
          <p:spPr>
            <a:xfrm>
              <a:off x="4625084" y="5881327"/>
              <a:ext cx="282000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https://gangjeong22.tistory.com/m/161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8175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044808" y="2459504"/>
            <a:ext cx="410240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해결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2</a:t>
            </a:r>
            <a:b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정규화 기법</a:t>
            </a:r>
            <a:endParaRPr lang="en-US" altLang="ko-KR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8635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B4F9F-FBE6-D4D8-DF87-84D43855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684503"/>
            <a:ext cx="6011432" cy="3951982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배치 정규화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학습 과정에서 각 배치 단위 별로 데이터가 다양한 분포를 가지더라도</a:t>
            </a:r>
            <a:r>
              <a:rPr lang="en-US" altLang="ko-KR" sz="2000" dirty="0"/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각 배치별로 평균과 분산을 이용해 정규화 </a:t>
            </a:r>
            <a:r>
              <a:rPr lang="ko-KR" altLang="en-US" sz="2000" dirty="0" err="1">
                <a:solidFill>
                  <a:srgbClr val="FF0000"/>
                </a:solidFill>
              </a:rPr>
              <a:t>하는것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평균은 </a:t>
            </a:r>
            <a:r>
              <a:rPr lang="en-US" altLang="ko-KR" sz="2000" dirty="0"/>
              <a:t>0, </a:t>
            </a:r>
            <a:r>
              <a:rPr lang="ko-KR" altLang="en-US" sz="2000" dirty="0"/>
              <a:t>표준 편차는 </a:t>
            </a:r>
            <a:r>
              <a:rPr lang="en-US" altLang="ko-KR" sz="2000" dirty="0"/>
              <a:t>1</a:t>
            </a:r>
            <a:r>
              <a:rPr lang="ko-KR" altLang="en-US" sz="2000" dirty="0"/>
              <a:t>로 데이터의 분포를 조정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재배치 하되</a:t>
            </a:r>
            <a:r>
              <a:rPr lang="en-US" altLang="ko-KR" sz="1800" dirty="0"/>
              <a:t>, </a:t>
            </a:r>
            <a:r>
              <a:rPr lang="ko-KR" altLang="en-US" sz="1800" dirty="0"/>
              <a:t>순서는 바꾸지 않음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한계 </a:t>
            </a:r>
            <a:r>
              <a:rPr lang="en-US" altLang="ko-KR" sz="2000" dirty="0"/>
              <a:t>: batch </a:t>
            </a:r>
            <a:r>
              <a:rPr lang="ko-KR" altLang="en-US" sz="2000" dirty="0"/>
              <a:t>의 크기에 영향을 받음</a:t>
            </a:r>
            <a:r>
              <a:rPr lang="en-US" altLang="ko-KR" sz="2000" dirty="0"/>
              <a:t>, batch </a:t>
            </a:r>
            <a:r>
              <a:rPr lang="ko-KR" altLang="en-US" sz="2000" dirty="0"/>
              <a:t>의 크기가 너무 작거나 너무 커지면 잘 동작하지 않음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4338" name="Picture 2" descr="Drawing">
            <a:extLst>
              <a:ext uri="{FF2B5EF4-FFF2-40B4-BE49-F238E27FC236}">
                <a16:creationId xmlns:a16="http://schemas.microsoft.com/office/drawing/2014/main" id="{3D6F239C-32C6-FE85-AD47-BD073AFC2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220" y="2343874"/>
            <a:ext cx="5809704" cy="263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572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876365" y="1183637"/>
            <a:ext cx="4437428" cy="2245362"/>
            <a:chOff x="259715" y="1819274"/>
            <a:chExt cx="5715000" cy="3219451"/>
          </a:xfrm>
        </p:grpSpPr>
        <p:pic>
          <p:nvPicPr>
            <p:cNvPr id="8194" name="Picture 2" descr="ReLU Activation Function [with python code] - Vidyasheel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715" y="1819274"/>
              <a:ext cx="5715000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직선 연결선 10"/>
            <p:cNvCxnSpPr/>
            <p:nvPr/>
          </p:nvCxnSpPr>
          <p:spPr>
            <a:xfrm>
              <a:off x="34391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>
              <a:off x="37846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411988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44704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479044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789788" y="3752729"/>
            <a:ext cx="4610582" cy="2245362"/>
            <a:chOff x="6096000" y="1819274"/>
            <a:chExt cx="5715000" cy="3219451"/>
          </a:xfrm>
        </p:grpSpPr>
        <p:pic>
          <p:nvPicPr>
            <p:cNvPr id="9" name="Picture 2" descr="ReLU Activation Function [with python code] - Vidyasheel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1819274"/>
              <a:ext cx="5715000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직선 연결선 17"/>
            <p:cNvCxnSpPr/>
            <p:nvPr/>
          </p:nvCxnSpPr>
          <p:spPr>
            <a:xfrm>
              <a:off x="685292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71983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753364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78841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82042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/>
          <p:cNvGrpSpPr/>
          <p:nvPr/>
        </p:nvGrpSpPr>
        <p:grpSpPr>
          <a:xfrm>
            <a:off x="6468134" y="2262897"/>
            <a:ext cx="5315976" cy="2979664"/>
            <a:chOff x="259715" y="1819274"/>
            <a:chExt cx="5715000" cy="3219451"/>
          </a:xfrm>
        </p:grpSpPr>
        <p:pic>
          <p:nvPicPr>
            <p:cNvPr id="31" name="Picture 2" descr="ReLU Activation Function [with python code] - Vidyasheel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715" y="1819274"/>
              <a:ext cx="5715000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직선 연결선 31"/>
            <p:cNvCxnSpPr/>
            <p:nvPr/>
          </p:nvCxnSpPr>
          <p:spPr>
            <a:xfrm>
              <a:off x="22353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>
              <a:off x="25808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291608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32666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358664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오른쪽 화살표 27"/>
          <p:cNvSpPr/>
          <p:nvPr/>
        </p:nvSpPr>
        <p:spPr>
          <a:xfrm>
            <a:off x="5748667" y="3483827"/>
            <a:ext cx="676934" cy="537804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0018F-6ED8-7890-1C8B-C621E2A5B413}"/>
              </a:ext>
            </a:extLst>
          </p:cNvPr>
          <p:cNvSpPr txBox="1"/>
          <p:nvPr/>
        </p:nvSpPr>
        <p:spPr>
          <a:xfrm>
            <a:off x="6559749" y="1385326"/>
            <a:ext cx="349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f(x)=max(0,x)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6853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5EBEBA-3EB1-A0EF-926A-38B777B6C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961" y="1672541"/>
            <a:ext cx="9612078" cy="397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866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00" y="1377742"/>
            <a:ext cx="169545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639446" y="1278946"/>
            <a:ext cx="5665333" cy="10548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1️⃣</a:t>
            </a:r>
            <a:r>
              <a:rPr lang="ko-KR" altLang="en-US" sz="2400" dirty="0"/>
              <a:t> 평균 계산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미니배치의 데이터 개수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xi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데이터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837" y="2750674"/>
            <a:ext cx="25717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312" y="4239647"/>
            <a:ext cx="182880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762" y="5543940"/>
            <a:ext cx="22479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/>
              <p:cNvSpPr/>
              <p:nvPr/>
            </p:nvSpPr>
            <p:spPr>
              <a:xfrm>
                <a:off x="1639446" y="2675690"/>
                <a:ext cx="6097375" cy="1054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2️⃣ </a:t>
                </a:r>
                <a:r>
                  <a:rPr lang="ko-KR" altLang="en-US" sz="2400" dirty="0"/>
                  <a:t>분산 계산</a:t>
                </a:r>
                <a:endParaRPr lang="en-US" altLang="ko-KR" sz="2400" dirty="0"/>
              </a:p>
              <a:p>
                <a:pPr marL="800100" lvl="1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분모가 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0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이 되는 것을 막기 위한 작은 숫자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(10</a:t>
                </a:r>
                <a:r>
                  <a:rPr lang="en-US" altLang="ko-KR" sz="2000" baseline="30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-5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12" name="직사각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446" y="2675690"/>
                <a:ext cx="6097375" cy="1054841"/>
              </a:xfrm>
              <a:prstGeom prst="rect">
                <a:avLst/>
              </a:prstGeom>
              <a:blipFill>
                <a:blip r:embed="rId7"/>
                <a:stretch>
                  <a:fillRect l="-1600" b="-92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1639446" y="4064651"/>
                <a:ext cx="5623527" cy="1054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3️⃣ </a:t>
                </a:r>
                <a:r>
                  <a:rPr lang="ko-KR" altLang="en-US" sz="2400" dirty="0"/>
                  <a:t>정규화</a:t>
                </a:r>
                <a:endParaRPr lang="en-US" altLang="ko-KR" sz="2400" dirty="0"/>
              </a:p>
              <a:p>
                <a:pPr marL="800100" lvl="1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000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2000" baseline="-25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: 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평균이 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0, 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분산이 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1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로 정규환 된 입력 데이터</a:t>
                </a:r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446" y="4064651"/>
                <a:ext cx="5623527" cy="1054841"/>
              </a:xfrm>
              <a:prstGeom prst="rect">
                <a:avLst/>
              </a:prstGeom>
              <a:blipFill>
                <a:blip r:embed="rId8"/>
                <a:stretch>
                  <a:fillRect l="-1735" r="-217" b="-92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직사각형 13"/>
          <p:cNvSpPr/>
          <p:nvPr/>
        </p:nvSpPr>
        <p:spPr>
          <a:xfrm>
            <a:off x="1639446" y="5579807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/>
              <a:t>4️⃣ </a:t>
            </a:r>
            <a:r>
              <a:rPr lang="ko-KR" altLang="en-US" sz="2400" dirty="0"/>
              <a:t>스케일링과 이동</a:t>
            </a:r>
          </a:p>
        </p:txBody>
      </p:sp>
    </p:spTree>
    <p:extLst>
      <p:ext uri="{BB962C8B-B14F-4D97-AF65-F5344CB8AC3E}">
        <p14:creationId xmlns:p14="http://schemas.microsoft.com/office/powerpoint/2010/main" val="673440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788" y="1600630"/>
                <a:ext cx="7029497" cy="365674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b="1" dirty="0"/>
                  <a:t>✅ </a:t>
                </a:r>
                <a:r>
                  <a:rPr lang="en-US" altLang="ko-KR" sz="2400" b="1" dirty="0"/>
                  <a:t>Scale(</a:t>
                </a:r>
                <a14:m>
                  <m:oMath xmlns:m="http://schemas.openxmlformats.org/officeDocument/2006/math">
                    <m:r>
                      <a:rPr lang="ko-KR" altLang="en-US" sz="2400" b="1" i="1" smtClean="0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sz="2400" b="1" dirty="0"/>
                  <a:t>)</a:t>
                </a:r>
                <a:r>
                  <a:rPr lang="ko-KR" altLang="en-US" sz="2400" b="1" dirty="0"/>
                  <a:t>과 </a:t>
                </a:r>
                <a:r>
                  <a:rPr lang="en-US" altLang="ko-KR" sz="2400" b="1" dirty="0"/>
                  <a:t>Shift(</a:t>
                </a:r>
                <a14:m>
                  <m:oMath xmlns:m="http://schemas.openxmlformats.org/officeDocument/2006/math">
                    <m:r>
                      <a:rPr lang="ko-KR" altLang="en-US" sz="24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sz="2400" b="1" dirty="0"/>
                  <a:t>)</a:t>
                </a:r>
                <a:r>
                  <a:rPr lang="ko-KR" altLang="en-US" sz="2400" b="1" dirty="0"/>
                  <a:t>를 해주는 이유</a:t>
                </a:r>
                <a:endParaRPr lang="en-US" altLang="ko-KR" sz="2400" b="1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/>
                  <a:t>정규화의 결과는 대부분 </a:t>
                </a:r>
                <a:r>
                  <a:rPr lang="en-US" altLang="ko-KR" sz="2000" dirty="0"/>
                  <a:t>0</a:t>
                </a:r>
                <a:r>
                  <a:rPr lang="ko-KR" altLang="en-US" sz="2000" dirty="0"/>
                  <a:t>에 가까운 값이 됨 →</a:t>
                </a:r>
                <a:r>
                  <a:rPr lang="en-US" altLang="ko-KR" sz="2000" dirty="0"/>
                  <a:t> </a:t>
                </a:r>
                <a:r>
                  <a:rPr lang="ko-KR" altLang="en-US" sz="2000" dirty="0" err="1"/>
                  <a:t>시그모이드</a:t>
                </a:r>
                <a:r>
                  <a:rPr lang="ko-KR" altLang="en-US" sz="2000" dirty="0"/>
                  <a:t> 활성화 함수의 </a:t>
                </a:r>
                <a:r>
                  <a:rPr lang="ko-KR" altLang="en-US" sz="2000" dirty="0" err="1"/>
                  <a:t>입력값으로</a:t>
                </a:r>
                <a:r>
                  <a:rPr lang="ko-KR" altLang="en-US" sz="2000" dirty="0"/>
                  <a:t> 들어가게 되면 선형 구간에 빠지게 됨</a:t>
                </a: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/>
                  <a:t>이러한 문제를 해결하기 위해서 </a:t>
                </a:r>
                <a:r>
                  <a:rPr lang="ko-KR" altLang="en-US" sz="2000" dirty="0" err="1"/>
                  <a:t>정규화된</a:t>
                </a:r>
                <a:r>
                  <a:rPr lang="ko-KR" altLang="en-US" sz="2000" dirty="0"/>
                  <a:t> 데이터에 </a:t>
                </a:r>
                <a:r>
                  <a:rPr lang="en-US" altLang="ko-KR" sz="2000" dirty="0"/>
                  <a:t>scale </a:t>
                </a:r>
                <a:r>
                  <a:rPr lang="ko-KR" altLang="en-US" sz="2000" dirty="0"/>
                  <a:t>과 </a:t>
                </a:r>
                <a:r>
                  <a:rPr lang="en-US" altLang="ko-KR" sz="2000" dirty="0"/>
                  <a:t>shift</a:t>
                </a:r>
                <a:r>
                  <a:rPr lang="ko-KR" altLang="en-US" sz="2000" dirty="0"/>
                  <a:t>를 적용</a:t>
                </a: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2000" dirty="0"/>
                  <a:t>와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초기값 </a:t>
                </a:r>
                <a:r>
                  <a:rPr lang="en-US" altLang="ko-KR" sz="2000" dirty="0"/>
                  <a:t>1, 0</a:t>
                </a:r>
                <a:r>
                  <a:rPr lang="ko-KR" altLang="en-US" sz="2000" dirty="0"/>
                  <a:t>으로 시작해서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역전파에 의해 학습되고 조정 → </a:t>
                </a:r>
                <a:r>
                  <a:rPr lang="ko-KR" altLang="en-US" sz="2000" b="1" dirty="0"/>
                  <a:t>손실</a:t>
                </a:r>
                <a:r>
                  <a:rPr lang="ko-KR" altLang="en-US" sz="2000" dirty="0"/>
                  <a:t>을 </a:t>
                </a:r>
                <a:r>
                  <a:rPr lang="ko-KR" altLang="en-US" sz="2000" b="1" dirty="0"/>
                  <a:t>줄이도록</a:t>
                </a:r>
                <a:r>
                  <a:rPr lang="ko-KR" altLang="en-US" sz="2000" dirty="0"/>
                  <a:t> 학습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788" y="1600630"/>
                <a:ext cx="7029497" cy="3656740"/>
              </a:xfrm>
              <a:blipFill>
                <a:blip r:embed="rId3"/>
                <a:stretch>
                  <a:fillRect l="-13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CD63B6F-AB8C-860D-9024-2FA5ABEDCE1E}"/>
              </a:ext>
            </a:extLst>
          </p:cNvPr>
          <p:cNvGrpSpPr/>
          <p:nvPr/>
        </p:nvGrpSpPr>
        <p:grpSpPr>
          <a:xfrm>
            <a:off x="7446137" y="1997763"/>
            <a:ext cx="4506872" cy="2862474"/>
            <a:chOff x="7511171" y="2196544"/>
            <a:chExt cx="4506872" cy="2862474"/>
          </a:xfrm>
        </p:grpSpPr>
        <p:pic>
          <p:nvPicPr>
            <p:cNvPr id="6" name="Picture 2" descr="sig">
              <a:extLst>
                <a:ext uri="{FF2B5EF4-FFF2-40B4-BE49-F238E27FC236}">
                  <a16:creationId xmlns:a16="http://schemas.microsoft.com/office/drawing/2014/main" id="{9DC3754F-59E1-AD9B-3765-3D9AB9D46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1171" y="2196544"/>
              <a:ext cx="4506872" cy="2862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타원 2"/>
            <p:cNvSpPr/>
            <p:nvPr/>
          </p:nvSpPr>
          <p:spPr>
            <a:xfrm>
              <a:off x="9423400" y="3018181"/>
              <a:ext cx="1092200" cy="10922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9598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C08F14D-C1FF-3D94-5D92-8B96F36FE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93661" cy="23152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테스트 단계에서의 </a:t>
            </a:r>
            <a:r>
              <a:rPr lang="en-US" altLang="ko-KR" sz="2400" dirty="0"/>
              <a:t>BN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테스트 단계나 추론 단계에서는 평균과 표준편차를 계산할 미니배치가 없기 때문에</a:t>
            </a:r>
            <a:r>
              <a:rPr lang="en-US" altLang="ko-KR" sz="2000" dirty="0"/>
              <a:t> </a:t>
            </a:r>
            <a:r>
              <a:rPr lang="ko-KR" altLang="en-US" sz="2000" dirty="0"/>
              <a:t>전체 </a:t>
            </a:r>
            <a:r>
              <a:rPr lang="en-US" altLang="ko-KR" sz="2000" dirty="0" err="1"/>
              <a:t>Traning</a:t>
            </a:r>
            <a:r>
              <a:rPr lang="en-US" altLang="ko-KR" sz="2000" dirty="0"/>
              <a:t> set</a:t>
            </a:r>
            <a:r>
              <a:rPr lang="ko-KR" altLang="en-US" sz="2000" dirty="0"/>
              <a:t>의 평균과 표준편차 사용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</a:t>
            </a:r>
            <a:r>
              <a:rPr lang="en-US" altLang="ko-KR" sz="2000" dirty="0"/>
              <a:t>n</a:t>
            </a:r>
            <a:r>
              <a:rPr lang="ko-KR" altLang="en-US" sz="2000" dirty="0"/>
              <a:t>개의 미니배치에 대한 평균과 표준 편차를 이용하여 전체 </a:t>
            </a:r>
            <a:r>
              <a:rPr lang="en-US" altLang="ko-KR" sz="2000" dirty="0"/>
              <a:t>Training set</a:t>
            </a:r>
            <a:r>
              <a:rPr lang="ko-KR" altLang="en-US" sz="2000" dirty="0"/>
              <a:t>의 평균과 표준편차를 대신한다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E93FA9-9F93-257F-948A-056CEC478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168" y="3748257"/>
            <a:ext cx="2273664" cy="205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864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991" y="1145407"/>
                <a:ext cx="11505235" cy="435133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✅ 테스트 단계에서의 </a:t>
                </a:r>
                <a:r>
                  <a:rPr lang="en-US" altLang="ko-KR" sz="2400" dirty="0"/>
                  <a:t>BN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/>
                  <a:t>위의 방법 대신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모델 학습 단계에서 지수 감소</a:t>
                </a:r>
                <a:r>
                  <a:rPr lang="en-US" altLang="ko-KR" sz="2000" dirty="0"/>
                  <a:t>(exponential decay) </a:t>
                </a:r>
                <a:r>
                  <a:rPr lang="ko-KR" altLang="en-US" sz="2000" dirty="0"/>
                  <a:t>이동 평균법</a:t>
                </a:r>
                <a:r>
                  <a:rPr lang="en-US" altLang="ko-KR" sz="2000" dirty="0"/>
                  <a:t>(moving average)</a:t>
                </a:r>
                <a:r>
                  <a:rPr lang="ko-KR" altLang="en-US" sz="2000" dirty="0"/>
                  <a:t>를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사용하여 평균과 표준편차를 계산할 수 있다</a:t>
                </a:r>
                <a:r>
                  <a:rPr lang="en-US" altLang="ko-KR" sz="20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모</m:t>
                    </m:r>
                  </m:oMath>
                </a14:m>
                <a:r>
                  <a:rPr lang="ko-KR" altLang="en-US" sz="2000" dirty="0"/>
                  <a:t>멘텀값</a:t>
                </a:r>
                <a:r>
                  <a:rPr lang="en-US" altLang="ko-KR" sz="2000" dirty="0"/>
                  <a:t>, 1</a:t>
                </a:r>
                <a:r>
                  <a:rPr lang="ko-KR" altLang="en-US" sz="2000" dirty="0"/>
                  <a:t>에 가까운 </a:t>
                </a:r>
                <a:r>
                  <a:rPr lang="en-US" altLang="ko-KR" sz="2000" dirty="0"/>
                  <a:t>0.9, 0.99, 0.999 </a:t>
                </a:r>
                <a:r>
                  <a:rPr lang="ko-KR" altLang="en-US" sz="2000" dirty="0"/>
                  <a:t>로 설정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991" y="1145407"/>
                <a:ext cx="11505235" cy="4351338"/>
              </a:xfrm>
              <a:blipFill>
                <a:blip r:embed="rId3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47E438-CE09-D9FD-3509-D821213F2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141" y="2897612"/>
            <a:ext cx="6207718" cy="12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05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C08F14D-C1FF-3D94-5D92-8B96F36FE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925298" cy="48997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tanh</a:t>
            </a:r>
            <a:r>
              <a:rPr lang="ko-KR" altLang="en-US" sz="2000" dirty="0"/>
              <a:t>나 </a:t>
            </a:r>
            <a:r>
              <a:rPr lang="en-US" altLang="ko-KR" sz="2000" dirty="0"/>
              <a:t>sigmoid </a:t>
            </a:r>
            <a:r>
              <a:rPr lang="ko-KR" altLang="en-US" sz="2000" dirty="0"/>
              <a:t>같은 활성화 함수의 </a:t>
            </a:r>
            <a:r>
              <a:rPr lang="ko-KR" altLang="en-US" sz="2000" dirty="0" err="1"/>
              <a:t>그래디언트</a:t>
            </a:r>
            <a:r>
              <a:rPr lang="ko-KR" altLang="en-US" sz="2000" dirty="0"/>
              <a:t> 소실 문제 감소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가중치 초기화에 덜 민감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/>
              <a:t>학습률을</a:t>
            </a:r>
            <a:r>
              <a:rPr lang="ko-KR" altLang="en-US" sz="2000" dirty="0"/>
              <a:t> 크게 잡아도 잘 수렴함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/>
              <a:t>오버피팅을</a:t>
            </a:r>
            <a:r>
              <a:rPr lang="ko-KR" altLang="en-US" sz="2000" dirty="0"/>
              <a:t> 억제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400" dirty="0"/>
              <a:t> 단점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미니배치 크기에 의존</a:t>
            </a:r>
            <a:r>
              <a:rPr lang="en-US" altLang="ko-KR" sz="2000" dirty="0"/>
              <a:t>(</a:t>
            </a:r>
            <a:r>
              <a:rPr lang="ko-KR" altLang="en-US" sz="2000" dirty="0"/>
              <a:t>배치사이즈가 작으면 동작하지 않음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RNN model</a:t>
            </a:r>
            <a:r>
              <a:rPr lang="ko-KR" altLang="en-US" sz="2000" dirty="0"/>
              <a:t>에 적용하기 힘들다</a:t>
            </a:r>
            <a:r>
              <a:rPr lang="en-US" altLang="ko-KR" sz="2000" dirty="0"/>
              <a:t>(Layer Normalization </a:t>
            </a:r>
            <a:r>
              <a:rPr lang="ko-KR" altLang="en-US" sz="2000" dirty="0"/>
              <a:t>사용</a:t>
            </a:r>
            <a:r>
              <a:rPr lang="en-US" altLang="ko-KR" sz="2000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각 시점마다 다른 데이터가 연속적으로 나오기 때문에</a:t>
            </a:r>
            <a:endParaRPr lang="en-US" altLang="ko-KR" sz="18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200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LN(Layer Normalization)	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B4F9F-FBE6-D4D8-DF87-84D43855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6" y="1623105"/>
            <a:ext cx="6354501" cy="364437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레이어 정규화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batch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있는 모든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sample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들에 대해서 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feature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평균과 분산을 구하여 정규화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sample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feature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들에 대해서 평균과 분산을 구하여 정규화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batch size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관련이 깊지만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batch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size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와는 전혀 상관이 없다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F28D79B-7A04-F1D3-4B16-B0A65AB52E80}"/>
              </a:ext>
            </a:extLst>
          </p:cNvPr>
          <p:cNvGrpSpPr/>
          <p:nvPr/>
        </p:nvGrpSpPr>
        <p:grpSpPr>
          <a:xfrm>
            <a:off x="6838269" y="1816942"/>
            <a:ext cx="5187193" cy="3256695"/>
            <a:chOff x="6855203" y="2019759"/>
            <a:chExt cx="5187193" cy="3256695"/>
          </a:xfrm>
        </p:grpSpPr>
        <p:pic>
          <p:nvPicPr>
            <p:cNvPr id="30722" name="Picture 2">
              <a:extLst>
                <a:ext uri="{FF2B5EF4-FFF2-40B4-BE49-F238E27FC236}">
                  <a16:creationId xmlns:a16="http://schemas.microsoft.com/office/drawing/2014/main" id="{F7C12FAE-4772-85E0-E151-B523A751F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5203" y="2019759"/>
              <a:ext cx="5187193" cy="3025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D0F24C-AFBA-6A08-80DE-93DADAC2F132}"/>
                </a:ext>
              </a:extLst>
            </p:cNvPr>
            <p:cNvSpPr txBox="1"/>
            <p:nvPr/>
          </p:nvSpPr>
          <p:spPr>
            <a:xfrm>
              <a:off x="7789531" y="5045622"/>
              <a:ext cx="33185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:https://electronicsmarket.org/best-4x10-car-speakers/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37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LN(Layer Normalization)	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B4F9F-FBE6-D4D8-DF87-84D43855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5235" cy="45079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작은 </a:t>
            </a:r>
            <a:r>
              <a:rPr lang="en-US" altLang="ko-KR" sz="2000" dirty="0"/>
              <a:t>batch size</a:t>
            </a:r>
            <a:r>
              <a:rPr lang="ko-KR" altLang="en-US" sz="2000" dirty="0"/>
              <a:t>에서도 이용 가능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RNN</a:t>
            </a:r>
            <a:r>
              <a:rPr lang="ko-KR" altLang="en-US" sz="2000" dirty="0"/>
              <a:t>모델에서 더 효과적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일반화 성능 향상 가능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400" dirty="0"/>
              <a:t> 단점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추가 계산 및 메모리 오버헤드가 발생할 수 있다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피드</a:t>
            </a:r>
            <a:r>
              <a:rPr lang="ko-KR" altLang="en-US" sz="2000" dirty="0"/>
              <a:t> 포워드 네트워크 모델에서는 </a:t>
            </a:r>
            <a:r>
              <a:rPr lang="en-US" altLang="ko-KR" sz="2000" dirty="0"/>
              <a:t>BN</a:t>
            </a:r>
            <a:r>
              <a:rPr lang="ko-KR" altLang="en-US" sz="2000" dirty="0"/>
              <a:t>만큼 잘 동작하지 않을 수 있다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학습률</a:t>
            </a:r>
            <a:r>
              <a:rPr lang="en-US" altLang="ko-KR" sz="2000" dirty="0"/>
              <a:t>, </a:t>
            </a:r>
            <a:r>
              <a:rPr lang="ko-KR" altLang="en-US" sz="2000" dirty="0"/>
              <a:t>가중치 초기화에 민감하다</a:t>
            </a:r>
            <a:r>
              <a:rPr lang="en-US" altLang="ko-KR" sz="2000" dirty="0"/>
              <a:t>.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087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 </a:t>
            </a:r>
            <a:r>
              <a:rPr lang="en-US" altLang="ko-KR" b="1" dirty="0" err="1"/>
              <a:t>vs</a:t>
            </a:r>
            <a:r>
              <a:rPr lang="en-US" altLang="ko-KR" b="1" dirty="0"/>
              <a:t> LN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615438"/>
              </p:ext>
            </p:extLst>
          </p:nvPr>
        </p:nvGraphicFramePr>
        <p:xfrm>
          <a:off x="351219" y="1145407"/>
          <a:ext cx="11489561" cy="5074946"/>
        </p:xfrm>
        <a:graphic>
          <a:graphicData uri="http://schemas.openxmlformats.org/drawingml/2006/table">
            <a:tbl>
              <a:tblPr/>
              <a:tblGrid>
                <a:gridCol w="163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항목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Batch Normalization (BN)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Layer Normalization (LN)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6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배치 단위로 평균과 분산을 계산하여 정규화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주로 배치 내 통계 기반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.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레이어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단위로 각 특징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차원별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평균과 분산을 계산하여 정규화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.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8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장점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 안정성 증가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높은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학습률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허용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깊은 네트워크에서 효과적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4.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과적합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방지 가능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배치 크기에서도 안정적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RNN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및 시퀀스 모델에 적합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 안정성 및 일반화 성능 향상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28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배치 크기에서 성능 저하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시퀀스 데이터 처리에 부적합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추가 계산 오버헤드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추가 계산 및 메모리 오버헤드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BN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보다 성능이 낮을 수 있음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(FNN)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학습률과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초기화에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민감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28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활용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피드포워드 네트워크</a:t>
                      </a:r>
                      <a:b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대규모 데이터 처리</a:t>
                      </a:r>
                      <a:b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이미지 분류 및 회귀 문제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RNN, LSTM, GRU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같은 시퀀스 모델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배치 크기가 필요한 상황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시계열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데이터 처리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126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490696" y="2687937"/>
            <a:ext cx="72106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과적합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en-US" altLang="ko-KR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Overfitting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9636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996" y="1484954"/>
            <a:ext cx="8751404" cy="151929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💡 학습 데이터에 대해 모델이 지나치게 적합 되어</a:t>
            </a:r>
            <a:r>
              <a:rPr lang="en-US" altLang="ko-KR" dirty="0">
                <a:latin typeface="+mn-ea"/>
              </a:rPr>
              <a:t>,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 </a:t>
            </a:r>
            <a:r>
              <a:rPr lang="ko-KR" altLang="en-US" dirty="0">
                <a:latin typeface="+mn-ea"/>
              </a:rPr>
              <a:t>새로운 데이터나 테스트 데이터에서 성능이 저하되는 현상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AutoShape 2" descr="모델 적합성: 과소적합과 과적합 비교 - Amazon Machine Learni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289392" y="3004246"/>
            <a:ext cx="9613216" cy="2950300"/>
            <a:chOff x="1289392" y="3200696"/>
            <a:chExt cx="9613216" cy="2950300"/>
          </a:xfrm>
        </p:grpSpPr>
        <p:pic>
          <p:nvPicPr>
            <p:cNvPr id="11268" name="Picture 4" descr="모델 적합성: 과소적합과 과적합 비교 - Amazon Machine Learni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392" y="3200696"/>
              <a:ext cx="9613216" cy="29041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1601165" y="5904775"/>
              <a:ext cx="898967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https://docs.aws.amazon.com/ko_kr/machine-learning/latest/dg/model-fit-underfitting-vs-overfitting.html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897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47181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원인</a:t>
            </a:r>
            <a:endParaRPr lang="en-US" altLang="ko-KR" sz="2400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복잡한 모델 구조</a:t>
            </a:r>
            <a:r>
              <a:rPr lang="en-US" altLang="ko-KR" sz="2000" dirty="0"/>
              <a:t>: </a:t>
            </a:r>
            <a:r>
              <a:rPr lang="ko-KR" altLang="en-US" sz="2000" dirty="0"/>
              <a:t>학습 데이터의 패턴을 과도하게 학습하는 복잡한 모델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과도한 </a:t>
            </a:r>
            <a:r>
              <a:rPr lang="ko-KR" altLang="en-US" sz="2000" dirty="0" err="1"/>
              <a:t>파라미터</a:t>
            </a:r>
            <a:r>
              <a:rPr lang="en-US" altLang="ko-KR" sz="2000" dirty="0"/>
              <a:t>, </a:t>
            </a:r>
            <a:r>
              <a:rPr lang="ko-KR" altLang="en-US" sz="2000" dirty="0"/>
              <a:t>깊은 네트워크</a:t>
            </a:r>
            <a:r>
              <a:rPr lang="en-US" altLang="ko-KR" sz="2000" dirty="0"/>
              <a:t>)</a:t>
            </a:r>
            <a:r>
              <a:rPr lang="ko-KR" altLang="en-US" sz="2000" dirty="0"/>
              <a:t>로 인해 발생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학습 데이터 부족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데이터의 양이 적거나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데이터가 특정 패턴에 편중되어 있어 모델이 일반화된 패턴을 학습하지 못함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노이즈 학습</a:t>
            </a:r>
            <a:r>
              <a:rPr lang="en-US" altLang="ko-KR" sz="2000" dirty="0"/>
              <a:t>: </a:t>
            </a:r>
            <a:r>
              <a:rPr lang="ko-KR" altLang="en-US" sz="2000" dirty="0"/>
              <a:t>학습 데이터에 포함된 </a:t>
            </a:r>
            <a:r>
              <a:rPr lang="ko-KR" altLang="en-US" sz="2000" dirty="0" err="1"/>
              <a:t>노이즈</a:t>
            </a:r>
            <a:r>
              <a:rPr lang="en-US" altLang="ko-KR" sz="2000" dirty="0"/>
              <a:t>(</a:t>
            </a:r>
            <a:r>
              <a:rPr lang="ko-KR" altLang="en-US" sz="2000" dirty="0"/>
              <a:t>불필요한 정보</a:t>
            </a:r>
            <a:r>
              <a:rPr lang="en-US" altLang="ko-KR" sz="2000" dirty="0"/>
              <a:t>)</a:t>
            </a:r>
            <a:r>
              <a:rPr lang="ko-KR" altLang="en-US" sz="2000" dirty="0"/>
              <a:t>를 모델이 학습하여</a:t>
            </a:r>
            <a:r>
              <a:rPr lang="en-US" altLang="ko-KR" sz="2000" dirty="0"/>
              <a:t>, </a:t>
            </a:r>
            <a:r>
              <a:rPr lang="ko-KR" altLang="en-US" sz="2000" dirty="0"/>
              <a:t>본질적인 패턴 대신 </a:t>
            </a:r>
            <a:r>
              <a:rPr lang="ko-KR" altLang="en-US" sz="2000" dirty="0" err="1"/>
              <a:t>노이즈에</a:t>
            </a:r>
            <a:r>
              <a:rPr lang="ko-KR" altLang="en-US" sz="2000" dirty="0"/>
              <a:t> 의존하게 됨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학습 시간 과다</a:t>
            </a:r>
            <a:r>
              <a:rPr lang="en-US" altLang="ko-KR" sz="2000" dirty="0"/>
              <a:t>: </a:t>
            </a:r>
            <a:r>
              <a:rPr lang="ko-KR" altLang="en-US" sz="2000" dirty="0"/>
              <a:t>학습을 지나치게 오래 진행하면 모델이 데이터의 작은 변동까지 학습하게 되어 </a:t>
            </a:r>
            <a:r>
              <a:rPr lang="ko-KR" altLang="en-US" sz="2000" dirty="0" err="1"/>
              <a:t>과적합</a:t>
            </a:r>
            <a:r>
              <a:rPr lang="ko-KR" altLang="en-US" sz="2000" dirty="0"/>
              <a:t> 발생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143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48235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해결 방법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데이터 증강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데이터의 다양성을 높이기 위해 데이터를 변형하거나 추가로 생성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데이터 확대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학습 데이터의 양을 늘려 모델이 더 일반화된 패턴을 학습할 수 있도록 함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3"/>
          <a:stretch/>
        </p:blipFill>
        <p:spPr bwMode="auto">
          <a:xfrm>
            <a:off x="2832003" y="3098221"/>
            <a:ext cx="6527994" cy="3002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881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0A2974-998A-B02C-930B-C57ECB4DC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168" y="2378599"/>
            <a:ext cx="5296623" cy="235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393596"/>
            <a:ext cx="6158738" cy="43240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해결 방법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Regularization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모델의 복잡도를 제어하는 기법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모델의 가중치 크기를 제한하거나 불필요한 특징</a:t>
            </a:r>
            <a:r>
              <a:rPr lang="en-US" altLang="ko-KR" dirty="0">
                <a:latin typeface="+mn-ea"/>
              </a:rPr>
              <a:t>(feature)</a:t>
            </a:r>
            <a:r>
              <a:rPr lang="ko-KR" altLang="en-US" dirty="0">
                <a:latin typeface="+mn-ea"/>
              </a:rPr>
              <a:t>을 억제</a:t>
            </a:r>
            <a:endParaRPr lang="en-US" altLang="ko-KR" dirty="0">
              <a:latin typeface="+mn-ea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sz="1800" dirty="0">
                <a:latin typeface="+mn-ea"/>
              </a:rPr>
              <a:t>    </a:t>
            </a:r>
            <a:r>
              <a:rPr lang="ko-KR" altLang="en-US" sz="1800" dirty="0">
                <a:latin typeface="+mn-ea"/>
              </a:rPr>
              <a:t>→ 학습 데이터에만 지나치게 맞춰지는 것을 막는 역할</a:t>
            </a:r>
            <a:endParaRPr lang="en-US" altLang="ko-KR" sz="18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비용 함수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가중치가 작아지는 쪽으로 학습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가중치 감소</a:t>
            </a:r>
            <a:r>
              <a:rPr lang="en-US" altLang="ko-KR" dirty="0">
                <a:latin typeface="+mn-ea"/>
              </a:rPr>
              <a:t>, weight decay)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70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7404652" cy="49360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해결 방법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Drop-Out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과적합을 방지하고 모델의 일반화 성능을 향상시키기 위해 고안된 정규화 기법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 err="1">
                <a:latin typeface="+mn-ea"/>
              </a:rPr>
              <a:t>랜덤하게</a:t>
            </a:r>
            <a:r>
              <a:rPr lang="ko-KR" altLang="en-US" dirty="0">
                <a:latin typeface="+mn-ea"/>
              </a:rPr>
              <a:t> 일부 뉴런을 비활성화 하여 각 층에 포함된 </a:t>
            </a:r>
            <a:r>
              <a:rPr lang="en-US" altLang="ko-KR" dirty="0">
                <a:latin typeface="+mn-ea"/>
              </a:rPr>
              <a:t>weight </a:t>
            </a:r>
            <a:r>
              <a:rPr lang="ko-KR" altLang="en-US" dirty="0">
                <a:latin typeface="+mn-ea"/>
              </a:rPr>
              <a:t>중에서 일부만 참여시키는 방법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특정 뉴런의 </a:t>
            </a:r>
            <a:r>
              <a:rPr lang="en-US" altLang="ko-KR" dirty="0">
                <a:latin typeface="+mn-ea"/>
              </a:rPr>
              <a:t>w</a:t>
            </a:r>
            <a:r>
              <a:rPr lang="ko-KR" altLang="en-US" dirty="0">
                <a:latin typeface="+mn-ea"/>
              </a:rPr>
              <a:t>나 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가 너무 커졌을 때 해당 뉴런에 너무 많은 영향을 받지 않게 하는 효과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뉴런 동조화 방지</a:t>
            </a:r>
            <a:r>
              <a:rPr lang="en-US" altLang="ko-KR" dirty="0">
                <a:latin typeface="+mn-ea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신경망이 클수록 </a:t>
            </a:r>
            <a:r>
              <a:rPr lang="en-US" altLang="ko-KR" dirty="0">
                <a:latin typeface="+mn-ea"/>
              </a:rPr>
              <a:t>Drop-Out</a:t>
            </a:r>
            <a:r>
              <a:rPr lang="ko-KR" altLang="en-US" dirty="0">
                <a:latin typeface="+mn-ea"/>
              </a:rPr>
              <a:t>의 필요성과 효과가 커짐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14C1032-FAA5-8680-F709-D29CD599C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031" y="2470423"/>
            <a:ext cx="4001978" cy="226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407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49530" y="2687937"/>
            <a:ext cx="5892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447843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38991" y="1145407"/>
            <a:ext cx="11397205" cy="373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딥러닝 모델의 가중치를 크기</a:t>
            </a:r>
            <a:r>
              <a:rPr lang="en-US" altLang="ko-KR" sz="2400" dirty="0"/>
              <a:t>(norm)</a:t>
            </a:r>
            <a:r>
              <a:rPr lang="ko-KR" altLang="en-US" sz="2400" dirty="0"/>
              <a:t>와 방향</a:t>
            </a:r>
            <a:r>
              <a:rPr lang="en-US" altLang="ko-KR" sz="2400" dirty="0"/>
              <a:t>(direction)</a:t>
            </a:r>
            <a:r>
              <a:rPr lang="ko-KR" altLang="en-US" sz="2400" dirty="0"/>
              <a:t>으로 나눠 표현해 학습을 더 빠르고 </a:t>
            </a:r>
            <a:br>
              <a:rPr lang="en-US" altLang="ko-KR" sz="2400" dirty="0"/>
            </a:br>
            <a:r>
              <a:rPr lang="en-US" altLang="ko-KR" sz="2400" dirty="0"/>
              <a:t>      </a:t>
            </a:r>
            <a:r>
              <a:rPr lang="ko-KR" altLang="en-US" sz="2400" dirty="0"/>
              <a:t>안정적으로 만드는 방법</a:t>
            </a:r>
            <a:r>
              <a:rPr lang="en-US" altLang="ko-KR" sz="2400" dirty="0"/>
              <a:t>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800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✅ 필요한 이유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학습 안정성 향상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가중치의 크기와 방향을 분리해 효율적 학습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Overfiting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완화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문제 완화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기울기 소실 문제를 줄이고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딥러닝이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깊어질 때도 학습이 잘 진행되도록 도움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특수 상황에 유리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RNN(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 데이터 처리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이나 작은 배치 크기에서도 효과적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4878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599019" y="1674339"/>
            <a:ext cx="8993962" cy="4276736"/>
            <a:chOff x="2092596" y="2082479"/>
            <a:chExt cx="7122841" cy="3688574"/>
          </a:xfrm>
        </p:grpSpPr>
        <p:pic>
          <p:nvPicPr>
            <p:cNvPr id="13314" name="Picture 2" descr="인공 신경망 및 심층 신경망 소개 - Deeplearning4j: Open-source, Distributed Deep Learning  for the JV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562" y="2082479"/>
              <a:ext cx="6238875" cy="3028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2103015" y="270847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장르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17077" y="3412288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/>
                <a:t>감독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17077" y="3973539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/>
                <a:t>배우</a:t>
              </a:r>
              <a:endParaRPr lang="ko-KR" alt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92596" y="4465098"/>
              <a:ext cx="5918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상영</a:t>
              </a:r>
              <a:endParaRPr lang="en-US" altLang="ko-KR" dirty="0"/>
            </a:p>
            <a:p>
              <a:pPr algn="ctr"/>
              <a:r>
                <a:rPr lang="ko-KR" altLang="en-US" dirty="0"/>
                <a:t>시간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91982" y="5401721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…</a:t>
              </a:r>
              <a:endParaRPr lang="ko-KR" altLang="en-US" dirty="0"/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1629931" y="2314937"/>
            <a:ext cx="727057" cy="19802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314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6810" cy="337252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en-US" altLang="ko-KR" sz="2400" b="1" dirty="0">
                <a:latin typeface="+mn-ea"/>
              </a:rPr>
              <a:t>L1, L2 </a:t>
            </a:r>
            <a:r>
              <a:rPr lang="ko-KR" altLang="en-US" sz="2400" b="1" dirty="0">
                <a:latin typeface="+mn-ea"/>
              </a:rPr>
              <a:t>정규화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Norm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벡터의 크기를 측정하는 방법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두 벡터 사이의 거리를 측정하는 방법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L1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Norm : </a:t>
            </a:r>
            <a:r>
              <a:rPr lang="ko-KR" altLang="en-US" dirty="0">
                <a:latin typeface="+mn-ea"/>
              </a:rPr>
              <a:t>두 벡터 각 원소들 차이의 절대값의 합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L2 Norm: </a:t>
            </a:r>
            <a:r>
              <a:rPr lang="ko-KR" altLang="en-US" dirty="0">
                <a:latin typeface="+mn-ea"/>
              </a:rPr>
              <a:t>두 벡터 사이의 직선 거리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Lp</a:t>
            </a:r>
            <a:r>
              <a:rPr lang="en-US" altLang="ko-KR" dirty="0">
                <a:latin typeface="+mn-ea"/>
              </a:rPr>
              <a:t> Norm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914400" lvl="2" indent="0">
              <a:lnSpc>
                <a:spcPct val="150000"/>
              </a:lnSpc>
              <a:buNone/>
            </a:pPr>
            <a:endParaRPr lang="en-US" altLang="ko-KR" sz="2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8F71D8-6E01-AD0B-1B8A-AFCFA1C2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538" y="4517931"/>
            <a:ext cx="8684923" cy="145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74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013214"/>
            <a:ext cx="8479995" cy="28315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L1, L2 </a:t>
            </a:r>
            <a:r>
              <a:rPr lang="ko-KR" altLang="en-US" sz="2400" dirty="0">
                <a:latin typeface="+mn-ea"/>
              </a:rPr>
              <a:t>정규화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L1 Norm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L2 Norm</a:t>
            </a:r>
            <a:r>
              <a:rPr lang="ko-KR" altLang="en-US" dirty="0">
                <a:latin typeface="+mn-ea"/>
              </a:rPr>
              <a:t>의 직관적 차이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/>
              <a:t>오른쪽 그림은 두개의 벡터를 잇는 선을 나타냄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초록색선이 </a:t>
            </a:r>
            <a:r>
              <a:rPr lang="en-US" altLang="ko-KR" dirty="0"/>
              <a:t>L2</a:t>
            </a:r>
            <a:r>
              <a:rPr lang="ko-KR" altLang="en-US" dirty="0"/>
              <a:t> </a:t>
            </a:r>
            <a:r>
              <a:rPr lang="en-US" altLang="ko-KR" dirty="0"/>
              <a:t>Norm(Euclidean</a:t>
            </a:r>
            <a:r>
              <a:rPr lang="ko-KR" altLang="en-US" dirty="0"/>
              <a:t> </a:t>
            </a:r>
            <a:r>
              <a:rPr lang="en-US" altLang="ko-KR" dirty="0"/>
              <a:t>distance)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나머지 빨강</a:t>
            </a:r>
            <a:r>
              <a:rPr lang="en-US" altLang="ko-KR" dirty="0"/>
              <a:t>,</a:t>
            </a:r>
            <a:r>
              <a:rPr lang="ko-KR" altLang="en-US" dirty="0"/>
              <a:t>파랑</a:t>
            </a:r>
            <a:r>
              <a:rPr lang="en-US" altLang="ko-KR" dirty="0"/>
              <a:t>,</a:t>
            </a:r>
            <a:r>
              <a:rPr lang="ko-KR" altLang="en-US" dirty="0"/>
              <a:t>노랑 선은 모두 </a:t>
            </a:r>
            <a:r>
              <a:rPr lang="en-US" altLang="ko-KR" dirty="0"/>
              <a:t>L1 Norm(</a:t>
            </a:r>
            <a:r>
              <a:rPr lang="en-US" altLang="ko-KR" dirty="0" err="1"/>
              <a:t>Texicab</a:t>
            </a:r>
            <a:r>
              <a:rPr lang="en-US" altLang="ko-KR" dirty="0"/>
              <a:t> geometry)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962A15B-4B2B-47B0-7C28-514781071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451" y="1931859"/>
            <a:ext cx="3367016" cy="336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77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7099" cy="37144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L1 Regularization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Cost function</a:t>
            </a:r>
            <a:r>
              <a:rPr lang="ko-KR" altLang="en-US" sz="2000" dirty="0"/>
              <a:t>에 가중치의 </a:t>
            </a:r>
            <a:r>
              <a:rPr lang="ko-KR" altLang="en-US" sz="2000" dirty="0">
                <a:solidFill>
                  <a:srgbClr val="FF0000"/>
                </a:solidFill>
              </a:rPr>
              <a:t>절대값</a:t>
            </a:r>
            <a:r>
              <a:rPr lang="ko-KR" altLang="en-US" sz="2000" dirty="0"/>
              <a:t>을 더해줌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L1 </a:t>
            </a:r>
            <a:r>
              <a:rPr lang="ko-KR" altLang="en-US" sz="2000" dirty="0"/>
              <a:t>정규화를 사용하는 모델을 </a:t>
            </a:r>
            <a:r>
              <a:rPr lang="en-US" altLang="ko-KR" sz="2000" dirty="0">
                <a:solidFill>
                  <a:srgbClr val="FF0000"/>
                </a:solidFill>
              </a:rPr>
              <a:t>Lasso</a:t>
            </a:r>
            <a:r>
              <a:rPr lang="en-US" altLang="ko-KR" sz="2000" dirty="0"/>
              <a:t> </a:t>
            </a:r>
            <a:r>
              <a:rPr lang="ko-KR" altLang="en-US" sz="2000" dirty="0"/>
              <a:t>모델이라고 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FF0000"/>
                </a:solidFill>
              </a:rPr>
              <a:t>불필요한 </a:t>
            </a:r>
            <a:r>
              <a:rPr lang="en-US" altLang="ko-KR" sz="2000" dirty="0">
                <a:solidFill>
                  <a:srgbClr val="FF0000"/>
                </a:solidFill>
              </a:rPr>
              <a:t>Weight</a:t>
            </a:r>
            <a:r>
              <a:rPr lang="ko-KR" altLang="en-US" sz="2000" dirty="0">
                <a:solidFill>
                  <a:srgbClr val="FF0000"/>
                </a:solidFill>
              </a:rPr>
              <a:t>를 </a:t>
            </a:r>
            <a:r>
              <a:rPr lang="en-US" altLang="ko-KR" sz="2000" dirty="0">
                <a:solidFill>
                  <a:srgbClr val="FF0000"/>
                </a:solidFill>
              </a:rPr>
              <a:t>0</a:t>
            </a:r>
            <a:r>
              <a:rPr lang="ko-KR" altLang="en-US" sz="2000" dirty="0">
                <a:solidFill>
                  <a:srgbClr val="FF0000"/>
                </a:solidFill>
              </a:rPr>
              <a:t>으로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만들어버려서 </a:t>
            </a:r>
            <a:r>
              <a:rPr lang="en-US" altLang="ko-KR" sz="2000" dirty="0">
                <a:solidFill>
                  <a:srgbClr val="FF0000"/>
                </a:solidFill>
              </a:rPr>
              <a:t>Feature selection</a:t>
            </a:r>
            <a:r>
              <a:rPr lang="ko-KR" altLang="en-US" sz="2000" dirty="0">
                <a:solidFill>
                  <a:srgbClr val="FF0000"/>
                </a:solidFill>
              </a:rPr>
              <a:t>의 효과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weight </a:t>
            </a:r>
            <a:r>
              <a:rPr lang="ko-KR" altLang="en-US" sz="1800" dirty="0"/>
              <a:t>의 크기에 상관없이 부호에 따라 일정한 </a:t>
            </a:r>
            <a:r>
              <a:rPr lang="ko-KR" altLang="en-US" sz="1800" dirty="0" err="1"/>
              <a:t>상수값을</a:t>
            </a:r>
            <a:r>
              <a:rPr lang="ko-KR" altLang="en-US" sz="1800" dirty="0"/>
              <a:t> 빼거나 </a:t>
            </a:r>
            <a:r>
              <a:rPr lang="ko-KR" altLang="en-US" sz="1800" dirty="0" err="1"/>
              <a:t>더해줌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모델은 </a:t>
            </a:r>
            <a:r>
              <a:rPr lang="en-US" altLang="ko-KR" sz="2000" dirty="0"/>
              <a:t>cost</a:t>
            </a:r>
            <a:r>
              <a:rPr lang="ko-KR" altLang="en-US" sz="2000" dirty="0"/>
              <a:t>를 줄이는 방향으로 학습하기 때문에 가중치들이 작아지고 일부는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수렴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람다 </a:t>
            </a:r>
            <a:r>
              <a:rPr lang="en-US" altLang="ko-KR" sz="2000" dirty="0"/>
              <a:t>: </a:t>
            </a:r>
            <a:r>
              <a:rPr lang="ko-KR" altLang="en-US" sz="2000" dirty="0"/>
              <a:t>정규화 항의 가중치</a:t>
            </a:r>
            <a:r>
              <a:rPr lang="en-US" altLang="ko-KR" sz="2000" dirty="0"/>
              <a:t>, </a:t>
            </a:r>
            <a:r>
              <a:rPr lang="ko-KR" altLang="en-US" sz="2000" dirty="0"/>
              <a:t>해당 값이 높을수록 가중치가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수렴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16467F85-A9AB-7F00-EBF4-CE9106B22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158" y="5006499"/>
            <a:ext cx="2976098" cy="130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993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82086" cy="482356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en-US" altLang="ko-KR" sz="2400" b="1" dirty="0">
                <a:latin typeface="+mn-ea"/>
              </a:rPr>
              <a:t>L2 Regularization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Cost function</a:t>
            </a:r>
            <a:r>
              <a:rPr lang="ko-KR" altLang="en-US" sz="2000" dirty="0"/>
              <a:t> 에 가중치의 제곱을 포함하여 더함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가중치가 너무 크지 않은 방향으로 학습되게 함</a:t>
            </a:r>
            <a:r>
              <a:rPr lang="en-US" altLang="ko-KR" sz="2000" dirty="0"/>
              <a:t>. (</a:t>
            </a:r>
            <a:r>
              <a:rPr lang="en-US" altLang="ko-KR" sz="2000" dirty="0">
                <a:solidFill>
                  <a:srgbClr val="FF0000"/>
                </a:solidFill>
              </a:rPr>
              <a:t>Weight decay</a:t>
            </a:r>
            <a:r>
              <a:rPr lang="en-US" altLang="ko-KR" sz="2000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cost </a:t>
            </a:r>
            <a:r>
              <a:rPr lang="ko-KR" altLang="en-US" sz="1800" dirty="0"/>
              <a:t>뿐만 아니라 가중치 또한 줄어드는 방향으로 학습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Weight</a:t>
            </a:r>
            <a:r>
              <a:rPr lang="ko-KR" altLang="en-US" sz="1800" dirty="0"/>
              <a:t> 가 클수록 더 빠르게 감소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L2 </a:t>
            </a:r>
            <a:r>
              <a:rPr lang="ko-KR" altLang="en-US" sz="2000" dirty="0"/>
              <a:t>정규화를 사용하는 모델을 </a:t>
            </a:r>
            <a:r>
              <a:rPr lang="en-US" altLang="ko-KR" sz="2000" dirty="0">
                <a:solidFill>
                  <a:srgbClr val="FF0000"/>
                </a:solidFill>
              </a:rPr>
              <a:t>Ridge</a:t>
            </a:r>
            <a:r>
              <a:rPr lang="en-US" altLang="ko-KR" sz="2000" dirty="0"/>
              <a:t> </a:t>
            </a:r>
            <a:r>
              <a:rPr lang="ko-KR" altLang="en-US" sz="2000" dirty="0"/>
              <a:t>모델이라고 부름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FF0000"/>
                </a:solidFill>
              </a:rPr>
              <a:t>불필요한 </a:t>
            </a:r>
            <a:r>
              <a:rPr lang="en-US" altLang="ko-KR" sz="2000" dirty="0">
                <a:solidFill>
                  <a:srgbClr val="FF0000"/>
                </a:solidFill>
              </a:rPr>
              <a:t>Feature</a:t>
            </a:r>
            <a:r>
              <a:rPr lang="ko-KR" altLang="en-US" sz="2000" dirty="0">
                <a:solidFill>
                  <a:srgbClr val="FF0000"/>
                </a:solidFill>
              </a:rPr>
              <a:t>를 </a:t>
            </a:r>
            <a:r>
              <a:rPr lang="en-US" altLang="ko-KR" sz="2000" dirty="0">
                <a:solidFill>
                  <a:srgbClr val="FF0000"/>
                </a:solidFill>
              </a:rPr>
              <a:t>0</a:t>
            </a:r>
            <a:r>
              <a:rPr lang="ko-KR" altLang="en-US" sz="2000" dirty="0">
                <a:solidFill>
                  <a:srgbClr val="FF0000"/>
                </a:solidFill>
              </a:rPr>
              <a:t>에 가깝게 만드는 특성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solidFill>
                <a:srgbClr val="FF000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🔎 </a:t>
            </a:r>
            <a:r>
              <a:rPr lang="en-US" altLang="ko-KR" sz="2000" dirty="0">
                <a:latin typeface="+mn-ea"/>
              </a:rPr>
              <a:t>L1 </a:t>
            </a:r>
            <a:r>
              <a:rPr lang="ko-KR" altLang="en-US" sz="2000" dirty="0">
                <a:latin typeface="+mn-ea"/>
              </a:rPr>
              <a:t>정규화</a:t>
            </a:r>
            <a:r>
              <a:rPr lang="en-US" altLang="ko-KR" sz="2000" dirty="0">
                <a:latin typeface="+mn-ea"/>
              </a:rPr>
              <a:t>, L2 </a:t>
            </a:r>
            <a:r>
              <a:rPr lang="ko-KR" altLang="en-US" sz="2000" dirty="0">
                <a:latin typeface="+mn-ea"/>
              </a:rPr>
              <a:t>정규화를 모두 사용하는 것을 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Elastic Net</a:t>
            </a:r>
            <a:r>
              <a:rPr lang="ko-KR" altLang="en-US" sz="2000" dirty="0">
                <a:latin typeface="+mn-ea"/>
              </a:rPr>
              <a:t>이라고 함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1553063F-42C7-81C1-DB3C-9AED904F6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609" y="2874721"/>
            <a:ext cx="4178381" cy="97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204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E19D5DB-237C-061B-2111-6CFCB2BA83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064" y="1325563"/>
            <a:ext cx="8495167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84181F-75CF-F41E-6BAC-34037723E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239" y="1814879"/>
            <a:ext cx="1456563" cy="531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A0226D-2931-B58D-5785-A529970E128F}"/>
              </a:ext>
            </a:extLst>
          </p:cNvPr>
          <p:cNvSpPr txBox="1"/>
          <p:nvPr/>
        </p:nvSpPr>
        <p:spPr>
          <a:xfrm>
            <a:off x="4436732" y="5741640"/>
            <a:ext cx="3318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https://gaussian37.github.io/dl-concept-regularization/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5F8447-69CF-37E3-0FF3-882E6EE5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818" y="3011351"/>
            <a:ext cx="200053" cy="2476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394EDDC-E1F2-1576-01D0-1340B508C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226" y="3268790"/>
            <a:ext cx="161948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27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8B16A7E-4F0F-B977-CED0-C5D279183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476" y="2268269"/>
            <a:ext cx="5926666" cy="258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DD7768-068E-EF1B-AB88-25A168CC7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82078"/>
            <a:ext cx="6055441" cy="44446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복잡한 모델로 </a:t>
            </a:r>
            <a:r>
              <a:rPr lang="en-US" altLang="ko-KR" sz="2400" b="1" dirty="0" err="1"/>
              <a:t>Overfitting</a:t>
            </a:r>
            <a:r>
              <a:rPr lang="ko-KR" altLang="en-US" sz="2400" b="1" dirty="0"/>
              <a:t>을 일으키기보다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약간의 정확도를 포기하고</a:t>
            </a:r>
            <a:r>
              <a:rPr lang="en-US" altLang="ko-KR" sz="2000" dirty="0"/>
              <a:t>, </a:t>
            </a:r>
            <a:r>
              <a:rPr lang="ko-KR" altLang="en-US" sz="2000" dirty="0"/>
              <a:t>모델을 단순하게 만들어 새로운 데이터에서도 잘 작동하게 함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규제를 통해 모델이 갈 수 있는 범위를 제한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제한된 범위 안에서 가장 좋은 위치</a:t>
            </a:r>
            <a:r>
              <a:rPr lang="en-US" altLang="ko-KR" sz="2000" dirty="0"/>
              <a:t>(Loss </a:t>
            </a:r>
            <a:r>
              <a:rPr lang="ko-KR" altLang="en-US" sz="2000" dirty="0"/>
              <a:t>최소화</a:t>
            </a:r>
            <a:r>
              <a:rPr lang="en-US" altLang="ko-KR" sz="2000" dirty="0"/>
              <a:t>)</a:t>
            </a:r>
            <a:r>
              <a:rPr lang="ko-KR" altLang="en-US" sz="2000" dirty="0"/>
              <a:t>를 찾음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 위치는 이론적으로 가장 좋은 점</a:t>
            </a:r>
            <a:r>
              <a:rPr lang="en-US" altLang="ko-KR" sz="2000" dirty="0"/>
              <a:t>(Global Optimum)</a:t>
            </a:r>
            <a:r>
              <a:rPr lang="ko-KR" altLang="en-US" sz="2000" dirty="0"/>
              <a:t>에 최대한 가깝게 설정됨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777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8642</TotalTime>
  <Words>2024</Words>
  <Application>Microsoft Office PowerPoint</Application>
  <PresentationFormat>와이드스크린</PresentationFormat>
  <Paragraphs>348</Paragraphs>
  <Slides>37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8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Cambria Math</vt:lpstr>
      <vt:lpstr>Wingdings</vt:lpstr>
      <vt:lpstr>1_Office 테마</vt:lpstr>
      <vt:lpstr>x</vt:lpstr>
      <vt:lpstr>PowerPoint 프레젠테이션</vt:lpstr>
      <vt:lpstr>PowerPoint 프레젠테이션</vt:lpstr>
      <vt:lpstr>시그모이드 함수의 문제</vt:lpstr>
      <vt:lpstr>기울기 소실 Vanishing Gradient</vt:lpstr>
      <vt:lpstr>PowerPoint 프레젠테이션</vt:lpstr>
      <vt:lpstr>ReLU(Rectified Linear Unit) 함수</vt:lpstr>
      <vt:lpstr>Leakly ReLU 함수</vt:lpstr>
      <vt:lpstr>ReLU 함수의 종류</vt:lpstr>
      <vt:lpstr>PowerPoint 프레젠테이션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LN(Layer Normalization) </vt:lpstr>
      <vt:lpstr>LN(Layer Normalization) </vt:lpstr>
      <vt:lpstr>BN vs LN</vt:lpstr>
      <vt:lpstr>PowerPoint 프레젠테이션</vt:lpstr>
      <vt:lpstr>과적합(Overfitting)</vt:lpstr>
      <vt:lpstr>과적합(Overfitting)</vt:lpstr>
      <vt:lpstr>과적합(Overfitting)</vt:lpstr>
      <vt:lpstr>과적합(Overfitting)</vt:lpstr>
      <vt:lpstr>과적합(Overfitting)</vt:lpstr>
      <vt:lpstr>PowerPoint 프레젠테이션</vt:lpstr>
      <vt:lpstr>Weight normalization</vt:lpstr>
      <vt:lpstr>Weight normalization</vt:lpstr>
      <vt:lpstr>Weight normalization</vt:lpstr>
      <vt:lpstr>Weight normalization</vt:lpstr>
      <vt:lpstr>Weight normalization</vt:lpstr>
      <vt:lpstr>Weight normalization</vt:lpstr>
      <vt:lpstr>Weight normalization</vt:lpstr>
      <vt:lpstr>Weight normalization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625</cp:revision>
  <dcterms:created xsi:type="dcterms:W3CDTF">2023-01-31T04:26:23Z</dcterms:created>
  <dcterms:modified xsi:type="dcterms:W3CDTF">2026-02-19T05:25:36Z</dcterms:modified>
</cp:coreProperties>
</file>