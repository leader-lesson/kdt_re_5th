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5"/>
  </p:notesMasterIdLst>
  <p:sldIdLst>
    <p:sldId id="1044" r:id="rId2"/>
    <p:sldId id="635" r:id="rId3"/>
    <p:sldId id="725" r:id="rId4"/>
    <p:sldId id="1028" r:id="rId5"/>
    <p:sldId id="1029" r:id="rId6"/>
    <p:sldId id="1045" r:id="rId7"/>
    <p:sldId id="1030" r:id="rId8"/>
    <p:sldId id="1031" r:id="rId9"/>
    <p:sldId id="1032" r:id="rId10"/>
    <p:sldId id="1033" r:id="rId11"/>
    <p:sldId id="671" r:id="rId12"/>
    <p:sldId id="732" r:id="rId13"/>
    <p:sldId id="713" r:id="rId14"/>
    <p:sldId id="714" r:id="rId15"/>
    <p:sldId id="715" r:id="rId16"/>
    <p:sldId id="716" r:id="rId17"/>
    <p:sldId id="717" r:id="rId18"/>
    <p:sldId id="718" r:id="rId19"/>
    <p:sldId id="687" r:id="rId20"/>
    <p:sldId id="719" r:id="rId21"/>
    <p:sldId id="1034" r:id="rId22"/>
    <p:sldId id="1035" r:id="rId23"/>
    <p:sldId id="1036" r:id="rId24"/>
    <p:sldId id="1037" r:id="rId25"/>
    <p:sldId id="1038" r:id="rId26"/>
    <p:sldId id="1040" r:id="rId27"/>
    <p:sldId id="751" r:id="rId28"/>
    <p:sldId id="1041" r:id="rId29"/>
    <p:sldId id="1046" r:id="rId30"/>
    <p:sldId id="707" r:id="rId31"/>
    <p:sldId id="708" r:id="rId32"/>
    <p:sldId id="696" r:id="rId33"/>
    <p:sldId id="836" r:id="rId3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99"/>
    <a:srgbClr val="FF0066"/>
    <a:srgbClr val="FF5050"/>
    <a:srgbClr val="FF7C80"/>
    <a:srgbClr val="2B2B2B"/>
    <a:srgbClr val="00B050"/>
    <a:srgbClr val="ED7D31"/>
    <a:srgbClr val="0059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56" autoAdjust="0"/>
    <p:restoredTop sz="84606" autoAdjust="0"/>
  </p:normalViewPr>
  <p:slideViewPr>
    <p:cSldViewPr snapToGrid="0">
      <p:cViewPr varScale="1">
        <p:scale>
          <a:sx n="93" d="100"/>
          <a:sy n="93" d="100"/>
        </p:scale>
        <p:origin x="1368" y="9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240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A13A867C-D490-40C2-AB8D-A60FA70A9BF5}" type="datetimeFigureOut">
              <a:rPr lang="ko-KR" altLang="en-US" smtClean="0"/>
              <a:pPr/>
              <a:t>2026-02-19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3E35EA20-6519-4513-9EDC-C89C5369BAEC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4166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문제점 </a:t>
            </a:r>
            <a:r>
              <a:rPr lang="en-US" altLang="ko-KR" dirty="0"/>
              <a:t>1</a:t>
            </a:r>
          </a:p>
          <a:p>
            <a:r>
              <a:rPr lang="ko-KR" altLang="en-US" dirty="0"/>
              <a:t>“모델이 깊어질수록 학습이 안 되는 현상이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그 원인 중 하나가 </a:t>
            </a:r>
            <a:r>
              <a:rPr lang="ko-KR" altLang="en-US" b="1" dirty="0"/>
              <a:t>기울기 소실</a:t>
            </a:r>
            <a:r>
              <a:rPr lang="ko-KR" altLang="en-US" dirty="0"/>
              <a:t>입니다</a:t>
            </a:r>
            <a:r>
              <a:rPr lang="en-US" altLang="ko-KR" dirty="0"/>
              <a:t>.”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60408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“</a:t>
            </a:r>
            <a:r>
              <a:rPr lang="en-US" altLang="ko-KR" dirty="0"/>
              <a:t>gradient</a:t>
            </a:r>
            <a:r>
              <a:rPr lang="ko-KR" altLang="en-US" dirty="0"/>
              <a:t>가 작아지면 가중치가 거의 안 움직입니다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학습이 멈춘 것처럼 보입니다</a:t>
            </a:r>
            <a:r>
              <a:rPr lang="en-US" altLang="ko-KR" dirty="0"/>
              <a:t>.”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831484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574BC9-81E2-7D71-A6B3-53C7908E4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9915680-DEB0-C99A-5DF0-5964165CF4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CC1CFFB-DEDB-AD93-CD42-2D6C0CC2E6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문제점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AE84CA-FB48-34B4-5D0C-3BDEA79DC8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988249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렐루</a:t>
            </a:r>
            <a:r>
              <a:rPr lang="ko-KR" altLang="en-US" dirty="0"/>
              <a:t> 함수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x &gt; 0 → </a:t>
            </a:r>
            <a:r>
              <a:rPr lang="ko-KR" altLang="en-US" dirty="0"/>
              <a:t>기울기 </a:t>
            </a:r>
            <a:r>
              <a:rPr lang="en-US" altLang="ko-KR" dirty="0"/>
              <a:t>1</a:t>
            </a:r>
          </a:p>
          <a:p>
            <a:r>
              <a:rPr lang="en-US" altLang="ko-KR" dirty="0"/>
              <a:t>x &lt; 0 → 0</a:t>
            </a:r>
          </a:p>
          <a:p>
            <a:r>
              <a:rPr lang="en-US" altLang="ko-KR" dirty="0"/>
              <a:t>“</a:t>
            </a:r>
            <a:r>
              <a:rPr lang="ko-KR" altLang="en-US" dirty="0"/>
              <a:t>학습 속도가 빠르고 구현이 간단합니다</a:t>
            </a:r>
            <a:r>
              <a:rPr lang="en-US" altLang="ko-KR" dirty="0"/>
              <a:t>.”</a:t>
            </a:r>
          </a:p>
          <a:p>
            <a:r>
              <a:rPr lang="ko-KR" altLang="en-US" b="1" dirty="0"/>
              <a:t>단점</a:t>
            </a:r>
          </a:p>
          <a:p>
            <a:r>
              <a:rPr lang="ko-KR" altLang="en-US" dirty="0"/>
              <a:t>“하지만 음수 영역에서는 뉴런이 죽습니다</a:t>
            </a:r>
            <a:r>
              <a:rPr lang="en-US" altLang="ko-KR" dirty="0"/>
              <a:t>.”</a:t>
            </a:r>
          </a:p>
          <a:p>
            <a:r>
              <a:rPr lang="en-US" altLang="ko-KR" b="1" dirty="0"/>
              <a:t>Leaky </a:t>
            </a:r>
            <a:r>
              <a:rPr lang="en-US" altLang="ko-KR" b="1" dirty="0" err="1"/>
              <a:t>ReLU</a:t>
            </a:r>
            <a:r>
              <a:rPr lang="en-US" altLang="ko-KR" b="1" dirty="0"/>
              <a:t> (</a:t>
            </a:r>
            <a:r>
              <a:rPr lang="ko-KR" altLang="en-US" b="1" dirty="0"/>
              <a:t>리키 </a:t>
            </a:r>
            <a:r>
              <a:rPr lang="ko-KR" altLang="en-US" b="1" dirty="0" err="1"/>
              <a:t>렐루</a:t>
            </a:r>
            <a:r>
              <a:rPr lang="en-US" altLang="ko-KR" b="1" dirty="0"/>
              <a:t>)</a:t>
            </a:r>
          </a:p>
          <a:p>
            <a:r>
              <a:rPr lang="ko-KR" altLang="en-US" dirty="0"/>
              <a:t>“그래서 음수 쪽에 작은 기울기를 살려둔 게 </a:t>
            </a:r>
            <a:r>
              <a:rPr lang="en-US" altLang="ko-KR" dirty="0"/>
              <a:t>Leaky </a:t>
            </a:r>
            <a:r>
              <a:rPr lang="en-US" altLang="ko-KR" dirty="0" err="1"/>
              <a:t>ReLU</a:t>
            </a:r>
            <a:r>
              <a:rPr lang="ko-KR" altLang="en-US" dirty="0"/>
              <a:t>입니다</a:t>
            </a:r>
            <a:r>
              <a:rPr lang="en-US" altLang="ko-KR" dirty="0"/>
              <a:t>.”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5638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리키 </a:t>
            </a:r>
            <a:r>
              <a:rPr lang="ko-KR" altLang="en-US" dirty="0" err="1"/>
              <a:t>렐루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34266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문제 </a:t>
            </a:r>
            <a:r>
              <a:rPr lang="en-US" altLang="ko-KR" b="1" dirty="0"/>
              <a:t>2: </a:t>
            </a:r>
            <a:r>
              <a:rPr lang="ko-KR" altLang="en-US" b="1" dirty="0"/>
              <a:t>내부 분포가 계속 바뀐다</a:t>
            </a:r>
          </a:p>
          <a:p>
            <a:r>
              <a:rPr lang="ko-KR" altLang="en-US" dirty="0"/>
              <a:t>층이 깊어질수록 입력 분포 변화</a:t>
            </a:r>
          </a:p>
          <a:p>
            <a:r>
              <a:rPr lang="ko-KR" altLang="en-US" dirty="0" err="1"/>
              <a:t>학습률</a:t>
            </a:r>
            <a:r>
              <a:rPr lang="ko-KR" altLang="en-US" dirty="0"/>
              <a:t> 민감도 증가</a:t>
            </a:r>
          </a:p>
          <a:p>
            <a:r>
              <a:rPr lang="ko-KR" altLang="en-US" dirty="0"/>
              <a:t>수렴 속도 저하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62428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핵심 설명</a:t>
            </a:r>
          </a:p>
          <a:p>
            <a:r>
              <a:rPr lang="en-US" altLang="ko-KR" dirty="0"/>
              <a:t>BN</a:t>
            </a:r>
            <a:r>
              <a:rPr lang="ko-KR" altLang="en-US" dirty="0"/>
              <a:t>은</a:t>
            </a:r>
            <a:r>
              <a:rPr lang="en-US" altLang="ko-KR" dirty="0"/>
              <a:t>:</a:t>
            </a:r>
          </a:p>
          <a:p>
            <a:r>
              <a:rPr lang="ko-KR" altLang="en-US" dirty="0"/>
              <a:t>각 배치마다 평균 </a:t>
            </a:r>
            <a:r>
              <a:rPr lang="en-US" altLang="ko-KR" dirty="0"/>
              <a:t>0, </a:t>
            </a:r>
            <a:r>
              <a:rPr lang="ko-KR" altLang="en-US" dirty="0"/>
              <a:t>분산 </a:t>
            </a:r>
            <a:r>
              <a:rPr lang="en-US" altLang="ko-KR" dirty="0"/>
              <a:t>1</a:t>
            </a:r>
            <a:r>
              <a:rPr lang="ko-KR" altLang="en-US" dirty="0"/>
              <a:t>로 정규화</a:t>
            </a:r>
          </a:p>
          <a:p>
            <a:r>
              <a:rPr lang="ko-KR" altLang="en-US" dirty="0"/>
              <a:t>학습을 안정화</a:t>
            </a:r>
          </a:p>
          <a:p>
            <a:r>
              <a:rPr lang="ko-KR" altLang="en-US" dirty="0" err="1"/>
              <a:t>학습률을</a:t>
            </a:r>
            <a:r>
              <a:rPr lang="ko-KR" altLang="en-US" dirty="0"/>
              <a:t> 크게 써도 됨</a:t>
            </a:r>
          </a:p>
          <a:p>
            <a:r>
              <a:rPr lang="ko-KR" altLang="en-US" b="1" dirty="0"/>
              <a:t>강하게 말할 부분</a:t>
            </a:r>
          </a:p>
          <a:p>
            <a:r>
              <a:rPr lang="ko-KR" altLang="en-US" dirty="0"/>
              <a:t>“</a:t>
            </a:r>
            <a:r>
              <a:rPr lang="en-US" altLang="ko-KR" dirty="0"/>
              <a:t>BN</a:t>
            </a:r>
            <a:r>
              <a:rPr lang="ko-KR" altLang="en-US" dirty="0"/>
              <a:t>은 학습을 빠르게 만들기 위한 장치입니다</a:t>
            </a:r>
            <a:r>
              <a:rPr lang="en-US" altLang="ko-KR" dirty="0"/>
              <a:t>.”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058606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렐루</a:t>
            </a:r>
            <a:r>
              <a:rPr lang="ko-KR" altLang="en-US" dirty="0"/>
              <a:t> 함수 </a:t>
            </a:r>
            <a:r>
              <a:rPr lang="en-US" altLang="ko-KR" dirty="0"/>
              <a:t>-&gt; f(x)=max(0,x)</a:t>
            </a:r>
          </a:p>
          <a:p>
            <a:endParaRPr lang="en-US" altLang="ko-KR" dirty="0"/>
          </a:p>
          <a:p>
            <a:r>
              <a:rPr lang="ko-KR" altLang="en-US" dirty="0"/>
              <a:t>그런데 빨간 막대</a:t>
            </a:r>
            <a:r>
              <a:rPr lang="en-US" altLang="ko-KR" dirty="0"/>
              <a:t>(</a:t>
            </a:r>
            <a:r>
              <a:rPr lang="ko-KR" altLang="en-US" dirty="0"/>
              <a:t>입력 데이터</a:t>
            </a:r>
            <a:r>
              <a:rPr lang="en-US" altLang="ko-KR" dirty="0"/>
              <a:t>)</a:t>
            </a:r>
            <a:r>
              <a:rPr lang="ko-KR" altLang="en-US" dirty="0"/>
              <a:t>가 어떤 배치에서는 오른쪽에 </a:t>
            </a:r>
            <a:r>
              <a:rPr lang="ko-KR" altLang="en-US" dirty="0" err="1"/>
              <a:t>몰려있고</a:t>
            </a:r>
            <a:endParaRPr lang="en-US" altLang="ko-KR" dirty="0"/>
          </a:p>
          <a:p>
            <a:r>
              <a:rPr lang="ko-KR" altLang="en-US" dirty="0"/>
              <a:t>어떤 배치에서는 왼쪽에 몰려 있음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ko-KR" altLang="en-US" dirty="0"/>
              <a:t>같은 모델이어도 입력 분포가 바뀌면 출력 특성이 달라진다는 것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è"/>
            </a:pPr>
            <a:endParaRPr lang="en-US" altLang="ko-KR" dirty="0"/>
          </a:p>
          <a:p>
            <a:r>
              <a:rPr lang="ko-KR" altLang="en-US" dirty="0"/>
              <a:t>입력이 음수 쪽에 몰리면</a:t>
            </a:r>
            <a:r>
              <a:rPr lang="en-US" altLang="ko-KR" dirty="0"/>
              <a:t>?</a:t>
            </a:r>
          </a:p>
          <a:p>
            <a:r>
              <a:rPr lang="en-US" altLang="ko-KR" dirty="0"/>
              <a:t>→ </a:t>
            </a:r>
            <a:r>
              <a:rPr lang="en-US" altLang="ko-KR" dirty="0" err="1"/>
              <a:t>ReLU</a:t>
            </a:r>
            <a:r>
              <a:rPr lang="ko-KR" altLang="en-US" dirty="0"/>
              <a:t>에서 거의 다 </a:t>
            </a:r>
            <a:r>
              <a:rPr lang="en-US" altLang="ko-KR" dirty="0"/>
              <a:t>0</a:t>
            </a:r>
            <a:r>
              <a:rPr lang="ko-KR" altLang="en-US" dirty="0"/>
              <a:t>이 됨</a:t>
            </a:r>
            <a:br>
              <a:rPr lang="ko-KR" altLang="en-US" dirty="0"/>
            </a:br>
            <a:r>
              <a:rPr lang="ko-KR" altLang="en-US" dirty="0"/>
              <a:t>→ </a:t>
            </a:r>
            <a:r>
              <a:rPr lang="en-US" altLang="ko-KR" dirty="0"/>
              <a:t>gradient </a:t>
            </a:r>
            <a:r>
              <a:rPr lang="ko-KR" altLang="en-US" dirty="0"/>
              <a:t>거의 사라짐</a:t>
            </a:r>
            <a:br>
              <a:rPr lang="ko-KR" altLang="en-US" dirty="0"/>
            </a:br>
            <a:r>
              <a:rPr lang="ko-KR" altLang="en-US" dirty="0"/>
              <a:t>→ 학습이 느려지거나 멈춤</a:t>
            </a:r>
          </a:p>
          <a:p>
            <a:pPr marL="0" indent="0">
              <a:buFont typeface="Wingdings" panose="05000000000000000000" pitchFamily="2" charset="2"/>
              <a:buNone/>
            </a:pPr>
            <a:endParaRPr lang="en-US" altLang="ko-KR" dirty="0"/>
          </a:p>
          <a:p>
            <a:pPr marL="0" indent="0">
              <a:buFont typeface="Wingdings" panose="05000000000000000000" pitchFamily="2" charset="2"/>
              <a:buNone/>
            </a:pPr>
            <a:endParaRPr lang="en-US" altLang="ko-KR" dirty="0"/>
          </a:p>
          <a:p>
            <a:r>
              <a:rPr lang="ko-KR" altLang="en-US" b="1" dirty="0"/>
              <a:t>🔹 오른쪽 그림 의미</a:t>
            </a:r>
          </a:p>
          <a:p>
            <a:r>
              <a:rPr lang="en-US" altLang="ko-KR" dirty="0"/>
              <a:t>Batch Normalization</a:t>
            </a:r>
            <a:r>
              <a:rPr lang="ko-KR" altLang="en-US" dirty="0"/>
              <a:t>을 적용하면</a:t>
            </a:r>
          </a:p>
          <a:p>
            <a:r>
              <a:rPr lang="ko-KR" altLang="en-US" dirty="0"/>
              <a:t>입력 분포를 중앙</a:t>
            </a:r>
            <a:r>
              <a:rPr lang="en-US" altLang="ko-KR" dirty="0"/>
              <a:t>(0 </a:t>
            </a:r>
            <a:r>
              <a:rPr lang="ko-KR" altLang="en-US" dirty="0"/>
              <a:t>근처</a:t>
            </a:r>
            <a:r>
              <a:rPr lang="en-US" altLang="ko-KR" dirty="0"/>
              <a:t>)</a:t>
            </a:r>
            <a:r>
              <a:rPr lang="ko-KR" altLang="en-US" dirty="0"/>
              <a:t>로 </a:t>
            </a:r>
            <a:r>
              <a:rPr lang="ko-KR" altLang="en-US" dirty="0" err="1"/>
              <a:t>맞춰줌</a:t>
            </a:r>
            <a:endParaRPr lang="ko-KR" altLang="en-US" dirty="0"/>
          </a:p>
          <a:p>
            <a:r>
              <a:rPr lang="ko-KR" altLang="en-US" dirty="0"/>
              <a:t>분포를 일정하게 유지</a:t>
            </a:r>
          </a:p>
          <a:p>
            <a:r>
              <a:rPr lang="ko-KR" altLang="en-US" dirty="0"/>
              <a:t>즉</a:t>
            </a:r>
            <a:r>
              <a:rPr lang="en-US" altLang="ko-KR" dirty="0"/>
              <a:t>,</a:t>
            </a:r>
          </a:p>
          <a:p>
            <a:r>
              <a:rPr lang="en-US" altLang="ko-KR" dirty="0"/>
              <a:t>“</a:t>
            </a:r>
            <a:r>
              <a:rPr lang="ko-KR" altLang="en-US" dirty="0"/>
              <a:t>입력의 위치를 항상 적절한 영역으로 유지해준다”</a:t>
            </a:r>
          </a:p>
          <a:p>
            <a:pPr marL="0" indent="0">
              <a:buFont typeface="Wingdings" panose="05000000000000000000" pitchFamily="2" charset="2"/>
              <a:buNone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045941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뒤에 설명 있음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00485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각 </a:t>
            </a:r>
            <a:r>
              <a:rPr lang="en-US" altLang="ko-KR" dirty="0"/>
              <a:t>feature</a:t>
            </a:r>
            <a:r>
              <a:rPr lang="ko-KR" altLang="en-US" dirty="0"/>
              <a:t>를</a:t>
            </a:r>
          </a:p>
          <a:p>
            <a:r>
              <a:rPr lang="ko-KR" altLang="en-US" dirty="0"/>
              <a:t>평균 </a:t>
            </a:r>
            <a:r>
              <a:rPr lang="en-US" altLang="ko-KR" dirty="0"/>
              <a:t>0</a:t>
            </a:r>
          </a:p>
          <a:p>
            <a:r>
              <a:rPr lang="ko-KR" altLang="en-US" dirty="0"/>
              <a:t>분산 </a:t>
            </a:r>
            <a:r>
              <a:rPr lang="en-US" altLang="ko-KR" dirty="0"/>
              <a:t>1</a:t>
            </a:r>
          </a:p>
          <a:p>
            <a:r>
              <a:rPr lang="ko-KR" altLang="en-US" dirty="0"/>
              <a:t>로 만들어주는 것</a:t>
            </a:r>
          </a:p>
          <a:p>
            <a:r>
              <a:rPr lang="ko-KR" altLang="en-US" dirty="0"/>
              <a:t>즉</a:t>
            </a:r>
            <a:r>
              <a:rPr lang="en-US" altLang="ko-KR" dirty="0"/>
              <a:t>,</a:t>
            </a:r>
          </a:p>
          <a:p>
            <a:r>
              <a:rPr lang="en-US" altLang="ko-KR" dirty="0"/>
              <a:t>“</a:t>
            </a:r>
            <a:r>
              <a:rPr lang="ko-KR" altLang="en-US" dirty="0"/>
              <a:t>지금 이 배치 안에서 </a:t>
            </a:r>
            <a:r>
              <a:rPr lang="ko-KR" altLang="en-US" dirty="0" err="1"/>
              <a:t>표준화한다</a:t>
            </a:r>
            <a:r>
              <a:rPr lang="ko-KR" altLang="en-US" dirty="0"/>
              <a:t>”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85670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슬라이드 노트 개체 틀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ko-KR" altLang="en-US" dirty="0"/>
                  <a:t>모든 층에서 무조건 평균 </a:t>
                </a:r>
                <a:r>
                  <a:rPr lang="en-US" altLang="ko-KR" dirty="0"/>
                  <a:t>0, </a:t>
                </a:r>
                <a:r>
                  <a:rPr lang="ko-KR" altLang="en-US" dirty="0"/>
                  <a:t>분산 </a:t>
                </a:r>
                <a:r>
                  <a:rPr lang="en-US" altLang="ko-KR" dirty="0"/>
                  <a:t>1</a:t>
                </a:r>
                <a:r>
                  <a:rPr lang="ko-KR" altLang="en-US" dirty="0"/>
                  <a:t>이 최적인가</a:t>
                </a:r>
                <a:r>
                  <a:rPr lang="en-US" altLang="ko-KR" dirty="0"/>
                  <a:t>?</a:t>
                </a:r>
              </a:p>
              <a:p>
                <a:r>
                  <a:rPr lang="ko-KR" altLang="en-US" dirty="0"/>
                  <a:t>그렇지 않다</a:t>
                </a:r>
                <a:r>
                  <a:rPr lang="en-US" altLang="ko-KR" dirty="0"/>
                  <a:t>.</a:t>
                </a:r>
              </a:p>
              <a:p>
                <a:r>
                  <a:rPr lang="ko-KR" altLang="en-US" dirty="0"/>
                  <a:t>그래서 </a:t>
                </a:r>
                <a:r>
                  <a:rPr lang="en-US" altLang="ko-KR" dirty="0"/>
                  <a:t>BN</a:t>
                </a:r>
                <a:r>
                  <a:rPr lang="ko-KR" altLang="en-US" dirty="0"/>
                  <a:t>은 다음 단계를 추가한다</a:t>
                </a:r>
                <a:r>
                  <a:rPr lang="en-US" altLang="ko-KR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120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Kim jung chul Gothic Regular" panose="020B0503000000000000" pitchFamily="50" charset="-127"/>
                          <a:cs typeface="+mn-cs"/>
                        </a:rPr>
                        <m:t>𝑦</m:t>
                      </m:r>
                      <m:r>
                        <a:rPr lang="en-US" altLang="ko-KR" sz="1200" i="0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Kim jung chul Gothic Regular" panose="020B0503000000000000" pitchFamily="50" charset="-127"/>
                          <a:cs typeface="+mn-cs"/>
                        </a:rPr>
                        <m:t>=</m:t>
                      </m:r>
                      <m:r>
                        <a:rPr lang="ko-KR" altLang="en-US" sz="120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Kim jung chul Gothic Regular" panose="020B0503000000000000" pitchFamily="50" charset="-127"/>
                          <a:cs typeface="+mn-cs"/>
                        </a:rPr>
                        <m:t>𝛾</m:t>
                      </m:r>
                      <m:acc>
                        <m:accPr>
                          <m:chr m:val="̂"/>
                          <m:ctrlPr>
                            <a:rPr lang="ko-KR" altLang="en-US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Kim jung chul Gothic Regular" panose="020B0503000000000000" pitchFamily="50" charset="-127"/>
                              <a:cs typeface="+mn-cs"/>
                            </a:rPr>
                          </m:ctrlPr>
                        </m:accPr>
                        <m:e>
                          <m:r>
                            <a:rPr lang="ko-KR" altLang="en-US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Kim jung chul Gothic Regular" panose="020B0503000000000000" pitchFamily="50" charset="-127"/>
                              <a:cs typeface="+mn-cs"/>
                            </a:rPr>
                            <m:t>𝑥</m:t>
                          </m:r>
                        </m:e>
                      </m:acc>
                      <m:r>
                        <a:rPr lang="en-US" altLang="ko-KR" sz="1200" i="0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Kim jung chul Gothic Regular" panose="020B0503000000000000" pitchFamily="50" charset="-127"/>
                          <a:cs typeface="+mn-cs"/>
                        </a:rPr>
                        <m:t>+</m:t>
                      </m:r>
                      <m:r>
                        <a:rPr lang="ko-KR" altLang="en-US" sz="120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Kim jung chul Gothic Regular" panose="020B0503000000000000" pitchFamily="50" charset="-127"/>
                          <a:cs typeface="+mn-cs"/>
                        </a:rPr>
                        <m:t>𝛽</m:t>
                      </m:r>
                    </m:oMath>
                  </m:oMathPara>
                </a14:m>
                <a:endParaRPr lang="ko-KR" altLang="en-US" dirty="0"/>
              </a:p>
              <a:p>
                <a:r>
                  <a:rPr lang="en-US" altLang="ko-KR" dirty="0"/>
                  <a:t>γ: </a:t>
                </a:r>
                <a:r>
                  <a:rPr lang="ko-KR" altLang="en-US" dirty="0"/>
                  <a:t>스케일 조정</a:t>
                </a:r>
              </a:p>
              <a:p>
                <a:r>
                  <a:rPr lang="en-US" altLang="ko-KR" dirty="0"/>
                  <a:t>β: </a:t>
                </a:r>
                <a:r>
                  <a:rPr lang="ko-KR" altLang="en-US" dirty="0"/>
                  <a:t>위치 이동</a:t>
                </a:r>
              </a:p>
              <a:p>
                <a:r>
                  <a:rPr lang="ko-KR" altLang="en-US" dirty="0"/>
                  <a:t>즉</a:t>
                </a:r>
                <a:r>
                  <a:rPr lang="en-US" altLang="ko-KR" dirty="0"/>
                  <a:t>,</a:t>
                </a:r>
              </a:p>
              <a:p>
                <a:r>
                  <a:rPr lang="en-US" altLang="ko-KR" dirty="0"/>
                  <a:t>"</a:t>
                </a:r>
                <a:r>
                  <a:rPr lang="ko-KR" altLang="en-US" dirty="0"/>
                  <a:t>정규화는 하되</a:t>
                </a:r>
                <a:r>
                  <a:rPr lang="en-US" altLang="ko-KR" dirty="0"/>
                  <a:t>, </a:t>
                </a:r>
                <a:r>
                  <a:rPr lang="ko-KR" altLang="en-US" dirty="0"/>
                  <a:t>모델이 필요하면 다시 조정할 수 있게 해준다</a:t>
                </a:r>
                <a:r>
                  <a:rPr lang="en-US" altLang="ko-KR" dirty="0"/>
                  <a:t>."</a:t>
                </a:r>
              </a:p>
              <a:p>
                <a:r>
                  <a:rPr lang="ko-KR" altLang="en-US" dirty="0"/>
                  <a:t>이게 핵심이다</a:t>
                </a:r>
                <a:r>
                  <a:rPr lang="en-US" altLang="ko-KR" dirty="0"/>
                  <a:t>.</a:t>
                </a:r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3" name="슬라이드 노트 개체 틀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ko-KR" altLang="en-US" dirty="0"/>
                  <a:t>모든 층에서 무조건 평균 </a:t>
                </a:r>
                <a:r>
                  <a:rPr lang="en-US" altLang="ko-KR" dirty="0"/>
                  <a:t>0, </a:t>
                </a:r>
                <a:r>
                  <a:rPr lang="ko-KR" altLang="en-US" dirty="0"/>
                  <a:t>분산 </a:t>
                </a:r>
                <a:r>
                  <a:rPr lang="en-US" altLang="ko-KR" dirty="0"/>
                  <a:t>1</a:t>
                </a:r>
                <a:r>
                  <a:rPr lang="ko-KR" altLang="en-US" dirty="0"/>
                  <a:t>이 최적인가</a:t>
                </a:r>
                <a:r>
                  <a:rPr lang="en-US" altLang="ko-KR" dirty="0"/>
                  <a:t>?</a:t>
                </a:r>
              </a:p>
              <a:p>
                <a:r>
                  <a:rPr lang="ko-KR" altLang="en-US" dirty="0"/>
                  <a:t>그렇지 않다</a:t>
                </a:r>
                <a:r>
                  <a:rPr lang="en-US" altLang="ko-KR" dirty="0"/>
                  <a:t>.</a:t>
                </a:r>
              </a:p>
              <a:p>
                <a:r>
                  <a:rPr lang="ko-KR" altLang="en-US" dirty="0"/>
                  <a:t>그래서 </a:t>
                </a:r>
                <a:r>
                  <a:rPr lang="en-US" altLang="ko-KR" dirty="0"/>
                  <a:t>BN</a:t>
                </a:r>
                <a:r>
                  <a:rPr lang="ko-KR" altLang="en-US" dirty="0"/>
                  <a:t>은 다음 단계를 추가한다</a:t>
                </a:r>
                <a:r>
                  <a:rPr lang="en-US" altLang="ko-KR" dirty="0"/>
                  <a:t>:</a:t>
                </a:r>
              </a:p>
              <a:p>
                <a:r>
                  <a:rPr lang="ko-KR" altLang="en-US" sz="1200" i="0" kern="1200">
                    <a:solidFill>
                      <a:schemeClr val="tx1"/>
                    </a:solidFill>
                    <a:latin typeface="Kim jung chul Gothic Regular" panose="020B0503000000000000" pitchFamily="50" charset="-127"/>
                    <a:ea typeface="Kim jung chul Gothic Regular" panose="020B0503000000000000" pitchFamily="50" charset="-127"/>
                    <a:cs typeface="+mn-cs"/>
                  </a:rPr>
                  <a:t>𝑦</a:t>
                </a:r>
                <a:r>
                  <a:rPr lang="en-US" altLang="ko-KR" sz="1200" i="0" kern="1200">
                    <a:solidFill>
                      <a:schemeClr val="tx1"/>
                    </a:solidFill>
                    <a:latin typeface="Kim jung chul Gothic Regular" panose="020B0503000000000000" pitchFamily="50" charset="-127"/>
                    <a:ea typeface="Kim jung chul Gothic Regular" panose="020B0503000000000000" pitchFamily="50" charset="-127"/>
                    <a:cs typeface="+mn-cs"/>
                  </a:rPr>
                  <a:t>=</a:t>
                </a:r>
                <a:r>
                  <a:rPr lang="ko-KR" altLang="en-US" sz="1200" i="0" kern="1200">
                    <a:solidFill>
                      <a:schemeClr val="tx1"/>
                    </a:solidFill>
                    <a:latin typeface="Kim jung chul Gothic Regular" panose="020B0503000000000000" pitchFamily="50" charset="-127"/>
                    <a:ea typeface="Kim jung chul Gothic Regular" panose="020B0503000000000000" pitchFamily="50" charset="-127"/>
                    <a:cs typeface="+mn-cs"/>
                  </a:rPr>
                  <a:t>𝛾𝑥 ̂</a:t>
                </a:r>
                <a:r>
                  <a:rPr lang="en-US" altLang="ko-KR" sz="1200" i="0" kern="1200">
                    <a:solidFill>
                      <a:schemeClr val="tx1"/>
                    </a:solidFill>
                    <a:latin typeface="Kim jung chul Gothic Regular" panose="020B0503000000000000" pitchFamily="50" charset="-127"/>
                    <a:ea typeface="Kim jung chul Gothic Regular" panose="020B0503000000000000" pitchFamily="50" charset="-127"/>
                    <a:cs typeface="+mn-cs"/>
                  </a:rPr>
                  <a:t>+</a:t>
                </a:r>
                <a:r>
                  <a:rPr lang="ko-KR" altLang="en-US" sz="1200" i="0" kern="1200">
                    <a:solidFill>
                      <a:schemeClr val="tx1"/>
                    </a:solidFill>
                    <a:latin typeface="Kim jung chul Gothic Regular" panose="020B0503000000000000" pitchFamily="50" charset="-127"/>
                    <a:ea typeface="Kim jung chul Gothic Regular" panose="020B0503000000000000" pitchFamily="50" charset="-127"/>
                    <a:cs typeface="+mn-cs"/>
                  </a:rPr>
                  <a:t>𝛽</a:t>
                </a:r>
                <a:endParaRPr lang="ko-KR" altLang="en-US" dirty="0"/>
              </a:p>
              <a:p>
                <a:r>
                  <a:rPr lang="en-US" altLang="ko-KR" dirty="0"/>
                  <a:t>γ: </a:t>
                </a:r>
                <a:r>
                  <a:rPr lang="ko-KR" altLang="en-US" dirty="0"/>
                  <a:t>스케일 조정</a:t>
                </a:r>
              </a:p>
              <a:p>
                <a:r>
                  <a:rPr lang="en-US" altLang="ko-KR" dirty="0"/>
                  <a:t>β: </a:t>
                </a:r>
                <a:r>
                  <a:rPr lang="ko-KR" altLang="en-US" dirty="0"/>
                  <a:t>위치 이동</a:t>
                </a:r>
              </a:p>
              <a:p>
                <a:r>
                  <a:rPr lang="ko-KR" altLang="en-US" dirty="0"/>
                  <a:t>즉</a:t>
                </a:r>
                <a:r>
                  <a:rPr lang="en-US" altLang="ko-KR" dirty="0"/>
                  <a:t>,</a:t>
                </a:r>
              </a:p>
              <a:p>
                <a:r>
                  <a:rPr lang="en-US" altLang="ko-KR" dirty="0"/>
                  <a:t>"</a:t>
                </a:r>
                <a:r>
                  <a:rPr lang="ko-KR" altLang="en-US" dirty="0"/>
                  <a:t>정규화는 하되</a:t>
                </a:r>
                <a:r>
                  <a:rPr lang="en-US" altLang="ko-KR" dirty="0"/>
                  <a:t>, </a:t>
                </a:r>
                <a:r>
                  <a:rPr lang="ko-KR" altLang="en-US" dirty="0"/>
                  <a:t>모델이 필요하면 다시 조정할 수 있게 해준다</a:t>
                </a:r>
                <a:r>
                  <a:rPr lang="en-US" altLang="ko-KR" dirty="0"/>
                  <a:t>."</a:t>
                </a:r>
              </a:p>
              <a:p>
                <a:r>
                  <a:rPr lang="ko-KR" altLang="en-US" dirty="0"/>
                  <a:t>이게 핵심이다</a:t>
                </a:r>
                <a:r>
                  <a:rPr lang="en-US" altLang="ko-KR" dirty="0"/>
                  <a:t>.</a:t>
                </a:r>
              </a:p>
              <a:p>
                <a:endParaRPr lang="ko-KR" altLang="en-US" dirty="0"/>
              </a:p>
            </p:txBody>
          </p:sp>
        </mc:Fallback>
      </mc:AlternateContent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01890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957417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79900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569378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“</a:t>
            </a:r>
            <a:r>
              <a:rPr lang="en-US" altLang="ko-KR" dirty="0"/>
              <a:t>BN</a:t>
            </a:r>
            <a:r>
              <a:rPr lang="ko-KR" altLang="en-US" dirty="0"/>
              <a:t>은 배치 크기에 의존합니다</a:t>
            </a:r>
            <a:r>
              <a:rPr lang="en-US" altLang="ko-KR" dirty="0"/>
              <a:t>.”</a:t>
            </a:r>
          </a:p>
          <a:p>
            <a:r>
              <a:rPr lang="en-US" altLang="ko-KR" dirty="0"/>
              <a:t>“RNN</a:t>
            </a:r>
            <a:r>
              <a:rPr lang="ko-KR" altLang="en-US" dirty="0"/>
              <a:t>처럼 순차 데이터에는 </a:t>
            </a:r>
            <a:r>
              <a:rPr lang="en-US" altLang="ko-KR" dirty="0"/>
              <a:t>BN</a:t>
            </a:r>
            <a:r>
              <a:rPr lang="ko-KR" altLang="en-US" dirty="0"/>
              <a:t>이 어렵습니다</a:t>
            </a:r>
            <a:r>
              <a:rPr lang="en-US" altLang="ko-KR" dirty="0"/>
              <a:t>.”</a:t>
            </a:r>
          </a:p>
          <a:p>
            <a:r>
              <a:rPr lang="ko-KR" altLang="en-US" dirty="0"/>
              <a:t>그래서 </a:t>
            </a:r>
            <a:r>
              <a:rPr lang="en-US" altLang="ko-KR" dirty="0"/>
              <a:t>LN:</a:t>
            </a:r>
          </a:p>
          <a:p>
            <a:r>
              <a:rPr lang="ko-KR" altLang="en-US" dirty="0"/>
              <a:t>각 샘플 단위 정규화</a:t>
            </a:r>
          </a:p>
          <a:p>
            <a:r>
              <a:rPr lang="en-US" altLang="ko-KR" dirty="0"/>
              <a:t>batch size</a:t>
            </a:r>
            <a:r>
              <a:rPr lang="ko-KR" altLang="en-US" dirty="0"/>
              <a:t>에 영향 없음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0262142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과적합을 해결하려면 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Kim jung chul Gothic Regular" panose="020B0503000000000000" pitchFamily="50" charset="-127"/>
              <a:ea typeface="Kim jung chul Gothic Regular" panose="020B0503000000000000" pitchFamily="50" charset="-127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train loss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는 약간 증가하지만 결과적으로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, validation loss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나 최종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test loss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를 감소시키려는 목적을 가진다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3488409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모델이 패턴이 아니라 데이터 자체를 암기했기 때문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839190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훈련할 때 일부 뉴런을 랜덤하게 끕니다</a:t>
            </a:r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모델이 특정 경로에만 의존하지 못하게 하기 위해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0513959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오차만 줄이는 게 아니라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en-US" altLang="ko-KR" dirty="0"/>
              <a:t>“</a:t>
            </a:r>
            <a:r>
              <a:rPr lang="ko-KR" altLang="en-US" dirty="0"/>
              <a:t>가중치 크기까지 함께 </a:t>
            </a:r>
            <a:r>
              <a:rPr lang="ko-KR" altLang="en-US" dirty="0" err="1"/>
              <a:t>제어”하겠다는</a:t>
            </a:r>
            <a:r>
              <a:rPr lang="ko-KR" altLang="en-US" dirty="0"/>
              <a:t> 것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이미지는 뒤에서 활용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3874589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슬라이드 노트 개체 틀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ko-KR" altLang="en-US" dirty="0"/>
                  <a:t>가중치 절댓값의 합을 더함</a:t>
                </a:r>
                <a:endParaRPr lang="en-US" altLang="ko-KR" dirty="0"/>
              </a:p>
              <a:p>
                <a:endParaRPr lang="en-US" altLang="ko-KR" dirty="0"/>
              </a:p>
              <a:p>
                <a:r>
                  <a:rPr lang="ko-KR" altLang="en-US" dirty="0"/>
                  <a:t>마름모는 모서리가 있기 때문에</a:t>
                </a:r>
                <a:br>
                  <a:rPr lang="ko-KR" altLang="en-US" dirty="0"/>
                </a:br>
                <a:r>
                  <a:rPr lang="ko-KR" altLang="en-US" dirty="0"/>
                  <a:t>등고선이 </a:t>
                </a:r>
                <a:r>
                  <a:rPr lang="ko-KR" altLang="en-US" b="1" dirty="0"/>
                  <a:t>꼭짓점에서 만날 확률이 높음</a:t>
                </a:r>
                <a:r>
                  <a:rPr lang="en-US" altLang="ko-KR" dirty="0"/>
                  <a:t>.</a:t>
                </a:r>
              </a:p>
              <a:p>
                <a:r>
                  <a:rPr lang="ko-KR" altLang="en-US" dirty="0"/>
                  <a:t>그 꼭짓점은</a:t>
                </a:r>
                <a:r>
                  <a:rPr lang="en-US" altLang="ko-KR" dirty="0"/>
                  <a:t>:</a:t>
                </a:r>
                <a:r>
                  <a:rPr lang="en-US" altLang="ko-KR" baseline="0" dirty="0"/>
                  <a:t>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1200" kern="1200">
                            <a:solidFill>
                              <a:schemeClr val="tx1"/>
                            </a:solidFill>
                            <a:latin typeface="Kim jung chul Gothic Regular" panose="020B0503000000000000" pitchFamily="50" charset="-127"/>
                            <a:ea typeface="Kim jung chul Gothic Regular" panose="020B0503000000000000" pitchFamily="50" charset="-127"/>
                            <a:cs typeface="+mn-cs"/>
                          </a:rPr>
                        </m:ctrlPr>
                      </m:sSubPr>
                      <m:e>
                        <m:r>
                          <a:rPr lang="ko-KR" altLang="en-US" sz="1200" i="1" kern="1200">
                            <a:solidFill>
                              <a:schemeClr val="tx1"/>
                            </a:solidFill>
                            <a:latin typeface="Kim jung chul Gothic Regular" panose="020B0503000000000000" pitchFamily="50" charset="-127"/>
                            <a:ea typeface="Kim jung chul Gothic Regular" panose="020B0503000000000000" pitchFamily="50" charset="-127"/>
                            <a:cs typeface="+mn-cs"/>
                          </a:rPr>
                          <m:t>𝑤</m:t>
                        </m:r>
                      </m:e>
                      <m:sub>
                        <m:r>
                          <a:rPr lang="en-US" altLang="ko-KR" sz="1200" i="0" kern="1200">
                            <a:solidFill>
                              <a:schemeClr val="tx1"/>
                            </a:solidFill>
                            <a:latin typeface="Kim jung chul Gothic Regular" panose="020B0503000000000000" pitchFamily="50" charset="-127"/>
                            <a:ea typeface="Kim jung chul Gothic Regular" panose="020B0503000000000000" pitchFamily="50" charset="-127"/>
                            <a:cs typeface="+mn-cs"/>
                          </a:rPr>
                          <m:t>1</m:t>
                        </m:r>
                      </m:sub>
                    </m:sSub>
                    <m:r>
                      <a:rPr lang="en-US" altLang="ko-KR" sz="1200" i="0" kern="1200">
                        <a:solidFill>
                          <a:schemeClr val="tx1"/>
                        </a:solidFill>
                        <a:latin typeface="Kim jung chul Gothic Regular" panose="020B0503000000000000" pitchFamily="50" charset="-127"/>
                        <a:ea typeface="Kim jung chul Gothic Regular" panose="020B0503000000000000" pitchFamily="50" charset="-127"/>
                        <a:cs typeface="+mn-cs"/>
                      </a:rPr>
                      <m:t>=</m:t>
                    </m:r>
                    <m:r>
                      <a:rPr lang="en-US" altLang="ko-KR" sz="1200" i="0" kern="1200">
                        <a:solidFill>
                          <a:schemeClr val="tx1"/>
                        </a:solidFill>
                        <a:latin typeface="Kim jung chul Gothic Regular" panose="020B0503000000000000" pitchFamily="50" charset="-127"/>
                        <a:ea typeface="Kim jung chul Gothic Regular" panose="020B0503000000000000" pitchFamily="50" charset="-127"/>
                        <a:cs typeface="+mn-cs"/>
                      </a:rPr>
                      <m:t>0</m:t>
                    </m:r>
                    <m:r>
                      <a:rPr lang="en-US" altLang="ko-KR" sz="1200" i="0" kern="1200">
                        <a:solidFill>
                          <a:schemeClr val="tx1"/>
                        </a:solidFill>
                        <a:latin typeface="Kim jung chul Gothic Regular" panose="020B0503000000000000" pitchFamily="50" charset="-127"/>
                        <a:ea typeface="Kim jung chul Gothic Regular" panose="020B0503000000000000" pitchFamily="50" charset="-127"/>
                        <a:cs typeface="+mn-cs"/>
                      </a:rPr>
                      <m:t> </m:t>
                    </m:r>
                    <m:r>
                      <m:rPr>
                        <m:nor/>
                      </m:rPr>
                      <a:rPr lang="ko-KR" altLang="en-US" sz="1200" b="0" i="1" kern="1200">
                        <a:solidFill>
                          <a:schemeClr val="tx1"/>
                        </a:solidFill>
                        <a:latin typeface="Kim jung chul Gothic Regular" panose="020B0503000000000000" pitchFamily="50" charset="-127"/>
                        <a:ea typeface="Kim jung chul Gothic Regular" panose="020B0503000000000000" pitchFamily="50" charset="-127"/>
                        <a:cs typeface="+mn-cs"/>
                      </a:rPr>
                      <m:t>또는</m:t>
                    </m:r>
                    <m:r>
                      <a:rPr lang="ko-KR" altLang="en-US" sz="1200" b="0" i="0" kern="1200">
                        <a:solidFill>
                          <a:schemeClr val="tx1"/>
                        </a:solidFill>
                        <a:latin typeface="Kim jung chul Gothic Regular" panose="020B0503000000000000" pitchFamily="50" charset="-127"/>
                        <a:ea typeface="Kim jung chul Gothic Regular" panose="020B0503000000000000" pitchFamily="50" charset="-127"/>
                        <a:cs typeface="+mn-cs"/>
                      </a:rPr>
                      <m:t> </m:t>
                    </m:r>
                    <m:sSub>
                      <m:sSubPr>
                        <m:ctrlPr>
                          <a:rPr lang="ko-KR" altLang="en-US" sz="1200" b="0" i="1" kern="1200">
                            <a:solidFill>
                              <a:schemeClr val="tx1"/>
                            </a:solidFill>
                            <a:latin typeface="Kim jung chul Gothic Regular" panose="020B0503000000000000" pitchFamily="50" charset="-127"/>
                            <a:ea typeface="Kim jung chul Gothic Regular" panose="020B0503000000000000" pitchFamily="50" charset="-127"/>
                            <a:cs typeface="+mn-cs"/>
                          </a:rPr>
                        </m:ctrlPr>
                      </m:sSubPr>
                      <m:e>
                        <m:r>
                          <a:rPr lang="ko-KR" altLang="en-US" sz="1200" b="0" i="1" kern="1200">
                            <a:solidFill>
                              <a:schemeClr val="tx1"/>
                            </a:solidFill>
                            <a:latin typeface="Kim jung chul Gothic Regular" panose="020B0503000000000000" pitchFamily="50" charset="-127"/>
                            <a:ea typeface="Kim jung chul Gothic Regular" panose="020B0503000000000000" pitchFamily="50" charset="-127"/>
                            <a:cs typeface="+mn-cs"/>
                          </a:rPr>
                          <m:t>𝑤</m:t>
                        </m:r>
                      </m:e>
                      <m:sub>
                        <m:r>
                          <a:rPr lang="en-US" altLang="ko-KR" sz="1200" b="0" i="0" kern="1200">
                            <a:solidFill>
                              <a:schemeClr val="tx1"/>
                            </a:solidFill>
                            <a:latin typeface="Kim jung chul Gothic Regular" panose="020B0503000000000000" pitchFamily="50" charset="-127"/>
                            <a:ea typeface="Kim jung chul Gothic Regular" panose="020B0503000000000000" pitchFamily="50" charset="-127"/>
                            <a:cs typeface="+mn-cs"/>
                          </a:rPr>
                          <m:t>2</m:t>
                        </m:r>
                      </m:sub>
                    </m:sSub>
                    <m:r>
                      <a:rPr lang="en-US" altLang="ko-KR" sz="1200" b="0" i="0" kern="1200">
                        <a:solidFill>
                          <a:schemeClr val="tx1"/>
                        </a:solidFill>
                        <a:latin typeface="Kim jung chul Gothic Regular" panose="020B0503000000000000" pitchFamily="50" charset="-127"/>
                        <a:ea typeface="Kim jung chul Gothic Regular" panose="020B0503000000000000" pitchFamily="50" charset="-127"/>
                        <a:cs typeface="+mn-cs"/>
                      </a:rPr>
                      <m:t>=</m:t>
                    </m:r>
                    <m:r>
                      <a:rPr lang="en-US" altLang="ko-KR" sz="1200" b="0" i="0" kern="1200">
                        <a:solidFill>
                          <a:schemeClr val="tx1"/>
                        </a:solidFill>
                        <a:latin typeface="Kim jung chul Gothic Regular" panose="020B0503000000000000" pitchFamily="50" charset="-127"/>
                        <a:ea typeface="Kim jung chul Gothic Regular" panose="020B0503000000000000" pitchFamily="50" charset="-127"/>
                        <a:cs typeface="+mn-cs"/>
                      </a:rPr>
                      <m:t>0</m:t>
                    </m:r>
                  </m:oMath>
                </a14:m>
                <a:endParaRPr lang="ko-KR" altLang="en-US" b="0" dirty="0"/>
              </a:p>
              <a:p>
                <a:r>
                  <a:rPr lang="ko-KR" altLang="en-US" dirty="0"/>
                  <a:t>그래서</a:t>
                </a:r>
              </a:p>
              <a:p>
                <a:r>
                  <a:rPr lang="ko-KR" altLang="en-US" dirty="0"/>
                  <a:t>일부 가중치가 정확히 </a:t>
                </a:r>
                <a:r>
                  <a:rPr lang="en-US" altLang="ko-KR" dirty="0"/>
                  <a:t>0</a:t>
                </a:r>
                <a:r>
                  <a:rPr lang="ko-KR" altLang="en-US" dirty="0"/>
                  <a:t>이 됨</a:t>
                </a:r>
              </a:p>
              <a:p>
                <a:r>
                  <a:rPr lang="ko-KR" altLang="en-US" dirty="0"/>
                  <a:t>이게 </a:t>
                </a:r>
                <a:r>
                  <a:rPr lang="en-US" altLang="ko-KR" dirty="0"/>
                  <a:t>PPT</a:t>
                </a:r>
                <a:r>
                  <a:rPr lang="ko-KR" altLang="en-US" dirty="0"/>
                  <a:t>에서 말하는</a:t>
                </a:r>
                <a:r>
                  <a:rPr lang="en-US" altLang="ko-KR" dirty="0"/>
                  <a:t>:</a:t>
                </a:r>
              </a:p>
              <a:p>
                <a:r>
                  <a:rPr lang="en-US" altLang="ko-KR" dirty="0"/>
                  <a:t>Feature selection </a:t>
                </a:r>
                <a:r>
                  <a:rPr lang="ko-KR" altLang="en-US" dirty="0"/>
                  <a:t>효과</a:t>
                </a:r>
              </a:p>
              <a:p>
                <a:r>
                  <a:rPr lang="ko-KR" altLang="en-US" dirty="0"/>
                  <a:t>입니다</a:t>
                </a:r>
                <a:r>
                  <a:rPr lang="en-US" altLang="ko-KR" dirty="0"/>
                  <a:t>.</a:t>
                </a:r>
              </a:p>
              <a:p>
                <a:endParaRPr lang="en-US" altLang="ko-KR" dirty="0"/>
              </a:p>
              <a:p>
                <a:endParaRPr lang="en-US" altLang="ko-KR" dirty="0"/>
              </a:p>
              <a:p>
                <a:endParaRPr lang="en-US" altLang="ko-KR" dirty="0"/>
              </a:p>
              <a:p>
                <a:r>
                  <a:rPr lang="ko-KR" altLang="en-US" dirty="0"/>
                  <a:t>아래 람다</a:t>
                </a:r>
                <a:endParaRPr lang="en-US" altLang="ko-KR" dirty="0"/>
              </a:p>
              <a:p>
                <a:r>
                  <a:rPr lang="ko-KR" altLang="en-US" dirty="0"/>
                  <a:t>오차에 “절대값 </a:t>
                </a:r>
                <a:r>
                  <a:rPr lang="ko-KR" altLang="en-US" dirty="0" err="1"/>
                  <a:t>벌점”을</a:t>
                </a:r>
                <a:r>
                  <a:rPr lang="ko-KR" altLang="en-US" dirty="0"/>
                  <a:t> 추가합니다</a:t>
                </a:r>
                <a:r>
                  <a:rPr lang="en-US" altLang="ko-KR" dirty="0"/>
                  <a:t>.</a:t>
                </a:r>
                <a:br>
                  <a:rPr lang="en-US" altLang="ko-KR" dirty="0"/>
                </a:br>
                <a:r>
                  <a:rPr lang="ko-KR" altLang="en-US" dirty="0"/>
                  <a:t>그래서 가중치가 조금이라도 존재하면 계속 벌점을 받습니다</a:t>
                </a:r>
                <a:r>
                  <a:rPr lang="en-US" altLang="ko-KR" dirty="0"/>
                  <a:t>.</a:t>
                </a:r>
                <a:br>
                  <a:rPr lang="en-US" altLang="ko-KR" dirty="0"/>
                </a:br>
                <a:r>
                  <a:rPr lang="ko-KR" altLang="en-US" dirty="0"/>
                  <a:t>결국 일부 가중치는 완전히 </a:t>
                </a:r>
                <a:r>
                  <a:rPr lang="en-US" altLang="ko-KR" dirty="0"/>
                  <a:t>0</a:t>
                </a:r>
                <a:r>
                  <a:rPr lang="ko-KR" altLang="en-US" dirty="0"/>
                  <a:t>이 됩니다</a:t>
                </a:r>
                <a:r>
                  <a:rPr lang="en-US" altLang="ko-KR" dirty="0"/>
                  <a:t>.</a:t>
                </a:r>
                <a:endParaRPr lang="ko-KR" altLang="en-US" dirty="0"/>
              </a:p>
            </p:txBody>
          </p:sp>
        </mc:Choice>
        <mc:Fallback>
          <p:sp>
            <p:nvSpPr>
              <p:cNvPr id="3" name="슬라이드 노트 개체 틀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ko-KR" altLang="en-US" dirty="0"/>
                  <a:t>가중치 절댓값의 합을 더함</a:t>
                </a:r>
                <a:endParaRPr lang="en-US" altLang="ko-KR" dirty="0"/>
              </a:p>
              <a:p>
                <a:endParaRPr lang="en-US" altLang="ko-KR" dirty="0"/>
              </a:p>
              <a:p>
                <a:r>
                  <a:rPr lang="ko-KR" altLang="en-US" dirty="0"/>
                  <a:t>마름모는 모서리가 있기 때문에</a:t>
                </a:r>
                <a:br>
                  <a:rPr lang="ko-KR" altLang="en-US" dirty="0"/>
                </a:br>
                <a:r>
                  <a:rPr lang="ko-KR" altLang="en-US" dirty="0"/>
                  <a:t>등고선이 </a:t>
                </a:r>
                <a:r>
                  <a:rPr lang="ko-KR" altLang="en-US" b="1" dirty="0"/>
                  <a:t>꼭짓점에서 만날 확률이 높음</a:t>
                </a:r>
                <a:r>
                  <a:rPr lang="en-US" altLang="ko-KR" dirty="0"/>
                  <a:t>.</a:t>
                </a:r>
              </a:p>
              <a:p>
                <a:r>
                  <a:rPr lang="ko-KR" altLang="en-US" dirty="0"/>
                  <a:t>그 꼭짓점은</a:t>
                </a:r>
                <a:r>
                  <a:rPr lang="en-US" altLang="ko-KR" dirty="0"/>
                  <a:t>:</a:t>
                </a:r>
                <a:r>
                  <a:rPr lang="en-US" altLang="ko-KR" baseline="0" dirty="0"/>
                  <a:t>        </a:t>
                </a:r>
                <a:r>
                  <a:rPr lang="ko-KR" altLang="en-US" sz="1200" i="0" kern="1200">
                    <a:solidFill>
                      <a:schemeClr val="tx1"/>
                    </a:solidFill>
                    <a:latin typeface="Kim jung chul Gothic Regular" panose="020B0503000000000000" pitchFamily="50" charset="-127"/>
                    <a:ea typeface="Kim jung chul Gothic Regular" panose="020B0503000000000000" pitchFamily="50" charset="-127"/>
                    <a:cs typeface="+mn-cs"/>
                  </a:rPr>
                  <a:t>𝑤_</a:t>
                </a:r>
                <a:r>
                  <a:rPr lang="en-US" altLang="ko-KR" sz="1200" i="0" kern="1200">
                    <a:solidFill>
                      <a:schemeClr val="tx1"/>
                    </a:solidFill>
                    <a:latin typeface="Kim jung chul Gothic Regular" panose="020B0503000000000000" pitchFamily="50" charset="-127"/>
                    <a:ea typeface="Kim jung chul Gothic Regular" panose="020B0503000000000000" pitchFamily="50" charset="-127"/>
                    <a:cs typeface="+mn-cs"/>
                  </a:rPr>
                  <a:t>1=0 </a:t>
                </a:r>
                <a:r>
                  <a:rPr lang="ko-KR" altLang="en-US" sz="1200" b="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Kim jung chul Gothic Regular" panose="020B0503000000000000" pitchFamily="50" charset="-127"/>
                    <a:cs typeface="+mn-cs"/>
                  </a:rPr>
                  <a:t>"또는</a:t>
                </a:r>
                <a:r>
                  <a:rPr lang="ko-KR" altLang="en-US" sz="1200" b="0" i="0" kern="1200">
                    <a:solidFill>
                      <a:schemeClr val="tx1"/>
                    </a:solidFill>
                    <a:latin typeface="Kim jung chul Gothic Regular" panose="020B0503000000000000" pitchFamily="50" charset="-127"/>
                    <a:ea typeface="Kim jung chul Gothic Regular" panose="020B0503000000000000" pitchFamily="50" charset="-127"/>
                    <a:cs typeface="+mn-cs"/>
                  </a:rPr>
                  <a:t>" 𝑤_</a:t>
                </a:r>
                <a:r>
                  <a:rPr lang="en-US" altLang="ko-KR" sz="1200" b="0" i="0" kern="1200">
                    <a:solidFill>
                      <a:schemeClr val="tx1"/>
                    </a:solidFill>
                    <a:latin typeface="Kim jung chul Gothic Regular" panose="020B0503000000000000" pitchFamily="50" charset="-127"/>
                    <a:ea typeface="Kim jung chul Gothic Regular" panose="020B0503000000000000" pitchFamily="50" charset="-127"/>
                    <a:cs typeface="+mn-cs"/>
                  </a:rPr>
                  <a:t>2=0</a:t>
                </a:r>
                <a:endParaRPr lang="ko-KR" altLang="en-US" b="0" dirty="0"/>
              </a:p>
              <a:p>
                <a:r>
                  <a:rPr lang="ko-KR" altLang="en-US" dirty="0"/>
                  <a:t>그래서</a:t>
                </a:r>
              </a:p>
              <a:p>
                <a:r>
                  <a:rPr lang="ko-KR" altLang="en-US" dirty="0"/>
                  <a:t>일부 가중치가 정확히 </a:t>
                </a:r>
                <a:r>
                  <a:rPr lang="en-US" altLang="ko-KR" dirty="0"/>
                  <a:t>0</a:t>
                </a:r>
                <a:r>
                  <a:rPr lang="ko-KR" altLang="en-US" dirty="0"/>
                  <a:t>이 됨</a:t>
                </a:r>
              </a:p>
              <a:p>
                <a:r>
                  <a:rPr lang="ko-KR" altLang="en-US" dirty="0"/>
                  <a:t>이게 </a:t>
                </a:r>
                <a:r>
                  <a:rPr lang="en-US" altLang="ko-KR" dirty="0"/>
                  <a:t>PPT</a:t>
                </a:r>
                <a:r>
                  <a:rPr lang="ko-KR" altLang="en-US" dirty="0"/>
                  <a:t>에서 말하는</a:t>
                </a:r>
                <a:r>
                  <a:rPr lang="en-US" altLang="ko-KR" dirty="0"/>
                  <a:t>:</a:t>
                </a:r>
              </a:p>
              <a:p>
                <a:r>
                  <a:rPr lang="en-US" altLang="ko-KR" dirty="0"/>
                  <a:t>Feature selection </a:t>
                </a:r>
                <a:r>
                  <a:rPr lang="ko-KR" altLang="en-US" dirty="0"/>
                  <a:t>효과</a:t>
                </a:r>
              </a:p>
              <a:p>
                <a:r>
                  <a:rPr lang="ko-KR" altLang="en-US" dirty="0"/>
                  <a:t>입니다</a:t>
                </a:r>
                <a:r>
                  <a:rPr lang="en-US" altLang="ko-KR" dirty="0"/>
                  <a:t>.</a:t>
                </a:r>
              </a:p>
              <a:p>
                <a:endParaRPr lang="en-US" altLang="ko-KR" dirty="0"/>
              </a:p>
              <a:p>
                <a:endParaRPr lang="en-US" altLang="ko-KR" dirty="0"/>
              </a:p>
              <a:p>
                <a:endParaRPr lang="en-US" altLang="ko-KR" dirty="0"/>
              </a:p>
              <a:p>
                <a:r>
                  <a:rPr lang="ko-KR" altLang="en-US" dirty="0"/>
                  <a:t>아래 람다</a:t>
                </a:r>
                <a:endParaRPr lang="en-US" altLang="ko-KR" dirty="0"/>
              </a:p>
              <a:p>
                <a:r>
                  <a:rPr lang="ko-KR" altLang="en-US" dirty="0"/>
                  <a:t>오차에 “절대값 </a:t>
                </a:r>
                <a:r>
                  <a:rPr lang="ko-KR" altLang="en-US" dirty="0" err="1"/>
                  <a:t>벌점”을</a:t>
                </a:r>
                <a:r>
                  <a:rPr lang="ko-KR" altLang="en-US" dirty="0"/>
                  <a:t> 추가합니다</a:t>
                </a:r>
                <a:r>
                  <a:rPr lang="en-US" altLang="ko-KR" dirty="0"/>
                  <a:t>.</a:t>
                </a:r>
                <a:br>
                  <a:rPr lang="en-US" altLang="ko-KR" dirty="0"/>
                </a:br>
                <a:r>
                  <a:rPr lang="ko-KR" altLang="en-US" dirty="0"/>
                  <a:t>그래서 가중치가 조금이라도 존재하면 계속 벌점을 받습니다</a:t>
                </a:r>
                <a:r>
                  <a:rPr lang="en-US" altLang="ko-KR" dirty="0"/>
                  <a:t>.</a:t>
                </a:r>
                <a:br>
                  <a:rPr lang="en-US" altLang="ko-KR" dirty="0"/>
                </a:br>
                <a:r>
                  <a:rPr lang="ko-KR" altLang="en-US" dirty="0"/>
                  <a:t>결국 일부 가중치는 완전히 </a:t>
                </a:r>
                <a:r>
                  <a:rPr lang="en-US" altLang="ko-KR" dirty="0"/>
                  <a:t>0</a:t>
                </a:r>
                <a:r>
                  <a:rPr lang="ko-KR" altLang="en-US" dirty="0"/>
                  <a:t>이 됩니다</a:t>
                </a:r>
                <a:r>
                  <a:rPr lang="en-US" altLang="ko-KR" dirty="0"/>
                  <a:t>.</a:t>
                </a:r>
                <a:endParaRPr lang="ko-KR" altLang="en-US" dirty="0"/>
              </a:p>
            </p:txBody>
          </p:sp>
        </mc:Fallback>
      </mc:AlternateContent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5618918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원은 매끄럽기 때문에</a:t>
            </a:r>
            <a:br>
              <a:rPr lang="ko-KR" altLang="en-US" dirty="0"/>
            </a:br>
            <a:r>
              <a:rPr lang="ko-KR" altLang="en-US" dirty="0"/>
              <a:t>모서리가 없음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그래서 해는 보통</a:t>
            </a:r>
            <a:r>
              <a:rPr lang="en-US" altLang="ko-KR" dirty="0"/>
              <a:t>:</a:t>
            </a:r>
          </a:p>
          <a:p>
            <a:r>
              <a:rPr lang="ko-KR" altLang="en-US" dirty="0"/>
              <a:t>완전히 </a:t>
            </a:r>
            <a:r>
              <a:rPr lang="en-US" altLang="ko-KR" dirty="0"/>
              <a:t>0</a:t>
            </a:r>
            <a:r>
              <a:rPr lang="ko-KR" altLang="en-US" dirty="0"/>
              <a:t>이 되기보다는</a:t>
            </a:r>
          </a:p>
          <a:p>
            <a:r>
              <a:rPr lang="ko-KR" altLang="en-US" dirty="0"/>
              <a:t>전체적으로 </a:t>
            </a:r>
            <a:r>
              <a:rPr lang="ko-KR" altLang="en-US" dirty="0" err="1"/>
              <a:t>작아짐</a:t>
            </a:r>
            <a:endParaRPr lang="ko-KR" altLang="en-US" dirty="0"/>
          </a:p>
          <a:p>
            <a:r>
              <a:rPr lang="ko-KR" altLang="en-US" dirty="0"/>
              <a:t>즉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모든 가중치를 부드럽게 줄임</a:t>
            </a:r>
          </a:p>
          <a:p>
            <a:r>
              <a:rPr lang="ko-KR" altLang="en-US" dirty="0"/>
              <a:t>이게 </a:t>
            </a:r>
            <a:r>
              <a:rPr lang="en-US" altLang="ko-KR" dirty="0"/>
              <a:t>PPT</a:t>
            </a:r>
            <a:r>
              <a:rPr lang="ko-KR" altLang="en-US" dirty="0"/>
              <a:t>에서 말하는</a:t>
            </a:r>
            <a:r>
              <a:rPr lang="en-US" altLang="ko-KR" dirty="0"/>
              <a:t>:</a:t>
            </a:r>
          </a:p>
          <a:p>
            <a:r>
              <a:rPr lang="en-US" altLang="ko-KR" dirty="0"/>
              <a:t>Weight decay </a:t>
            </a:r>
            <a:r>
              <a:rPr lang="ko-KR" altLang="en-US" dirty="0"/>
              <a:t>효과</a:t>
            </a:r>
          </a:p>
          <a:p>
            <a:r>
              <a:rPr lang="ko-KR" altLang="en-US" dirty="0"/>
              <a:t>입니다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*</a:t>
            </a:r>
            <a:r>
              <a:rPr lang="ko-KR" altLang="en-US" dirty="0"/>
              <a:t>수식</a:t>
            </a:r>
            <a:endParaRPr lang="en-US" altLang="ko-KR" dirty="0"/>
          </a:p>
          <a:p>
            <a:r>
              <a:rPr lang="ko-KR" altLang="en-US" dirty="0"/>
              <a:t>오차에 “제곱 </a:t>
            </a:r>
            <a:r>
              <a:rPr lang="ko-KR" altLang="en-US" dirty="0" err="1"/>
              <a:t>벌점”을</a:t>
            </a:r>
            <a:r>
              <a:rPr lang="ko-KR" altLang="en-US" dirty="0"/>
              <a:t> 추가합니다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큰 가중치일수록 더 강하게 줄어듭니다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하지만 완전히 </a:t>
            </a:r>
            <a:r>
              <a:rPr lang="en-US" altLang="ko-KR" dirty="0"/>
              <a:t>0</a:t>
            </a:r>
            <a:r>
              <a:rPr lang="ko-KR" altLang="en-US" dirty="0"/>
              <a:t>으로 만들지는 않습니다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6320678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2EE83-52CB-E118-49CB-3EBDD6EF2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F83B01-3943-C359-9322-8EB719FB82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F259CF-8156-0FB2-87BB-C2421F329E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01DD34-5BFE-877A-E657-9B3A6B1B5C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16455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1500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0402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267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148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2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FE122-E831-904C-0AAE-87F481BD3A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00561" y="2541087"/>
            <a:ext cx="853440" cy="935038"/>
          </a:xfrm>
        </p:spPr>
        <p:txBody>
          <a:bodyPr/>
          <a:lstStyle/>
          <a:p>
            <a:r>
              <a:rPr lang="en-US" altLang="ko-KR" b="1" dirty="0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C9A9E68-1C40-179C-9126-E3D84DE20A0A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E78D3EA-D15D-AC23-FCDE-3921C42927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0" name="그림 9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A611E206-8734-8C1B-C7A0-99730D8C0F0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8" name="부제목 2">
            <a:extLst>
              <a:ext uri="{FF2B5EF4-FFF2-40B4-BE49-F238E27FC236}">
                <a16:creationId xmlns:a16="http://schemas.microsoft.com/office/drawing/2014/main" id="{DB4B2667-B3F4-F4E7-4A87-A3477312E2B1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3B0D367-DE04-26A9-6CB6-502ED4BB2F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8062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49C4C8-3D15-C804-0CF3-ED01E5EAB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CB0D294-EE40-E43D-51E3-B9FE1EAF8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3567106" y="2459504"/>
            <a:ext cx="5057796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학습 안정 및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성능 향상 기법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466213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49C4C8-3D15-C804-0CF3-ED01E5EAB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CB0D294-EE40-E43D-51E3-B9FE1EAF8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904261" y="2571115"/>
            <a:ext cx="6383478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기울기 소실</a:t>
            </a:r>
            <a:endParaRPr lang="en-US" altLang="ko-KR" sz="54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algn="ctr"/>
            <a:r>
              <a:rPr lang="en-US" altLang="ko-KR" sz="44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Vanishing Gradient</a:t>
            </a:r>
          </a:p>
        </p:txBody>
      </p:sp>
    </p:spTree>
    <p:extLst>
      <p:ext uri="{BB962C8B-B14F-4D97-AF65-F5344CB8AC3E}">
        <p14:creationId xmlns:p14="http://schemas.microsoft.com/office/powerpoint/2010/main" val="34333100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내용 개체 틀 24">
            <a:extLst>
              <a:ext uri="{FF2B5EF4-FFF2-40B4-BE49-F238E27FC236}">
                <a16:creationId xmlns:a16="http://schemas.microsoft.com/office/drawing/2014/main" id="{43D7F560-8665-3595-7BA0-A2C3C8AC76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938597"/>
            <a:ext cx="7118542" cy="3120421"/>
          </a:xfrm>
        </p:spPr>
        <p:txBody>
          <a:bodyPr>
            <a:noAutofit/>
          </a:bodyPr>
          <a:lstStyle/>
          <a:p>
            <a:pPr marL="0" lvl="2" indent="0">
              <a:lnSpc>
                <a:spcPct val="150000"/>
              </a:lnSpc>
              <a:spcBef>
                <a:spcPts val="1000"/>
              </a:spcBef>
              <a:buNone/>
            </a:pPr>
            <a:r>
              <a:rPr lang="ko-KR" altLang="en-US" sz="2400" dirty="0"/>
              <a:t>✔️ </a:t>
            </a:r>
            <a:r>
              <a:rPr lang="ko-KR" altLang="en-US" sz="2400" dirty="0" err="1"/>
              <a:t>시그모이드</a:t>
            </a:r>
            <a:r>
              <a:rPr lang="ko-KR" altLang="en-US" sz="2400" dirty="0"/>
              <a:t> 함수 접선의 기울기의 최대값은</a:t>
            </a:r>
            <a:r>
              <a:rPr lang="en-US" altLang="ko-KR" sz="2400" dirty="0"/>
              <a:t> 1/4</a:t>
            </a:r>
            <a:endParaRPr lang="en-US" altLang="ko-KR" sz="2400" b="1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큰 입력 값에서 </a:t>
            </a:r>
            <a:r>
              <a:rPr lang="ko-KR" altLang="en-US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기울기 거의 </a:t>
            </a:r>
            <a:r>
              <a:rPr lang="en-US" altLang="ko-KR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0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  <a:endParaRPr lang="en-US" altLang="ko-KR" sz="2400" b="1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➡️ 이로 인해 </a:t>
            </a:r>
            <a:r>
              <a:rPr lang="ko-KR" altLang="en-US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역전파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과정에서 </a:t>
            </a: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기울기가 점점 작아져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이전 층으로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     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전달되기 어렵게 됨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  <a:p>
            <a:pPr marL="0" lvl="2" indent="0">
              <a:lnSpc>
                <a:spcPct val="150000"/>
              </a:lnSpc>
              <a:spcBef>
                <a:spcPts val="1000"/>
              </a:spcBef>
              <a:buNone/>
            </a:pPr>
            <a:r>
              <a:rPr lang="ko-KR" altLang="en-US" dirty="0"/>
              <a:t>➡️ </a:t>
            </a:r>
            <a:r>
              <a:rPr lang="en-US" altLang="ko-KR" dirty="0"/>
              <a:t>Gradient</a:t>
            </a:r>
            <a:r>
              <a:rPr lang="ko-KR" altLang="en-US" dirty="0"/>
              <a:t>가 작으면 이에 따라 가중치의 변동도 매우 작아지게 됨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pic>
        <p:nvPicPr>
          <p:cNvPr id="8" name="Picture 2" descr="sig">
            <a:extLst>
              <a:ext uri="{FF2B5EF4-FFF2-40B4-BE49-F238E27FC236}">
                <a16:creationId xmlns:a16="http://schemas.microsoft.com/office/drawing/2014/main" id="{9DC3754F-59E1-AD9B-3765-3D9AB9D46B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7533" y="2067570"/>
            <a:ext cx="4506872" cy="2862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제목 1">
            <a:extLst>
              <a:ext uri="{FF2B5EF4-FFF2-40B4-BE49-F238E27FC236}">
                <a16:creationId xmlns:a16="http://schemas.microsoft.com/office/drawing/2014/main" id="{595132D3-2CCA-24C1-E00C-864BA4A08C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0"/>
            <a:ext cx="10515600" cy="1325563"/>
          </a:xfrm>
        </p:spPr>
        <p:txBody>
          <a:bodyPr>
            <a:normAutofit/>
          </a:bodyPr>
          <a:lstStyle/>
          <a:p>
            <a:r>
              <a:rPr lang="ko-KR" altLang="en-US" b="1" dirty="0" err="1"/>
              <a:t>시그모이드</a:t>
            </a:r>
            <a:r>
              <a:rPr lang="ko-KR" altLang="en-US" b="1" dirty="0"/>
              <a:t> 함수의 문제</a:t>
            </a:r>
          </a:p>
        </p:txBody>
      </p:sp>
    </p:spTree>
    <p:extLst>
      <p:ext uri="{BB962C8B-B14F-4D97-AF65-F5344CB8AC3E}">
        <p14:creationId xmlns:p14="http://schemas.microsoft.com/office/powerpoint/2010/main" val="1897361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내용 개체 틀 24">
            <a:extLst>
              <a:ext uri="{FF2B5EF4-FFF2-40B4-BE49-F238E27FC236}">
                <a16:creationId xmlns:a16="http://schemas.microsoft.com/office/drawing/2014/main" id="{43D7F560-8665-3595-7BA0-A2C3C8AC76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325563"/>
            <a:ext cx="11425283" cy="3763403"/>
          </a:xfrm>
        </p:spPr>
        <p:txBody>
          <a:bodyPr>
            <a:noAutofit/>
          </a:bodyPr>
          <a:lstStyle/>
          <a:p>
            <a:pPr marL="0" lvl="2" indent="0">
              <a:lnSpc>
                <a:spcPct val="150000"/>
              </a:lnSpc>
              <a:spcBef>
                <a:spcPts val="1000"/>
              </a:spcBef>
              <a:buNone/>
            </a:pPr>
            <a:r>
              <a:rPr lang="ko-KR" altLang="en-US" sz="2400" dirty="0"/>
              <a:t>💡 신경망에서 </a:t>
            </a:r>
            <a:r>
              <a:rPr lang="ko-KR" altLang="en-US" sz="2400" dirty="0" err="1"/>
              <a:t>역전파</a:t>
            </a:r>
            <a:r>
              <a:rPr lang="ko-KR" altLang="en-US" sz="2400" dirty="0"/>
              <a:t> 중 </a:t>
            </a:r>
            <a:r>
              <a:rPr lang="ko-KR" altLang="en-US" sz="2400" b="1" dirty="0"/>
              <a:t>층이 깊어질수록</a:t>
            </a:r>
            <a:r>
              <a:rPr lang="ko-KR" altLang="en-US" sz="2400" dirty="0"/>
              <a:t> 초기 층으로 전파되는 기울기</a:t>
            </a:r>
            <a:r>
              <a:rPr lang="en-US" altLang="ko-KR" sz="2400" dirty="0"/>
              <a:t>(Gradient)</a:t>
            </a:r>
            <a:r>
              <a:rPr lang="ko-KR" altLang="en-US" sz="2400" dirty="0"/>
              <a:t>가 </a:t>
            </a:r>
            <a:r>
              <a:rPr lang="ko-KR" altLang="en-US" sz="2400" b="1" dirty="0"/>
              <a:t>작아져</a:t>
            </a:r>
            <a:r>
              <a:rPr lang="ko-KR" altLang="en-US" sz="2400" dirty="0"/>
              <a:t> </a:t>
            </a:r>
            <a:endParaRPr lang="en-US" altLang="ko-KR" sz="2400" dirty="0"/>
          </a:p>
          <a:p>
            <a:pPr marL="0" lvl="2" indent="0">
              <a:lnSpc>
                <a:spcPct val="150000"/>
              </a:lnSpc>
              <a:spcBef>
                <a:spcPts val="1000"/>
              </a:spcBef>
              <a:buNone/>
            </a:pPr>
            <a:r>
              <a:rPr lang="en-US" altLang="ko-KR" sz="2400" dirty="0"/>
              <a:t>       </a:t>
            </a:r>
            <a:r>
              <a:rPr lang="ko-KR" altLang="en-US" sz="2400" dirty="0"/>
              <a:t>학습이 제대로 이루어지지 않는 문제</a:t>
            </a:r>
            <a:r>
              <a:rPr lang="en-US" altLang="ko-KR" sz="2400" dirty="0"/>
              <a:t>.</a:t>
            </a:r>
          </a:p>
          <a:p>
            <a:pPr marL="0" lvl="2" indent="0">
              <a:lnSpc>
                <a:spcPct val="150000"/>
              </a:lnSpc>
              <a:spcBef>
                <a:spcPts val="1000"/>
              </a:spcBef>
              <a:buNone/>
            </a:pPr>
            <a:r>
              <a:rPr lang="ko-KR" altLang="en-US" sz="2400" b="1" dirty="0">
                <a:latin typeface="+mn-ea"/>
              </a:rPr>
              <a:t>✅ 문제</a:t>
            </a:r>
            <a:endParaRPr lang="en-US" altLang="ko-KR" sz="2400" b="1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b="1" dirty="0"/>
              <a:t>초기 층 학습 어려움</a:t>
            </a:r>
            <a:r>
              <a:rPr lang="en-US" altLang="ko-KR" dirty="0"/>
              <a:t>: </a:t>
            </a:r>
            <a:r>
              <a:rPr lang="ko-KR" altLang="en-US" dirty="0"/>
              <a:t>네트워크의 깊은 층은 거의 업데이트되지 않음</a:t>
            </a:r>
            <a:r>
              <a:rPr lang="en-US" altLang="ko-KR" dirty="0"/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b="1" dirty="0"/>
              <a:t>학습 속도 저하</a:t>
            </a:r>
            <a:r>
              <a:rPr lang="en-US" altLang="ko-KR" dirty="0"/>
              <a:t>: </a:t>
            </a:r>
            <a:r>
              <a:rPr lang="ko-KR" altLang="en-US" dirty="0"/>
              <a:t>학습 과정이 비효율적이 됨</a:t>
            </a:r>
            <a:r>
              <a:rPr lang="en-US" altLang="ko-KR" dirty="0"/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b="1" dirty="0"/>
              <a:t>정확도 하락</a:t>
            </a:r>
            <a:r>
              <a:rPr lang="en-US" altLang="ko-KR" dirty="0"/>
              <a:t>: </a:t>
            </a:r>
            <a:r>
              <a:rPr lang="ko-KR" altLang="en-US" dirty="0"/>
              <a:t>모델의 성능 저하</a:t>
            </a:r>
            <a:r>
              <a:rPr lang="en-US" altLang="ko-KR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595132D3-2CCA-24C1-E00C-864BA4A08C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0"/>
            <a:ext cx="10515600" cy="1325563"/>
          </a:xfrm>
        </p:spPr>
        <p:txBody>
          <a:bodyPr>
            <a:normAutofit/>
          </a:bodyPr>
          <a:lstStyle/>
          <a:p>
            <a:r>
              <a:rPr lang="ko-KR" altLang="en-US" b="1" dirty="0"/>
              <a:t>기울기 소실 </a:t>
            </a:r>
            <a:r>
              <a:rPr lang="en-US" altLang="ko-KR" b="1" dirty="0"/>
              <a:t>Vanishing Gradient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7065581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95A26-416C-57BB-8CDC-AC3418DAC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77CBA01-7882-77FE-1255-09E54CCF7F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ADEFBDF-E970-DCBD-7316-995675E17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0EAA07-9AEB-5322-507B-649A52F54156}"/>
              </a:ext>
            </a:extLst>
          </p:cNvPr>
          <p:cNvSpPr txBox="1"/>
          <p:nvPr/>
        </p:nvSpPr>
        <p:spPr>
          <a:xfrm>
            <a:off x="3378750" y="2571115"/>
            <a:ext cx="5434501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해결 </a:t>
            </a:r>
            <a:r>
              <a:rPr lang="en-US" altLang="ko-KR" sz="54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1</a:t>
            </a:r>
            <a:br>
              <a:rPr lang="en-US" altLang="ko-KR" sz="54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</a:br>
            <a:r>
              <a:rPr lang="ko-KR" altLang="en-US" sz="54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활성화 함수 변경</a:t>
            </a:r>
            <a:endParaRPr lang="en-US" altLang="ko-KR" sz="44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255528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 err="1">
                <a:latin typeface="+mj-ea"/>
              </a:rPr>
              <a:t>ReLU</a:t>
            </a:r>
            <a:r>
              <a:rPr lang="en-US" altLang="ko-KR" b="1" dirty="0">
                <a:latin typeface="+mj-ea"/>
              </a:rPr>
              <a:t>(Rectified Linear Unit) </a:t>
            </a:r>
            <a:r>
              <a:rPr lang="ko-KR" altLang="en-US" b="1" dirty="0">
                <a:latin typeface="+mj-ea"/>
              </a:rPr>
              <a:t>함수</a:t>
            </a:r>
          </a:p>
        </p:txBody>
      </p:sp>
      <p:sp>
        <p:nvSpPr>
          <p:cNvPr id="25" name="내용 개체 틀 24">
            <a:extLst>
              <a:ext uri="{FF2B5EF4-FFF2-40B4-BE49-F238E27FC236}">
                <a16:creationId xmlns:a16="http://schemas.microsoft.com/office/drawing/2014/main" id="{43D7F560-8665-3595-7BA0-A2C3C8AC76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306274"/>
            <a:ext cx="6669900" cy="4817329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solidFill>
                  <a:srgbClr val="C00000"/>
                </a:solidFill>
                <a:latin typeface="+mn-ea"/>
              </a:rPr>
              <a:t>💡 </a:t>
            </a:r>
            <a:r>
              <a:rPr lang="ko-KR" altLang="en-US" sz="2400" dirty="0"/>
              <a:t>입력이 </a:t>
            </a:r>
            <a:r>
              <a:rPr lang="en-US" altLang="ko-KR" sz="2400" dirty="0"/>
              <a:t>0</a:t>
            </a:r>
            <a:r>
              <a:rPr lang="ko-KR" altLang="en-US" sz="2400" dirty="0"/>
              <a:t>보다 크면 그대로 출력하고</a:t>
            </a:r>
            <a:r>
              <a:rPr lang="en-US" altLang="ko-KR" sz="2400" dirty="0"/>
              <a:t>,</a:t>
            </a:r>
            <a:br>
              <a:rPr lang="en-US" altLang="ko-KR" sz="2400" dirty="0"/>
            </a:br>
            <a:r>
              <a:rPr lang="en-US" altLang="ko-KR" sz="2400" dirty="0"/>
              <a:t>      0</a:t>
            </a:r>
            <a:r>
              <a:rPr lang="ko-KR" altLang="en-US" sz="2400" dirty="0"/>
              <a:t>이하이면</a:t>
            </a:r>
            <a:r>
              <a:rPr lang="en-US" altLang="ko-KR" sz="2400" dirty="0"/>
              <a:t> 0</a:t>
            </a:r>
            <a:r>
              <a:rPr lang="ko-KR" altLang="en-US" sz="2400" dirty="0"/>
              <a:t>을 출력하는 활성화 함수</a:t>
            </a:r>
            <a:endParaRPr lang="en-US" altLang="ko-KR" sz="2400" b="1" dirty="0">
              <a:solidFill>
                <a:srgbClr val="C00000"/>
              </a:solidFill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F(x) = max(0,x)</a:t>
            </a:r>
          </a:p>
          <a:p>
            <a:pPr lvl="1">
              <a:lnSpc>
                <a:spcPct val="150000"/>
              </a:lnSpc>
            </a:pPr>
            <a:r>
              <a:rPr lang="ko-KR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최근 가장 많이 사용되는 </a:t>
            </a:r>
            <a:r>
              <a:rPr lang="ko-KR" altLang="en-US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활성화 함수</a:t>
            </a:r>
            <a:endParaRPr lang="en-US" altLang="ko-KR" sz="2000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+mn-ea"/>
              </a:rPr>
              <a:t>✅ 특징</a:t>
            </a:r>
            <a:endParaRPr lang="en-US" altLang="ko-KR" sz="24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/>
              <a:t>학습 속도가 빠르고</a:t>
            </a:r>
            <a:r>
              <a:rPr lang="en-US" altLang="ko-KR" sz="2000" dirty="0"/>
              <a:t>, </a:t>
            </a:r>
            <a:r>
              <a:rPr lang="ko-KR" altLang="en-US" sz="2000" dirty="0"/>
              <a:t>구현이 간단함</a:t>
            </a:r>
            <a:endParaRPr lang="en-US" altLang="ko-KR" sz="20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/>
              <a:t>X &gt; 0 </a:t>
            </a:r>
            <a:r>
              <a:rPr lang="ko-KR" altLang="en-US" sz="2000" dirty="0"/>
              <a:t>이면 기울기가 </a:t>
            </a:r>
            <a:r>
              <a:rPr lang="en-US" altLang="ko-KR" sz="2000" dirty="0"/>
              <a:t>1</a:t>
            </a:r>
            <a:r>
              <a:rPr lang="ko-KR" altLang="en-US" sz="2000" dirty="0"/>
              <a:t>인 직선</a:t>
            </a:r>
            <a:r>
              <a:rPr lang="en-US" altLang="ko-KR" sz="2000" dirty="0"/>
              <a:t>, X &lt; 0 </a:t>
            </a:r>
            <a:r>
              <a:rPr lang="ko-KR" altLang="en-US" sz="2000" dirty="0"/>
              <a:t>이면 기울기가 </a:t>
            </a:r>
            <a:r>
              <a:rPr lang="en-US" altLang="ko-KR" sz="2000" dirty="0"/>
              <a:t>0</a:t>
            </a:r>
          </a:p>
          <a:p>
            <a:pPr lvl="2">
              <a:lnSpc>
                <a:spcPct val="150000"/>
              </a:lnSpc>
            </a:pPr>
            <a:r>
              <a:rPr lang="en-US" altLang="ko-KR" sz="1600" b="1" dirty="0"/>
              <a:t>X &lt; 0</a:t>
            </a:r>
            <a:r>
              <a:rPr lang="ko-KR" altLang="en-US" sz="1600" b="1" dirty="0"/>
              <a:t>에서 기울기가 </a:t>
            </a:r>
            <a:r>
              <a:rPr lang="en-US" altLang="ko-KR" sz="1600" b="1" dirty="0"/>
              <a:t>0</a:t>
            </a:r>
            <a:r>
              <a:rPr lang="ko-KR" altLang="en-US" sz="1600" b="1" dirty="0"/>
              <a:t> → 노드가 학습에 사용되지 않는</a:t>
            </a:r>
            <a:r>
              <a:rPr lang="en-US" altLang="ko-KR" sz="1600" b="1" dirty="0"/>
              <a:t>(</a:t>
            </a:r>
            <a:r>
              <a:rPr lang="ko-KR" altLang="en-US" sz="1600" b="1" dirty="0"/>
              <a:t>뉴런이 죽는</a:t>
            </a:r>
            <a:r>
              <a:rPr lang="en-US" altLang="ko-KR" sz="1600" b="1" dirty="0"/>
              <a:t>)</a:t>
            </a:r>
            <a:r>
              <a:rPr lang="ko-KR" altLang="en-US" sz="1600" b="1" dirty="0"/>
              <a:t> 단점 발생</a:t>
            </a:r>
            <a:endParaRPr lang="en-US" altLang="ko-KR" sz="1600" b="1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 dirty="0"/>
          </a:p>
        </p:txBody>
      </p:sp>
      <p:pic>
        <p:nvPicPr>
          <p:cNvPr id="21506" name="Picture 2" descr="relu">
            <a:extLst>
              <a:ext uri="{FF2B5EF4-FFF2-40B4-BE49-F238E27FC236}">
                <a16:creationId xmlns:a16="http://schemas.microsoft.com/office/drawing/2014/main" id="{0210935B-8B07-904E-302D-0BF5F9F03C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8866" y="1851036"/>
            <a:ext cx="4851400" cy="3155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8192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altLang="ko-KR" b="1" dirty="0">
                <a:latin typeface="+mj-ea"/>
              </a:rPr>
              <a:t>Leaky </a:t>
            </a:r>
            <a:r>
              <a:rPr lang="en-US" altLang="ko-KR" b="1" dirty="0" err="1">
                <a:latin typeface="+mj-ea"/>
              </a:rPr>
              <a:t>ReLU</a:t>
            </a:r>
            <a:r>
              <a:rPr lang="en-US" altLang="ko-KR" b="1" dirty="0">
                <a:latin typeface="+mj-ea"/>
              </a:rPr>
              <a:t> </a:t>
            </a:r>
            <a:r>
              <a:rPr lang="ko-KR" altLang="en-US" b="1" dirty="0">
                <a:latin typeface="+mj-ea"/>
              </a:rPr>
              <a:t>함수</a:t>
            </a:r>
          </a:p>
        </p:txBody>
      </p:sp>
      <p:sp>
        <p:nvSpPr>
          <p:cNvPr id="25" name="내용 개체 틀 24">
            <a:extLst>
              <a:ext uri="{FF2B5EF4-FFF2-40B4-BE49-F238E27FC236}">
                <a16:creationId xmlns:a16="http://schemas.microsoft.com/office/drawing/2014/main" id="{43D7F560-8665-3595-7BA0-A2C3C8AC76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449263"/>
            <a:ext cx="6673945" cy="3959474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💡 입력이 </a:t>
            </a:r>
            <a:r>
              <a:rPr lang="en-US" altLang="ko-KR" sz="2400" dirty="0"/>
              <a:t>0</a:t>
            </a:r>
            <a:r>
              <a:rPr lang="ko-KR" altLang="en-US" sz="2400" dirty="0"/>
              <a:t>보다 크면 그대로 출력하고</a:t>
            </a:r>
            <a:r>
              <a:rPr lang="en-US" altLang="ko-KR" sz="2400" dirty="0"/>
              <a:t>,</a:t>
            </a:r>
            <a:br>
              <a:rPr lang="en-US" altLang="ko-KR" sz="2400" dirty="0"/>
            </a:br>
            <a:r>
              <a:rPr lang="en-US" altLang="ko-KR" sz="2400" dirty="0"/>
              <a:t>       0 </a:t>
            </a:r>
            <a:r>
              <a:rPr lang="ko-KR" altLang="en-US" sz="2400" dirty="0"/>
              <a:t>이하이면 작은 기울기</a:t>
            </a:r>
            <a:r>
              <a:rPr lang="en-US" altLang="ko-KR" sz="2400" dirty="0"/>
              <a:t>(α)</a:t>
            </a:r>
            <a:r>
              <a:rPr lang="ko-KR" altLang="en-US" sz="2400" dirty="0"/>
              <a:t>를 곱해 출력하는 함수</a:t>
            </a:r>
            <a:endParaRPr lang="en-US" altLang="ko-KR" sz="24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en-US" altLang="ko-KR" sz="2000" dirty="0" err="1"/>
              <a:t>ReLU</a:t>
            </a:r>
            <a:r>
              <a:rPr lang="ko-KR" altLang="en-US" sz="2000" dirty="0"/>
              <a:t>의 뉴런이 죽는</a:t>
            </a:r>
            <a:r>
              <a:rPr lang="en-US" altLang="ko-KR" sz="2000" dirty="0"/>
              <a:t>(Dying </a:t>
            </a:r>
            <a:r>
              <a:rPr lang="en-US" altLang="ko-KR" sz="2000" dirty="0" err="1"/>
              <a:t>ReLU</a:t>
            </a:r>
            <a:r>
              <a:rPr lang="en-US" altLang="ko-KR" sz="2000" dirty="0"/>
              <a:t>) </a:t>
            </a:r>
            <a:r>
              <a:rPr lang="ko-KR" altLang="en-US" sz="2000" dirty="0"/>
              <a:t>문제를 해결하기 위해 나온 함수</a:t>
            </a:r>
            <a:endParaRPr lang="en-US" altLang="ko-KR" sz="2000" dirty="0"/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en-US" altLang="ko-KR" sz="2000" dirty="0"/>
              <a:t>X &lt; 0 </a:t>
            </a:r>
            <a:r>
              <a:rPr lang="ko-KR" altLang="en-US" sz="2000" dirty="0"/>
              <a:t>에서의 기울기를 </a:t>
            </a:r>
            <a:r>
              <a:rPr lang="en-US" altLang="ko-KR" sz="2000" dirty="0"/>
              <a:t>1/100</a:t>
            </a:r>
            <a:r>
              <a:rPr lang="ko-KR" altLang="en-US" sz="2000" dirty="0"/>
              <a:t>로 살려둠</a:t>
            </a:r>
            <a:endParaRPr lang="en-US" altLang="ko-KR" sz="2000" dirty="0"/>
          </a:p>
          <a:p>
            <a:pPr lvl="2">
              <a:lnSpc>
                <a:spcPct val="150000"/>
              </a:lnSpc>
              <a:buFont typeface="Wingdings" pitchFamily="2" charset="2"/>
              <a:buChar char="§"/>
            </a:pPr>
            <a:r>
              <a:rPr lang="en-US" altLang="ko-KR" dirty="0"/>
              <a:t>F(x) = max(0.01x, x)</a:t>
            </a:r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en-US" altLang="ko-KR" sz="2000" dirty="0"/>
              <a:t>X &lt; 0 </a:t>
            </a:r>
            <a:r>
              <a:rPr lang="ko-KR" altLang="en-US" sz="2000" dirty="0"/>
              <a:t>값에 대해 </a:t>
            </a:r>
            <a:r>
              <a:rPr lang="ko-KR" altLang="en-US" sz="2000" dirty="0" err="1"/>
              <a:t>미분값이</a:t>
            </a:r>
            <a:r>
              <a:rPr lang="ko-KR" altLang="en-US" sz="2000" dirty="0"/>
              <a:t> </a:t>
            </a:r>
            <a:r>
              <a:rPr lang="en-US" altLang="ko-KR" sz="2000" dirty="0"/>
              <a:t>0</a:t>
            </a:r>
            <a:r>
              <a:rPr lang="ko-KR" altLang="en-US" sz="2000" dirty="0"/>
              <a:t>이 아님</a:t>
            </a:r>
            <a:endParaRPr lang="en-US" altLang="ko-KR" sz="20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pic>
        <p:nvPicPr>
          <p:cNvPr id="22530" name="Picture 2">
            <a:extLst>
              <a:ext uri="{FF2B5EF4-FFF2-40B4-BE49-F238E27FC236}">
                <a16:creationId xmlns:a16="http://schemas.microsoft.com/office/drawing/2014/main" id="{7F11E8EF-D761-EAB5-9DA9-63F9D0DFFE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7322" y="1728787"/>
            <a:ext cx="4019550" cy="3400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76183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altLang="ko-KR" sz="4000" b="1" dirty="0" err="1">
                <a:latin typeface="+mj-ea"/>
              </a:rPr>
              <a:t>ReLU</a:t>
            </a:r>
            <a:r>
              <a:rPr lang="en-US" altLang="ko-KR" sz="4000" b="1" dirty="0">
                <a:latin typeface="+mj-ea"/>
              </a:rPr>
              <a:t> </a:t>
            </a:r>
            <a:r>
              <a:rPr lang="ko-KR" altLang="en-US" sz="4000" b="1" dirty="0">
                <a:latin typeface="+mj-ea"/>
              </a:rPr>
              <a:t>함수의 종류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grpSp>
        <p:nvGrpSpPr>
          <p:cNvPr id="8" name="그룹 7"/>
          <p:cNvGrpSpPr/>
          <p:nvPr/>
        </p:nvGrpSpPr>
        <p:grpSpPr>
          <a:xfrm>
            <a:off x="3406815" y="960099"/>
            <a:ext cx="5378370" cy="5167449"/>
            <a:chOff x="3406815" y="960099"/>
            <a:chExt cx="5378370" cy="5167449"/>
          </a:xfrm>
        </p:grpSpPr>
        <p:pic>
          <p:nvPicPr>
            <p:cNvPr id="2050" name="Picture 2" descr="[DL] 6. 인공 신경망이 깊어질 때 발생하는 고질적 문제 (gradient vanishing &amp; overfitting)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06815" y="960099"/>
              <a:ext cx="5378370" cy="49378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직사각형 6"/>
            <p:cNvSpPr/>
            <p:nvPr/>
          </p:nvSpPr>
          <p:spPr>
            <a:xfrm>
              <a:off x="4625084" y="5881327"/>
              <a:ext cx="2820003" cy="24622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[</a:t>
              </a:r>
              <a:r>
                <a:rPr lang="ko-KR" altLang="en-US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출처</a:t>
              </a:r>
              <a:r>
                <a:rPr lang="en-US" altLang="ko-KR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] https://gangjeong22.tistory.com/m/161</a:t>
              </a:r>
              <a:endParaRPr lang="ko-KR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381757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49C4C8-3D15-C804-0CF3-ED01E5EAB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CB0D294-EE40-E43D-51E3-B9FE1EAF8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4044808" y="2459504"/>
            <a:ext cx="410240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해결</a:t>
            </a:r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2</a:t>
            </a:r>
            <a:b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</a:b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정규화 기법</a:t>
            </a:r>
            <a:endParaRPr lang="en-US" altLang="ko-KR" sz="44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486352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D93904-116E-8A1D-B249-FD1E63D27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BN(Batch Normalization)	</a:t>
            </a:r>
            <a:endParaRPr lang="ko-KR" altLang="en-US" b="1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DCB4F9F-FBE6-D4D8-DF87-84D4385597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684503"/>
            <a:ext cx="6011432" cy="3951982"/>
          </a:xfrm>
        </p:spPr>
        <p:txBody>
          <a:bodyPr anchor="ctr"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/>
              <a:t>💡 배치 정규화</a:t>
            </a:r>
            <a:endParaRPr lang="en-US" altLang="ko-KR" sz="2400" b="1" dirty="0"/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sz="2000" dirty="0"/>
              <a:t>학습 과정에서 각 배치 단위 별로 데이터가 다양한 분포를 가지더라도</a:t>
            </a:r>
            <a:r>
              <a:rPr lang="en-US" altLang="ko-KR" sz="2000" dirty="0"/>
              <a:t> </a:t>
            </a:r>
            <a:r>
              <a:rPr lang="ko-KR" altLang="en-US" sz="2000" dirty="0">
                <a:solidFill>
                  <a:srgbClr val="FF0000"/>
                </a:solidFill>
              </a:rPr>
              <a:t>각 배치별로 평균과 분산을 이용해 정규화 </a:t>
            </a:r>
            <a:r>
              <a:rPr lang="ko-KR" altLang="en-US" sz="2000" dirty="0" err="1">
                <a:solidFill>
                  <a:srgbClr val="FF0000"/>
                </a:solidFill>
              </a:rPr>
              <a:t>하는것</a:t>
            </a:r>
            <a:endParaRPr lang="en-US" altLang="ko-KR" sz="2000" dirty="0">
              <a:solidFill>
                <a:srgbClr val="FF0000"/>
              </a:solidFill>
            </a:endParaRPr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sz="2000" dirty="0"/>
              <a:t>평균은 </a:t>
            </a:r>
            <a:r>
              <a:rPr lang="en-US" altLang="ko-KR" sz="2000" dirty="0"/>
              <a:t>0, </a:t>
            </a:r>
            <a:r>
              <a:rPr lang="ko-KR" altLang="en-US" sz="2000" dirty="0"/>
              <a:t>표준 편차는 </a:t>
            </a:r>
            <a:r>
              <a:rPr lang="en-US" altLang="ko-KR" sz="2000" dirty="0"/>
              <a:t>1</a:t>
            </a:r>
            <a:r>
              <a:rPr lang="ko-KR" altLang="en-US" sz="2000" dirty="0"/>
              <a:t>로 데이터의 분포를 조정</a:t>
            </a:r>
            <a:endParaRPr lang="en-US" altLang="ko-KR" sz="2000" dirty="0"/>
          </a:p>
          <a:p>
            <a:pPr lvl="2">
              <a:lnSpc>
                <a:spcPct val="150000"/>
              </a:lnSpc>
            </a:pPr>
            <a:r>
              <a:rPr lang="ko-KR" altLang="en-US" sz="1800" dirty="0"/>
              <a:t>재배치 하되</a:t>
            </a:r>
            <a:r>
              <a:rPr lang="en-US" altLang="ko-KR" sz="1800" dirty="0"/>
              <a:t>, </a:t>
            </a:r>
            <a:r>
              <a:rPr lang="ko-KR" altLang="en-US" sz="1800" dirty="0"/>
              <a:t>순서는 바꾸지 않음</a:t>
            </a:r>
            <a:endParaRPr lang="en-US" altLang="ko-KR" sz="1800" dirty="0"/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sz="2000" dirty="0"/>
              <a:t>한계 </a:t>
            </a:r>
            <a:r>
              <a:rPr lang="en-US" altLang="ko-KR" sz="2000" dirty="0"/>
              <a:t>: batch </a:t>
            </a:r>
            <a:r>
              <a:rPr lang="ko-KR" altLang="en-US" sz="2000" dirty="0"/>
              <a:t>의 크기에 영향을 받음</a:t>
            </a:r>
            <a:r>
              <a:rPr lang="en-US" altLang="ko-KR" sz="2000" dirty="0"/>
              <a:t>, batch </a:t>
            </a:r>
            <a:r>
              <a:rPr lang="ko-KR" altLang="en-US" sz="2000" dirty="0"/>
              <a:t>의 크기가 너무 작거나 너무 커지면 잘 동작하지 않음</a:t>
            </a:r>
            <a:endParaRPr lang="en-US" altLang="ko-KR" sz="20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E8347-940B-9B89-2B8A-06E6E0B56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EBDAC9A-C701-1AB9-8DAA-A5600E670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pic>
        <p:nvPicPr>
          <p:cNvPr id="14338" name="Picture 2" descr="Drawing">
            <a:extLst>
              <a:ext uri="{FF2B5EF4-FFF2-40B4-BE49-F238E27FC236}">
                <a16:creationId xmlns:a16="http://schemas.microsoft.com/office/drawing/2014/main" id="{3D6F239C-32C6-FE85-AD47-BD073AFC2C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3220" y="2343874"/>
            <a:ext cx="5809704" cy="2633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75728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D93904-116E-8A1D-B249-FD1E63D27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BN(Batch Normalization)	</a:t>
            </a:r>
            <a:endParaRPr lang="ko-KR" altLang="en-US" b="1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E8347-940B-9B89-2B8A-06E6E0B56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EBDAC9A-C701-1AB9-8DAA-A5600E670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grpSp>
        <p:nvGrpSpPr>
          <p:cNvPr id="12" name="그룹 11"/>
          <p:cNvGrpSpPr/>
          <p:nvPr/>
        </p:nvGrpSpPr>
        <p:grpSpPr>
          <a:xfrm>
            <a:off x="876365" y="1183637"/>
            <a:ext cx="4437428" cy="2245362"/>
            <a:chOff x="259715" y="1819274"/>
            <a:chExt cx="5715000" cy="3219451"/>
          </a:xfrm>
        </p:grpSpPr>
        <p:pic>
          <p:nvPicPr>
            <p:cNvPr id="8194" name="Picture 2" descr="ReLU Activation Function [with python code] - Vidyasheela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9715" y="1819274"/>
              <a:ext cx="5715000" cy="32194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1" name="직선 연결선 10"/>
            <p:cNvCxnSpPr/>
            <p:nvPr/>
          </p:nvCxnSpPr>
          <p:spPr>
            <a:xfrm>
              <a:off x="3439160" y="4297680"/>
              <a:ext cx="0" cy="508000"/>
            </a:xfrm>
            <a:prstGeom prst="line">
              <a:avLst/>
            </a:prstGeom>
            <a:ln w="635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>
              <a:off x="3784600" y="4297680"/>
              <a:ext cx="0" cy="508000"/>
            </a:xfrm>
            <a:prstGeom prst="line">
              <a:avLst/>
            </a:prstGeom>
            <a:ln w="635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직선 연결선 14"/>
            <p:cNvCxnSpPr/>
            <p:nvPr/>
          </p:nvCxnSpPr>
          <p:spPr>
            <a:xfrm>
              <a:off x="4119880" y="4297680"/>
              <a:ext cx="0" cy="508000"/>
            </a:xfrm>
            <a:prstGeom prst="line">
              <a:avLst/>
            </a:prstGeom>
            <a:ln w="635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연결선 15"/>
            <p:cNvCxnSpPr/>
            <p:nvPr/>
          </p:nvCxnSpPr>
          <p:spPr>
            <a:xfrm>
              <a:off x="4470400" y="4297680"/>
              <a:ext cx="0" cy="508000"/>
            </a:xfrm>
            <a:prstGeom prst="line">
              <a:avLst/>
            </a:prstGeom>
            <a:ln w="635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>
              <a:off x="4790440" y="4297680"/>
              <a:ext cx="0" cy="508000"/>
            </a:xfrm>
            <a:prstGeom prst="line">
              <a:avLst/>
            </a:prstGeom>
            <a:ln w="635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그룹 12"/>
          <p:cNvGrpSpPr/>
          <p:nvPr/>
        </p:nvGrpSpPr>
        <p:grpSpPr>
          <a:xfrm>
            <a:off x="789788" y="3752729"/>
            <a:ext cx="4610582" cy="2245362"/>
            <a:chOff x="6096000" y="1819274"/>
            <a:chExt cx="5715000" cy="3219451"/>
          </a:xfrm>
        </p:grpSpPr>
        <p:pic>
          <p:nvPicPr>
            <p:cNvPr id="9" name="Picture 2" descr="ReLU Activation Function [with python code] - Vidyasheela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96000" y="1819274"/>
              <a:ext cx="5715000" cy="32194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8" name="직선 연결선 17"/>
            <p:cNvCxnSpPr/>
            <p:nvPr/>
          </p:nvCxnSpPr>
          <p:spPr>
            <a:xfrm>
              <a:off x="6852920" y="4297680"/>
              <a:ext cx="0" cy="508000"/>
            </a:xfrm>
            <a:prstGeom prst="line">
              <a:avLst/>
            </a:prstGeom>
            <a:ln w="635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>
              <a:off x="7198360" y="4297680"/>
              <a:ext cx="0" cy="508000"/>
            </a:xfrm>
            <a:prstGeom prst="line">
              <a:avLst/>
            </a:prstGeom>
            <a:ln w="635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직선 연결선 19"/>
            <p:cNvCxnSpPr/>
            <p:nvPr/>
          </p:nvCxnSpPr>
          <p:spPr>
            <a:xfrm>
              <a:off x="7533640" y="4297680"/>
              <a:ext cx="0" cy="508000"/>
            </a:xfrm>
            <a:prstGeom prst="line">
              <a:avLst/>
            </a:prstGeom>
            <a:ln w="635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>
              <a:off x="7884160" y="4297680"/>
              <a:ext cx="0" cy="508000"/>
            </a:xfrm>
            <a:prstGeom prst="line">
              <a:avLst/>
            </a:prstGeom>
            <a:ln w="635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직선 연결선 21"/>
            <p:cNvCxnSpPr/>
            <p:nvPr/>
          </p:nvCxnSpPr>
          <p:spPr>
            <a:xfrm>
              <a:off x="8204200" y="4297680"/>
              <a:ext cx="0" cy="508000"/>
            </a:xfrm>
            <a:prstGeom prst="line">
              <a:avLst/>
            </a:prstGeom>
            <a:ln w="635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그룹 29"/>
          <p:cNvGrpSpPr/>
          <p:nvPr/>
        </p:nvGrpSpPr>
        <p:grpSpPr>
          <a:xfrm>
            <a:off x="6468134" y="2262897"/>
            <a:ext cx="5315976" cy="2979664"/>
            <a:chOff x="259715" y="1819274"/>
            <a:chExt cx="5715000" cy="3219451"/>
          </a:xfrm>
        </p:grpSpPr>
        <p:pic>
          <p:nvPicPr>
            <p:cNvPr id="31" name="Picture 2" descr="ReLU Activation Function [with python code] - Vidyasheela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9715" y="1819274"/>
              <a:ext cx="5715000" cy="32194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2" name="직선 연결선 31"/>
            <p:cNvCxnSpPr/>
            <p:nvPr/>
          </p:nvCxnSpPr>
          <p:spPr>
            <a:xfrm>
              <a:off x="2235360" y="4297680"/>
              <a:ext cx="0" cy="508000"/>
            </a:xfrm>
            <a:prstGeom prst="line">
              <a:avLst/>
            </a:prstGeom>
            <a:ln w="635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직선 연결선 32"/>
            <p:cNvCxnSpPr/>
            <p:nvPr/>
          </p:nvCxnSpPr>
          <p:spPr>
            <a:xfrm>
              <a:off x="2580800" y="4297680"/>
              <a:ext cx="0" cy="508000"/>
            </a:xfrm>
            <a:prstGeom prst="line">
              <a:avLst/>
            </a:prstGeom>
            <a:ln w="635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직선 연결선 33"/>
            <p:cNvCxnSpPr/>
            <p:nvPr/>
          </p:nvCxnSpPr>
          <p:spPr>
            <a:xfrm>
              <a:off x="2916080" y="4297680"/>
              <a:ext cx="0" cy="508000"/>
            </a:xfrm>
            <a:prstGeom prst="line">
              <a:avLst/>
            </a:prstGeom>
            <a:ln w="635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직선 연결선 34"/>
            <p:cNvCxnSpPr/>
            <p:nvPr/>
          </p:nvCxnSpPr>
          <p:spPr>
            <a:xfrm>
              <a:off x="3266600" y="4297680"/>
              <a:ext cx="0" cy="508000"/>
            </a:xfrm>
            <a:prstGeom prst="line">
              <a:avLst/>
            </a:prstGeom>
            <a:ln w="635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직선 연결선 35"/>
            <p:cNvCxnSpPr/>
            <p:nvPr/>
          </p:nvCxnSpPr>
          <p:spPr>
            <a:xfrm>
              <a:off x="3586640" y="4297680"/>
              <a:ext cx="0" cy="508000"/>
            </a:xfrm>
            <a:prstGeom prst="line">
              <a:avLst/>
            </a:prstGeom>
            <a:ln w="635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오른쪽 화살표 27"/>
          <p:cNvSpPr/>
          <p:nvPr/>
        </p:nvSpPr>
        <p:spPr>
          <a:xfrm>
            <a:off x="5748667" y="3483827"/>
            <a:ext cx="676934" cy="537804"/>
          </a:xfrm>
          <a:prstGeom prst="right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10018F-6ED8-7890-1C8B-C621E2A5B413}"/>
              </a:ext>
            </a:extLst>
          </p:cNvPr>
          <p:cNvSpPr txBox="1"/>
          <p:nvPr/>
        </p:nvSpPr>
        <p:spPr>
          <a:xfrm>
            <a:off x="6559749" y="1385326"/>
            <a:ext cx="34921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f(x)=max(0,x)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668538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D93904-116E-8A1D-B249-FD1E63D27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BN(Batch Normalization)	</a:t>
            </a:r>
            <a:endParaRPr lang="ko-KR" altLang="en-US" b="1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E8347-940B-9B89-2B8A-06E6E0B56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EBDAC9A-C701-1AB9-8DAA-A5600E670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8B5EBEBA-3EB1-A0EF-926A-38B777B6C8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9961" y="1672541"/>
            <a:ext cx="9612078" cy="3975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408661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D93904-116E-8A1D-B249-FD1E63D27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BN(Batch Normalization)	</a:t>
            </a:r>
            <a:endParaRPr lang="ko-KR" altLang="en-US" b="1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E8347-940B-9B89-2B8A-06E6E0B56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EBDAC9A-C701-1AB9-8DAA-A5600E670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5400" y="1377742"/>
            <a:ext cx="1695450" cy="857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직사각형 2"/>
          <p:cNvSpPr/>
          <p:nvPr/>
        </p:nvSpPr>
        <p:spPr>
          <a:xfrm>
            <a:off x="1639446" y="1278946"/>
            <a:ext cx="5665333" cy="10548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/>
              <a:t>1️⃣</a:t>
            </a:r>
            <a:r>
              <a:rPr lang="ko-KR" altLang="en-US" sz="2400" dirty="0"/>
              <a:t> 평균 계산</a:t>
            </a:r>
            <a:endParaRPr lang="en-US" altLang="ko-KR" sz="2400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m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은 미니배치의 데이터 개수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xi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는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i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번째 데이터</a:t>
            </a:r>
          </a:p>
        </p:txBody>
      </p:sp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8837" y="2750674"/>
            <a:ext cx="2571750" cy="904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172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0312" y="4239647"/>
            <a:ext cx="1828800" cy="7048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173" name="Picture 5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20762" y="5543940"/>
            <a:ext cx="2247900" cy="533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직사각형 11"/>
              <p:cNvSpPr/>
              <p:nvPr/>
            </p:nvSpPr>
            <p:spPr>
              <a:xfrm>
                <a:off x="1639446" y="2675690"/>
                <a:ext cx="6097375" cy="105484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2400" dirty="0"/>
                  <a:t>2️⃣ </a:t>
                </a:r>
                <a:r>
                  <a:rPr lang="ko-KR" altLang="en-US" sz="2400" dirty="0"/>
                  <a:t>분산 계산</a:t>
                </a:r>
                <a:endParaRPr lang="en-US" altLang="ko-KR" sz="2400" dirty="0"/>
              </a:p>
              <a:p>
                <a:pPr marL="800100" lvl="1" indent="-342900">
                  <a:lnSpc>
                    <a:spcPct val="150000"/>
                  </a:lnSpc>
                  <a:buFont typeface="Arial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ko-KR" altLang="en-US" sz="2000" i="1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altLang="ko-KR" sz="2000" i="1">
                        <a:latin typeface="Cambria Math" panose="02040503050406030204" pitchFamily="18" charset="0"/>
                      </a:rPr>
                      <m:t> : </m:t>
                    </m:r>
                  </m:oMath>
                </a14:m>
                <a:r>
                  <a:rPr lang="ko-KR" altLang="en-US" sz="2000" dirty="0"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분모가 </a:t>
                </a:r>
                <a:r>
                  <a:rPr lang="en-US" altLang="ko-KR" sz="2000" dirty="0"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0</a:t>
                </a:r>
                <a:r>
                  <a:rPr lang="ko-KR" altLang="en-US" sz="2000" dirty="0"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이 되는 것을 막기 위한 작은 숫자</a:t>
                </a:r>
                <a:r>
                  <a:rPr lang="en-US" altLang="ko-KR" sz="2000" dirty="0"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(10</a:t>
                </a:r>
                <a:r>
                  <a:rPr lang="en-US" altLang="ko-KR" sz="2000" baseline="30000" dirty="0"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-5</a:t>
                </a:r>
                <a:r>
                  <a:rPr lang="en-US" altLang="ko-KR" sz="2000" dirty="0"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)</a:t>
                </a:r>
              </a:p>
            </p:txBody>
          </p:sp>
        </mc:Choice>
        <mc:Fallback xmlns="">
          <p:sp>
            <p:nvSpPr>
              <p:cNvPr id="12" name="직사각형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9446" y="2675690"/>
                <a:ext cx="6097375" cy="1054841"/>
              </a:xfrm>
              <a:prstGeom prst="rect">
                <a:avLst/>
              </a:prstGeom>
              <a:blipFill>
                <a:blip r:embed="rId7"/>
                <a:stretch>
                  <a:fillRect l="-1600" b="-924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직사각형 12"/>
              <p:cNvSpPr/>
              <p:nvPr/>
            </p:nvSpPr>
            <p:spPr>
              <a:xfrm>
                <a:off x="1639446" y="4064651"/>
                <a:ext cx="5623527" cy="105484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2400" dirty="0"/>
                  <a:t>3️⃣ </a:t>
                </a:r>
                <a:r>
                  <a:rPr lang="ko-KR" altLang="en-US" sz="2400" dirty="0"/>
                  <a:t>정규화</a:t>
                </a:r>
                <a:endParaRPr lang="en-US" altLang="ko-KR" sz="2400" dirty="0"/>
              </a:p>
              <a:p>
                <a:pPr marL="800100" lvl="1" indent="-342900">
                  <a:lnSpc>
                    <a:spcPct val="150000"/>
                  </a:lnSpc>
                  <a:buFont typeface="Arial" pitchFamily="34" charset="0"/>
                  <a:buChar char="•"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altLang="ko-KR" sz="2000" i="1" baseline="-2500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altLang="ko-KR" sz="2000" baseline="-25000" dirty="0"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 : </a:t>
                </a:r>
                <a:r>
                  <a:rPr lang="ko-KR" altLang="en-US" sz="2000" dirty="0"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평균이 </a:t>
                </a:r>
                <a:r>
                  <a:rPr lang="en-US" altLang="ko-KR" sz="2000" dirty="0"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0, </a:t>
                </a:r>
                <a:r>
                  <a:rPr lang="ko-KR" altLang="en-US" sz="2000" dirty="0"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분산이 </a:t>
                </a:r>
                <a:r>
                  <a:rPr lang="en-US" altLang="ko-KR" sz="2000" dirty="0"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1</a:t>
                </a:r>
                <a:r>
                  <a:rPr lang="ko-KR" altLang="en-US" sz="2000" dirty="0">
                    <a:latin typeface="Pretendard Light" panose="02000403000000020004" pitchFamily="2" charset="-127"/>
                    <a:ea typeface="Pretendard Light" panose="02000403000000020004" pitchFamily="2" charset="-127"/>
                    <a:cs typeface="Pretendard Light" panose="02000403000000020004" pitchFamily="2" charset="-127"/>
                  </a:rPr>
                  <a:t>로 정규환 된 입력 데이터</a:t>
                </a:r>
              </a:p>
            </p:txBody>
          </p:sp>
        </mc:Choice>
        <mc:Fallback xmlns="">
          <p:sp>
            <p:nvSpPr>
              <p:cNvPr id="13" name="직사각형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9446" y="4064651"/>
                <a:ext cx="5623527" cy="1054841"/>
              </a:xfrm>
              <a:prstGeom prst="rect">
                <a:avLst/>
              </a:prstGeom>
              <a:blipFill>
                <a:blip r:embed="rId8"/>
                <a:stretch>
                  <a:fillRect l="-1735" r="-217" b="-924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직사각형 13"/>
          <p:cNvSpPr/>
          <p:nvPr/>
        </p:nvSpPr>
        <p:spPr>
          <a:xfrm>
            <a:off x="1639446" y="5579807"/>
            <a:ext cx="261321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2400" dirty="0"/>
              <a:t>4️⃣ </a:t>
            </a:r>
            <a:r>
              <a:rPr lang="ko-KR" altLang="en-US" sz="2400" dirty="0"/>
              <a:t>스케일링과 이동</a:t>
            </a:r>
          </a:p>
        </p:txBody>
      </p:sp>
    </p:spTree>
    <p:extLst>
      <p:ext uri="{BB962C8B-B14F-4D97-AF65-F5344CB8AC3E}">
        <p14:creationId xmlns:p14="http://schemas.microsoft.com/office/powerpoint/2010/main" val="6734405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D93904-116E-8A1D-B249-FD1E63D27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BN(Batch Normalization)	</a:t>
            </a:r>
            <a:endParaRPr lang="ko-KR" alt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내용 개체 틀 6">
                <a:extLst>
                  <a:ext uri="{FF2B5EF4-FFF2-40B4-BE49-F238E27FC236}">
                    <a16:creationId xmlns:a16="http://schemas.microsoft.com/office/drawing/2014/main" id="{0C08F14D-C1FF-3D94-5D92-8B96F36FEB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51788" y="1600630"/>
                <a:ext cx="7029497" cy="3656740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50000"/>
                  </a:lnSpc>
                  <a:buNone/>
                </a:pPr>
                <a:r>
                  <a:rPr lang="ko-KR" altLang="en-US" sz="2400" b="1" dirty="0"/>
                  <a:t>✅ </a:t>
                </a:r>
                <a:r>
                  <a:rPr lang="en-US" altLang="ko-KR" sz="2400" b="1" dirty="0"/>
                  <a:t>Scale(</a:t>
                </a:r>
                <a14:m>
                  <m:oMath xmlns:m="http://schemas.openxmlformats.org/officeDocument/2006/math">
                    <m:r>
                      <a:rPr lang="ko-KR" altLang="en-US" sz="2400" b="1" i="1" smtClean="0">
                        <a:latin typeface="Cambria Math" panose="02040503050406030204" pitchFamily="18" charset="0"/>
                      </a:rPr>
                      <m:t>𝜸</m:t>
                    </m:r>
                  </m:oMath>
                </a14:m>
                <a:r>
                  <a:rPr lang="en-US" altLang="ko-KR" sz="2400" b="1" dirty="0"/>
                  <a:t>)</a:t>
                </a:r>
                <a:r>
                  <a:rPr lang="ko-KR" altLang="en-US" sz="2400" b="1" dirty="0"/>
                  <a:t>과 </a:t>
                </a:r>
                <a:r>
                  <a:rPr lang="en-US" altLang="ko-KR" sz="2400" b="1" dirty="0"/>
                  <a:t>Shift(</a:t>
                </a:r>
                <a14:m>
                  <m:oMath xmlns:m="http://schemas.openxmlformats.org/officeDocument/2006/math">
                    <m:r>
                      <a:rPr lang="ko-KR" altLang="en-US" sz="2400" b="1" i="1">
                        <a:latin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en-US" altLang="ko-KR" sz="2400" b="1" dirty="0"/>
                  <a:t>)</a:t>
                </a:r>
                <a:r>
                  <a:rPr lang="ko-KR" altLang="en-US" sz="2400" b="1" dirty="0"/>
                  <a:t>를 해주는 이유</a:t>
                </a:r>
                <a:endParaRPr lang="en-US" altLang="ko-KR" sz="2400" b="1" dirty="0"/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2000" dirty="0"/>
                  <a:t>정규화의 결과는 대부분 </a:t>
                </a:r>
                <a:r>
                  <a:rPr lang="en-US" altLang="ko-KR" sz="2000" dirty="0"/>
                  <a:t>0</a:t>
                </a:r>
                <a:r>
                  <a:rPr lang="ko-KR" altLang="en-US" sz="2000" dirty="0"/>
                  <a:t>에 가까운 값이 됨 →</a:t>
                </a:r>
                <a:r>
                  <a:rPr lang="en-US" altLang="ko-KR" sz="2000" dirty="0"/>
                  <a:t> </a:t>
                </a:r>
                <a:r>
                  <a:rPr lang="ko-KR" altLang="en-US" sz="2000" dirty="0" err="1"/>
                  <a:t>시그모이드</a:t>
                </a:r>
                <a:r>
                  <a:rPr lang="ko-KR" altLang="en-US" sz="2000" dirty="0"/>
                  <a:t> 활성화 함수의 </a:t>
                </a:r>
                <a:r>
                  <a:rPr lang="ko-KR" altLang="en-US" sz="2000" dirty="0" err="1"/>
                  <a:t>입력값으로</a:t>
                </a:r>
                <a:r>
                  <a:rPr lang="ko-KR" altLang="en-US" sz="2000" dirty="0"/>
                  <a:t> 들어가게 되면 선형 구간에 빠지게 됨</a:t>
                </a:r>
                <a:endParaRPr lang="en-US" altLang="ko-KR" sz="2000" dirty="0"/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2000" dirty="0"/>
                  <a:t>이러한 문제를 해결하기 위해서 </a:t>
                </a:r>
                <a:r>
                  <a:rPr lang="ko-KR" altLang="en-US" sz="2000" dirty="0" err="1"/>
                  <a:t>정규화된</a:t>
                </a:r>
                <a:r>
                  <a:rPr lang="ko-KR" altLang="en-US" sz="2000" dirty="0"/>
                  <a:t> 데이터에 </a:t>
                </a:r>
                <a:r>
                  <a:rPr lang="en-US" altLang="ko-KR" sz="2000" dirty="0"/>
                  <a:t>scale </a:t>
                </a:r>
                <a:r>
                  <a:rPr lang="ko-KR" altLang="en-US" sz="2000" dirty="0"/>
                  <a:t>과 </a:t>
                </a:r>
                <a:r>
                  <a:rPr lang="en-US" altLang="ko-KR" sz="2000" dirty="0"/>
                  <a:t>shift</a:t>
                </a:r>
                <a:r>
                  <a:rPr lang="ko-KR" altLang="en-US" sz="2000" dirty="0"/>
                  <a:t>를 적용</a:t>
                </a:r>
                <a:endParaRPr lang="en-US" altLang="ko-KR" sz="2000" dirty="0"/>
              </a:p>
              <a:p>
                <a:pPr lvl="1"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sz="200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ko-KR" altLang="en-US" sz="2000" dirty="0"/>
                  <a:t>와 </a:t>
                </a:r>
                <a14:m>
                  <m:oMath xmlns:m="http://schemas.openxmlformats.org/officeDocument/2006/math">
                    <m:r>
                      <a:rPr lang="ko-KR" altLang="en-US" sz="2000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ko-KR" altLang="en-US" sz="2000" i="1" smtClean="0">
                        <a:latin typeface="Cambria Math" panose="02040503050406030204" pitchFamily="18" charset="0"/>
                      </a:rPr>
                      <m:t>는</m:t>
                    </m:r>
                  </m:oMath>
                </a14:m>
                <a:r>
                  <a:rPr lang="en-US" altLang="ko-KR" sz="2000" dirty="0"/>
                  <a:t> </a:t>
                </a:r>
                <a:r>
                  <a:rPr lang="ko-KR" altLang="en-US" sz="2000" dirty="0"/>
                  <a:t>초기값 </a:t>
                </a:r>
                <a:r>
                  <a:rPr lang="en-US" altLang="ko-KR" sz="2000" dirty="0"/>
                  <a:t>1, 0</a:t>
                </a:r>
                <a:r>
                  <a:rPr lang="ko-KR" altLang="en-US" sz="2000" dirty="0"/>
                  <a:t>으로 시작해서</a:t>
                </a:r>
                <a:r>
                  <a:rPr lang="en-US" altLang="ko-KR" sz="2000" dirty="0"/>
                  <a:t>, </a:t>
                </a:r>
                <a:r>
                  <a:rPr lang="ko-KR" altLang="en-US" sz="2000" dirty="0"/>
                  <a:t>역전파에 의해 학습되고 조정 → </a:t>
                </a:r>
                <a:r>
                  <a:rPr lang="ko-KR" altLang="en-US" sz="2000" b="1" dirty="0"/>
                  <a:t>손실</a:t>
                </a:r>
                <a:r>
                  <a:rPr lang="ko-KR" altLang="en-US" sz="2000" dirty="0"/>
                  <a:t>을 </a:t>
                </a:r>
                <a:r>
                  <a:rPr lang="ko-KR" altLang="en-US" sz="2000" b="1" dirty="0"/>
                  <a:t>줄이도록</a:t>
                </a:r>
                <a:r>
                  <a:rPr lang="ko-KR" altLang="en-US" sz="2000" dirty="0"/>
                  <a:t> 학습</a:t>
                </a:r>
                <a:endParaRPr lang="en-US" altLang="ko-KR" sz="2000" dirty="0"/>
              </a:p>
            </p:txBody>
          </p:sp>
        </mc:Choice>
        <mc:Fallback xmlns="">
          <p:sp>
            <p:nvSpPr>
              <p:cNvPr id="7" name="내용 개체 틀 6">
                <a:extLst>
                  <a:ext uri="{FF2B5EF4-FFF2-40B4-BE49-F238E27FC236}">
                    <a16:creationId xmlns:a16="http://schemas.microsoft.com/office/drawing/2014/main" id="{0C08F14D-C1FF-3D94-5D92-8B96F36FEB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51788" y="1600630"/>
                <a:ext cx="7029497" cy="3656740"/>
              </a:xfrm>
              <a:blipFill>
                <a:blip r:embed="rId3"/>
                <a:stretch>
                  <a:fillRect l="-130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E8347-940B-9B89-2B8A-06E6E0B56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EBDAC9A-C701-1AB9-8DAA-A5600E670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ACD63B6F-AB8C-860D-9024-2FA5ABEDCE1E}"/>
              </a:ext>
            </a:extLst>
          </p:cNvPr>
          <p:cNvGrpSpPr/>
          <p:nvPr/>
        </p:nvGrpSpPr>
        <p:grpSpPr>
          <a:xfrm>
            <a:off x="7446137" y="1997763"/>
            <a:ext cx="4506872" cy="2862474"/>
            <a:chOff x="7511171" y="2196544"/>
            <a:chExt cx="4506872" cy="2862474"/>
          </a:xfrm>
        </p:grpSpPr>
        <p:pic>
          <p:nvPicPr>
            <p:cNvPr id="6" name="Picture 2" descr="sig">
              <a:extLst>
                <a:ext uri="{FF2B5EF4-FFF2-40B4-BE49-F238E27FC236}">
                  <a16:creationId xmlns:a16="http://schemas.microsoft.com/office/drawing/2014/main" id="{9DC3754F-59E1-AD9B-3765-3D9AB9D46B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11171" y="2196544"/>
              <a:ext cx="4506872" cy="28624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타원 2"/>
            <p:cNvSpPr/>
            <p:nvPr/>
          </p:nvSpPr>
          <p:spPr>
            <a:xfrm>
              <a:off x="9423400" y="3018181"/>
              <a:ext cx="1092200" cy="10922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8395987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D93904-116E-8A1D-B249-FD1E63D27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BN(Batch Normalization)	</a:t>
            </a:r>
            <a:endParaRPr lang="ko-KR" altLang="en-US" b="1" dirty="0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C08F14D-C1FF-3D94-5D92-8B96F36FEB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493661" cy="2315257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테스트 단계에서의 </a:t>
            </a:r>
            <a:r>
              <a:rPr lang="en-US" altLang="ko-KR" sz="2400" dirty="0"/>
              <a:t>BN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테스트 단계나 추론 단계에서는 평균과 표준편차를 계산할 미니배치가 없기 때문에</a:t>
            </a:r>
            <a:r>
              <a:rPr lang="en-US" altLang="ko-KR" sz="2000" dirty="0"/>
              <a:t> </a:t>
            </a:r>
            <a:r>
              <a:rPr lang="ko-KR" altLang="en-US" sz="2000" dirty="0"/>
              <a:t>전체 </a:t>
            </a:r>
            <a:r>
              <a:rPr lang="en-US" altLang="ko-KR" sz="2000" dirty="0"/>
              <a:t>Training set</a:t>
            </a:r>
            <a:r>
              <a:rPr lang="ko-KR" altLang="en-US" sz="2000" dirty="0"/>
              <a:t>의 평균과 표준편차 사용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각 </a:t>
            </a:r>
            <a:r>
              <a:rPr lang="en-US" altLang="ko-KR" sz="2000" dirty="0"/>
              <a:t>n</a:t>
            </a:r>
            <a:r>
              <a:rPr lang="ko-KR" altLang="en-US" sz="2000" dirty="0"/>
              <a:t>개의 미니배치에 대한 평균과 표준 편차를 이용하여 전체 </a:t>
            </a:r>
            <a:r>
              <a:rPr lang="en-US" altLang="ko-KR" sz="2000" dirty="0"/>
              <a:t>Training set</a:t>
            </a:r>
            <a:r>
              <a:rPr lang="ko-KR" altLang="en-US" sz="2000" dirty="0"/>
              <a:t>의 평균과 표준편차를 대신한다</a:t>
            </a:r>
            <a:endParaRPr lang="en-US" altLang="ko-KR" sz="20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E8347-940B-9B89-2B8A-06E6E0B56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EBDAC9A-C701-1AB9-8DAA-A5600E670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8E93FA9-9F93-257F-948A-056CEC4783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9168" y="3748257"/>
            <a:ext cx="2273664" cy="2054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48643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D93904-116E-8A1D-B249-FD1E63D27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BN(Batch Normalization)	</a:t>
            </a:r>
            <a:endParaRPr lang="ko-KR" alt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내용 개체 틀 6">
                <a:extLst>
                  <a:ext uri="{FF2B5EF4-FFF2-40B4-BE49-F238E27FC236}">
                    <a16:creationId xmlns:a16="http://schemas.microsoft.com/office/drawing/2014/main" id="{0C08F14D-C1FF-3D94-5D92-8B96F36FEB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38991" y="1145407"/>
                <a:ext cx="11505235" cy="4351338"/>
              </a:xfrm>
            </p:spPr>
            <p:txBody>
              <a:bodyPr/>
              <a:lstStyle/>
              <a:p>
                <a:pPr marL="0" indent="0">
                  <a:lnSpc>
                    <a:spcPct val="150000"/>
                  </a:lnSpc>
                  <a:buNone/>
                </a:pPr>
                <a:r>
                  <a:rPr lang="ko-KR" altLang="en-US" sz="2400" dirty="0"/>
                  <a:t>✅ 테스트 단계에서의 </a:t>
                </a:r>
                <a:r>
                  <a:rPr lang="en-US" altLang="ko-KR" sz="2400" dirty="0"/>
                  <a:t>BN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2000" dirty="0"/>
                  <a:t>위의 방법 대신</a:t>
                </a:r>
                <a:r>
                  <a:rPr lang="en-US" altLang="ko-KR" sz="2000" dirty="0"/>
                  <a:t>, </a:t>
                </a:r>
                <a:r>
                  <a:rPr lang="ko-KR" altLang="en-US" sz="2000" dirty="0"/>
                  <a:t>모델 학습 단계에서 지수 감소</a:t>
                </a:r>
                <a:r>
                  <a:rPr lang="en-US" altLang="ko-KR" sz="2000" dirty="0"/>
                  <a:t>(exponential decay) </a:t>
                </a:r>
                <a:r>
                  <a:rPr lang="ko-KR" altLang="en-US" sz="2000" dirty="0"/>
                  <a:t>이동 평균법</a:t>
                </a:r>
                <a:r>
                  <a:rPr lang="en-US" altLang="ko-KR" sz="2000" dirty="0"/>
                  <a:t>(moving average)</a:t>
                </a:r>
                <a:r>
                  <a:rPr lang="ko-KR" altLang="en-US" sz="2000" dirty="0"/>
                  <a:t>를</a:t>
                </a:r>
                <a:r>
                  <a:rPr lang="en-US" altLang="ko-KR" sz="2000" dirty="0"/>
                  <a:t> </a:t>
                </a:r>
                <a:r>
                  <a:rPr lang="ko-KR" altLang="en-US" sz="2000" dirty="0"/>
                  <a:t>사용하여 평균과 표준편차를 계산할 수 있다</a:t>
                </a:r>
                <a:r>
                  <a:rPr lang="en-US" altLang="ko-KR" sz="2000" dirty="0"/>
                  <a:t>.</a:t>
                </a:r>
              </a:p>
              <a:p>
                <a:pPr lvl="1">
                  <a:lnSpc>
                    <a:spcPct val="150000"/>
                  </a:lnSpc>
                </a:pPr>
                <a:endParaRPr lang="en-US" altLang="ko-KR" sz="2000" dirty="0"/>
              </a:p>
              <a:p>
                <a:pPr lvl="1">
                  <a:lnSpc>
                    <a:spcPct val="150000"/>
                  </a:lnSpc>
                </a:pPr>
                <a:endParaRPr lang="en-US" altLang="ko-KR" sz="2000" dirty="0"/>
              </a:p>
              <a:p>
                <a:pPr lvl="1">
                  <a:lnSpc>
                    <a:spcPct val="150000"/>
                  </a:lnSpc>
                </a:pPr>
                <a:endParaRPr lang="en-US" altLang="ko-KR" sz="2000" dirty="0"/>
              </a:p>
              <a:p>
                <a:pPr lvl="1"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sz="200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ko-KR" altLang="en-US" sz="2000" i="1">
                        <a:latin typeface="Cambria Math" panose="02040503050406030204" pitchFamily="18" charset="0"/>
                      </a:rPr>
                      <m:t>모</m:t>
                    </m:r>
                  </m:oMath>
                </a14:m>
                <a:r>
                  <a:rPr lang="ko-KR" altLang="en-US" sz="2000" dirty="0"/>
                  <a:t>멘텀값</a:t>
                </a:r>
                <a:r>
                  <a:rPr lang="en-US" altLang="ko-KR" sz="2000" dirty="0"/>
                  <a:t>, 1</a:t>
                </a:r>
                <a:r>
                  <a:rPr lang="ko-KR" altLang="en-US" sz="2000" dirty="0"/>
                  <a:t>에 가까운 </a:t>
                </a:r>
                <a:r>
                  <a:rPr lang="en-US" altLang="ko-KR" sz="2000" dirty="0"/>
                  <a:t>0.9, 0.99, 0.999 </a:t>
                </a:r>
                <a:r>
                  <a:rPr lang="ko-KR" altLang="en-US" sz="2000" dirty="0"/>
                  <a:t>로 설정</a:t>
                </a:r>
                <a:endParaRPr lang="en-US" altLang="ko-KR" sz="2000" dirty="0"/>
              </a:p>
            </p:txBody>
          </p:sp>
        </mc:Choice>
        <mc:Fallback xmlns="">
          <p:sp>
            <p:nvSpPr>
              <p:cNvPr id="7" name="내용 개체 틀 6">
                <a:extLst>
                  <a:ext uri="{FF2B5EF4-FFF2-40B4-BE49-F238E27FC236}">
                    <a16:creationId xmlns:a16="http://schemas.microsoft.com/office/drawing/2014/main" id="{0C08F14D-C1FF-3D94-5D92-8B96F36FEB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38991" y="1145407"/>
                <a:ext cx="11505235" cy="4351338"/>
              </a:xfrm>
              <a:blipFill>
                <a:blip r:embed="rId3"/>
                <a:stretch>
                  <a:fillRect l="-8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E8347-940B-9B89-2B8A-06E6E0B56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EBDAC9A-C701-1AB9-8DAA-A5600E670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447E438-CE09-D9FD-3509-D821213F23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2141" y="2897612"/>
            <a:ext cx="6207718" cy="1222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07056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D93904-116E-8A1D-B249-FD1E63D27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BN(Batch Normalization)	</a:t>
            </a:r>
            <a:endParaRPr lang="ko-KR" altLang="en-US" b="1" dirty="0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C08F14D-C1FF-3D94-5D92-8B96F36FEB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0925298" cy="4899793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장점</a:t>
            </a:r>
            <a:endParaRPr lang="en-US" altLang="ko-KR" sz="24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/>
              <a:t>tanh</a:t>
            </a:r>
            <a:r>
              <a:rPr lang="ko-KR" altLang="en-US" sz="2000" dirty="0"/>
              <a:t>나 </a:t>
            </a:r>
            <a:r>
              <a:rPr lang="en-US" altLang="ko-KR" sz="2000" dirty="0"/>
              <a:t>sigmoid </a:t>
            </a:r>
            <a:r>
              <a:rPr lang="ko-KR" altLang="en-US" sz="2000" dirty="0"/>
              <a:t>같은 활성화 함수의 </a:t>
            </a:r>
            <a:r>
              <a:rPr lang="ko-KR" altLang="en-US" sz="2000" dirty="0" err="1"/>
              <a:t>그래디언트</a:t>
            </a:r>
            <a:r>
              <a:rPr lang="ko-KR" altLang="en-US" sz="2000" dirty="0"/>
              <a:t> 소실 문제 감소</a:t>
            </a:r>
            <a:endParaRPr lang="en-US" altLang="ko-KR" sz="20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/>
              <a:t>가중치 초기화에 덜 민감</a:t>
            </a:r>
            <a:endParaRPr lang="en-US" altLang="ko-KR" sz="20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 err="1"/>
              <a:t>학습률을</a:t>
            </a:r>
            <a:r>
              <a:rPr lang="ko-KR" altLang="en-US" sz="2000" dirty="0"/>
              <a:t> 크게 잡아도 잘 수렴함</a:t>
            </a:r>
            <a:endParaRPr lang="en-US" altLang="ko-KR" sz="20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 err="1"/>
              <a:t>오버피팅을</a:t>
            </a:r>
            <a:r>
              <a:rPr lang="ko-KR" altLang="en-US" sz="2000" dirty="0"/>
              <a:t> 억제</a:t>
            </a:r>
            <a:endParaRPr lang="en-US" altLang="ko-KR" sz="2000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⚠️</a:t>
            </a:r>
            <a:r>
              <a:rPr lang="ko-KR" altLang="en-US" sz="2400" dirty="0"/>
              <a:t> 단점</a:t>
            </a:r>
            <a:endParaRPr lang="en-US" altLang="ko-KR" sz="24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/>
              <a:t>미니배치 크기에 의존</a:t>
            </a:r>
            <a:r>
              <a:rPr lang="en-US" altLang="ko-KR" sz="2000" dirty="0"/>
              <a:t>(</a:t>
            </a:r>
            <a:r>
              <a:rPr lang="ko-KR" altLang="en-US" sz="2000" dirty="0"/>
              <a:t>배치사이즈가 작으면 동작하지 않음</a:t>
            </a:r>
            <a:r>
              <a:rPr lang="en-US" altLang="ko-KR" sz="2000" dirty="0"/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/>
              <a:t>RNN model</a:t>
            </a:r>
            <a:r>
              <a:rPr lang="ko-KR" altLang="en-US" sz="2000" dirty="0"/>
              <a:t>에 적용하기 힘들다</a:t>
            </a:r>
            <a:r>
              <a:rPr lang="en-US" altLang="ko-KR" sz="2000" dirty="0"/>
              <a:t>(Layer Normalization </a:t>
            </a:r>
            <a:r>
              <a:rPr lang="ko-KR" altLang="en-US" sz="2000" dirty="0"/>
              <a:t>사용</a:t>
            </a:r>
            <a:r>
              <a:rPr lang="en-US" altLang="ko-KR" sz="2000" dirty="0"/>
              <a:t>)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/>
              <a:t>각 시점마다 다른 데이터가 연속적으로 나오기 때문에</a:t>
            </a:r>
            <a:endParaRPr lang="en-US" altLang="ko-KR" sz="18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E8347-940B-9B89-2B8A-06E6E0B56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EBDAC9A-C701-1AB9-8DAA-A5600E670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8200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D93904-116E-8A1D-B249-FD1E63D27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LN(Layer Normalization)	</a:t>
            </a:r>
            <a:endParaRPr lang="ko-KR" altLang="en-US" b="1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DCB4F9F-FBE6-D4D8-DF87-84D4385597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666" y="1623105"/>
            <a:ext cx="6354501" cy="364437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/>
              <a:t>💡 레이어 정규화</a:t>
            </a:r>
            <a:endParaRPr lang="en-US" altLang="ko-KR" sz="2400" b="1" dirty="0"/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BN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은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batch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 있는 모든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sample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들에 대해서 각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feature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의 평균과 분산을 구하여 정규화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LN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은 각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sample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의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feature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들에 대해서 평균과 분산을 구하여 정규화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BN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은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batch size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와 관련이 깊지만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LN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은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batch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size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와는 전혀 상관이 없다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E8347-940B-9B89-2B8A-06E6E0B56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EBDAC9A-C701-1AB9-8DAA-A5600E670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0F28D79B-7A04-F1D3-4B16-B0A65AB52E80}"/>
              </a:ext>
            </a:extLst>
          </p:cNvPr>
          <p:cNvGrpSpPr/>
          <p:nvPr/>
        </p:nvGrpSpPr>
        <p:grpSpPr>
          <a:xfrm>
            <a:off x="6838269" y="1816942"/>
            <a:ext cx="5187193" cy="3256695"/>
            <a:chOff x="6855203" y="2019759"/>
            <a:chExt cx="5187193" cy="3256695"/>
          </a:xfrm>
        </p:grpSpPr>
        <p:pic>
          <p:nvPicPr>
            <p:cNvPr id="30722" name="Picture 2">
              <a:extLst>
                <a:ext uri="{FF2B5EF4-FFF2-40B4-BE49-F238E27FC236}">
                  <a16:creationId xmlns:a16="http://schemas.microsoft.com/office/drawing/2014/main" id="{F7C12FAE-4772-85E0-E151-B523A751F8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55203" y="2019759"/>
              <a:ext cx="5187193" cy="30258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0D0F24C-AFBA-6A08-80DE-93DADAC2F132}"/>
                </a:ext>
              </a:extLst>
            </p:cNvPr>
            <p:cNvSpPr txBox="1"/>
            <p:nvPr/>
          </p:nvSpPr>
          <p:spPr>
            <a:xfrm>
              <a:off x="7789531" y="5045622"/>
              <a:ext cx="331853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출처</a:t>
              </a:r>
              <a:r>
                <a:rPr lang="en-US" altLang="ko-KR" sz="9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:https://electronicsmarket.org/best-4x10-car-speakers/</a:t>
              </a:r>
              <a:endParaRPr lang="ko-KR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63759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D93904-116E-8A1D-B249-FD1E63D27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LN(Layer Normalization)	</a:t>
            </a:r>
            <a:endParaRPr lang="ko-KR" altLang="en-US" b="1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DCB4F9F-FBE6-D4D8-DF87-84D4385597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505235" cy="4507970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장점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작은 </a:t>
            </a:r>
            <a:r>
              <a:rPr lang="en-US" altLang="ko-KR" sz="2000" dirty="0"/>
              <a:t>batch size</a:t>
            </a:r>
            <a:r>
              <a:rPr lang="ko-KR" altLang="en-US" sz="2000" dirty="0"/>
              <a:t>에서도 이용 가능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RNN</a:t>
            </a:r>
            <a:r>
              <a:rPr lang="ko-KR" altLang="en-US" sz="2000" dirty="0"/>
              <a:t>모델에서 더 효과적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일반화 성능 향상 가능</a:t>
            </a:r>
            <a:endParaRPr lang="en-US" altLang="ko-KR" sz="2000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⚠️</a:t>
            </a:r>
            <a:r>
              <a:rPr lang="ko-KR" altLang="en-US" sz="2400" dirty="0"/>
              <a:t> 단점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추가 계산 및 메모리 오버헤드가 발생할 수 있다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 err="1"/>
              <a:t>피드</a:t>
            </a:r>
            <a:r>
              <a:rPr lang="ko-KR" altLang="en-US" sz="2000" dirty="0"/>
              <a:t> 포워드 네트워크 모델에서는 </a:t>
            </a:r>
            <a:r>
              <a:rPr lang="en-US" altLang="ko-KR" sz="2000" dirty="0"/>
              <a:t>BN</a:t>
            </a:r>
            <a:r>
              <a:rPr lang="ko-KR" altLang="en-US" sz="2000" dirty="0"/>
              <a:t>만큼 잘 동작하지 않을 수 있다</a:t>
            </a:r>
            <a:r>
              <a:rPr lang="en-US" altLang="ko-KR" sz="2000" dirty="0"/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 err="1"/>
              <a:t>학습률</a:t>
            </a:r>
            <a:r>
              <a:rPr lang="en-US" altLang="ko-KR" sz="2000" dirty="0"/>
              <a:t>, </a:t>
            </a:r>
            <a:r>
              <a:rPr lang="ko-KR" altLang="en-US" sz="2000" dirty="0"/>
              <a:t>가중치 초기화에 민감하다</a:t>
            </a:r>
            <a:r>
              <a:rPr lang="en-US" altLang="ko-KR" sz="2000" dirty="0"/>
              <a:t>.</a:t>
            </a:r>
            <a:endParaRPr lang="ko-KR" altLang="en-US" sz="24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E8347-940B-9B89-2B8A-06E6E0B56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EBDAC9A-C701-1AB9-8DAA-A5600E670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90874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D93904-116E-8A1D-B249-FD1E63D27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BN </a:t>
            </a:r>
            <a:r>
              <a:rPr lang="en-US" altLang="ko-KR" b="1" dirty="0" err="1"/>
              <a:t>vs</a:t>
            </a:r>
            <a:r>
              <a:rPr lang="en-US" altLang="ko-KR" b="1" dirty="0"/>
              <a:t> LN</a:t>
            </a:r>
            <a:endParaRPr lang="ko-KR" altLang="en-US" b="1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E8347-940B-9B89-2B8A-06E6E0B56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EBDAC9A-C701-1AB9-8DAA-A5600E670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5615438"/>
              </p:ext>
            </p:extLst>
          </p:nvPr>
        </p:nvGraphicFramePr>
        <p:xfrm>
          <a:off x="351219" y="1145407"/>
          <a:ext cx="11489561" cy="5074946"/>
        </p:xfrm>
        <a:graphic>
          <a:graphicData uri="http://schemas.openxmlformats.org/drawingml/2006/table">
            <a:tbl>
              <a:tblPr/>
              <a:tblGrid>
                <a:gridCol w="16328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2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283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1875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항목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Batch Normalization (BN)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Layer Normalization (LN)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24614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특징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배치 단위로 평균과 분산을 계산하여 정규화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.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주로 배치 내 통계 기반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.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레이어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 단위로 각 특징 </a:t>
                      </a:r>
                      <a:r>
                        <a:rPr lang="ko-KR" altLang="en-US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차원별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 평균과 분산을 계산하여 정규화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.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32819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장점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1.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학습 안정성 증가</a:t>
                      </a:r>
                      <a:b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</a:b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2.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높은 </a:t>
                      </a:r>
                      <a:r>
                        <a:rPr lang="ko-KR" altLang="en-US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학습률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 허용</a:t>
                      </a:r>
                      <a:b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</a:b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3.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깊은 네트워크에서 효과적</a:t>
                      </a:r>
                      <a:b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</a:b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4. </a:t>
                      </a:r>
                      <a:r>
                        <a:rPr lang="ko-KR" altLang="en-US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과적합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 방지 가능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1.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작은 배치 크기에서도 안정적</a:t>
                      </a:r>
                      <a:b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</a:b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2. RNN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및 시퀀스 모델에 적합</a:t>
                      </a:r>
                      <a:b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</a:b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3.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학습 안정성 및 일반화 성능 향상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32819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단점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1.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작은 배치 크기에서 성능 저하</a:t>
                      </a:r>
                      <a:b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</a:b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2.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시퀀스 데이터 처리에 부적합</a:t>
                      </a:r>
                      <a:b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</a:b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3.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추가 계산 오버헤드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1.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추가 계산 및 메모리 오버헤드</a:t>
                      </a:r>
                      <a:b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</a:b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2. BN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보다 성능이 낮을 수 있음 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(FNN)</a:t>
                      </a:r>
                      <a:b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</a:b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3. </a:t>
                      </a:r>
                      <a:r>
                        <a:rPr lang="ko-KR" altLang="en-US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학습률과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 초기화에 </a:t>
                      </a:r>
                      <a:r>
                        <a:rPr lang="ko-KR" altLang="en-US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민감</a:t>
                      </a:r>
                      <a:endParaRPr lang="ko-KR" alt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Pretendard Light" pitchFamily="2" charset="-127"/>
                        <a:ea typeface="Pretendard Light" pitchFamily="2" charset="-127"/>
                        <a:cs typeface="Pretendard Light" pitchFamily="2" charset="-127"/>
                      </a:endParaRP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32819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활용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1. 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피드포워드 네트워크</a:t>
                      </a:r>
                      <a:b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</a:b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2. 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대규모 데이터 처리</a:t>
                      </a:r>
                      <a:b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</a:b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3. 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이미지 분류 및 회귀 문제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1. RNN, LSTM, GRU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같은 시퀀스 모델</a:t>
                      </a:r>
                      <a:b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</a:b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2.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작은 배치 크기가 필요한 상황</a:t>
                      </a:r>
                      <a:b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</a:b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3. </a:t>
                      </a:r>
                      <a:r>
                        <a:rPr lang="ko-KR" altLang="en-US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시계열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itchFamily="2" charset="-127"/>
                          <a:ea typeface="Pretendard Light" pitchFamily="2" charset="-127"/>
                          <a:cs typeface="Pretendard Light" pitchFamily="2" charset="-127"/>
                        </a:rPr>
                        <a:t> 데이터 처리</a:t>
                      </a:r>
                    </a:p>
                  </a:txBody>
                  <a:tcPr marL="108000" marR="10800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031264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49C4C8-3D15-C804-0CF3-ED01E5EAB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CB0D294-EE40-E43D-51E3-B9FE1EAF8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490696" y="2687937"/>
            <a:ext cx="721062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</a:t>
            </a:r>
            <a:r>
              <a:rPr lang="ko-KR" altLang="en-US" sz="5400" dirty="0" err="1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과적합</a:t>
            </a:r>
            <a:r>
              <a:rPr lang="en-US" altLang="ko-KR" sz="54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(</a:t>
            </a:r>
            <a:r>
              <a:rPr lang="en-US" altLang="ko-KR" sz="5400" dirty="0" err="1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Overfitting</a:t>
            </a:r>
            <a:r>
              <a:rPr lang="en-US" altLang="ko-KR" sz="54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2096362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 err="1"/>
              <a:t>과적합</a:t>
            </a:r>
            <a:r>
              <a:rPr lang="en-US" altLang="ko-KR" b="1" dirty="0"/>
              <a:t>(</a:t>
            </a:r>
            <a:r>
              <a:rPr lang="en-US" altLang="ko-KR" b="1" dirty="0" err="1"/>
              <a:t>Overfitting</a:t>
            </a:r>
            <a:r>
              <a:rPr lang="en-US" altLang="ko-KR" b="1" dirty="0"/>
              <a:t>)</a:t>
            </a:r>
            <a:endParaRPr lang="ko-KR" altLang="en-US" b="1" dirty="0">
              <a:latin typeface="+mj-ea"/>
            </a:endParaRPr>
          </a:p>
        </p:txBody>
      </p:sp>
      <p:sp>
        <p:nvSpPr>
          <p:cNvPr id="25" name="내용 개체 틀 24">
            <a:extLst>
              <a:ext uri="{FF2B5EF4-FFF2-40B4-BE49-F238E27FC236}">
                <a16:creationId xmlns:a16="http://schemas.microsoft.com/office/drawing/2014/main" id="{43D7F560-8665-3595-7BA0-A2C3C8AC76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3996" y="1484954"/>
            <a:ext cx="8751404" cy="1519292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</a:rPr>
              <a:t>💡 학습 데이터에 대해 모델이 지나치게 적합 되어</a:t>
            </a:r>
            <a:r>
              <a:rPr lang="en-US" altLang="ko-KR" dirty="0">
                <a:latin typeface="+mn-ea"/>
              </a:rPr>
              <a:t>,</a:t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      </a:t>
            </a:r>
            <a:r>
              <a:rPr lang="ko-KR" altLang="en-US" dirty="0">
                <a:latin typeface="+mn-ea"/>
              </a:rPr>
              <a:t>새로운 데이터나 테스트 데이터에서 성능이 저하되는 현상</a:t>
            </a:r>
            <a:endParaRPr lang="en-US" altLang="ko-KR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3" name="AutoShape 2" descr="모델 적합성: 과소적합과 과적합 비교 - Amazon Machine Learning"/>
          <p:cNvSpPr>
            <a:spLocks noChangeAspect="1" noChangeArrowheads="1"/>
          </p:cNvSpPr>
          <p:nvPr/>
        </p:nvSpPr>
        <p:spPr bwMode="auto">
          <a:xfrm>
            <a:off x="1682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grpSp>
        <p:nvGrpSpPr>
          <p:cNvPr id="7" name="그룹 6"/>
          <p:cNvGrpSpPr/>
          <p:nvPr/>
        </p:nvGrpSpPr>
        <p:grpSpPr>
          <a:xfrm>
            <a:off x="1289392" y="3004246"/>
            <a:ext cx="9613216" cy="2950300"/>
            <a:chOff x="1289392" y="3200696"/>
            <a:chExt cx="9613216" cy="2950300"/>
          </a:xfrm>
        </p:grpSpPr>
        <p:pic>
          <p:nvPicPr>
            <p:cNvPr id="11268" name="Picture 4" descr="모델 적합성: 과소적합과 과적합 비교 - Amazon Machine Learnin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89392" y="3200696"/>
              <a:ext cx="9613216" cy="29041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직사각형 5"/>
            <p:cNvSpPr/>
            <p:nvPr/>
          </p:nvSpPr>
          <p:spPr>
            <a:xfrm>
              <a:off x="1601165" y="5904775"/>
              <a:ext cx="8989670" cy="2462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[</a:t>
              </a:r>
              <a:r>
                <a:rPr lang="ko-KR" altLang="en-US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출처</a:t>
              </a:r>
              <a:r>
                <a:rPr lang="en-US" altLang="ko-KR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] https://docs.aws.amazon.com/ko_kr/machine-learning/latest/dg/model-fit-underfitting-vs-overfitting.html</a:t>
              </a:r>
              <a:endParaRPr lang="ko-KR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648972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 err="1"/>
              <a:t>과적합</a:t>
            </a:r>
            <a:r>
              <a:rPr lang="en-US" altLang="ko-KR" b="1" dirty="0"/>
              <a:t>(Overfitting) </a:t>
            </a:r>
            <a:r>
              <a:rPr lang="ko-KR" altLang="en-US" b="1" dirty="0"/>
              <a:t>원인</a:t>
            </a:r>
            <a:endParaRPr lang="ko-KR" altLang="en-US" b="1" dirty="0">
              <a:latin typeface="+mj-ea"/>
            </a:endParaRPr>
          </a:p>
        </p:txBody>
      </p:sp>
      <p:sp>
        <p:nvSpPr>
          <p:cNvPr id="25" name="내용 개체 틀 24">
            <a:extLst>
              <a:ext uri="{FF2B5EF4-FFF2-40B4-BE49-F238E27FC236}">
                <a16:creationId xmlns:a16="http://schemas.microsoft.com/office/drawing/2014/main" id="{43D7F560-8665-3595-7BA0-A2C3C8AC76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688424" cy="4718163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+mn-ea"/>
              </a:rPr>
              <a:t>✅ 원인</a:t>
            </a:r>
            <a:endParaRPr lang="en-US" altLang="ko-KR" sz="2400" dirty="0">
              <a:latin typeface="+mn-ea"/>
            </a:endParaRP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000" dirty="0"/>
              <a:t>복잡한 모델 구조</a:t>
            </a:r>
            <a:r>
              <a:rPr lang="en-US" altLang="ko-KR" sz="2000" dirty="0"/>
              <a:t>: </a:t>
            </a:r>
            <a:r>
              <a:rPr lang="ko-KR" altLang="en-US" sz="2000" dirty="0"/>
              <a:t>학습 데이터의 패턴을 과도하게 학습하는 복잡한 모델</a:t>
            </a:r>
            <a:r>
              <a:rPr lang="en-US" altLang="ko-KR" sz="2000" dirty="0"/>
              <a:t>(</a:t>
            </a:r>
            <a:r>
              <a:rPr lang="ko-KR" altLang="en-US" sz="2000" dirty="0"/>
              <a:t>예</a:t>
            </a:r>
            <a:r>
              <a:rPr lang="en-US" altLang="ko-KR" sz="2000" dirty="0"/>
              <a:t>: </a:t>
            </a:r>
            <a:r>
              <a:rPr lang="ko-KR" altLang="en-US" sz="2000" dirty="0"/>
              <a:t>과도한 </a:t>
            </a:r>
            <a:r>
              <a:rPr lang="ko-KR" altLang="en-US" sz="2000" dirty="0" err="1"/>
              <a:t>파라미터</a:t>
            </a:r>
            <a:r>
              <a:rPr lang="en-US" altLang="ko-KR" sz="2000" dirty="0"/>
              <a:t>, </a:t>
            </a:r>
            <a:r>
              <a:rPr lang="ko-KR" altLang="en-US" sz="2000" dirty="0"/>
              <a:t>깊은 네트워크</a:t>
            </a:r>
            <a:r>
              <a:rPr lang="en-US" altLang="ko-KR" sz="2000" dirty="0"/>
              <a:t>)</a:t>
            </a:r>
            <a:r>
              <a:rPr lang="ko-KR" altLang="en-US" sz="2000" dirty="0"/>
              <a:t>로 인해 발생</a:t>
            </a:r>
            <a:r>
              <a:rPr lang="en-US" altLang="ko-KR" sz="2000" dirty="0"/>
              <a:t>.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000" dirty="0"/>
              <a:t>학습 데이터 부족</a:t>
            </a:r>
            <a:r>
              <a:rPr lang="en-US" altLang="ko-KR" sz="2000" dirty="0"/>
              <a:t>: </a:t>
            </a:r>
            <a:r>
              <a:rPr lang="ko-KR" altLang="en-US" sz="2000" dirty="0"/>
              <a:t>데이터의 양이 적거나</a:t>
            </a:r>
            <a:r>
              <a:rPr lang="en-US" altLang="ko-KR" sz="2000" dirty="0"/>
              <a:t>, </a:t>
            </a:r>
            <a:r>
              <a:rPr lang="ko-KR" altLang="en-US" sz="2000" dirty="0"/>
              <a:t>데이터가 특정 패턴에 편중되어 있어 모델이 일반화된 패턴을 학습하지 못함</a:t>
            </a:r>
            <a:r>
              <a:rPr lang="en-US" altLang="ko-KR" sz="2000" dirty="0"/>
              <a:t>.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000" dirty="0"/>
              <a:t>노이즈 학습</a:t>
            </a:r>
            <a:r>
              <a:rPr lang="en-US" altLang="ko-KR" sz="2000" dirty="0"/>
              <a:t>: </a:t>
            </a:r>
            <a:r>
              <a:rPr lang="ko-KR" altLang="en-US" sz="2000" dirty="0"/>
              <a:t>학습 데이터에 포함된 </a:t>
            </a:r>
            <a:r>
              <a:rPr lang="ko-KR" altLang="en-US" sz="2000" dirty="0" err="1"/>
              <a:t>노이즈</a:t>
            </a:r>
            <a:r>
              <a:rPr lang="en-US" altLang="ko-KR" sz="2000" dirty="0"/>
              <a:t>(</a:t>
            </a:r>
            <a:r>
              <a:rPr lang="ko-KR" altLang="en-US" sz="2000" dirty="0"/>
              <a:t>불필요한 정보</a:t>
            </a:r>
            <a:r>
              <a:rPr lang="en-US" altLang="ko-KR" sz="2000" dirty="0"/>
              <a:t>)</a:t>
            </a:r>
            <a:r>
              <a:rPr lang="ko-KR" altLang="en-US" sz="2000" dirty="0"/>
              <a:t>를 모델이 학습하여</a:t>
            </a:r>
            <a:r>
              <a:rPr lang="en-US" altLang="ko-KR" sz="2000" dirty="0"/>
              <a:t>, </a:t>
            </a:r>
            <a:r>
              <a:rPr lang="ko-KR" altLang="en-US" sz="2000" dirty="0"/>
              <a:t>본질적인 패턴 대신 </a:t>
            </a:r>
            <a:r>
              <a:rPr lang="ko-KR" altLang="en-US" sz="2000" dirty="0" err="1"/>
              <a:t>노이즈에</a:t>
            </a:r>
            <a:r>
              <a:rPr lang="ko-KR" altLang="en-US" sz="2000" dirty="0"/>
              <a:t> 의존하게 됨</a:t>
            </a:r>
            <a:r>
              <a:rPr lang="en-US" altLang="ko-KR" sz="2000" dirty="0"/>
              <a:t>.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000" dirty="0"/>
              <a:t>학습 시간 과다</a:t>
            </a:r>
            <a:r>
              <a:rPr lang="en-US" altLang="ko-KR" sz="2000" dirty="0"/>
              <a:t>: </a:t>
            </a:r>
            <a:r>
              <a:rPr lang="ko-KR" altLang="en-US" sz="2000" dirty="0"/>
              <a:t>학습을 지나치게 오래 진행하면 모델이 데이터의 작은 변동까지 학습하게 되어 </a:t>
            </a:r>
            <a:r>
              <a:rPr lang="ko-KR" altLang="en-US" sz="2000" dirty="0" err="1"/>
              <a:t>과적합</a:t>
            </a:r>
            <a:r>
              <a:rPr lang="ko-KR" altLang="en-US" sz="2000" dirty="0"/>
              <a:t> 발생</a:t>
            </a:r>
            <a:r>
              <a:rPr lang="en-US" altLang="ko-KR" sz="20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11432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 err="1"/>
              <a:t>과적합</a:t>
            </a:r>
            <a:r>
              <a:rPr lang="en-US" altLang="ko-KR" b="1" dirty="0"/>
              <a:t>(Overfitting) </a:t>
            </a:r>
            <a:r>
              <a:rPr lang="ko-KR" altLang="en-US" b="1" dirty="0"/>
              <a:t>해결 전략</a:t>
            </a:r>
            <a:endParaRPr lang="ko-KR" altLang="en-US" b="1" dirty="0">
              <a:latin typeface="+mj-ea"/>
            </a:endParaRPr>
          </a:p>
        </p:txBody>
      </p:sp>
      <p:sp>
        <p:nvSpPr>
          <p:cNvPr id="25" name="내용 개체 틀 24">
            <a:extLst>
              <a:ext uri="{FF2B5EF4-FFF2-40B4-BE49-F238E27FC236}">
                <a16:creationId xmlns:a16="http://schemas.microsoft.com/office/drawing/2014/main" id="{43D7F560-8665-3595-7BA0-A2C3C8AC76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688424" cy="4823567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+mn-ea"/>
              </a:rPr>
              <a:t>✅ 데이터 기반 해결</a:t>
            </a:r>
            <a:endParaRPr lang="en-US" altLang="ko-KR" sz="2400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데이터 증강</a:t>
            </a:r>
            <a:r>
              <a:rPr lang="en-US" altLang="ko-KR" sz="2000" dirty="0">
                <a:latin typeface="+mn-ea"/>
              </a:rPr>
              <a:t>: </a:t>
            </a:r>
            <a:r>
              <a:rPr lang="ko-KR" altLang="en-US" sz="2000" dirty="0">
                <a:latin typeface="+mn-ea"/>
              </a:rPr>
              <a:t>데이터의 다양성을 높이기 위해 데이터를 변형하거나 추가로 생성</a:t>
            </a:r>
            <a:r>
              <a:rPr lang="en-US" altLang="ko-KR" sz="2000" dirty="0">
                <a:latin typeface="+mn-ea"/>
              </a:rPr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데이터 확대</a:t>
            </a:r>
            <a:r>
              <a:rPr lang="en-US" altLang="ko-KR" sz="2000" dirty="0">
                <a:latin typeface="+mn-ea"/>
              </a:rPr>
              <a:t>: </a:t>
            </a:r>
            <a:r>
              <a:rPr lang="ko-KR" altLang="en-US" sz="2000" dirty="0">
                <a:latin typeface="+mn-ea"/>
              </a:rPr>
              <a:t>학습 데이터의 양을 늘려 모델이 더 일반화된 패턴을 학습할 수 있도록 함</a:t>
            </a:r>
            <a:r>
              <a:rPr lang="en-US" altLang="ko-KR" sz="2000" dirty="0">
                <a:latin typeface="+mn-ea"/>
              </a:rPr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393"/>
          <a:stretch/>
        </p:blipFill>
        <p:spPr bwMode="auto">
          <a:xfrm>
            <a:off x="2832003" y="3098221"/>
            <a:ext cx="6527994" cy="30027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1018814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720A2974-998A-B02C-930B-C57ECB4DCE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7318" y="2290813"/>
            <a:ext cx="5296623" cy="2354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 err="1"/>
              <a:t>과적합</a:t>
            </a:r>
            <a:r>
              <a:rPr lang="en-US" altLang="ko-KR" b="1" dirty="0"/>
              <a:t>(Overfitting) </a:t>
            </a:r>
            <a:r>
              <a:rPr lang="ko-KR" altLang="en-US" b="1" dirty="0"/>
              <a:t>해결 전략</a:t>
            </a:r>
            <a:endParaRPr lang="ko-KR" altLang="en-US" b="1" dirty="0">
              <a:latin typeface="+mj-ea"/>
            </a:endParaRPr>
          </a:p>
        </p:txBody>
      </p:sp>
      <p:sp>
        <p:nvSpPr>
          <p:cNvPr id="25" name="내용 개체 틀 24">
            <a:extLst>
              <a:ext uri="{FF2B5EF4-FFF2-40B4-BE49-F238E27FC236}">
                <a16:creationId xmlns:a16="http://schemas.microsoft.com/office/drawing/2014/main" id="{43D7F560-8665-3595-7BA0-A2C3C8AC76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0" y="1145407"/>
            <a:ext cx="6961909" cy="5049653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+mn-ea"/>
              </a:rPr>
              <a:t>✅ 모델 복잡도 제어 </a:t>
            </a:r>
            <a:r>
              <a:rPr lang="en-US" altLang="ko-KR" sz="2400" dirty="0">
                <a:latin typeface="+mn-ea"/>
              </a:rPr>
              <a:t>(Regularization)</a:t>
            </a:r>
            <a:endParaRPr lang="en-US" altLang="ko-KR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+mn-ea"/>
              </a:rPr>
              <a:t>모델의 복잡도를 제어하는 기법</a:t>
            </a:r>
            <a:endParaRPr lang="en-US" altLang="ko-KR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+mn-ea"/>
              </a:rPr>
              <a:t>모델의 가중치 크기를 제한하거나 불필요한 특징</a:t>
            </a:r>
            <a:r>
              <a:rPr lang="en-US" altLang="ko-KR" dirty="0">
                <a:latin typeface="+mn-ea"/>
              </a:rPr>
              <a:t>(feature)</a:t>
            </a:r>
            <a:r>
              <a:rPr lang="ko-KR" altLang="en-US" dirty="0">
                <a:latin typeface="+mn-ea"/>
              </a:rPr>
              <a:t>을 억제</a:t>
            </a:r>
            <a:endParaRPr lang="en-US" altLang="ko-KR" dirty="0">
              <a:latin typeface="+mn-ea"/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200" dirty="0">
                <a:latin typeface="+mn-ea"/>
              </a:rPr>
              <a:t>    </a:t>
            </a:r>
            <a:r>
              <a:rPr lang="ko-KR" altLang="en-US" sz="2200" dirty="0">
                <a:latin typeface="+mn-ea"/>
              </a:rPr>
              <a:t>→ 학습 데이터에만 지나치게 맞춰지는 것을 막는 역할</a:t>
            </a:r>
            <a:endParaRPr lang="en-US" altLang="ko-KR" sz="2200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+mn-ea"/>
              </a:rPr>
              <a:t>비용 함수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가중치가 작아지는 쪽으로 학습</a:t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가중치 감소</a:t>
            </a:r>
            <a:r>
              <a:rPr lang="en-US" altLang="ko-KR" dirty="0">
                <a:latin typeface="+mn-ea"/>
              </a:rPr>
              <a:t>, weight decay)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96708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 err="1"/>
              <a:t>과적합</a:t>
            </a:r>
            <a:r>
              <a:rPr lang="en-US" altLang="ko-KR" b="1" dirty="0"/>
              <a:t>(Overfitting) </a:t>
            </a:r>
            <a:r>
              <a:rPr lang="ko-KR" altLang="en-US" b="1" dirty="0"/>
              <a:t>해결 전략</a:t>
            </a:r>
            <a:endParaRPr lang="ko-KR" altLang="en-US" b="1" dirty="0">
              <a:latin typeface="+mj-ea"/>
            </a:endParaRPr>
          </a:p>
        </p:txBody>
      </p:sp>
      <p:sp>
        <p:nvSpPr>
          <p:cNvPr id="25" name="내용 개체 틀 24">
            <a:extLst>
              <a:ext uri="{FF2B5EF4-FFF2-40B4-BE49-F238E27FC236}">
                <a16:creationId xmlns:a16="http://schemas.microsoft.com/office/drawing/2014/main" id="{43D7F560-8665-3595-7BA0-A2C3C8AC76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7404652" cy="4936088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+mn-ea"/>
              </a:rPr>
              <a:t>✅ </a:t>
            </a:r>
            <a:r>
              <a:rPr lang="ko-KR" altLang="en-US" sz="2400" dirty="0"/>
              <a:t>네트워크 구조 기반 기법</a:t>
            </a:r>
            <a:endParaRPr lang="en-US" altLang="ko-KR" sz="24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+mn-ea"/>
              </a:rPr>
              <a:t>Drop-Out</a:t>
            </a:r>
          </a:p>
          <a:p>
            <a:pPr lvl="2">
              <a:lnSpc>
                <a:spcPct val="150000"/>
              </a:lnSpc>
            </a:pPr>
            <a:r>
              <a:rPr lang="ko-KR" altLang="en-US" dirty="0"/>
              <a:t>과적합을 방지하고 모델의 일반화 성능을 향상시키기 위해 고안된 정규화 기법</a:t>
            </a:r>
            <a:endParaRPr lang="en-US" altLang="ko-KR" dirty="0"/>
          </a:p>
          <a:p>
            <a:pPr lvl="2">
              <a:lnSpc>
                <a:spcPct val="150000"/>
              </a:lnSpc>
            </a:pPr>
            <a:r>
              <a:rPr lang="ko-KR" altLang="en-US" dirty="0" err="1">
                <a:latin typeface="+mn-ea"/>
              </a:rPr>
              <a:t>랜덤하게</a:t>
            </a:r>
            <a:r>
              <a:rPr lang="ko-KR" altLang="en-US" dirty="0">
                <a:latin typeface="+mn-ea"/>
              </a:rPr>
              <a:t> 일부 뉴런을 비활성화 하여 각 층에 포함된 </a:t>
            </a:r>
            <a:r>
              <a:rPr lang="en-US" altLang="ko-KR" dirty="0">
                <a:latin typeface="+mn-ea"/>
              </a:rPr>
              <a:t>weight </a:t>
            </a:r>
            <a:r>
              <a:rPr lang="ko-KR" altLang="en-US" dirty="0">
                <a:latin typeface="+mn-ea"/>
              </a:rPr>
              <a:t>중에서 일부만 참여시키는 방법</a:t>
            </a:r>
            <a:endParaRPr lang="en-US" altLang="ko-KR" dirty="0">
              <a:latin typeface="+mn-ea"/>
            </a:endParaRPr>
          </a:p>
          <a:p>
            <a:pPr lvl="2">
              <a:lnSpc>
                <a:spcPct val="150000"/>
              </a:lnSpc>
            </a:pPr>
            <a:r>
              <a:rPr lang="ko-KR" altLang="en-US" dirty="0"/>
              <a:t>뉴런 간의 과도한 의존</a:t>
            </a:r>
            <a:r>
              <a:rPr lang="en-US" altLang="ko-KR" dirty="0"/>
              <a:t>(co-adaptation) </a:t>
            </a:r>
            <a:r>
              <a:rPr lang="ko-KR" altLang="en-US" dirty="0"/>
              <a:t>방지</a:t>
            </a:r>
            <a:endParaRPr lang="en-US" altLang="ko-KR" dirty="0"/>
          </a:p>
          <a:p>
            <a:pPr lvl="2">
              <a:lnSpc>
                <a:spcPct val="150000"/>
              </a:lnSpc>
            </a:pPr>
            <a:r>
              <a:rPr lang="ko-KR" altLang="en-US" dirty="0">
                <a:latin typeface="+mn-ea"/>
              </a:rPr>
              <a:t>신경망이 클수록 </a:t>
            </a:r>
            <a:r>
              <a:rPr lang="en-US" altLang="ko-KR" dirty="0">
                <a:latin typeface="+mn-ea"/>
              </a:rPr>
              <a:t>Drop-Out</a:t>
            </a:r>
            <a:r>
              <a:rPr lang="ko-KR" altLang="en-US" dirty="0">
                <a:latin typeface="+mn-ea"/>
              </a:rPr>
              <a:t>의 필요성과 효과가 커짐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014C1032-FAA5-8680-F709-D29CD599C1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1031" y="2470423"/>
            <a:ext cx="4001978" cy="2266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74073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49C4C8-3D15-C804-0CF3-ED01E5EAB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CB0D294-EE40-E43D-51E3-B9FE1EAF8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3149530" y="2687937"/>
            <a:ext cx="589296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54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Regularization</a:t>
            </a:r>
          </a:p>
        </p:txBody>
      </p:sp>
    </p:spTree>
    <p:extLst>
      <p:ext uri="{BB962C8B-B14F-4D97-AF65-F5344CB8AC3E}">
        <p14:creationId xmlns:p14="http://schemas.microsoft.com/office/powerpoint/2010/main" val="244784355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5B589D-A2CB-6CAC-09EE-D6C93F5DD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Regularization </a:t>
            </a:r>
            <a:r>
              <a:rPr lang="ko-KR" altLang="en-US" dirty="0"/>
              <a:t>개념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E9D5B7-E881-B474-4347-D7255685DD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손실 함수에 </a:t>
            </a:r>
            <a:r>
              <a:rPr lang="ko-KR" altLang="en-US" dirty="0" err="1"/>
              <a:t>패널티</a:t>
            </a:r>
            <a:r>
              <a:rPr lang="ko-KR" altLang="en-US" dirty="0"/>
              <a:t> 항 추가</a:t>
            </a:r>
            <a:endParaRPr lang="en-US" altLang="ko-KR" dirty="0"/>
          </a:p>
          <a:p>
            <a:r>
              <a:rPr lang="ko-KR" altLang="en-US" dirty="0"/>
              <a:t>가중치 크기 제어</a:t>
            </a:r>
            <a:endParaRPr lang="en-US" altLang="ko-KR" dirty="0"/>
          </a:p>
          <a:p>
            <a:r>
              <a:rPr lang="ko-KR" altLang="en-US" dirty="0"/>
              <a:t>모델 복잡도 감소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B3A1F9-F654-82A5-951B-2C0F03813CBE}"/>
              </a:ext>
            </a:extLst>
          </p:cNvPr>
          <p:cNvSpPr txBox="1"/>
          <p:nvPr/>
        </p:nvSpPr>
        <p:spPr>
          <a:xfrm>
            <a:off x="5272307" y="1493152"/>
            <a:ext cx="61150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Loss=Original </a:t>
            </a:r>
            <a:r>
              <a:rPr lang="en-US" altLang="ko-KR" dirty="0" err="1"/>
              <a:t>Loss+λ⋅Regularization</a:t>
            </a:r>
            <a:r>
              <a:rPr lang="en-US" altLang="ko-KR" dirty="0"/>
              <a:t> Term</a:t>
            </a:r>
            <a:endParaRPr lang="ko-KR" altLang="en-US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F07E4D84-5E46-FFF5-E9EB-9C2C8594D045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5971736" y="1880498"/>
            <a:ext cx="4088130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Original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Loss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예측 오차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λ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(람다)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규제 강도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Regularization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Term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L1 또는 L2</a:t>
            </a:r>
          </a:p>
        </p:txBody>
      </p:sp>
      <p:pic>
        <p:nvPicPr>
          <p:cNvPr id="1027" name="Picture 3">
            <a:extLst>
              <a:ext uri="{FF2B5EF4-FFF2-40B4-BE49-F238E27FC236}">
                <a16:creationId xmlns:a16="http://schemas.microsoft.com/office/drawing/2014/main" id="{9ED50694-C090-05E6-7BC7-F1B1378907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9969" y="3028303"/>
            <a:ext cx="6869430" cy="3336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9338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L1</a:t>
            </a:r>
            <a:r>
              <a:rPr lang="ko-KR" altLang="en-US" dirty="0"/>
              <a:t> </a:t>
            </a:r>
            <a:r>
              <a:rPr lang="en-US" altLang="ko-KR" dirty="0"/>
              <a:t>Regularization</a:t>
            </a:r>
            <a:endParaRPr lang="ko-KR" altLang="en-US" b="1" dirty="0">
              <a:latin typeface="+mj-ea"/>
            </a:endParaRPr>
          </a:p>
        </p:txBody>
      </p:sp>
      <p:sp>
        <p:nvSpPr>
          <p:cNvPr id="25" name="내용 개체 틀 24">
            <a:extLst>
              <a:ext uri="{FF2B5EF4-FFF2-40B4-BE49-F238E27FC236}">
                <a16:creationId xmlns:a16="http://schemas.microsoft.com/office/drawing/2014/main" id="{43D7F560-8665-3595-7BA0-A2C3C8AC76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557099" cy="3714460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/>
              <a:t>Cost function</a:t>
            </a:r>
            <a:r>
              <a:rPr lang="ko-KR" altLang="en-US" sz="2400" dirty="0"/>
              <a:t>에 가중치의 </a:t>
            </a:r>
            <a:r>
              <a:rPr lang="ko-KR" altLang="en-US" sz="2400" dirty="0">
                <a:solidFill>
                  <a:srgbClr val="FF0000"/>
                </a:solidFill>
              </a:rPr>
              <a:t>절댓값</a:t>
            </a:r>
            <a:r>
              <a:rPr lang="ko-KR" altLang="en-US" sz="2400" dirty="0"/>
              <a:t>을 더해줌</a:t>
            </a:r>
            <a:endParaRPr lang="en-US" altLang="ko-KR" sz="2400" dirty="0"/>
          </a:p>
          <a:p>
            <a:pPr>
              <a:lnSpc>
                <a:spcPct val="150000"/>
              </a:lnSpc>
            </a:pPr>
            <a:r>
              <a:rPr lang="en-US" altLang="ko-KR" sz="2400" dirty="0"/>
              <a:t>L1 </a:t>
            </a:r>
            <a:r>
              <a:rPr lang="ko-KR" altLang="en-US" sz="2400" dirty="0"/>
              <a:t>정규화를 사용하는 모델을 </a:t>
            </a:r>
            <a:r>
              <a:rPr lang="en-US" altLang="ko-KR" sz="2400" dirty="0">
                <a:solidFill>
                  <a:srgbClr val="FF0000"/>
                </a:solidFill>
              </a:rPr>
              <a:t>Lasso</a:t>
            </a:r>
            <a:r>
              <a:rPr lang="en-US" altLang="ko-KR" sz="2400" dirty="0"/>
              <a:t> </a:t>
            </a:r>
            <a:r>
              <a:rPr lang="ko-KR" altLang="en-US" sz="2400" dirty="0"/>
              <a:t>모델이라고 함</a:t>
            </a:r>
            <a:endParaRPr lang="en-US" altLang="ko-KR" sz="2400" dirty="0"/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FF0000"/>
                </a:solidFill>
              </a:rPr>
              <a:t>불필요한 </a:t>
            </a:r>
            <a:r>
              <a:rPr lang="en-US" altLang="ko-KR" sz="2400" dirty="0">
                <a:solidFill>
                  <a:srgbClr val="FF0000"/>
                </a:solidFill>
              </a:rPr>
              <a:t>Weight</a:t>
            </a:r>
            <a:r>
              <a:rPr lang="ko-KR" altLang="en-US" sz="2400" dirty="0">
                <a:solidFill>
                  <a:srgbClr val="FF0000"/>
                </a:solidFill>
              </a:rPr>
              <a:t>를 </a:t>
            </a:r>
            <a:r>
              <a:rPr lang="en-US" altLang="ko-KR" sz="2400" dirty="0">
                <a:solidFill>
                  <a:srgbClr val="FF0000"/>
                </a:solidFill>
              </a:rPr>
              <a:t>0</a:t>
            </a:r>
            <a:r>
              <a:rPr lang="ko-KR" altLang="en-US" sz="2400" dirty="0">
                <a:solidFill>
                  <a:srgbClr val="FF0000"/>
                </a:solidFill>
              </a:rPr>
              <a:t>으로</a:t>
            </a:r>
            <a:r>
              <a:rPr lang="en-US" altLang="ko-KR" sz="2400" dirty="0">
                <a:solidFill>
                  <a:srgbClr val="FF0000"/>
                </a:solidFill>
              </a:rPr>
              <a:t> </a:t>
            </a:r>
            <a:r>
              <a:rPr lang="ko-KR" altLang="en-US" sz="2400" dirty="0">
                <a:solidFill>
                  <a:srgbClr val="FF0000"/>
                </a:solidFill>
              </a:rPr>
              <a:t>만들어버려서 </a:t>
            </a:r>
            <a:r>
              <a:rPr lang="en-US" altLang="ko-KR" sz="2400" dirty="0">
                <a:solidFill>
                  <a:srgbClr val="FF0000"/>
                </a:solidFill>
              </a:rPr>
              <a:t>Feature selection</a:t>
            </a:r>
            <a:r>
              <a:rPr lang="ko-KR" altLang="en-US" sz="2400" dirty="0">
                <a:solidFill>
                  <a:srgbClr val="FF0000"/>
                </a:solidFill>
              </a:rPr>
              <a:t>의 효과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en-US" altLang="ko-KR" sz="2200" dirty="0"/>
              <a:t>weight </a:t>
            </a:r>
            <a:r>
              <a:rPr lang="ko-KR" altLang="en-US" sz="2200" dirty="0"/>
              <a:t>의 크기에 상관없이 부호에 따라 일정한 </a:t>
            </a:r>
            <a:r>
              <a:rPr lang="ko-KR" altLang="en-US" sz="2200" dirty="0" err="1"/>
              <a:t>상수값을</a:t>
            </a:r>
            <a:r>
              <a:rPr lang="ko-KR" altLang="en-US" sz="2200" dirty="0"/>
              <a:t> 빼거나 </a:t>
            </a:r>
            <a:r>
              <a:rPr lang="ko-KR" altLang="en-US" sz="2200" dirty="0" err="1"/>
              <a:t>더해줌</a:t>
            </a:r>
            <a:endParaRPr lang="en-US" altLang="ko-KR" sz="2200" dirty="0"/>
          </a:p>
          <a:p>
            <a:pPr>
              <a:lnSpc>
                <a:spcPct val="150000"/>
              </a:lnSpc>
            </a:pPr>
            <a:r>
              <a:rPr lang="ko-KR" altLang="en-US" sz="2400" dirty="0"/>
              <a:t>모델은 </a:t>
            </a:r>
            <a:r>
              <a:rPr lang="en-US" altLang="ko-KR" sz="2400" dirty="0"/>
              <a:t>cost</a:t>
            </a:r>
            <a:r>
              <a:rPr lang="ko-KR" altLang="en-US" sz="2400" dirty="0"/>
              <a:t>를 줄이는 방향으로 학습하기 때문에 가중치들이 작아지고 일부는 </a:t>
            </a:r>
            <a:r>
              <a:rPr lang="en-US" altLang="ko-KR" sz="2400" dirty="0"/>
              <a:t>0</a:t>
            </a:r>
            <a:r>
              <a:rPr lang="ko-KR" altLang="en-US" sz="2400" dirty="0"/>
              <a:t>으로 수렴</a:t>
            </a:r>
            <a:endParaRPr lang="en-US" altLang="ko-KR" sz="2400" dirty="0"/>
          </a:p>
          <a:p>
            <a:pPr>
              <a:lnSpc>
                <a:spcPct val="150000"/>
              </a:lnSpc>
            </a:pPr>
            <a:r>
              <a:rPr lang="ko-KR" altLang="en-US" sz="2400" dirty="0"/>
              <a:t>람다 </a:t>
            </a:r>
            <a:r>
              <a:rPr lang="en-US" altLang="ko-KR" sz="2400" dirty="0"/>
              <a:t>: </a:t>
            </a:r>
            <a:r>
              <a:rPr lang="ko-KR" altLang="en-US" sz="2400" dirty="0"/>
              <a:t>정규화 항의 가중치</a:t>
            </a:r>
            <a:r>
              <a:rPr lang="en-US" altLang="ko-KR" sz="2400" dirty="0"/>
              <a:t>, </a:t>
            </a:r>
            <a:r>
              <a:rPr lang="ko-KR" altLang="en-US" sz="2400" dirty="0"/>
              <a:t>해당 값이 높을수록 가중치가 </a:t>
            </a:r>
            <a:r>
              <a:rPr lang="en-US" altLang="ko-KR" sz="2400" dirty="0"/>
              <a:t>0</a:t>
            </a:r>
            <a:r>
              <a:rPr lang="ko-KR" altLang="en-US" sz="2400" dirty="0"/>
              <a:t>으로 수렴</a:t>
            </a:r>
            <a:endParaRPr lang="en-US" altLang="ko-KR" sz="24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pic>
        <p:nvPicPr>
          <p:cNvPr id="7172" name="Picture 4">
            <a:extLst>
              <a:ext uri="{FF2B5EF4-FFF2-40B4-BE49-F238E27FC236}">
                <a16:creationId xmlns:a16="http://schemas.microsoft.com/office/drawing/2014/main" id="{16467F85-A9AB-7F00-EBF4-CE9106B225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60158" y="5006499"/>
            <a:ext cx="2976098" cy="1307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9799343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L2</a:t>
            </a:r>
            <a:r>
              <a:rPr lang="ko-KR" altLang="en-US" dirty="0"/>
              <a:t> </a:t>
            </a:r>
            <a:r>
              <a:rPr lang="en-US" altLang="ko-KR" dirty="0"/>
              <a:t>Regularization</a:t>
            </a:r>
            <a:endParaRPr lang="ko-KR" altLang="en-US" b="1" dirty="0">
              <a:latin typeface="+mj-ea"/>
            </a:endParaRPr>
          </a:p>
        </p:txBody>
      </p:sp>
      <p:sp>
        <p:nvSpPr>
          <p:cNvPr id="25" name="내용 개체 틀 24">
            <a:extLst>
              <a:ext uri="{FF2B5EF4-FFF2-40B4-BE49-F238E27FC236}">
                <a16:creationId xmlns:a16="http://schemas.microsoft.com/office/drawing/2014/main" id="{43D7F560-8665-3595-7BA0-A2C3C8AC76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482086" cy="4823567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/>
              <a:t>Cost function</a:t>
            </a:r>
            <a:r>
              <a:rPr lang="ko-KR" altLang="en-US" sz="2400" dirty="0"/>
              <a:t> 에 가중치의 제곱을 포함하여 더함</a:t>
            </a:r>
            <a:endParaRPr lang="en-US" altLang="ko-KR" sz="2400" dirty="0"/>
          </a:p>
          <a:p>
            <a:pPr>
              <a:lnSpc>
                <a:spcPct val="150000"/>
              </a:lnSpc>
            </a:pPr>
            <a:r>
              <a:rPr lang="ko-KR" altLang="en-US" sz="2400" dirty="0"/>
              <a:t>가중치가 너무 크지 않은 방향으로 학습되게 함</a:t>
            </a:r>
            <a:r>
              <a:rPr lang="en-US" altLang="ko-KR" sz="2400" dirty="0"/>
              <a:t>. (</a:t>
            </a:r>
            <a:r>
              <a:rPr lang="en-US" altLang="ko-KR" sz="2400" dirty="0">
                <a:solidFill>
                  <a:srgbClr val="FF0000"/>
                </a:solidFill>
              </a:rPr>
              <a:t>Weight decay</a:t>
            </a:r>
            <a:r>
              <a:rPr lang="en-US" altLang="ko-KR" sz="2400" dirty="0"/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손실 함수에 제곱 </a:t>
            </a:r>
            <a:r>
              <a:rPr lang="ko-KR" altLang="en-US" sz="2000" dirty="0" err="1"/>
              <a:t>패널티가</a:t>
            </a:r>
            <a:r>
              <a:rPr lang="ko-KR" altLang="en-US" sz="2000" dirty="0"/>
              <a:t> 추가되어</a:t>
            </a:r>
            <a:r>
              <a:rPr lang="en-US" altLang="ko-KR" sz="2000" dirty="0"/>
              <a:t>, </a:t>
            </a:r>
            <a:r>
              <a:rPr lang="ko-KR" altLang="en-US" sz="2000" dirty="0"/>
              <a:t>업데이트 시 가중치가 감소하는 방향으로 작용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en-US" altLang="ko-KR" sz="2200" dirty="0"/>
              <a:t>weight</a:t>
            </a:r>
            <a:r>
              <a:rPr lang="ko-KR" altLang="en-US" sz="2200" dirty="0"/>
              <a:t> 가 클수록 더 빠르게 감소</a:t>
            </a:r>
            <a:endParaRPr lang="en-US" altLang="ko-KR" sz="2200" dirty="0"/>
          </a:p>
          <a:p>
            <a:pPr>
              <a:lnSpc>
                <a:spcPct val="150000"/>
              </a:lnSpc>
            </a:pPr>
            <a:r>
              <a:rPr lang="en-US" altLang="ko-KR" sz="2400" dirty="0"/>
              <a:t>L2 </a:t>
            </a:r>
            <a:r>
              <a:rPr lang="ko-KR" altLang="en-US" sz="2400" dirty="0"/>
              <a:t>정규화를 사용하는 모델을 </a:t>
            </a:r>
            <a:r>
              <a:rPr lang="en-US" altLang="ko-KR" sz="2400" dirty="0">
                <a:solidFill>
                  <a:srgbClr val="FF0000"/>
                </a:solidFill>
              </a:rPr>
              <a:t>Ridge</a:t>
            </a:r>
            <a:r>
              <a:rPr lang="en-US" altLang="ko-KR" sz="2400" dirty="0"/>
              <a:t> </a:t>
            </a:r>
            <a:r>
              <a:rPr lang="ko-KR" altLang="en-US" sz="2400" dirty="0"/>
              <a:t>모델이라고 부름</a:t>
            </a:r>
            <a:endParaRPr lang="en-US" altLang="ko-KR" sz="2400" dirty="0"/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FF0000"/>
                </a:solidFill>
              </a:rPr>
              <a:t>불필요한 </a:t>
            </a:r>
            <a:r>
              <a:rPr lang="en-US" altLang="ko-KR" sz="2400" dirty="0">
                <a:solidFill>
                  <a:srgbClr val="FF0000"/>
                </a:solidFill>
              </a:rPr>
              <a:t>Feature</a:t>
            </a:r>
            <a:r>
              <a:rPr lang="ko-KR" altLang="en-US" sz="2400" dirty="0">
                <a:solidFill>
                  <a:srgbClr val="FF0000"/>
                </a:solidFill>
              </a:rPr>
              <a:t>를 </a:t>
            </a:r>
            <a:r>
              <a:rPr lang="en-US" altLang="ko-KR" sz="2400" dirty="0">
                <a:solidFill>
                  <a:srgbClr val="FF0000"/>
                </a:solidFill>
              </a:rPr>
              <a:t>0</a:t>
            </a:r>
            <a:r>
              <a:rPr lang="ko-KR" altLang="en-US" sz="2400" dirty="0">
                <a:solidFill>
                  <a:srgbClr val="FF0000"/>
                </a:solidFill>
              </a:rPr>
              <a:t>에 가깝게 만드는 특성</a:t>
            </a:r>
            <a:endParaRPr lang="en-US" altLang="ko-KR" sz="2400" dirty="0">
              <a:solidFill>
                <a:srgbClr val="FF0000"/>
              </a:solidFill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dirty="0">
              <a:solidFill>
                <a:srgbClr val="FF0000"/>
              </a:solidFill>
              <a:latin typeface="+mn-ea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>
                <a:latin typeface="+mn-ea"/>
              </a:rPr>
              <a:t>🔎 </a:t>
            </a:r>
            <a:r>
              <a:rPr lang="en-US" altLang="ko-KR" sz="2000" dirty="0">
                <a:latin typeface="+mn-ea"/>
              </a:rPr>
              <a:t>L1 </a:t>
            </a:r>
            <a:r>
              <a:rPr lang="ko-KR" altLang="en-US" sz="2000" dirty="0">
                <a:latin typeface="+mn-ea"/>
              </a:rPr>
              <a:t>정규화</a:t>
            </a:r>
            <a:r>
              <a:rPr lang="en-US" altLang="ko-KR" sz="2000" dirty="0">
                <a:latin typeface="+mn-ea"/>
              </a:rPr>
              <a:t>, L2 </a:t>
            </a:r>
            <a:r>
              <a:rPr lang="ko-KR" altLang="en-US" sz="2000" dirty="0">
                <a:latin typeface="+mn-ea"/>
              </a:rPr>
              <a:t>정규화를 모두 사용하는 것을 </a:t>
            </a:r>
            <a:r>
              <a:rPr lang="en-US" altLang="ko-KR" sz="2000" dirty="0">
                <a:solidFill>
                  <a:srgbClr val="FF0000"/>
                </a:solidFill>
                <a:latin typeface="+mn-ea"/>
              </a:rPr>
              <a:t>Elastic Net</a:t>
            </a:r>
            <a:r>
              <a:rPr lang="ko-KR" altLang="en-US" sz="2000" dirty="0">
                <a:latin typeface="+mn-ea"/>
              </a:rPr>
              <a:t>이라고 함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</a:pPr>
            <a:endParaRPr lang="en-US" altLang="ko-KR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pic>
        <p:nvPicPr>
          <p:cNvPr id="7174" name="Picture 6">
            <a:extLst>
              <a:ext uri="{FF2B5EF4-FFF2-40B4-BE49-F238E27FC236}">
                <a16:creationId xmlns:a16="http://schemas.microsoft.com/office/drawing/2014/main" id="{1553063F-42C7-81C1-DB3C-9AED904F6F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3609" y="2874721"/>
            <a:ext cx="4178381" cy="9739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282043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altLang="ko-KR" b="1" dirty="0">
                <a:latin typeface="+mj-ea"/>
              </a:rPr>
              <a:t>Lasso , Ridge</a:t>
            </a:r>
            <a:endParaRPr lang="ko-KR" altLang="en-US" b="1" dirty="0">
              <a:latin typeface="+mj-ea"/>
            </a:endParaRP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AE19D5DB-237C-061B-2111-6CFCB2BA83E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3064" y="1325563"/>
            <a:ext cx="8495167" cy="4351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B84181F-75CF-F41E-6BAC-34037723EA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6239" y="1814879"/>
            <a:ext cx="1456563" cy="53196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FA0226D-2931-B58D-5785-A529970E128F}"/>
              </a:ext>
            </a:extLst>
          </p:cNvPr>
          <p:cNvSpPr txBox="1"/>
          <p:nvPr/>
        </p:nvSpPr>
        <p:spPr>
          <a:xfrm>
            <a:off x="4436732" y="5741640"/>
            <a:ext cx="331853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출처</a:t>
            </a:r>
            <a:r>
              <a:rPr lang="en-US" altLang="ko-KR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</a:t>
            </a:r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https://gaussian37.github.io/dl-concept-regularization/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B5F8447-69CF-37E3-0FF3-882E6EE51B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3818" y="3011351"/>
            <a:ext cx="200053" cy="24768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394EDDC-E1F2-1576-01D0-1340B508C3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6226" y="3268790"/>
            <a:ext cx="161948" cy="209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42733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71936-481C-71EB-7D96-6C9DFC6F9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100005ED-53E3-BFC8-AFAA-7BAFFA3752AB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417181868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8743</TotalTime>
  <Words>1995</Words>
  <Application>Microsoft Office PowerPoint</Application>
  <PresentationFormat>와이드스크린</PresentationFormat>
  <Paragraphs>346</Paragraphs>
  <Slides>33</Slides>
  <Notes>23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44" baseType="lpstr">
      <vt:lpstr>G마켓 산스 TTF Bold</vt:lpstr>
      <vt:lpstr>Kim jung chul Gothic Regular</vt:lpstr>
      <vt:lpstr>Pretendard Black</vt:lpstr>
      <vt:lpstr>Pretendard Light</vt:lpstr>
      <vt:lpstr>Pretendard Medium</vt:lpstr>
      <vt:lpstr>맑은 고딕</vt:lpstr>
      <vt:lpstr>메이플스토리</vt:lpstr>
      <vt:lpstr>Arial</vt:lpstr>
      <vt:lpstr>Cambria Math</vt:lpstr>
      <vt:lpstr>Wingdings</vt:lpstr>
      <vt:lpstr>1_Office 테마</vt:lpstr>
      <vt:lpstr>x</vt:lpstr>
      <vt:lpstr>PowerPoint 프레젠테이션</vt:lpstr>
      <vt:lpstr>PowerPoint 프레젠테이션</vt:lpstr>
      <vt:lpstr>시그모이드 함수의 문제</vt:lpstr>
      <vt:lpstr>기울기 소실 Vanishing Gradient</vt:lpstr>
      <vt:lpstr>PowerPoint 프레젠테이션</vt:lpstr>
      <vt:lpstr>ReLU(Rectified Linear Unit) 함수</vt:lpstr>
      <vt:lpstr>Leaky ReLU 함수</vt:lpstr>
      <vt:lpstr>ReLU 함수의 종류</vt:lpstr>
      <vt:lpstr>PowerPoint 프레젠테이션</vt:lpstr>
      <vt:lpstr>BN(Batch Normalization) </vt:lpstr>
      <vt:lpstr>BN(Batch Normalization) </vt:lpstr>
      <vt:lpstr>BN(Batch Normalization) </vt:lpstr>
      <vt:lpstr>BN(Batch Normalization) </vt:lpstr>
      <vt:lpstr>BN(Batch Normalization) </vt:lpstr>
      <vt:lpstr>BN(Batch Normalization) </vt:lpstr>
      <vt:lpstr>BN(Batch Normalization) </vt:lpstr>
      <vt:lpstr>BN(Batch Normalization) </vt:lpstr>
      <vt:lpstr>LN(Layer Normalization) </vt:lpstr>
      <vt:lpstr>LN(Layer Normalization) </vt:lpstr>
      <vt:lpstr>BN vs LN</vt:lpstr>
      <vt:lpstr>PowerPoint 프레젠테이션</vt:lpstr>
      <vt:lpstr>과적합(Overfitting)</vt:lpstr>
      <vt:lpstr>과적합(Overfitting) 원인</vt:lpstr>
      <vt:lpstr>과적합(Overfitting) 해결 전략</vt:lpstr>
      <vt:lpstr>과적합(Overfitting) 해결 전략</vt:lpstr>
      <vt:lpstr>과적합(Overfitting) 해결 전략</vt:lpstr>
      <vt:lpstr>PowerPoint 프레젠테이션</vt:lpstr>
      <vt:lpstr>Regularization 개념</vt:lpstr>
      <vt:lpstr>L1 Regularization</vt:lpstr>
      <vt:lpstr>L2 Regularization</vt:lpstr>
      <vt:lpstr>Lasso , Ridge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</dc:title>
  <dc:creator>spreatics</dc:creator>
  <cp:lastModifiedBy>On Coding</cp:lastModifiedBy>
  <cp:revision>646</cp:revision>
  <dcterms:created xsi:type="dcterms:W3CDTF">2023-01-31T04:26:23Z</dcterms:created>
  <dcterms:modified xsi:type="dcterms:W3CDTF">2026-02-19T09:07:11Z</dcterms:modified>
</cp:coreProperties>
</file>