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  <p:sldMasterId id="2147483664" r:id="rId2"/>
  </p:sldMasterIdLst>
  <p:notesMasterIdLst>
    <p:notesMasterId r:id="rId20"/>
  </p:notesMasterIdLst>
  <p:sldIdLst>
    <p:sldId id="1038" r:id="rId3"/>
    <p:sldId id="635" r:id="rId4"/>
    <p:sldId id="1039" r:id="rId5"/>
    <p:sldId id="709" r:id="rId6"/>
    <p:sldId id="644" r:id="rId7"/>
    <p:sldId id="1005" r:id="rId8"/>
    <p:sldId id="1040" r:id="rId9"/>
    <p:sldId id="1006" r:id="rId10"/>
    <p:sldId id="649" r:id="rId11"/>
    <p:sldId id="1007" r:id="rId12"/>
    <p:sldId id="1009" r:id="rId13"/>
    <p:sldId id="721" r:id="rId14"/>
    <p:sldId id="720" r:id="rId15"/>
    <p:sldId id="718" r:id="rId16"/>
    <p:sldId id="1041" r:id="rId17"/>
    <p:sldId id="719" r:id="rId18"/>
    <p:sldId id="750" r:id="rId19"/>
  </p:sldIdLst>
  <p:sldSz cx="12192000" cy="6858000"/>
  <p:notesSz cx="6858000" cy="9144000"/>
  <p:embeddedFontLst>
    <p:embeddedFont>
      <p:font typeface="G마켓 산스 TTF Bold" panose="02000000000000000000" pitchFamily="2" charset="-127"/>
      <p:bold r:id="rId21"/>
    </p:embeddedFont>
    <p:embeddedFont>
      <p:font typeface="G마켓 산스 TTF Medium" panose="02000000000000000000" pitchFamily="2" charset="-127"/>
      <p:regular r:id="rId22"/>
    </p:embeddedFont>
    <p:embeddedFont>
      <p:font typeface="Pretendard Black" panose="02000A03000000020004" pitchFamily="50" charset="-127"/>
      <p:bold r:id="rId23"/>
    </p:embeddedFont>
    <p:embeddedFont>
      <p:font typeface="Pretendard Light" panose="02000403000000020004" pitchFamily="50" charset="-127"/>
      <p:regular r:id="rId24"/>
    </p:embeddedFont>
    <p:embeddedFont>
      <p:font typeface="Pretendard Medium" panose="02000603000000020004" pitchFamily="50" charset="-127"/>
      <p:regular r:id="rId25"/>
    </p:embeddedFont>
    <p:embeddedFont>
      <p:font typeface="맑은 고딕" panose="020B0503020000020004" pitchFamily="50" charset="-127"/>
      <p:regular r:id="rId26"/>
      <p:bold r:id="rId27"/>
    </p:embeddedFont>
    <p:embeddedFont>
      <p:font typeface="메이플스토리" panose="02000300000000000000" pitchFamily="2" charset="-127"/>
      <p:regular r:id="rId28"/>
      <p:bold r:id="rId2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99"/>
    <a:srgbClr val="19B861"/>
    <a:srgbClr val="00B050"/>
    <a:srgbClr val="2B2B2B"/>
    <a:srgbClr val="2A2A2A"/>
    <a:srgbClr val="00F209"/>
    <a:srgbClr val="F9A130"/>
    <a:srgbClr val="F99F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6D9F66E-5EB9-4882-86FB-DCBF35E3C3E4}" styleName="보통 스타일 4 - 강조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33" autoAdjust="0"/>
    <p:restoredTop sz="62667" autoAdjust="0"/>
  </p:normalViewPr>
  <p:slideViewPr>
    <p:cSldViewPr snapToGrid="0">
      <p:cViewPr varScale="1">
        <p:scale>
          <a:sx n="69" d="100"/>
          <a:sy n="69" d="100"/>
        </p:scale>
        <p:origin x="1872" y="6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702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205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6.fntdata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5.fntdata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4.fntdata"/><Relationship Id="rId32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presProps" Target="presProp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F3F159-7250-4DD4-91C2-13B35D56E1AF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9E5BFC-1559-42F1-8940-AB342D56BF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045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E35EA20-6519-4513-9EDC-C89C5369BAEC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45361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오늘은 프로젝트에 들어가기 전 마지막 정리 시간입니다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우리가 지금까지 구현했던 모델들이 딥러닝 구조 안에서 어디에 위치하는지 정리해보겠습니다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새로운 걸 배우는 시간이 아니라</a:t>
            </a:r>
            <a:r>
              <a:rPr lang="en-US" altLang="ko-KR" dirty="0"/>
              <a:t>, </a:t>
            </a:r>
            <a:r>
              <a:rPr lang="ko-KR" altLang="en-US" dirty="0"/>
              <a:t>구조를 정리하는 시간입니다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37448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우리가 만들었던 선형 회귀를 떠올려봅시다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입력을 받아 가중합을 계산하고 출력했습니다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로지스틱 회귀는 여기에 </a:t>
            </a:r>
            <a:r>
              <a:rPr lang="ko-KR" altLang="en-US" dirty="0" err="1"/>
              <a:t>시그모이드</a:t>
            </a:r>
            <a:r>
              <a:rPr lang="ko-KR" altLang="en-US" dirty="0"/>
              <a:t> 활성화가 추가된 구조였습니다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구조는 사실 “단일 </a:t>
            </a:r>
            <a:r>
              <a:rPr lang="ko-KR" altLang="en-US" dirty="0" err="1"/>
              <a:t>뉴런”입니다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우리는 이미 단층 신경망을 구현했던 것입니다</a:t>
            </a:r>
            <a:r>
              <a:rPr lang="en-US" altLang="ko-KR" dirty="0"/>
              <a:t>.</a:t>
            </a:r>
          </a:p>
          <a:p>
            <a:r>
              <a:rPr lang="ko-KR" altLang="en-US" dirty="0" err="1"/>
              <a:t>딥러닝은</a:t>
            </a:r>
            <a:r>
              <a:rPr lang="ko-KR" altLang="en-US" dirty="0"/>
              <a:t> 여기서 출발합니다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62142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 err="1"/>
              <a:t>딥러닝은</a:t>
            </a:r>
            <a:r>
              <a:rPr lang="ko-KR" altLang="en-US" dirty="0"/>
              <a:t> 이 단일 뉴런을 여러 층으로 쌓은 구조입니다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은닉층이 추가되면서 표현력이 크게 증가합니다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그리고 학습 방식은 우리가 이미 배운 것과 동일합니다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손실 함수 → </a:t>
            </a:r>
            <a:r>
              <a:rPr lang="ko-KR" altLang="en-US" dirty="0" err="1"/>
              <a:t>역전파</a:t>
            </a:r>
            <a:r>
              <a:rPr lang="ko-KR" altLang="en-US" dirty="0"/>
              <a:t> → </a:t>
            </a:r>
            <a:r>
              <a:rPr lang="ko-KR" altLang="en-US" dirty="0" err="1"/>
              <a:t>경사하강법</a:t>
            </a:r>
            <a:endParaRPr lang="ko-KR" altLang="en-US" dirty="0"/>
          </a:p>
          <a:p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원리는 바뀌지 않았습니다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구조만 </a:t>
            </a:r>
            <a:r>
              <a:rPr lang="ko-KR" altLang="en-US" dirty="0" err="1"/>
              <a:t>깊어졌을</a:t>
            </a:r>
            <a:r>
              <a:rPr lang="ko-KR" altLang="en-US" dirty="0"/>
              <a:t> 뿐입니다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299338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층이 많아질수록 파라미터 수가 증가합니다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그래서 더 많은 데이터와 </a:t>
            </a:r>
            <a:r>
              <a:rPr lang="ko-KR" altLang="en-US" dirty="0" err="1"/>
              <a:t>연산량이</a:t>
            </a:r>
            <a:r>
              <a:rPr lang="ko-KR" altLang="en-US" dirty="0"/>
              <a:t> 필요합니다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대신 </a:t>
            </a:r>
            <a:r>
              <a:rPr lang="en-US" altLang="ko-KR" dirty="0"/>
              <a:t>end-to-end </a:t>
            </a:r>
            <a:r>
              <a:rPr lang="ko-KR" altLang="en-US" dirty="0"/>
              <a:t>학습이 가능합니다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우리가 특징을 설계하지 않아도</a:t>
            </a:r>
            <a:r>
              <a:rPr lang="en-US" altLang="ko-KR" dirty="0"/>
              <a:t>, </a:t>
            </a:r>
            <a:r>
              <a:rPr lang="ko-KR" altLang="en-US" dirty="0"/>
              <a:t>모델이 스스로 특징을 학습합니다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1395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선형 회귀 </a:t>
            </a:r>
            <a:r>
              <a:rPr lang="en-US" altLang="ko-KR" dirty="0"/>
              <a:t>1</a:t>
            </a:r>
            <a:r>
              <a:rPr lang="ko-KR" altLang="en-US" dirty="0"/>
              <a:t>개 </a:t>
            </a:r>
            <a:r>
              <a:rPr lang="en-US" altLang="ko-KR" dirty="0"/>
              <a:t>-&gt; </a:t>
            </a:r>
            <a:r>
              <a:rPr lang="ko-KR" altLang="en-US" dirty="0"/>
              <a:t>뉴런 </a:t>
            </a:r>
            <a:r>
              <a:rPr lang="en-US" altLang="ko-KR" dirty="0"/>
              <a:t>1</a:t>
            </a:r>
            <a:r>
              <a:rPr lang="ko-KR" altLang="en-US" dirty="0"/>
              <a:t>개</a:t>
            </a:r>
            <a:endParaRPr lang="en-US" altLang="ko-KR" dirty="0"/>
          </a:p>
          <a:p>
            <a:r>
              <a:rPr lang="ko-KR" altLang="en-US" dirty="0"/>
              <a:t>여러 개 쌓으면 </a:t>
            </a:r>
            <a:r>
              <a:rPr lang="en-US" altLang="ko-KR" dirty="0"/>
              <a:t>FNN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이것이 가장 기본적인 다층 구조</a:t>
            </a:r>
            <a:r>
              <a:rPr lang="en-US" altLang="ko-KR" dirty="0"/>
              <a:t>, FNN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우리가 만든 단일 뉴런을 여러 개 쌓은 형태라고 보면 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일반적인 분류와 회귀 문제에 사용됩니다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한계가 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966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모델은 데이터 구조의 한계를 해결하기 위해 발전해왔습니다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FNN</a:t>
            </a:r>
            <a:r>
              <a:rPr lang="ko-KR" altLang="en-US" dirty="0"/>
              <a:t>은 공간 구조를 잘 반영하지 못합니다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그래서 </a:t>
            </a:r>
            <a:r>
              <a:rPr lang="en-US" altLang="ko-KR" dirty="0"/>
              <a:t>CNN</a:t>
            </a:r>
            <a:r>
              <a:rPr lang="ko-KR" altLang="en-US" dirty="0"/>
              <a:t>이 등장합니다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순차 데이터를 잘 처리하지 못합니다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그래서 </a:t>
            </a:r>
            <a:r>
              <a:rPr lang="en-US" altLang="ko-KR" dirty="0"/>
              <a:t>RNN</a:t>
            </a:r>
            <a:r>
              <a:rPr lang="ko-KR" altLang="en-US" dirty="0"/>
              <a:t>이 등장합니다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RNN</a:t>
            </a:r>
            <a:r>
              <a:rPr lang="ko-KR" altLang="en-US" dirty="0"/>
              <a:t>은 장기 의존성 문제가 있습니다</a:t>
            </a:r>
            <a:r>
              <a:rPr lang="en-US" altLang="ko-KR" dirty="0"/>
              <a:t>. (</a:t>
            </a:r>
            <a:r>
              <a:rPr lang="ko-KR" altLang="en-US" dirty="0"/>
              <a:t>학습 내용이나 시퀀스의 앞 부분을 잊어버리는 현상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ko-KR" altLang="en-US" dirty="0"/>
              <a:t>그래서 </a:t>
            </a:r>
            <a:r>
              <a:rPr lang="en-US" altLang="ko-KR" dirty="0"/>
              <a:t>Transformer</a:t>
            </a:r>
            <a:r>
              <a:rPr lang="ko-KR" altLang="en-US" dirty="0"/>
              <a:t>가 등장합니다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 흐름이 딥러닝 모델의 진화입니다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6322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FNN</a:t>
            </a:r>
            <a:r>
              <a:rPr lang="ko-KR" altLang="en-US" dirty="0"/>
              <a:t>이 공간 구조를 못 다뤄서 등장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CNN</a:t>
            </a:r>
            <a:r>
              <a:rPr lang="ko-KR" altLang="en-US" dirty="0"/>
              <a:t>은 이미지처럼 공간 구조가 중요한 데이터에서 등장했습니다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필터를 사용해 지역적 특징을 추출합니다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파라미터를 공유하기 때문에 </a:t>
            </a:r>
            <a:r>
              <a:rPr lang="en-US" altLang="ko-KR" dirty="0"/>
              <a:t>FNN</a:t>
            </a:r>
            <a:r>
              <a:rPr lang="ko-KR" altLang="en-US" dirty="0"/>
              <a:t>보다 효율적입니다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이미지 분류</a:t>
            </a:r>
            <a:r>
              <a:rPr lang="en-US" altLang="ko-KR" dirty="0"/>
              <a:t>, </a:t>
            </a:r>
            <a:r>
              <a:rPr lang="ko-KR" altLang="en-US" dirty="0"/>
              <a:t>객체 탐지 등에 사용됩니다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79661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CNN</a:t>
            </a:r>
            <a:r>
              <a:rPr lang="ko-KR" altLang="en-US" dirty="0"/>
              <a:t>은 순서를 기억하지 못한다</a:t>
            </a:r>
            <a:endParaRPr lang="en-US" altLang="ko-KR" dirty="0"/>
          </a:p>
          <a:p>
            <a:r>
              <a:rPr lang="ko-KR" altLang="en-US" dirty="0"/>
              <a:t>그래서 등장한 구조 </a:t>
            </a:r>
            <a:r>
              <a:rPr lang="en-US" altLang="ko-KR" dirty="0"/>
              <a:t>RNN</a:t>
            </a:r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RNN</a:t>
            </a:r>
            <a:r>
              <a:rPr lang="ko-KR" altLang="en-US" dirty="0"/>
              <a:t>은 순차 데이터를 처리하기 위해 등장했습니다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이전 정보를 기억하며 다음 입력에 반영합니다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감정 분석</a:t>
            </a:r>
            <a:r>
              <a:rPr lang="en-US" altLang="ko-KR" dirty="0"/>
              <a:t>, </a:t>
            </a:r>
            <a:r>
              <a:rPr lang="ko-KR" altLang="en-US" dirty="0"/>
              <a:t>번역</a:t>
            </a:r>
            <a:r>
              <a:rPr lang="en-US" altLang="ko-KR" dirty="0"/>
              <a:t>, </a:t>
            </a:r>
            <a:r>
              <a:rPr lang="ko-KR" altLang="en-US" dirty="0"/>
              <a:t>시계열 예측 등에 사용됩니다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하지만 입력이 길어질수록 앞 정보가 사라지는 장기 의존성 문제가 있습니다</a:t>
            </a:r>
            <a:r>
              <a:rPr lang="en-US" altLang="ko-KR" dirty="0"/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39634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Attention </a:t>
            </a:r>
            <a:r>
              <a:rPr lang="ko-KR" altLang="en-US" dirty="0"/>
              <a:t>개념 설명</a:t>
            </a:r>
          </a:p>
          <a:p>
            <a:r>
              <a:rPr lang="ko-KR" altLang="en-US" dirty="0"/>
              <a:t>입력 간의 관계를 동시에 계산합니다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57499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  <a:p>
            <a:r>
              <a:rPr lang="en-US" altLang="ko-KR" dirty="0"/>
              <a:t>RNN </a:t>
            </a:r>
            <a:r>
              <a:rPr lang="ko-KR" altLang="en-US" dirty="0"/>
              <a:t>한계 해결</a:t>
            </a:r>
          </a:p>
          <a:p>
            <a:r>
              <a:rPr lang="ko-KR" altLang="en-US" dirty="0"/>
              <a:t>병렬 처리 가능</a:t>
            </a:r>
            <a:br>
              <a:rPr lang="ko-KR" altLang="en-US" dirty="0"/>
            </a:br>
            <a:r>
              <a:rPr lang="ko-KR" altLang="en-US" dirty="0"/>
              <a:t>장기 의존성 문제 해결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15041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  <a:p>
            <a:r>
              <a:rPr lang="ko-KR" altLang="en-US" dirty="0"/>
              <a:t>현재 표준 구조</a:t>
            </a:r>
          </a:p>
          <a:p>
            <a:r>
              <a:rPr lang="en-US" altLang="ko-KR" dirty="0"/>
              <a:t>BERT, GPT </a:t>
            </a:r>
            <a:r>
              <a:rPr lang="ko-KR" altLang="en-US" dirty="0"/>
              <a:t>등 대형 모델 기반 구조</a:t>
            </a:r>
            <a:br>
              <a:rPr lang="ko-KR" altLang="en-US" dirty="0"/>
            </a:br>
            <a:r>
              <a:rPr lang="ko-KR" altLang="en-US" dirty="0"/>
              <a:t>자연어뿐 아니라 이미지</a:t>
            </a:r>
            <a:r>
              <a:rPr lang="en-US" altLang="ko-KR" dirty="0"/>
              <a:t>, </a:t>
            </a:r>
            <a:r>
              <a:rPr lang="ko-KR" altLang="en-US"/>
              <a:t>음성 등 확장</a:t>
            </a:r>
          </a:p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9E5BFC-1559-42F1-8940-AB342D56BF02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05794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2EE83-52CB-E118-49CB-3EBDD6EF2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0F83B01-3943-C359-9322-8EB719FB82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2F259CF-8156-0FB2-87BB-C2421F329E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01DD34-5BFE-877A-E657-9B3A6B1B5C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0085365-8376-4996-BDD6-F39608FADAF3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1645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23501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09223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pPr/>
              <a:t>2026-02-20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19258741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009D0C-0730-3FA7-D006-7345AAB817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BAF2A3-6AB5-1035-43BF-2D5011F42D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1FB6271-4BE0-0899-E10F-BEDE57F775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2BEE3F-2E9A-4FD8-8B8A-8619F3E161C0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7396ACF-33BF-8F05-8A89-B4A950B2B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5E491FF2-4362-D667-E80C-A0CD33AA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702327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F1932D-9408-4B70-B995-B65AD315E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788" y="1"/>
            <a:ext cx="10515600" cy="1145406"/>
          </a:xfrm>
        </p:spPr>
        <p:txBody>
          <a:bodyPr>
            <a:normAutofit/>
          </a:bodyPr>
          <a:lstStyle>
            <a:lvl1pPr>
              <a:defRPr sz="4800">
                <a:latin typeface="Pretendard Black" panose="02000A03000000020004" pitchFamily="2" charset="-127"/>
                <a:ea typeface="Pretendard Black" panose="02000A03000000020004" pitchFamily="2" charset="-127"/>
                <a:cs typeface="Pretendard Black" panose="02000A03000000020004" pitchFamily="2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757714-0D4F-E274-0B81-419878505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7" y="1511166"/>
            <a:ext cx="11701221" cy="4665797"/>
          </a:xfrm>
        </p:spPr>
        <p:txBody>
          <a:bodyPr lIns="90000" rIns="90000"/>
          <a:lstStyle>
            <a:lvl1pPr marL="228600" indent="-228600">
              <a:lnSpc>
                <a:spcPct val="120000"/>
              </a:lnSpc>
              <a:buFont typeface="Wingdings" panose="05000000000000000000" pitchFamily="2" charset="2"/>
              <a:buChar char="§"/>
              <a:defRPr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>
              <a:lnSpc>
                <a:spcPct val="120000"/>
              </a:lnSpc>
              <a:defRPr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9" name="날짜 개체 틀 8">
            <a:extLst>
              <a:ext uri="{FF2B5EF4-FFF2-40B4-BE49-F238E27FC236}">
                <a16:creationId xmlns:a16="http://schemas.microsoft.com/office/drawing/2014/main" id="{2A9EA12E-03D9-7F07-36B9-45CCAAFB0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10" name="바닥글 개체 틀 9">
            <a:extLst>
              <a:ext uri="{FF2B5EF4-FFF2-40B4-BE49-F238E27FC236}">
                <a16:creationId xmlns:a16="http://schemas.microsoft.com/office/drawing/2014/main" id="{73549C7E-B7CA-2916-680F-BE948DD7C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502BC9AC-AD9B-31DE-3356-B3228C35F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2728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7" name="그림 개체 틀 6"/>
          <p:cNvSpPr>
            <a:spLocks noGrp="1"/>
          </p:cNvSpPr>
          <p:nvPr>
            <p:ph type="pic" sz="quarter" idx="13"/>
          </p:nvPr>
        </p:nvSpPr>
        <p:spPr>
          <a:xfrm>
            <a:off x="838200" y="1930400"/>
            <a:ext cx="10515600" cy="442595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4C1235-ECD8-45EF-A491-D87AB5849B8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F5E23C3-0E3D-4E4E-8486-D7FB4C073DC1}" type="datetime1">
              <a:rPr lang="ko-KR" altLang="en-US" smtClean="0"/>
              <a:pPr/>
              <a:t>2026-02-20</a:t>
            </a:fld>
            <a:endParaRPr lang="ko-KR" altLang="en-US" dirty="0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F613B58-6057-4476-7DF4-335938A153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55D03663-69E4-5E86-E2CF-1E5CB45A8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99184632"/>
      </p:ext>
    </p:extLst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pPr/>
              <a:t>2026-02-20</a:t>
            </a:fld>
            <a:endParaRPr lang="ko-KR" altLang="en-US" dirty="0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023C6AD9-4778-56CA-F759-7A32EFD840E2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3986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0FFFA81-23D3-040A-78B0-48B808FA7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9EC21FE-078C-940B-0151-04DDA663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14AD115-409A-442E-434C-D90831860530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2AEF0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그래픽, 그래픽 디자인, 폰트, 스크린샷이(가) 표시된 사진&#10;&#10;자동 생성된 설명">
            <a:extLst>
              <a:ext uri="{FF2B5EF4-FFF2-40B4-BE49-F238E27FC236}">
                <a16:creationId xmlns:a16="http://schemas.microsoft.com/office/drawing/2014/main" id="{C1FCC00F-7B12-D0C7-C8FF-2632DB2F21B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3752" y="126744"/>
            <a:ext cx="1557011" cy="334766"/>
          </a:xfrm>
          <a:prstGeom prst="rect">
            <a:avLst/>
          </a:prstGeom>
        </p:spPr>
      </p:pic>
      <p:sp>
        <p:nvSpPr>
          <p:cNvPr id="12" name="날짜 개체 틀 11">
            <a:extLst>
              <a:ext uri="{FF2B5EF4-FFF2-40B4-BE49-F238E27FC236}">
                <a16:creationId xmlns:a16="http://schemas.microsoft.com/office/drawing/2014/main" id="{CA45D7C8-4A0F-13D7-9F9C-7A4D3AB80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991" y="647001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F5E23C3-0E3D-4E4E-8486-D7FB4C073DC1}" type="datetime1">
              <a:rPr lang="ko-KR" altLang="en-US" smtClean="0"/>
              <a:pPr/>
              <a:t>2026-02-20</a:t>
            </a:fld>
            <a:endParaRPr lang="ko-KR" altLang="en-US" dirty="0"/>
          </a:p>
        </p:txBody>
      </p:sp>
      <p:sp>
        <p:nvSpPr>
          <p:cNvPr id="13" name="바닥글 개체 틀 12">
            <a:extLst>
              <a:ext uri="{FF2B5EF4-FFF2-40B4-BE49-F238E27FC236}">
                <a16:creationId xmlns:a16="http://schemas.microsoft.com/office/drawing/2014/main" id="{6BF42AC9-BE86-7782-13FD-7864483A17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1717F22-7FAF-5E74-F536-7D7AA49A51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09809" y="6461063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3A2CE0-18CD-4102-B738-4ACFF9E68B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A72B154-9B8C-E7FF-80ED-72C1CA1F70ED}"/>
              </a:ext>
            </a:extLst>
          </p:cNvPr>
          <p:cNvSpPr/>
          <p:nvPr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933C66-A987-35DC-6C51-368D59E3B2DD}"/>
              </a:ext>
            </a:extLst>
          </p:cNvPr>
          <p:cNvSpPr/>
          <p:nvPr userDrawn="1"/>
        </p:nvSpPr>
        <p:spPr>
          <a:xfrm>
            <a:off x="0" y="6415344"/>
            <a:ext cx="12192000" cy="45719"/>
          </a:xfrm>
          <a:prstGeom prst="rect">
            <a:avLst/>
          </a:prstGeom>
          <a:solidFill>
            <a:srgbClr val="00F209"/>
          </a:solidFill>
          <a:ln>
            <a:solidFill>
              <a:srgbClr val="00F209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G마켓 산스 TTF Medium" panose="02000000000000000000" pitchFamily="2" charset="-127"/>
              <a:ea typeface="G마켓 산스 TTF Medium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51624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</p:sldLayoutIdLst>
  <p:hf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Pretendard Black" panose="02000A03000000020004" pitchFamily="2" charset="-127"/>
          <a:ea typeface="Pretendard Black" panose="02000A03000000020004" pitchFamily="2" charset="-127"/>
          <a:cs typeface="Pretendard Black" panose="02000A03000000020004" pitchFamily="2" charset="-127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retendard Medium" panose="02000603000000020004" pitchFamily="2" charset="-127"/>
          <a:ea typeface="Pretendard Medium" panose="02000603000000020004" pitchFamily="2" charset="-127"/>
          <a:cs typeface="Pretendard Medium" panose="02000603000000020004" pitchFamily="2" charset="-127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retendard Light" panose="02000403000000020004" pitchFamily="2" charset="-127"/>
          <a:ea typeface="Pretendard Light" panose="02000403000000020004" pitchFamily="2" charset="-127"/>
          <a:cs typeface="Pretendard Light" panose="02000403000000020004" pitchFamily="2" charset="-127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60">
          <p15:clr>
            <a:srgbClr val="F26B43"/>
          </p15:clr>
        </p15:guide>
        <p15:guide id="4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en.wikipedia.org/wiki/Convolutional_neural_network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EFE122-E831-904C-0AAE-87F481BD3A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00561" y="2541087"/>
            <a:ext cx="853440" cy="935038"/>
          </a:xfrm>
        </p:spPr>
        <p:txBody>
          <a:bodyPr/>
          <a:lstStyle/>
          <a:p>
            <a:r>
              <a:rPr lang="en-US" altLang="ko-KR" b="1" dirty="0">
                <a:latin typeface="메이플스토리" panose="020B0600000101010101" charset="-127"/>
                <a:ea typeface="메이플스토리" panose="020B0600000101010101" charset="-127"/>
              </a:rPr>
              <a:t>x</a:t>
            </a:r>
            <a:endParaRPr lang="ko-KR" altLang="en-US" b="1" dirty="0">
              <a:solidFill>
                <a:srgbClr val="0070C0"/>
              </a:solidFill>
              <a:latin typeface="메이플스토리" panose="020B0600000101010101" charset="-127"/>
              <a:ea typeface="메이플스토리" panose="020B0600000101010101" charset="-127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C9A9E68-1C40-179C-9126-E3D84DE20A0A}"/>
              </a:ext>
            </a:extLst>
          </p:cNvPr>
          <p:cNvGrpSpPr/>
          <p:nvPr/>
        </p:nvGrpSpPr>
        <p:grpSpPr>
          <a:xfrm>
            <a:off x="2251608" y="2636151"/>
            <a:ext cx="7688784" cy="944801"/>
            <a:chOff x="2377440" y="2657237"/>
            <a:chExt cx="7688784" cy="944801"/>
          </a:xfrm>
        </p:grpSpPr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CE78D3EA-D15D-AC23-FCDE-3921C42927A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69307" y="2667000"/>
              <a:ext cx="2996917" cy="935038"/>
            </a:xfrm>
            <a:prstGeom prst="rect">
              <a:avLst/>
            </a:prstGeom>
          </p:spPr>
        </p:pic>
        <p:pic>
          <p:nvPicPr>
            <p:cNvPr id="10" name="그림 9" descr="그래픽, 그래픽 디자인, 폰트, 스크린샷이(가) 표시된 사진&#10;&#10;자동 생성된 설명">
              <a:extLst>
                <a:ext uri="{FF2B5EF4-FFF2-40B4-BE49-F238E27FC236}">
                  <a16:creationId xmlns:a16="http://schemas.microsoft.com/office/drawing/2014/main" id="{A611E206-8734-8C1B-C7A0-99730D8C0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77440" y="2657237"/>
              <a:ext cx="3459480" cy="744910"/>
            </a:xfrm>
            <a:prstGeom prst="rect">
              <a:avLst/>
            </a:prstGeom>
          </p:spPr>
        </p:pic>
      </p:grpSp>
      <p:sp>
        <p:nvSpPr>
          <p:cNvPr id="8" name="부제목 2">
            <a:extLst>
              <a:ext uri="{FF2B5EF4-FFF2-40B4-BE49-F238E27FC236}">
                <a16:creationId xmlns:a16="http://schemas.microsoft.com/office/drawing/2014/main" id="{DB4B2667-B3F4-F4E7-4A87-A3477312E2B1}"/>
              </a:ext>
            </a:extLst>
          </p:cNvPr>
          <p:cNvSpPr txBox="1">
            <a:spLocks/>
          </p:cNvSpPr>
          <p:nvPr/>
        </p:nvSpPr>
        <p:spPr>
          <a:xfrm>
            <a:off x="5194406" y="3686684"/>
            <a:ext cx="4316585" cy="530087"/>
          </a:xfrm>
          <a:prstGeom prst="rect">
            <a:avLst/>
          </a:prstGeom>
        </p:spPr>
        <p:txBody>
          <a:bodyPr vert="horz" wrap="square" lIns="91440" tIns="45720" rIns="91440" bIns="45720" rtlCol="0">
            <a:normAutofit fontScale="85000" lnSpcReduction="10000"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retendard Medium" panose="02000603000000020004" pitchFamily="2" charset="-127"/>
                <a:ea typeface="Pretendard Medium" panose="02000603000000020004" pitchFamily="2" charset="-127"/>
                <a:cs typeface="Pretendard Medium" panose="02000603000000020004" pitchFamily="2" charset="-127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신재생에너지 </a:t>
            </a:r>
            <a:r>
              <a:rPr lang="en-US" altLang="ko-KR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IoT </a:t>
            </a:r>
            <a:r>
              <a:rPr lang="ko-KR" altLang="en-US" b="1" dirty="0">
                <a:solidFill>
                  <a:srgbClr val="2B2B2B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  <a:cs typeface="Pretendard SemiBold" panose="02000703000000020004" pitchFamily="2" charset="-127"/>
              </a:rPr>
              <a:t>개발자 입문 과정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B0D367-DE04-26A9-6CB6-502ED4BB2F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9943" y="3670957"/>
            <a:ext cx="2303166" cy="34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806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49C4C8-3D15-C804-0CF3-ED01E5EA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CB0D294-EE40-E43D-51E3-B9FE1EAF8A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3196807" y="2600493"/>
            <a:ext cx="579838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6000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딥러닝 </a:t>
            </a:r>
            <a:r>
              <a:rPr lang="ko-KR" altLang="en-US" sz="600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모델 개요</a:t>
            </a:r>
            <a:endParaRPr lang="en-US" altLang="ko-KR" sz="6000" dirty="0">
              <a:solidFill>
                <a:schemeClr val="accent2"/>
              </a:solidFill>
              <a:latin typeface="G마켓 산스 TTF Bold" panose="02000000000000000000" pitchFamily="2" charset="-127"/>
              <a:ea typeface="G마켓 산스 TTF Bold" panose="020000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6621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37D2CC-43C4-4426-25BF-F9C728F506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우리가 구현한 모델과 </a:t>
            </a:r>
            <a:r>
              <a:rPr lang="ko-KR" altLang="en-US" dirty="0" err="1"/>
              <a:t>딥러닝의</a:t>
            </a:r>
            <a:r>
              <a:rPr lang="ko-KR" altLang="en-US" dirty="0"/>
              <a:t> 관계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5E4D3AA-115F-BA8A-8269-4067DBBC70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선형 회귀 </a:t>
            </a:r>
            <a:r>
              <a:rPr lang="en-US" altLang="ko-KR" dirty="0"/>
              <a:t>= </a:t>
            </a:r>
            <a:r>
              <a:rPr lang="ko-KR" altLang="en-US" dirty="0"/>
              <a:t>단일 뉴런 </a:t>
            </a:r>
            <a:r>
              <a:rPr lang="en-US" altLang="ko-KR" dirty="0"/>
              <a:t>(</a:t>
            </a:r>
            <a:r>
              <a:rPr lang="ko-KR" altLang="en-US" dirty="0"/>
              <a:t>입력 </a:t>
            </a:r>
            <a:r>
              <a:rPr lang="en-US" altLang="ko-KR" dirty="0"/>
              <a:t>-&gt; </a:t>
            </a:r>
            <a:r>
              <a:rPr lang="ko-KR" altLang="en-US" dirty="0" err="1"/>
              <a:t>가중합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출력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로지스틱 회귀 </a:t>
            </a:r>
            <a:r>
              <a:rPr lang="en-US" altLang="ko-KR" dirty="0"/>
              <a:t>= </a:t>
            </a:r>
            <a:r>
              <a:rPr lang="ko-KR" altLang="en-US" dirty="0"/>
              <a:t>단일 뉴런 </a:t>
            </a:r>
            <a:r>
              <a:rPr lang="en-US" altLang="ko-KR" dirty="0"/>
              <a:t>+ </a:t>
            </a:r>
            <a:r>
              <a:rPr lang="ko-KR" altLang="en-US" dirty="0"/>
              <a:t>활성화 </a:t>
            </a:r>
            <a:r>
              <a:rPr lang="en-US" altLang="ko-KR" dirty="0"/>
              <a:t>(</a:t>
            </a:r>
            <a:r>
              <a:rPr lang="ko-KR" altLang="en-US" dirty="0"/>
              <a:t>입력 </a:t>
            </a:r>
            <a:r>
              <a:rPr lang="en-US" altLang="ko-KR" dirty="0"/>
              <a:t>-&gt; </a:t>
            </a:r>
            <a:r>
              <a:rPr lang="ko-KR" altLang="en-US" dirty="0" err="1"/>
              <a:t>가중합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 err="1"/>
              <a:t>시그모이드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출력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단층 신경망을 구현한 것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936610C-6ED6-C3DB-CC25-4EAABF7ED1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825E44F-A27E-B4C4-C406-76E6E0D21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5957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165FA-6F56-C3C7-2403-F9E289E5B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딥러닝 모델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FB50BB-423A-97AC-3219-7C6490CC5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515600" cy="4864222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주요 특징</a:t>
            </a:r>
            <a:endParaRPr lang="en-US" altLang="ko-KR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/>
              <a:t>계층적인 구조</a:t>
            </a:r>
            <a:endParaRPr lang="en-US" altLang="ko-KR" b="1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여러 개의 은닉층으로 구성되어 있음</a:t>
            </a:r>
            <a:r>
              <a:rPr lang="en-US" altLang="ko-KR" dirty="0"/>
              <a:t>. 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각 은닉층은 이전 층의 출력을 입력으로 받아 새로운 특징을 학습</a:t>
            </a:r>
            <a:r>
              <a:rPr lang="en-US" altLang="ko-KR" dirty="0"/>
              <a:t>. </a:t>
            </a:r>
          </a:p>
          <a:p>
            <a:pPr lvl="2">
              <a:lnSpc>
                <a:spcPct val="150000"/>
              </a:lnSpc>
            </a:pPr>
            <a:r>
              <a:rPr lang="ko-KR" altLang="en-US" dirty="0"/>
              <a:t>계층적인 구조를 통해서 복잡한 패턴과 추상적인 특징 학습</a:t>
            </a:r>
            <a:endParaRPr lang="en-US" altLang="ko-KR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/>
            </a:pPr>
            <a:r>
              <a:rPr lang="ko-KR" altLang="en-US" b="1" dirty="0" err="1"/>
              <a:t>역전파</a:t>
            </a:r>
            <a:r>
              <a:rPr lang="ko-KR" altLang="en-US" b="1" dirty="0"/>
              <a:t> 알고리즘</a:t>
            </a:r>
            <a:endParaRPr lang="en-US" altLang="ko-KR" b="1" dirty="0"/>
          </a:p>
          <a:p>
            <a:pPr lvl="2">
              <a:lnSpc>
                <a:spcPct val="150000"/>
              </a:lnSpc>
            </a:pPr>
            <a:r>
              <a:rPr lang="ko-KR" altLang="en-US" dirty="0" err="1"/>
              <a:t>역전파</a:t>
            </a:r>
            <a:r>
              <a:rPr lang="ko-KR" altLang="en-US" dirty="0"/>
              <a:t> 알고리즘을 사용하여 모델의 가중치와 편향을 조정</a:t>
            </a:r>
            <a:endParaRPr lang="en-US" altLang="ko-KR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출력과 실제 값 사이의 오차를 역으로 전파하여 각층의 가중치를 업데이트하고</a:t>
            </a:r>
            <a:r>
              <a:rPr lang="en-US" altLang="ko-KR" dirty="0"/>
              <a:t>, </a:t>
            </a:r>
            <a:r>
              <a:rPr lang="ko-KR" altLang="en-US" dirty="0"/>
              <a:t>이를 반복하여 모델을 학습시킴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9192D6-A651-FA85-BC2D-858B45C9E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FA0FF6-92A7-7D16-CDB4-84A3FBC03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62333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A165FA-6F56-C3C7-2403-F9E289E5B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/>
              <a:t>딥러닝 모델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FB50BB-423A-97AC-3219-7C6490CC5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466579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dirty="0"/>
              <a:t>✅ 주요 특징</a:t>
            </a:r>
            <a:endParaRPr lang="en-US" altLang="ko-KR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b="1" dirty="0"/>
              <a:t>대량의 데이터와 연산</a:t>
            </a:r>
            <a:endParaRPr lang="en-US" altLang="ko-KR" b="1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대량의 데이터와 많은 연산이 필요</a:t>
            </a:r>
            <a:endParaRPr lang="en-US" altLang="ko-KR" dirty="0"/>
          </a:p>
          <a:p>
            <a:pPr marL="914400" lvl="1" indent="-457200">
              <a:lnSpc>
                <a:spcPct val="150000"/>
              </a:lnSpc>
              <a:buFont typeface="+mj-lt"/>
              <a:buAutoNum type="arabicPeriod" startAt="3"/>
            </a:pPr>
            <a:r>
              <a:rPr lang="ko-KR" altLang="en-US" b="1" dirty="0"/>
              <a:t>종단간 학습</a:t>
            </a:r>
            <a:endParaRPr lang="en-US" altLang="ko-KR" b="1" dirty="0"/>
          </a:p>
          <a:p>
            <a:pPr lvl="2">
              <a:lnSpc>
                <a:spcPct val="150000"/>
              </a:lnSpc>
            </a:pPr>
            <a:r>
              <a:rPr lang="ko-KR" altLang="en-US" dirty="0"/>
              <a:t>입력데이터와 출력 데이터만을 사용하여 모델을 학습시킬 수 있음</a:t>
            </a:r>
            <a:r>
              <a:rPr lang="en-US" altLang="ko-KR" dirty="0"/>
              <a:t>(end-to-end)</a:t>
            </a:r>
          </a:p>
          <a:p>
            <a:pPr marL="914400" lvl="2" indent="0">
              <a:lnSpc>
                <a:spcPct val="150000"/>
              </a:lnSpc>
              <a:buNone/>
            </a:pPr>
            <a:endParaRPr lang="ko-KR" altLang="en-US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9192D6-A651-FA85-BC2D-858B45C9E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9FA0FF6-92A7-7D16-CDB4-84A3FBC03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257344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FB394F-46E9-11B0-D9BF-D8094C4D9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FNN</a:t>
            </a:r>
            <a:r>
              <a:rPr lang="en-US" altLang="ko-KR" sz="4000" b="1" dirty="0"/>
              <a:t>(</a:t>
            </a:r>
            <a:r>
              <a:rPr lang="en-US" altLang="ko-KR" sz="4000" b="1" dirty="0" err="1"/>
              <a:t>Feedforward</a:t>
            </a:r>
            <a:r>
              <a:rPr lang="en-US" altLang="ko-KR" sz="4000" b="1" dirty="0"/>
              <a:t> Neural Network)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3820EF-58B1-1360-C320-373184ED8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0983410" cy="2765130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💡 </a:t>
            </a:r>
            <a:r>
              <a:rPr lang="ko-KR" altLang="en-US" sz="2400" dirty="0"/>
              <a:t>입력층에서 출력층으로 신호가 한 방향으로만 전달되는 가장 기본적인 인공 신경망 구조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데이터가 입력층에서 시작해 </a:t>
            </a:r>
            <a:r>
              <a:rPr lang="ko-KR" altLang="en-US" sz="2000" dirty="0" err="1">
                <a:latin typeface="+mn-ea"/>
              </a:rPr>
              <a:t>은닉층</a:t>
            </a:r>
            <a:r>
              <a:rPr lang="en-US" altLang="ko-KR" sz="2000" dirty="0">
                <a:latin typeface="+mn-ea"/>
              </a:rPr>
              <a:t>(hidden layer)</a:t>
            </a:r>
            <a:r>
              <a:rPr lang="ko-KR" altLang="en-US" sz="2000" dirty="0">
                <a:latin typeface="+mn-ea"/>
              </a:rPr>
              <a:t>을 거쳐 </a:t>
            </a:r>
            <a:r>
              <a:rPr lang="ko-KR" altLang="en-US" sz="2000" dirty="0" err="1">
                <a:latin typeface="+mn-ea"/>
              </a:rPr>
              <a:t>출력층으로</a:t>
            </a:r>
            <a:r>
              <a:rPr lang="ko-KR" altLang="en-US" sz="2000" dirty="0">
                <a:latin typeface="+mn-ea"/>
              </a:rPr>
              <a:t> 순차적으로 흐름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가장 기본적인 신경망 구조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주로 분류</a:t>
            </a:r>
            <a:r>
              <a:rPr lang="en-US" altLang="ko-KR" sz="2000" dirty="0">
                <a:latin typeface="+mn-ea"/>
              </a:rPr>
              <a:t>(classification)</a:t>
            </a:r>
            <a:r>
              <a:rPr lang="ko-KR" altLang="en-US" sz="2000" dirty="0">
                <a:latin typeface="+mn-ea"/>
              </a:rPr>
              <a:t>와 회귀</a:t>
            </a:r>
            <a:r>
              <a:rPr lang="en-US" altLang="ko-KR" sz="2000" dirty="0">
                <a:latin typeface="+mn-ea"/>
              </a:rPr>
              <a:t>(regression) </a:t>
            </a:r>
            <a:r>
              <a:rPr lang="ko-KR" altLang="en-US" sz="2000" dirty="0">
                <a:latin typeface="+mn-ea"/>
              </a:rPr>
              <a:t>문제에 사용</a:t>
            </a:r>
            <a:r>
              <a:rPr lang="en-US" altLang="ko-KR" sz="20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A4E5A7-5FDA-3F64-1B0F-2D7A4CC03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7C3E34-8AF5-3E90-E54D-E6EC32133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5124" name="Picture 4" descr="19. Neural Network — Learning Apache Spark with Python documentati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6506" y="3586431"/>
            <a:ext cx="6558988" cy="25829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3366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CEB13-D565-E48A-6FB3-59B36CCB2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 발전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E6F3F2AA-B83D-D1EB-53BE-888F6D7950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6504567"/>
              </p:ext>
            </p:extLst>
          </p:nvPr>
        </p:nvGraphicFramePr>
        <p:xfrm>
          <a:off x="675737" y="2514600"/>
          <a:ext cx="10515600" cy="1981200"/>
        </p:xfrm>
        <a:graphic>
          <a:graphicData uri="http://schemas.openxmlformats.org/drawingml/2006/table">
            <a:tbl>
              <a:tblPr firstRow="1">
                <a:tableStyleId>{93296810-A885-4BE3-A3E7-6D5BEEA58F35}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4154536503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1889824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900144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dirty="0"/>
                        <a:t>모델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/>
                        <a:t>해결하려던 문제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/>
                        <a:t>한계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2541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dirty="0"/>
                        <a:t>일반 패턴 학습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dirty="0"/>
                        <a:t>공간</a:t>
                      </a:r>
                      <a:r>
                        <a:rPr lang="en-US" altLang="ko-KR" sz="2000" dirty="0"/>
                        <a:t>/</a:t>
                      </a:r>
                      <a:r>
                        <a:rPr lang="ko-KR" altLang="en-US" sz="2000" dirty="0"/>
                        <a:t>순차 구조 반영 어려움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7975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CNN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dirty="0"/>
                        <a:t>이미지 공간 구조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dirty="0"/>
                        <a:t>긴 순차 처리 어려움</a:t>
                      </a:r>
                      <a:endParaRPr 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16820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RNN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dirty="0"/>
                        <a:t>순차 </a:t>
                      </a:r>
                      <a:r>
                        <a:rPr lang="en-US" altLang="ko-KR" sz="2000" dirty="0"/>
                        <a:t>(</a:t>
                      </a:r>
                      <a:r>
                        <a:rPr lang="ko-KR" altLang="en-US" sz="2000" dirty="0"/>
                        <a:t>시계열</a:t>
                      </a:r>
                      <a:r>
                        <a:rPr lang="en-US" altLang="ko-KR" sz="2000" dirty="0"/>
                        <a:t>/</a:t>
                      </a:r>
                      <a:r>
                        <a:rPr lang="ko-KR" altLang="en-US" sz="2000" dirty="0"/>
                        <a:t>언어</a:t>
                      </a:r>
                      <a:r>
                        <a:rPr lang="en-US" altLang="ko-KR" sz="2000" dirty="0"/>
                        <a:t>)</a:t>
                      </a:r>
                      <a:endParaRPr lang="ko-KR" altLang="en-US" sz="2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 dirty="0"/>
                        <a:t>장기 의존성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695015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ko-KR" altLang="en-US" sz="2000"/>
                        <a:t>장기 의존성 </a:t>
                      </a:r>
                      <a:r>
                        <a:rPr lang="en-US" altLang="ko-KR" sz="2000"/>
                        <a:t>+ </a:t>
                      </a:r>
                      <a:r>
                        <a:rPr lang="ko-KR" altLang="en-US" sz="2000"/>
                        <a:t>병렬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ko-KR" altLang="en-US" sz="2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22901168"/>
                  </a:ext>
                </a:extLst>
              </a:tr>
            </a:tbl>
          </a:graphicData>
        </a:graphic>
      </p:graphicFrame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CA06D2-5D2F-4B07-38DD-B36FFBBE12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78E3E66-3E4F-75AF-35E6-E6ADC97D4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346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>
            <a:extLst>
              <a:ext uri="{FF2B5EF4-FFF2-40B4-BE49-F238E27FC236}">
                <a16:creationId xmlns:a16="http://schemas.microsoft.com/office/drawing/2014/main" id="{4CE4DCDC-6E1D-EDD1-CA51-B6A5E81C1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601" y="3668321"/>
            <a:ext cx="7320793" cy="2252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F3FB394F-46E9-11B0-D9BF-D8094C4D94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CNN</a:t>
            </a:r>
            <a:r>
              <a:rPr lang="en-US" altLang="ko-KR" sz="4000" b="1" dirty="0"/>
              <a:t>(Convolutional Neural Network)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3820EF-58B1-1360-C320-373184ED8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0" y="1145407"/>
            <a:ext cx="11701221" cy="2262588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>
                <a:latin typeface="+mn-ea"/>
              </a:rPr>
              <a:t>💡 </a:t>
            </a:r>
            <a:r>
              <a:rPr lang="ko-KR" altLang="en-US" sz="2400" dirty="0"/>
              <a:t>이미지나 시계열 같은 데이터의 특징을 추출하기 위해 </a:t>
            </a:r>
            <a:r>
              <a:rPr lang="ko-KR" altLang="en-US" sz="2400" dirty="0" err="1"/>
              <a:t>합성곱</a:t>
            </a:r>
            <a:r>
              <a:rPr lang="ko-KR" altLang="en-US" sz="2400" dirty="0"/>
              <a:t> 연산을 사용하는 인공 신경망</a:t>
            </a:r>
            <a:endParaRPr lang="en-US" altLang="ko-KR" sz="2400" dirty="0">
              <a:latin typeface="+mn-ea"/>
            </a:endParaRP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이미지 및 영상 처리에 특화된 신경망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err="1">
                <a:latin typeface="+mn-ea"/>
              </a:rPr>
              <a:t>컨볼루션</a:t>
            </a:r>
            <a:r>
              <a:rPr lang="ko-KR" altLang="en-US" sz="2000" dirty="0">
                <a:latin typeface="+mn-ea"/>
              </a:rPr>
              <a:t> </a:t>
            </a:r>
            <a:r>
              <a:rPr lang="ko-KR" altLang="en-US" sz="2000" dirty="0" err="1">
                <a:latin typeface="+mn-ea"/>
              </a:rPr>
              <a:t>레이어</a:t>
            </a:r>
            <a:r>
              <a:rPr lang="en-US" altLang="ko-KR" sz="2000" dirty="0">
                <a:latin typeface="+mn-ea"/>
              </a:rPr>
              <a:t>(Convolution Layer)</a:t>
            </a:r>
            <a:r>
              <a:rPr lang="ko-KR" altLang="en-US" sz="2000" dirty="0">
                <a:latin typeface="+mn-ea"/>
              </a:rPr>
              <a:t>와 </a:t>
            </a:r>
            <a:r>
              <a:rPr lang="ko-KR" altLang="en-US" sz="2000" dirty="0" err="1">
                <a:latin typeface="+mn-ea"/>
              </a:rPr>
              <a:t>풀링</a:t>
            </a:r>
            <a:r>
              <a:rPr lang="ko-KR" altLang="en-US" sz="2000" dirty="0">
                <a:latin typeface="+mn-ea"/>
              </a:rPr>
              <a:t> </a:t>
            </a:r>
            <a:r>
              <a:rPr lang="ko-KR" altLang="en-US" sz="2000" dirty="0" err="1">
                <a:latin typeface="+mn-ea"/>
              </a:rPr>
              <a:t>레이어</a:t>
            </a:r>
            <a:r>
              <a:rPr lang="en-US" altLang="ko-KR" sz="2000" dirty="0">
                <a:latin typeface="+mn-ea"/>
              </a:rPr>
              <a:t>(Pooling Layer)</a:t>
            </a:r>
            <a:r>
              <a:rPr lang="ko-KR" altLang="en-US" sz="2000" dirty="0">
                <a:latin typeface="+mn-ea"/>
              </a:rPr>
              <a:t>를 통해 </a:t>
            </a:r>
            <a:r>
              <a:rPr lang="ko-KR" altLang="en-US" sz="2000" dirty="0">
                <a:solidFill>
                  <a:srgbClr val="FF0000"/>
                </a:solidFill>
                <a:latin typeface="+mn-ea"/>
              </a:rPr>
              <a:t>특징</a:t>
            </a:r>
            <a:r>
              <a:rPr lang="en-US" altLang="ko-KR" sz="2000" dirty="0">
                <a:latin typeface="+mn-ea"/>
              </a:rPr>
              <a:t>(feature)</a:t>
            </a:r>
            <a:r>
              <a:rPr lang="ko-KR" altLang="en-US" sz="2000" dirty="0">
                <a:latin typeface="+mn-ea"/>
              </a:rPr>
              <a:t>을 추출</a:t>
            </a:r>
            <a:r>
              <a:rPr lang="en-US" altLang="ko-KR" sz="2000" dirty="0">
                <a:latin typeface="+mn-ea"/>
              </a:rPr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+mn-ea"/>
              </a:rPr>
              <a:t>대표적으로 이미지 분류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객체 탐지</a:t>
            </a:r>
            <a:r>
              <a:rPr lang="en-US" altLang="ko-KR" sz="2000" dirty="0">
                <a:latin typeface="+mn-ea"/>
              </a:rPr>
              <a:t>, </a:t>
            </a:r>
            <a:r>
              <a:rPr lang="ko-KR" altLang="en-US" sz="2000" dirty="0">
                <a:latin typeface="+mn-ea"/>
              </a:rPr>
              <a:t>영상 처리 등에서 사용</a:t>
            </a:r>
            <a:r>
              <a:rPr lang="en-US" altLang="ko-KR" sz="20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8A4E5A7-5FDA-3F64-1B0F-2D7A4CC03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57C3E34-8AF5-3E90-E54D-E6EC32133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235C93-842A-E0C4-683B-97C5A60FF9E0}"/>
              </a:ext>
            </a:extLst>
          </p:cNvPr>
          <p:cNvSpPr txBox="1"/>
          <p:nvPr/>
        </p:nvSpPr>
        <p:spPr>
          <a:xfrm>
            <a:off x="4187475" y="6063734"/>
            <a:ext cx="380424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출처</a:t>
            </a:r>
            <a:r>
              <a:rPr lang="en-US" altLang="ko-KR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rPr>
              <a:t>:</a:t>
            </a:r>
            <a:r>
              <a:rPr lang="en-US" altLang="ko-KR" sz="1000" b="0" i="0" u="none" strike="noStrike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https://en.wikipedia.org/wiki/</a:t>
            </a:r>
            <a:r>
              <a:rPr lang="en-US" altLang="ko-KR" sz="1000" b="0" i="0" u="none" strike="noStrike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Convolutional_neural_network</a:t>
            </a:r>
            <a:endParaRPr lang="ko-KR" altLang="en-US" sz="1000" dirty="0">
              <a:solidFill>
                <a:schemeClr val="tx1">
                  <a:lumMod val="50000"/>
                  <a:lumOff val="50000"/>
                </a:schemeClr>
              </a:solidFill>
              <a:latin typeface="Pretendard Light" panose="02000403000000020004" pitchFamily="2" charset="-127"/>
              <a:ea typeface="Pretendard Light" panose="02000403000000020004" pitchFamily="2" charset="-127"/>
              <a:cs typeface="Pretendard Light" panose="02000403000000020004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39704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17EEA-1700-68A7-6D01-92F38632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RNN(Recurrent Neural Network)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27EE51-6539-C4E3-E901-BA804AE94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701221" cy="3902081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순차적인 데이터의 이전 정보를 기억하여 현재 입력 처리에 반영하는 순환 구조의 인공 신경망</a:t>
            </a:r>
            <a:endParaRPr lang="en-US" altLang="ko-KR" sz="2400" dirty="0"/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/>
              <a:t>시간적 데이터</a:t>
            </a:r>
            <a:r>
              <a:rPr lang="en-US" altLang="ko-KR" sz="2000" dirty="0"/>
              <a:t>(</a:t>
            </a:r>
            <a:r>
              <a:rPr lang="ko-KR" altLang="en-US" sz="2000" dirty="0" err="1"/>
              <a:t>시계열</a:t>
            </a:r>
            <a:r>
              <a:rPr lang="en-US" altLang="ko-KR" sz="2000" dirty="0"/>
              <a:t>, </a:t>
            </a:r>
            <a:r>
              <a:rPr lang="ko-KR" altLang="en-US" sz="2000" dirty="0"/>
              <a:t>언어 데이터</a:t>
            </a:r>
            <a:r>
              <a:rPr lang="en-US" altLang="ko-KR" sz="2000" dirty="0"/>
              <a:t>) </a:t>
            </a:r>
            <a:r>
              <a:rPr lang="ko-KR" altLang="en-US" sz="2000" dirty="0"/>
              <a:t>처리에 특화된 신경망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dirty="0"/>
              <a:t>이전 단계의 출력을 다음 단계의 입력으로 사용하여 데이터 간 </a:t>
            </a:r>
            <a:r>
              <a:rPr lang="ko-KR" altLang="en-US" sz="2000" b="1" dirty="0">
                <a:solidFill>
                  <a:srgbClr val="FF0000"/>
                </a:solidFill>
              </a:rPr>
              <a:t>연속성</a:t>
            </a:r>
            <a:r>
              <a:rPr lang="ko-KR" altLang="en-US" sz="2000" dirty="0"/>
              <a:t> 반영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36F977-2F80-A369-4870-4CFEEDC2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AE5165-246F-D448-ADAB-3B880493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9</a:t>
            </a:fld>
            <a:endParaRPr lang="ko-KR" altLang="en-US"/>
          </a:p>
        </p:txBody>
      </p:sp>
      <p:grpSp>
        <p:nvGrpSpPr>
          <p:cNvPr id="10" name="그룹 9"/>
          <p:cNvGrpSpPr/>
          <p:nvPr/>
        </p:nvGrpSpPr>
        <p:grpSpPr>
          <a:xfrm>
            <a:off x="1776906" y="3028713"/>
            <a:ext cx="8625389" cy="2976910"/>
            <a:chOff x="1636211" y="2752560"/>
            <a:chExt cx="8625389" cy="2976910"/>
          </a:xfrm>
        </p:grpSpPr>
        <p:pic>
          <p:nvPicPr>
            <p:cNvPr id="6146" name="Picture 2" descr="Deep Learning] RNN 알고리즘 개념 이해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298"/>
            <a:stretch>
              <a:fillRect/>
            </a:stretch>
          </p:blipFill>
          <p:spPr bwMode="auto">
            <a:xfrm>
              <a:off x="1636211" y="2752560"/>
              <a:ext cx="8625389" cy="29769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직사각형 8"/>
            <p:cNvSpPr/>
            <p:nvPr/>
          </p:nvSpPr>
          <p:spPr>
            <a:xfrm>
              <a:off x="4735285" y="5483249"/>
              <a:ext cx="2414443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[</a:t>
              </a:r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출처</a:t>
              </a:r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] https://heytech.tistory.com/440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42215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17EEA-1700-68A7-6D01-92F38632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/>
              <a:t>RNN(Recurrent Neural Network)</a:t>
            </a:r>
            <a:endParaRPr lang="ko-KR" altLang="en-US" b="1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27EE51-6539-C4E3-E901-BA804AE94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234121"/>
            <a:ext cx="5513745" cy="438975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✅ 활용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자연어 처리</a:t>
            </a:r>
            <a:r>
              <a:rPr lang="en-US" altLang="ko-KR" sz="2000" dirty="0"/>
              <a:t>, </a:t>
            </a:r>
            <a:r>
              <a:rPr lang="ko-KR" altLang="en-US" sz="2000" dirty="0"/>
              <a:t>신호 분류</a:t>
            </a:r>
            <a:r>
              <a:rPr lang="en-US" altLang="ko-KR" sz="2000" dirty="0"/>
              <a:t>, </a:t>
            </a:r>
            <a:r>
              <a:rPr lang="ko-KR" altLang="en-US" sz="2000" dirty="0"/>
              <a:t>비디오 분석등에 사용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일대다 </a:t>
            </a:r>
            <a:r>
              <a:rPr lang="en-US" altLang="ko-KR" sz="2000" dirty="0"/>
              <a:t>: image</a:t>
            </a:r>
            <a:r>
              <a:rPr lang="ko-KR" altLang="en-US" sz="2000" dirty="0"/>
              <a:t> </a:t>
            </a:r>
            <a:r>
              <a:rPr lang="en-US" altLang="ko-KR" sz="2000" dirty="0"/>
              <a:t>to</a:t>
            </a:r>
            <a:r>
              <a:rPr lang="ko-KR" altLang="en-US" sz="2000" dirty="0"/>
              <a:t> </a:t>
            </a:r>
            <a:r>
              <a:rPr lang="en-US" altLang="ko-KR" sz="2000" dirty="0"/>
              <a:t>text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다대일 </a:t>
            </a:r>
            <a:r>
              <a:rPr lang="en-US" altLang="ko-KR" sz="2000" dirty="0"/>
              <a:t>: </a:t>
            </a:r>
            <a:r>
              <a:rPr lang="ko-KR" altLang="en-US" sz="2000" dirty="0"/>
              <a:t>문장 감정 분류</a:t>
            </a:r>
            <a:r>
              <a:rPr lang="en-US" altLang="ko-KR" sz="2000" dirty="0"/>
              <a:t>, </a:t>
            </a:r>
            <a:r>
              <a:rPr lang="ko-KR" altLang="en-US" sz="2000" dirty="0"/>
              <a:t>스팸 메일 분류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다대다 </a:t>
            </a:r>
            <a:r>
              <a:rPr lang="en-US" altLang="ko-KR" sz="2000" dirty="0"/>
              <a:t>: </a:t>
            </a:r>
            <a:r>
              <a:rPr lang="ko-KR" altLang="en-US" sz="2000" dirty="0" err="1"/>
              <a:t>챗봇</a:t>
            </a:r>
            <a:r>
              <a:rPr lang="en-US" altLang="ko-KR" sz="2000" dirty="0"/>
              <a:t>, </a:t>
            </a:r>
            <a:r>
              <a:rPr lang="ko-KR" altLang="en-US" sz="2000" dirty="0"/>
              <a:t>번역기</a:t>
            </a:r>
            <a:endParaRPr lang="en-US" altLang="ko-KR" sz="20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📌 한계 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길어질수록 앞의 정보가 뒤로 충분히 전달되지 못함</a:t>
            </a:r>
            <a:r>
              <a:rPr lang="en-US" altLang="ko-KR" sz="2000" dirty="0"/>
              <a:t>(</a:t>
            </a:r>
            <a:r>
              <a:rPr lang="ko-KR" altLang="en-US" sz="2000" dirty="0"/>
              <a:t>장기 의존성 문제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36F977-2F80-A369-4870-4CFEEDC2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AE5165-246F-D448-ADAB-3B880493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10</a:t>
            </a:fld>
            <a:endParaRPr lang="ko-KR" altLang="en-US"/>
          </a:p>
        </p:txBody>
      </p:sp>
      <p:grpSp>
        <p:nvGrpSpPr>
          <p:cNvPr id="7" name="그룹 6"/>
          <p:cNvGrpSpPr/>
          <p:nvPr/>
        </p:nvGrpSpPr>
        <p:grpSpPr>
          <a:xfrm>
            <a:off x="5929997" y="2417886"/>
            <a:ext cx="5913892" cy="2264888"/>
            <a:chOff x="3120002" y="4159319"/>
            <a:chExt cx="5799885" cy="2205451"/>
          </a:xfrm>
        </p:grpSpPr>
        <p:pic>
          <p:nvPicPr>
            <p:cNvPr id="6" name="Picture 2">
              <a:extLst>
                <a:ext uri="{FF2B5EF4-FFF2-40B4-BE49-F238E27FC236}">
                  <a16:creationId xmlns:a16="http://schemas.microsoft.com/office/drawing/2014/main" id="{9C13C21C-1661-E2D4-94A1-073730185F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0002" y="4159319"/>
              <a:ext cx="5799885" cy="193329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905C17B-3487-410F-49F0-6C27CE7124D1}"/>
                </a:ext>
              </a:extLst>
            </p:cNvPr>
            <p:cNvSpPr txBox="1"/>
            <p:nvPr/>
          </p:nvSpPr>
          <p:spPr>
            <a:xfrm>
              <a:off x="4500352" y="6125011"/>
              <a:ext cx="3039184" cy="23975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출처</a:t>
              </a:r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:https://kr.mathworks.com/discovery/rnn.html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83492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17EEA-1700-68A7-6D01-92F38632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트랜스포머</a:t>
            </a:r>
            <a:r>
              <a:rPr lang="en-US" altLang="ko-KR" b="1" dirty="0"/>
              <a:t>(Transformer)</a:t>
            </a:r>
            <a:r>
              <a:rPr lang="ko-KR" altLang="en-US" b="1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27EE51-6539-C4E3-E901-BA804AE94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964598"/>
            <a:ext cx="7484014" cy="2928803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dirty="0"/>
              <a:t>💡 </a:t>
            </a:r>
            <a:r>
              <a:rPr lang="ko-KR" altLang="en-US" sz="2400" b="1" dirty="0" err="1"/>
              <a:t>어텐션</a:t>
            </a:r>
            <a:r>
              <a:rPr lang="ko-KR" altLang="en-US" sz="2400" b="1" dirty="0"/>
              <a:t> 메커니즘</a:t>
            </a:r>
            <a:r>
              <a:rPr lang="ko-KR" altLang="en-US" sz="2400" dirty="0"/>
              <a:t>을 활용해 입력 전체의 관계를 병렬적으로 </a:t>
            </a:r>
            <a:br>
              <a:rPr lang="en-US" altLang="ko-KR" sz="2400" dirty="0"/>
            </a:br>
            <a:r>
              <a:rPr lang="en-US" altLang="ko-KR" sz="2400" dirty="0"/>
              <a:t>       </a:t>
            </a:r>
            <a:r>
              <a:rPr lang="ko-KR" altLang="en-US" sz="2400" dirty="0"/>
              <a:t>학습하는 인공 신경망 구조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딥러닝 기반의 자연어 처리 및 시퀀스 모델링에 사용되는 모델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en-US" altLang="ko-KR" sz="2000" dirty="0"/>
              <a:t>2017</a:t>
            </a:r>
            <a:r>
              <a:rPr lang="ko-KR" altLang="en-US" sz="2000" dirty="0"/>
              <a:t>년 논문 </a:t>
            </a:r>
            <a:r>
              <a:rPr lang="en-US" altLang="ko-KR" sz="2000" dirty="0"/>
              <a:t>"Attention is All You Need"</a:t>
            </a:r>
            <a:r>
              <a:rPr lang="ko-KR" altLang="en-US" sz="2000" dirty="0"/>
              <a:t>에서 처음 소개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많은 분야에서 표준 구조로 자리 잡음 </a:t>
            </a:r>
            <a:endParaRPr lang="en-US" altLang="ko-KR" sz="2000" dirty="0"/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높은 성능과 병렬 처리 효율성 제공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36F977-2F80-A369-4870-4CFEEDC2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AE5165-246F-D448-ADAB-3B880493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11</a:t>
            </a:fld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5CAD1C1D-8598-1D4D-4C68-E18A2E51830E}"/>
              </a:ext>
            </a:extLst>
          </p:cNvPr>
          <p:cNvGrpSpPr/>
          <p:nvPr/>
        </p:nvGrpSpPr>
        <p:grpSpPr>
          <a:xfrm>
            <a:off x="7441499" y="911235"/>
            <a:ext cx="4627076" cy="5035529"/>
            <a:chOff x="7181617" y="1115176"/>
            <a:chExt cx="4627076" cy="5035529"/>
          </a:xfrm>
        </p:grpSpPr>
        <p:pic>
          <p:nvPicPr>
            <p:cNvPr id="1026" name="Picture 2" descr="The Transformer Model - MachineLearningMastery.com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6530" y="1115176"/>
              <a:ext cx="3397250" cy="47870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직사각형 5"/>
            <p:cNvSpPr/>
            <p:nvPr/>
          </p:nvSpPr>
          <p:spPr>
            <a:xfrm>
              <a:off x="7181617" y="5904484"/>
              <a:ext cx="4627076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[</a:t>
              </a:r>
              <a:r>
                <a:rPr lang="ko-KR" altLang="en-US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출처</a:t>
              </a:r>
              <a:r>
                <a:rPr lang="en-US" altLang="ko-KR" sz="10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Pretendard Light" panose="02000403000000020004" pitchFamily="2" charset="-127"/>
                  <a:ea typeface="Pretendard Light" panose="02000403000000020004" pitchFamily="2" charset="-127"/>
                  <a:cs typeface="Pretendard Light" panose="02000403000000020004" pitchFamily="2" charset="-127"/>
                </a:rPr>
                <a:t>] https://machinelearningmastery.com/the-transformer-model/</a:t>
              </a:r>
              <a:endParaRPr lang="ko-KR" altLang="en-US" sz="1000" dirty="0">
                <a:solidFill>
                  <a:schemeClr val="tx1">
                    <a:lumMod val="50000"/>
                    <a:lumOff val="50000"/>
                  </a:schemeClr>
                </a:solidFill>
                <a:latin typeface="Pretendard Light" panose="02000403000000020004" pitchFamily="2" charset="-127"/>
                <a:ea typeface="Pretendard Light" panose="02000403000000020004" pitchFamily="2" charset="-127"/>
                <a:cs typeface="Pretendard Light" panose="02000403000000020004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612782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17EEA-1700-68A7-6D01-92F38632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트랜스포머</a:t>
            </a:r>
            <a:r>
              <a:rPr lang="en-US" altLang="ko-KR" b="1" dirty="0"/>
              <a:t>(Transformer)</a:t>
            </a:r>
            <a:r>
              <a:rPr lang="ko-KR" altLang="en-US" b="1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27EE51-6539-C4E3-E901-BA804AE94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458937" cy="524885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💡 </a:t>
            </a:r>
            <a:r>
              <a:rPr lang="ko-KR" altLang="en-US" sz="2400" b="1" dirty="0" err="1"/>
              <a:t>어텐션</a:t>
            </a:r>
            <a:r>
              <a:rPr lang="ko-KR" altLang="en-US" sz="2400" b="1" dirty="0"/>
              <a:t> 메커니즘</a:t>
            </a:r>
            <a:endParaRPr lang="en-US" altLang="ko-KR" sz="2400" b="1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입력 요소들 중 중요한 부분에 더 큰 가중치를 부여해 정보를 선택적으로 집중하는 기법</a:t>
            </a:r>
            <a:endParaRPr lang="en-US" altLang="ko-KR" sz="2000" b="1" dirty="0"/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트랜스포머는 </a:t>
            </a:r>
            <a:r>
              <a:rPr lang="ko-KR" altLang="en-US" sz="2000" b="1" dirty="0" err="1"/>
              <a:t>어텐션</a:t>
            </a:r>
            <a:r>
              <a:rPr lang="ko-KR" altLang="en-US" sz="2000" b="1" dirty="0"/>
              <a:t> 메커니즘</a:t>
            </a:r>
            <a:r>
              <a:rPr lang="ko-KR" altLang="en-US" sz="2000" dirty="0"/>
              <a:t>을 </a:t>
            </a:r>
            <a:r>
              <a:rPr lang="ko-KR" altLang="en-US" sz="2000" b="1" dirty="0"/>
              <a:t>기반으로 설계</a:t>
            </a:r>
            <a:r>
              <a:rPr lang="ko-KR" altLang="en-US" sz="2000" dirty="0"/>
              <a:t>된 모델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자연어 처리</a:t>
            </a:r>
            <a:r>
              <a:rPr lang="en-US" altLang="ko-KR" sz="2000" dirty="0"/>
              <a:t>(NLP)</a:t>
            </a:r>
            <a:r>
              <a:rPr lang="ko-KR" altLang="en-US" sz="2000" dirty="0"/>
              <a:t>와 컴퓨터 비전</a:t>
            </a:r>
            <a:r>
              <a:rPr lang="en-US" altLang="ko-KR" sz="2000" dirty="0"/>
              <a:t>(CV) </a:t>
            </a:r>
            <a:r>
              <a:rPr lang="ko-KR" altLang="en-US" sz="2000" dirty="0"/>
              <a:t>등 다양한 분야에서 사용</a:t>
            </a:r>
            <a:r>
              <a:rPr lang="en-US" altLang="ko-KR" sz="2000" dirty="0"/>
              <a:t>.</a:t>
            </a:r>
            <a:endParaRPr lang="en-US" altLang="ko-KR" sz="24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</a:t>
            </a:r>
            <a:r>
              <a:rPr lang="ko-KR" altLang="en-US" sz="2400" b="1" dirty="0" err="1"/>
              <a:t>어텐션이</a:t>
            </a:r>
            <a:r>
              <a:rPr lang="ko-KR" altLang="en-US" sz="2400" b="1" dirty="0"/>
              <a:t> 트랜스포머의 핵심인 이유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RNN/CNN</a:t>
            </a:r>
            <a:r>
              <a:rPr lang="ko-KR" altLang="en-US" sz="2000" b="1" dirty="0"/>
              <a:t>의 한계 극복</a:t>
            </a:r>
            <a:endParaRPr lang="ko-KR" altLang="en-US" sz="2000" dirty="0"/>
          </a:p>
          <a:p>
            <a:pPr lvl="2">
              <a:lnSpc>
                <a:spcPct val="150000"/>
              </a:lnSpc>
            </a:pPr>
            <a:r>
              <a:rPr lang="en-US" altLang="ko-KR" sz="1800" dirty="0"/>
              <a:t>RNN</a:t>
            </a:r>
            <a:r>
              <a:rPr lang="ko-KR" altLang="en-US" sz="1800" dirty="0"/>
              <a:t>의 느린 학습과 장기 의존성 문제 해결</a:t>
            </a:r>
            <a:r>
              <a:rPr lang="en-US" altLang="ko-KR" sz="1800" dirty="0"/>
              <a:t>, CNN</a:t>
            </a:r>
            <a:r>
              <a:rPr lang="ko-KR" altLang="en-US" sz="1800" dirty="0"/>
              <a:t>의 국소적 한계를 넘어 전역 문맥 학습 가능</a:t>
            </a:r>
            <a:r>
              <a:rPr lang="en-US" altLang="ko-KR" sz="1800" dirty="0"/>
              <a:t>.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Self-Attention</a:t>
            </a:r>
            <a:r>
              <a:rPr lang="ko-KR" altLang="en-US" sz="2000" b="1" dirty="0"/>
              <a:t>의 역할</a:t>
            </a:r>
            <a:endParaRPr lang="ko-KR" altLang="en-US" sz="2000" dirty="0"/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입력 데이터 간의 관계를 한 번에 계산</a:t>
            </a:r>
            <a:r>
              <a:rPr lang="en-US" altLang="ko-KR" sz="1800" dirty="0"/>
              <a:t>, </a:t>
            </a:r>
            <a:r>
              <a:rPr lang="ko-KR" altLang="en-US" sz="1800" dirty="0"/>
              <a:t>문맥 정보를 정확히 이해</a:t>
            </a:r>
            <a:r>
              <a:rPr lang="en-US" altLang="ko-KR" sz="18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2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36F977-2F80-A369-4870-4CFEEDC2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AE5165-246F-D448-ADAB-3B880493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6184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17EEA-1700-68A7-6D01-92F38632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트랜스포머</a:t>
            </a:r>
            <a:r>
              <a:rPr lang="en-US" altLang="ko-KR" b="1" dirty="0"/>
              <a:t>(Transformer)</a:t>
            </a:r>
            <a:r>
              <a:rPr lang="ko-KR" altLang="en-US" b="1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27EE51-6539-C4E3-E901-BA804AE94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788" y="1145407"/>
            <a:ext cx="11458937" cy="5248857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작동 원리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/>
              <a:t>관련성 계산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입력 데이터</a:t>
            </a:r>
            <a:r>
              <a:rPr lang="en-US" altLang="ko-KR" sz="1800" dirty="0"/>
              <a:t>(</a:t>
            </a:r>
            <a:r>
              <a:rPr lang="ko-KR" altLang="en-US" sz="1800" dirty="0"/>
              <a:t>예</a:t>
            </a:r>
            <a:r>
              <a:rPr lang="en-US" altLang="ko-KR" sz="1800" dirty="0"/>
              <a:t>: </a:t>
            </a:r>
            <a:r>
              <a:rPr lang="ko-KR" altLang="en-US" sz="1800" dirty="0"/>
              <a:t>단어</a:t>
            </a:r>
            <a:r>
              <a:rPr lang="en-US" altLang="ko-KR" sz="1800" dirty="0"/>
              <a:t>) </a:t>
            </a:r>
            <a:r>
              <a:rPr lang="ko-KR" altLang="en-US" sz="1800" dirty="0"/>
              <a:t>간의 관계를 점수로 매김</a:t>
            </a:r>
            <a:r>
              <a:rPr lang="en-US" altLang="ko-KR" sz="1800" dirty="0"/>
              <a:t>.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예</a:t>
            </a:r>
            <a:r>
              <a:rPr lang="en-US" altLang="ko-KR" sz="1800" dirty="0"/>
              <a:t>: "</a:t>
            </a:r>
            <a:r>
              <a:rPr lang="ko-KR" altLang="en-US" sz="1800" dirty="0"/>
              <a:t>고양이</a:t>
            </a:r>
            <a:r>
              <a:rPr lang="en-US" altLang="ko-KR" sz="1800" dirty="0"/>
              <a:t>" ↔ "</a:t>
            </a:r>
            <a:r>
              <a:rPr lang="ko-KR" altLang="en-US" sz="1800" dirty="0"/>
              <a:t>올라갔다</a:t>
            </a:r>
            <a:r>
              <a:rPr lang="en-US" altLang="ko-KR" sz="1800" dirty="0"/>
              <a:t>"</a:t>
            </a:r>
            <a:r>
              <a:rPr lang="ko-KR" altLang="en-US" sz="1800" dirty="0"/>
              <a:t>는 관련성 높음</a:t>
            </a:r>
            <a:r>
              <a:rPr lang="en-US" altLang="ko-KR" sz="1800" dirty="0"/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/>
              <a:t>가중치 부여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점수를 기반으로 각 단어의 중요도를 결정</a:t>
            </a:r>
            <a:r>
              <a:rPr lang="en-US" altLang="ko-KR" sz="1800" dirty="0"/>
              <a:t>.</a:t>
            </a:r>
          </a:p>
          <a:p>
            <a:pPr lvl="1">
              <a:lnSpc>
                <a:spcPct val="150000"/>
              </a:lnSpc>
              <a:buFont typeface="Wingdings" pitchFamily="2" charset="2"/>
              <a:buChar char="§"/>
            </a:pPr>
            <a:r>
              <a:rPr lang="ko-KR" altLang="en-US" sz="2000" b="1" dirty="0"/>
              <a:t>정보 재조합</a:t>
            </a:r>
          </a:p>
          <a:p>
            <a:pPr lvl="2">
              <a:lnSpc>
                <a:spcPct val="150000"/>
              </a:lnSpc>
            </a:pPr>
            <a:r>
              <a:rPr lang="ko-KR" altLang="en-US" sz="1800" dirty="0"/>
              <a:t>중요한 데이터에 더 집중해 전체 문맥 이해</a:t>
            </a:r>
            <a:r>
              <a:rPr lang="en-US" altLang="ko-KR" sz="1800" dirty="0"/>
              <a:t>.</a:t>
            </a:r>
            <a:endParaRPr lang="en-US" altLang="ko-KR" sz="1400" dirty="0"/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36F977-2F80-A369-4870-4CFEEDC2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AE5165-246F-D448-ADAB-3B880493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5731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17EEA-1700-68A7-6D01-92F38632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트랜스포머</a:t>
            </a:r>
            <a:r>
              <a:rPr lang="en-US" altLang="ko-KR" b="1" dirty="0"/>
              <a:t>(Transformer)</a:t>
            </a:r>
            <a:r>
              <a:rPr lang="ko-KR" altLang="en-US" b="1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27EE51-6539-C4E3-E901-BA804AE94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51534" cy="30959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📌 특징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병렬 처리 가능</a:t>
            </a:r>
            <a:r>
              <a:rPr lang="en-US" altLang="ko-KR" sz="2000" dirty="0"/>
              <a:t>: GPU </a:t>
            </a:r>
            <a:r>
              <a:rPr lang="ko-KR" altLang="en-US" sz="2000" dirty="0"/>
              <a:t>활용 효율성 극대화</a:t>
            </a:r>
            <a:r>
              <a:rPr lang="en-US" altLang="ko-KR" sz="2000" dirty="0"/>
              <a:t>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확장성</a:t>
            </a:r>
            <a:r>
              <a:rPr lang="en-US" altLang="ko-KR" sz="2000" dirty="0"/>
              <a:t>: </a:t>
            </a:r>
            <a:r>
              <a:rPr lang="ko-KR" altLang="en-US" sz="2000" dirty="0"/>
              <a:t>매우 큰 모델로 확장 가능 </a:t>
            </a:r>
            <a:r>
              <a:rPr lang="en-US" altLang="ko-KR" sz="2000" dirty="0"/>
              <a:t>(BERT, GPT </a:t>
            </a:r>
            <a:r>
              <a:rPr lang="ko-KR" altLang="en-US" sz="2000" dirty="0"/>
              <a:t>등</a:t>
            </a:r>
            <a:r>
              <a:rPr lang="en-US" altLang="ko-KR" sz="2000" dirty="0"/>
              <a:t>).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 err="1"/>
              <a:t>범용성</a:t>
            </a:r>
            <a:r>
              <a:rPr lang="en-US" altLang="ko-KR" sz="2000" dirty="0"/>
              <a:t>: </a:t>
            </a:r>
            <a:r>
              <a:rPr lang="ko-KR" altLang="en-US" sz="2000" dirty="0"/>
              <a:t>언어뿐 아니라 이미지</a:t>
            </a:r>
            <a:r>
              <a:rPr lang="en-US" altLang="ko-KR" sz="2000" dirty="0"/>
              <a:t>, </a:t>
            </a:r>
            <a:r>
              <a:rPr lang="ko-KR" altLang="en-US" sz="2000" dirty="0"/>
              <a:t>음성 등 다양한 분야에 활용</a:t>
            </a:r>
            <a:r>
              <a:rPr lang="en-US" altLang="ko-KR" sz="2000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36F977-2F80-A369-4870-4CFEEDC2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AE5165-246F-D448-ADAB-3B880493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590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4F02B3-117A-2CA2-63CD-815D13E47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모델</a:t>
            </a:r>
            <a:r>
              <a:rPr lang="en-US" altLang="ko-KR" dirty="0"/>
              <a:t> </a:t>
            </a:r>
            <a:r>
              <a:rPr lang="ko-KR" altLang="en-US" dirty="0"/>
              <a:t>발전 흐름 정리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8143530-248A-7C48-DD82-CAA0CAEAB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선형 모델</a:t>
            </a:r>
            <a:endParaRPr lang="en-US" altLang="ko-KR" dirty="0"/>
          </a:p>
          <a:p>
            <a:pPr lvl="1">
              <a:buFont typeface="Pretendard Light" panose="02000403000000020004" pitchFamily="50" charset="-127"/>
              <a:buChar char="→"/>
            </a:pPr>
            <a:r>
              <a:rPr lang="ko-KR" altLang="en-US" dirty="0"/>
              <a:t>다층 구조 </a:t>
            </a:r>
            <a:r>
              <a:rPr lang="en-US" altLang="ko-KR" dirty="0"/>
              <a:t>(FNN)</a:t>
            </a:r>
          </a:p>
          <a:p>
            <a:pPr lvl="1">
              <a:buFont typeface="Pretendard Light" panose="02000403000000020004" pitchFamily="50" charset="-127"/>
              <a:buChar char="→"/>
            </a:pPr>
            <a:r>
              <a:rPr lang="ko-KR" altLang="en-US" dirty="0"/>
              <a:t>공간 구조 </a:t>
            </a:r>
            <a:r>
              <a:rPr lang="en-US" altLang="ko-KR" dirty="0"/>
              <a:t>(CNN)</a:t>
            </a:r>
          </a:p>
          <a:p>
            <a:pPr lvl="1">
              <a:buFont typeface="Pretendard Light" panose="02000403000000020004" pitchFamily="50" charset="-127"/>
              <a:buChar char="→"/>
            </a:pPr>
            <a:r>
              <a:rPr lang="ko-KR" altLang="en-US" dirty="0"/>
              <a:t>순차 구조 </a:t>
            </a:r>
            <a:r>
              <a:rPr lang="en-US" altLang="ko-KR" dirty="0"/>
              <a:t>(RNN)</a:t>
            </a:r>
          </a:p>
          <a:p>
            <a:pPr lvl="1">
              <a:buFont typeface="Pretendard Light" panose="02000403000000020004" pitchFamily="50" charset="-127"/>
              <a:buChar char="→"/>
            </a:pPr>
            <a:r>
              <a:rPr lang="ko-KR" altLang="en-US" dirty="0"/>
              <a:t>전역 관계 학습 </a:t>
            </a:r>
            <a:r>
              <a:rPr lang="en-US" altLang="ko-KR" dirty="0"/>
              <a:t>(Transformer)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하나를 선택하거나 이미 학습된 모델을 활용하여 프로젝트 진행</a:t>
            </a:r>
            <a:r>
              <a:rPr lang="en-US" altLang="ko-KR" dirty="0"/>
              <a:t>!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7C512A-141B-DFCF-0765-9B0A4D27C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3687B8-4BC7-B39D-CD9B-CB35BE35B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48990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017EEA-1700-68A7-6D01-92F386326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b="1" dirty="0"/>
              <a:t>트랜스포머</a:t>
            </a:r>
            <a:r>
              <a:rPr lang="en-US" altLang="ko-KR" b="1" dirty="0"/>
              <a:t>(Transformer)</a:t>
            </a:r>
            <a:r>
              <a:rPr lang="ko-KR" altLang="en-US" b="1" dirty="0"/>
              <a:t>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27EE51-6539-C4E3-E901-BA804AE94D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991" y="1145407"/>
            <a:ext cx="11551534" cy="3095965"/>
          </a:xfrm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2400" b="1" dirty="0"/>
              <a:t>✅ 활용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자연어 처리</a:t>
            </a:r>
            <a:r>
              <a:rPr lang="en-US" altLang="ko-KR" sz="2000" dirty="0"/>
              <a:t>: </a:t>
            </a:r>
            <a:r>
              <a:rPr lang="ko-KR" altLang="en-US" sz="2000" dirty="0"/>
              <a:t>번역</a:t>
            </a:r>
            <a:r>
              <a:rPr lang="en-US" altLang="ko-KR" sz="2000" dirty="0"/>
              <a:t>, </a:t>
            </a:r>
            <a:r>
              <a:rPr lang="ko-KR" altLang="en-US" sz="2000" dirty="0"/>
              <a:t>요약</a:t>
            </a:r>
            <a:r>
              <a:rPr lang="en-US" altLang="ko-KR" sz="2000" dirty="0"/>
              <a:t>, </a:t>
            </a:r>
            <a:r>
              <a:rPr lang="ko-KR" altLang="en-US" sz="2000" dirty="0"/>
              <a:t>질문 응답 </a:t>
            </a:r>
            <a:r>
              <a:rPr lang="en-US" altLang="ko-KR" sz="2000" dirty="0"/>
              <a:t>(</a:t>
            </a:r>
            <a:r>
              <a:rPr lang="ko-KR" altLang="en-US" sz="2000" dirty="0"/>
              <a:t>예</a:t>
            </a:r>
            <a:r>
              <a:rPr lang="en-US" altLang="ko-KR" sz="2000" dirty="0"/>
              <a:t>: </a:t>
            </a:r>
            <a:r>
              <a:rPr lang="en-US" altLang="ko-KR" sz="2000" dirty="0" err="1"/>
              <a:t>ChatGPT</a:t>
            </a:r>
            <a:r>
              <a:rPr lang="en-US" altLang="ko-KR" sz="2000" dirty="0"/>
              <a:t>, BERT)</a:t>
            </a:r>
          </a:p>
          <a:p>
            <a:pPr lvl="1">
              <a:lnSpc>
                <a:spcPct val="150000"/>
              </a:lnSpc>
            </a:pPr>
            <a:r>
              <a:rPr lang="ko-KR" altLang="en-US" sz="2000" dirty="0"/>
              <a:t>컴퓨터 비전</a:t>
            </a:r>
            <a:r>
              <a:rPr lang="en-US" altLang="ko-KR" sz="2000" dirty="0"/>
              <a:t>: </a:t>
            </a:r>
            <a:r>
              <a:rPr lang="ko-KR" altLang="en-US" sz="2000" dirty="0"/>
              <a:t>이미지 분류</a:t>
            </a:r>
            <a:r>
              <a:rPr lang="en-US" altLang="ko-KR" sz="2000" dirty="0"/>
              <a:t>, </a:t>
            </a:r>
            <a:r>
              <a:rPr lang="ko-KR" altLang="en-US" sz="2000" dirty="0"/>
              <a:t>생성 </a:t>
            </a:r>
            <a:r>
              <a:rPr lang="en-US" altLang="ko-KR" sz="2000" dirty="0"/>
              <a:t>(</a:t>
            </a:r>
            <a:r>
              <a:rPr lang="ko-KR" altLang="en-US" sz="2000" dirty="0"/>
              <a:t>예</a:t>
            </a:r>
            <a:r>
              <a:rPr lang="en-US" altLang="ko-KR" sz="2000" dirty="0"/>
              <a:t>: Vision Transformer, DALL-E)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ko-KR" altLang="en-US" sz="2000" b="1" dirty="0">
                <a:solidFill>
                  <a:srgbClr val="FF3399"/>
                </a:solidFill>
              </a:rPr>
              <a:t>→ 표준으로 자리 잡음</a:t>
            </a:r>
            <a:endParaRPr lang="en-US" altLang="ko-KR" sz="2000" b="1" dirty="0">
              <a:solidFill>
                <a:srgbClr val="FF3399"/>
              </a:solidFill>
            </a:endParaRP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36F977-2F80-A369-4870-4CFEEDC26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78D9C4-20C1-4B15-A116-16DC77AD9A1E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8AE5165-246F-D448-ADAB-3B8804930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3A2CE0-18CD-4102-B738-4ACFF9E68BA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00258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B7171936-481C-71EB-7D96-6C9DFC6F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100005ED-53E3-BFC8-AFAA-7BAFFA3752AB}"/>
              </a:ext>
            </a:extLst>
          </p:cNvPr>
          <p:cNvSpPr txBox="1">
            <a:spLocks/>
          </p:cNvSpPr>
          <p:nvPr/>
        </p:nvSpPr>
        <p:spPr>
          <a:xfrm>
            <a:off x="1524000" y="2555530"/>
            <a:ext cx="9144000" cy="111610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>
                <a:solidFill>
                  <a:schemeClr val="accent2"/>
                </a:solidFill>
                <a:latin typeface="G마켓 산스 TTF Bold" panose="02000000000000000000" pitchFamily="2" charset="-127"/>
                <a:ea typeface="G마켓 산스 TTF Bold" panose="02000000000000000000" pitchFamily="2" charset="-127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364201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Pretendard Black"/>
        <a:ea typeface="Pretendard Black"/>
        <a:cs typeface=""/>
      </a:majorFont>
      <a:minorFont>
        <a:latin typeface="Pretendard Medium"/>
        <a:ea typeface="Pretendard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6027</TotalTime>
  <Words>1153</Words>
  <Application>Microsoft Office PowerPoint</Application>
  <PresentationFormat>와이드스크린</PresentationFormat>
  <Paragraphs>198</Paragraphs>
  <Slides>17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17</vt:i4>
      </vt:variant>
    </vt:vector>
  </HeadingPairs>
  <TitlesOfParts>
    <vt:vector size="28" baseType="lpstr">
      <vt:lpstr>맑은 고딕</vt:lpstr>
      <vt:lpstr>Wingdings</vt:lpstr>
      <vt:lpstr>Arial</vt:lpstr>
      <vt:lpstr>Pretendard Light</vt:lpstr>
      <vt:lpstr>Pretendard Black</vt:lpstr>
      <vt:lpstr>메이플스토리</vt:lpstr>
      <vt:lpstr>G마켓 산스 TTF Bold</vt:lpstr>
      <vt:lpstr>Pretendard Medium</vt:lpstr>
      <vt:lpstr>G마켓 산스 TTF Medium</vt:lpstr>
      <vt:lpstr>1_Office 테마</vt:lpstr>
      <vt:lpstr>2_Office 테마</vt:lpstr>
      <vt:lpstr>x</vt:lpstr>
      <vt:lpstr>PowerPoint 프레젠테이션</vt:lpstr>
      <vt:lpstr>우리가 구현한 모델과 딥러닝의 관계</vt:lpstr>
      <vt:lpstr>딥러닝 모델</vt:lpstr>
      <vt:lpstr>딥러닝 모델</vt:lpstr>
      <vt:lpstr>FNN(Feedforward Neural Network)</vt:lpstr>
      <vt:lpstr>모델 발전</vt:lpstr>
      <vt:lpstr>CNN(Convolutional Neural Network)</vt:lpstr>
      <vt:lpstr>RNN(Recurrent Neural Network)</vt:lpstr>
      <vt:lpstr>RNN(Recurrent Neural Network)</vt:lpstr>
      <vt:lpstr>트랜스포머(Transformer) </vt:lpstr>
      <vt:lpstr>트랜스포머(Transformer) </vt:lpstr>
      <vt:lpstr>트랜스포머(Transformer) </vt:lpstr>
      <vt:lpstr>트랜스포머(Transformer) </vt:lpstr>
      <vt:lpstr>모델 발전 흐름 정리</vt:lpstr>
      <vt:lpstr>트랜스포머(Transformer)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김규리</dc:creator>
  <cp:lastModifiedBy>On Coding</cp:lastModifiedBy>
  <cp:revision>1021</cp:revision>
  <dcterms:created xsi:type="dcterms:W3CDTF">2022-06-26T11:10:22Z</dcterms:created>
  <dcterms:modified xsi:type="dcterms:W3CDTF">2026-02-20T09:10:53Z</dcterms:modified>
</cp:coreProperties>
</file>