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7"/>
  </p:notesMasterIdLst>
  <p:sldIdLst>
    <p:sldId id="1038" r:id="rId2"/>
    <p:sldId id="1447" r:id="rId3"/>
    <p:sldId id="1448" r:id="rId4"/>
    <p:sldId id="1449" r:id="rId5"/>
    <p:sldId id="768" r:id="rId6"/>
    <p:sldId id="1446" r:id="rId7"/>
    <p:sldId id="769" r:id="rId8"/>
    <p:sldId id="770" r:id="rId9"/>
    <p:sldId id="771" r:id="rId10"/>
    <p:sldId id="772" r:id="rId11"/>
    <p:sldId id="776" r:id="rId12"/>
    <p:sldId id="777" r:id="rId13"/>
    <p:sldId id="773" r:id="rId14"/>
    <p:sldId id="774" r:id="rId15"/>
    <p:sldId id="775" r:id="rId16"/>
    <p:sldId id="1445" r:id="rId17"/>
    <p:sldId id="1450" r:id="rId18"/>
    <p:sldId id="1451" r:id="rId19"/>
    <p:sldId id="1452" r:id="rId20"/>
    <p:sldId id="1453" r:id="rId21"/>
    <p:sldId id="1454" r:id="rId22"/>
    <p:sldId id="1455" r:id="rId23"/>
    <p:sldId id="1456" r:id="rId24"/>
    <p:sldId id="1457" r:id="rId25"/>
    <p:sldId id="1458" r:id="rId26"/>
    <p:sldId id="1459" r:id="rId27"/>
    <p:sldId id="1460" r:id="rId28"/>
    <p:sldId id="1461" r:id="rId29"/>
    <p:sldId id="1462" r:id="rId30"/>
    <p:sldId id="1463" r:id="rId31"/>
    <p:sldId id="420" r:id="rId32"/>
    <p:sldId id="765" r:id="rId33"/>
    <p:sldId id="766" r:id="rId34"/>
    <p:sldId id="767" r:id="rId35"/>
    <p:sldId id="813" r:id="rId36"/>
  </p:sldIdLst>
  <p:sldSz cx="12192000" cy="6858000"/>
  <p:notesSz cx="6858000" cy="9144000"/>
  <p:embeddedFontLst>
    <p:embeddedFont>
      <p:font typeface="메이플스토리" panose="020B0600000101010101" charset="-127"/>
      <p:regular r:id="rId38"/>
      <p:bold r:id="rId39"/>
    </p:embeddedFont>
    <p:embeddedFont>
      <p:font typeface="세방고딕 Bold" panose="020B0600000101010101" charset="-127"/>
      <p:bold r:id="rId40"/>
    </p:embeddedFont>
    <p:embeddedFont>
      <p:font typeface="세방고딕 Regular" panose="00000500000000000000" charset="-127"/>
      <p:regular r:id="rId41"/>
    </p:embeddedFont>
    <p:embeddedFont>
      <p:font typeface="G마켓 산스 TTF Bold" panose="02000000000000000000" pitchFamily="2" charset="-127"/>
      <p:bold r:id="rId42"/>
    </p:embeddedFont>
    <p:embeddedFont>
      <p:font typeface="Noto Sans KR" panose="020B0200000000000000" pitchFamily="50" charset="-127"/>
      <p:regular r:id="rId43"/>
      <p:bold r:id="rId44"/>
    </p:embeddedFont>
    <p:embeddedFont>
      <p:font typeface="Pretendard Black" panose="02000A03000000020004" pitchFamily="50" charset="-127"/>
      <p:bold r:id="rId45"/>
    </p:embeddedFont>
    <p:embeddedFont>
      <p:font typeface="Pretendard ExtraBold" panose="02000903000000020004" pitchFamily="50" charset="-127"/>
      <p:bold r:id="rId46"/>
    </p:embeddedFont>
    <p:embeddedFont>
      <p:font typeface="Pretendard Light" panose="02000403000000020004" pitchFamily="50" charset="-127"/>
      <p:regular r:id="rId47"/>
    </p:embeddedFont>
    <p:embeddedFont>
      <p:font typeface="Pretendard Medium" panose="02000603000000020004" pitchFamily="50" charset="-127"/>
      <p:regular r:id="rId48"/>
    </p:embeddedFont>
    <p:embeddedFont>
      <p:font typeface="맑은 고딕" panose="020B0503020000020004" pitchFamily="50" charset="-127"/>
      <p:regular r:id="rId49"/>
      <p:bold r:id="rId50"/>
    </p:embeddedFont>
    <p:embeddedFont>
      <p:font typeface="맑은 고딕 Semilight" panose="020B0502040204020203" pitchFamily="50" charset="-127"/>
      <p:regular r:id="rId51"/>
    </p:embeddedFont>
    <p:embeddedFont>
      <p:font typeface="휴먼둥근헤드라인" panose="02030504000101010101" pitchFamily="18" charset="-127"/>
      <p:regular r:id="rId5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0" autoAdjust="0"/>
    <p:restoredTop sz="91676" autoAdjust="0"/>
  </p:normalViewPr>
  <p:slideViewPr>
    <p:cSldViewPr snapToGrid="0">
      <p:cViewPr varScale="1">
        <p:scale>
          <a:sx n="83" d="100"/>
          <a:sy n="83" d="100"/>
        </p:scale>
        <p:origin x="1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2026-03-12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09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662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9C8F-73A5-B4E6-CC99-1D479C14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770559-AB11-AC90-7E50-52F2801E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8DA2ED-400D-1F7B-EBED-18D86167F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8C7D1-F0C8-2A4B-CE19-5AEF54B93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301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2639B-48F9-441F-3367-E71DF98A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BFEBC-39DA-C926-756D-A939DD66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7D80D3-B02B-EAEE-97AA-CC29DF63B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3935D-2A54-B41E-E6BC-3E697E575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194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FEB5-5F88-4F49-9108-1795E314F09F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29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00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C9B500-2C20-2E20-BCCA-C065E5EFC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>
            <a:lvl1pPr algn="ctr">
              <a:defRPr sz="8000">
                <a:solidFill>
                  <a:srgbClr val="2F5597"/>
                </a:solidFill>
              </a:defRPr>
            </a:lvl1pPr>
          </a:lstStyle>
          <a:p>
            <a:r>
              <a:rPr lang="ko-KR" altLang="en-US" dirty="0"/>
              <a:t>마스터 제목 스타일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B0E78A-BA2B-B66C-15B0-9F59EAAC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F2426-F011-4048-96E6-328581C59A1B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7833B2-537B-197A-F661-700C9B76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C143F0-023C-627A-F2CB-AF224F78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089B3-387A-415A-B004-61FFB39DE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93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osis.kr/index/index.do" TargetMode="External"/><Relationship Id="rId7" Type="http://schemas.openxmlformats.org/officeDocument/2006/relationships/hyperlink" Target="https://archive.ics.uci.edu/" TargetMode="External"/><Relationship Id="rId2" Type="http://schemas.openxmlformats.org/officeDocument/2006/relationships/hyperlink" Target="https://aihub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ata.go.kr/index.do" TargetMode="External"/><Relationship Id="rId5" Type="http://schemas.openxmlformats.org/officeDocument/2006/relationships/hyperlink" Target="https://www.kaggle.com/datasets" TargetMode="External"/><Relationship Id="rId4" Type="http://schemas.openxmlformats.org/officeDocument/2006/relationships/hyperlink" Target="https://public.roboflow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iro.com/k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diagrams.net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3.svg"/><Relationship Id="rId3" Type="http://schemas.openxmlformats.org/officeDocument/2006/relationships/image" Target="../media/image8.sv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17" Type="http://schemas.openxmlformats.org/officeDocument/2006/relationships/image" Target="../media/image22.png"/><Relationship Id="rId25" Type="http://schemas.openxmlformats.org/officeDocument/2006/relationships/hyperlink" Target="https://youtu.be/AzQ6RnzUnpE" TargetMode="External"/><Relationship Id="rId2" Type="http://schemas.openxmlformats.org/officeDocument/2006/relationships/image" Target="../media/image7.png"/><Relationship Id="rId16" Type="http://schemas.openxmlformats.org/officeDocument/2006/relationships/image" Target="../media/image21.sv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svg"/><Relationship Id="rId5" Type="http://schemas.openxmlformats.org/officeDocument/2006/relationships/image" Target="../media/image10.sv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5.sv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Relationship Id="rId22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image" Target="../media/image37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sv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39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svg"/><Relationship Id="rId18" Type="http://schemas.openxmlformats.org/officeDocument/2006/relationships/image" Target="../media/image18.png"/><Relationship Id="rId3" Type="http://schemas.openxmlformats.org/officeDocument/2006/relationships/image" Target="../media/image38.svg"/><Relationship Id="rId21" Type="http://schemas.openxmlformats.org/officeDocument/2006/relationships/image" Target="../media/image65.svg"/><Relationship Id="rId7" Type="http://schemas.openxmlformats.org/officeDocument/2006/relationships/image" Target="../media/image57.svg"/><Relationship Id="rId12" Type="http://schemas.openxmlformats.org/officeDocument/2006/relationships/image" Target="../media/image62.png"/><Relationship Id="rId17" Type="http://schemas.openxmlformats.org/officeDocument/2006/relationships/image" Target="../media/image17.svg"/><Relationship Id="rId2" Type="http://schemas.openxmlformats.org/officeDocument/2006/relationships/image" Target="../media/image37.png"/><Relationship Id="rId16" Type="http://schemas.openxmlformats.org/officeDocument/2006/relationships/image" Target="../media/image16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15.svg"/><Relationship Id="rId10" Type="http://schemas.openxmlformats.org/officeDocument/2006/relationships/image" Target="../media/image60.png"/><Relationship Id="rId19" Type="http://schemas.openxmlformats.org/officeDocument/2006/relationships/image" Target="../media/image19.svg"/><Relationship Id="rId4" Type="http://schemas.openxmlformats.org/officeDocument/2006/relationships/image" Target="../media/image54.png"/><Relationship Id="rId9" Type="http://schemas.openxmlformats.org/officeDocument/2006/relationships/image" Target="../media/image59.svg"/><Relationship Id="rId1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77.png"/><Relationship Id="rId18" Type="http://schemas.openxmlformats.org/officeDocument/2006/relationships/image" Target="../media/image38.svg"/><Relationship Id="rId3" Type="http://schemas.openxmlformats.org/officeDocument/2006/relationships/image" Target="../media/image67.svg"/><Relationship Id="rId21" Type="http://schemas.openxmlformats.org/officeDocument/2006/relationships/image" Target="../media/image83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17" Type="http://schemas.openxmlformats.org/officeDocument/2006/relationships/image" Target="../media/image37.png"/><Relationship Id="rId2" Type="http://schemas.openxmlformats.org/officeDocument/2006/relationships/image" Target="../media/image66.png"/><Relationship Id="rId16" Type="http://schemas.openxmlformats.org/officeDocument/2006/relationships/image" Target="../media/image80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43.svg"/><Relationship Id="rId10" Type="http://schemas.openxmlformats.org/officeDocument/2006/relationships/image" Target="../media/image74.svg"/><Relationship Id="rId19" Type="http://schemas.openxmlformats.org/officeDocument/2006/relationships/image" Target="../media/image81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svg"/><Relationship Id="rId22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svg"/><Relationship Id="rId13" Type="http://schemas.openxmlformats.org/officeDocument/2006/relationships/image" Target="../media/image90.png"/><Relationship Id="rId18" Type="http://schemas.openxmlformats.org/officeDocument/2006/relationships/image" Target="../media/image95.svg"/><Relationship Id="rId26" Type="http://schemas.openxmlformats.org/officeDocument/2006/relationships/image" Target="../media/image71.png"/><Relationship Id="rId3" Type="http://schemas.openxmlformats.org/officeDocument/2006/relationships/image" Target="../media/image67.sv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svg"/><Relationship Id="rId17" Type="http://schemas.openxmlformats.org/officeDocument/2006/relationships/image" Target="../media/image94.png"/><Relationship Id="rId25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93.svg"/><Relationship Id="rId20" Type="http://schemas.openxmlformats.org/officeDocument/2006/relationships/image" Target="../media/image97.svg"/><Relationship Id="rId29" Type="http://schemas.openxmlformats.org/officeDocument/2006/relationships/image" Target="../media/image101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svg"/><Relationship Id="rId11" Type="http://schemas.openxmlformats.org/officeDocument/2006/relationships/image" Target="../media/image88.png"/><Relationship Id="rId24" Type="http://schemas.openxmlformats.org/officeDocument/2006/relationships/image" Target="../media/image42.png"/><Relationship Id="rId5" Type="http://schemas.openxmlformats.org/officeDocument/2006/relationships/image" Target="../media/image69.png"/><Relationship Id="rId15" Type="http://schemas.openxmlformats.org/officeDocument/2006/relationships/image" Target="../media/image92.png"/><Relationship Id="rId23" Type="http://schemas.openxmlformats.org/officeDocument/2006/relationships/image" Target="../media/image83.png"/><Relationship Id="rId28" Type="http://schemas.openxmlformats.org/officeDocument/2006/relationships/image" Target="../media/image100.png"/><Relationship Id="rId10" Type="http://schemas.openxmlformats.org/officeDocument/2006/relationships/image" Target="../media/image87.svg"/><Relationship Id="rId19" Type="http://schemas.openxmlformats.org/officeDocument/2006/relationships/image" Target="../media/image96.png"/><Relationship Id="rId4" Type="http://schemas.openxmlformats.org/officeDocument/2006/relationships/image" Target="../media/image68.png"/><Relationship Id="rId9" Type="http://schemas.openxmlformats.org/officeDocument/2006/relationships/image" Target="../media/image86.png"/><Relationship Id="rId14" Type="http://schemas.openxmlformats.org/officeDocument/2006/relationships/image" Target="../media/image91.svg"/><Relationship Id="rId22" Type="http://schemas.openxmlformats.org/officeDocument/2006/relationships/image" Target="../media/image99.svg"/><Relationship Id="rId27" Type="http://schemas.openxmlformats.org/officeDocument/2006/relationships/image" Target="../media/image7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106.svg"/><Relationship Id="rId3" Type="http://schemas.openxmlformats.org/officeDocument/2006/relationships/image" Target="../media/image67.svg"/><Relationship Id="rId7" Type="http://schemas.openxmlformats.org/officeDocument/2006/relationships/image" Target="../media/image104.svg"/><Relationship Id="rId12" Type="http://schemas.openxmlformats.org/officeDocument/2006/relationships/image" Target="../media/image10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9.png"/><Relationship Id="rId11" Type="http://schemas.openxmlformats.org/officeDocument/2006/relationships/image" Target="../media/image43.svg"/><Relationship Id="rId5" Type="http://schemas.openxmlformats.org/officeDocument/2006/relationships/image" Target="../media/image103.svg"/><Relationship Id="rId15" Type="http://schemas.openxmlformats.org/officeDocument/2006/relationships/image" Target="../media/image108.svg"/><Relationship Id="rId10" Type="http://schemas.openxmlformats.org/officeDocument/2006/relationships/image" Target="../media/image42.png"/><Relationship Id="rId4" Type="http://schemas.openxmlformats.org/officeDocument/2006/relationships/image" Target="../media/image102.png"/><Relationship Id="rId9" Type="http://schemas.openxmlformats.org/officeDocument/2006/relationships/image" Target="../media/image83.png"/><Relationship Id="rId14" Type="http://schemas.openxmlformats.org/officeDocument/2006/relationships/image" Target="../media/image10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svg"/><Relationship Id="rId13" Type="http://schemas.openxmlformats.org/officeDocument/2006/relationships/image" Target="../media/image114.png"/><Relationship Id="rId3" Type="http://schemas.openxmlformats.org/officeDocument/2006/relationships/image" Target="../media/image67.svg"/><Relationship Id="rId7" Type="http://schemas.openxmlformats.org/officeDocument/2006/relationships/image" Target="../media/image69.png"/><Relationship Id="rId12" Type="http://schemas.openxmlformats.org/officeDocument/2006/relationships/image" Target="../media/image19.svg"/><Relationship Id="rId17" Type="http://schemas.openxmlformats.org/officeDocument/2006/relationships/image" Target="../media/image43.svg"/><Relationship Id="rId2" Type="http://schemas.openxmlformats.org/officeDocument/2006/relationships/image" Target="../media/image66.png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8.png"/><Relationship Id="rId11" Type="http://schemas.openxmlformats.org/officeDocument/2006/relationships/image" Target="../media/image18.png"/><Relationship Id="rId5" Type="http://schemas.openxmlformats.org/officeDocument/2006/relationships/image" Target="../media/image110.svg"/><Relationship Id="rId15" Type="http://schemas.openxmlformats.org/officeDocument/2006/relationships/image" Target="../media/image83.png"/><Relationship Id="rId10" Type="http://schemas.openxmlformats.org/officeDocument/2006/relationships/image" Target="../media/image113.svg"/><Relationship Id="rId4" Type="http://schemas.openxmlformats.org/officeDocument/2006/relationships/image" Target="../media/image109.png"/><Relationship Id="rId9" Type="http://schemas.openxmlformats.org/officeDocument/2006/relationships/image" Target="../media/image112.png"/><Relationship Id="rId14" Type="http://schemas.openxmlformats.org/officeDocument/2006/relationships/image" Target="../media/image1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6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7" Type="http://schemas.openxmlformats.org/officeDocument/2006/relationships/image" Target="../media/image11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1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67.svg"/><Relationship Id="rId7" Type="http://schemas.openxmlformats.org/officeDocument/2006/relationships/image" Target="../media/image43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66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3.pn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9" Type="http://schemas.openxmlformats.org/officeDocument/2006/relationships/image" Target="../media/image1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3.svg"/><Relationship Id="rId3" Type="http://schemas.openxmlformats.org/officeDocument/2006/relationships/image" Target="../media/image67.svg"/><Relationship Id="rId7" Type="http://schemas.openxmlformats.org/officeDocument/2006/relationships/image" Target="../media/image125.svg"/><Relationship Id="rId12" Type="http://schemas.openxmlformats.org/officeDocument/2006/relationships/image" Target="../media/image4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png"/><Relationship Id="rId11" Type="http://schemas.openxmlformats.org/officeDocument/2006/relationships/image" Target="../media/image83.png"/><Relationship Id="rId5" Type="http://schemas.openxmlformats.org/officeDocument/2006/relationships/image" Target="../media/image123.svg"/><Relationship Id="rId10" Type="http://schemas.openxmlformats.org/officeDocument/2006/relationships/image" Target="../media/image127.svg"/><Relationship Id="rId4" Type="http://schemas.openxmlformats.org/officeDocument/2006/relationships/image" Target="../media/image122.png"/><Relationship Id="rId9" Type="http://schemas.openxmlformats.org/officeDocument/2006/relationships/image" Target="../media/image12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신재생에너지 </a:t>
            </a:r>
            <a:r>
              <a:rPr lang="en-US" altLang="ko-KR" dirty="0">
                <a:solidFill>
                  <a:srgbClr val="ED7D31"/>
                </a:solidFill>
              </a:rPr>
              <a:t>IoT </a:t>
            </a:r>
            <a:r>
              <a:rPr lang="ko-KR" altLang="en-US" dirty="0">
                <a:solidFill>
                  <a:srgbClr val="ED7D31"/>
                </a:solidFill>
              </a:rPr>
              <a:t>구현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285750" y="1041943"/>
            <a:ext cx="11654462" cy="5108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대주제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재생에너지 관련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IoT 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구현 프로젝트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세부 주제 선정</a:t>
            </a:r>
            <a:r>
              <a:rPr lang="ko-KR" altLang="en-US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32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3200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자유 주제</a:t>
            </a:r>
            <a:endParaRPr lang="en-US" altLang="ko-KR" sz="3200" b="1" dirty="0">
              <a:solidFill>
                <a:srgbClr val="FF3399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60000"/>
              </a:lnSpc>
              <a:buNone/>
            </a:pPr>
            <a:r>
              <a:rPr lang="en-US" altLang="ko-KR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*</a:t>
            </a:r>
            <a:r>
              <a:rPr lang="ko-KR" altLang="en-US" b="1" dirty="0" err="1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아두이노</a:t>
            </a:r>
            <a:r>
              <a:rPr lang="en-US" altLang="ko-KR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  <a:r>
              <a:rPr lang="ko-KR" altLang="en-US" b="1" dirty="0">
                <a:solidFill>
                  <a:srgbClr val="FF3399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태양광 사용 필수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목적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IoT, 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머신비전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/</a:t>
            </a:r>
            <a:r>
              <a:rPr lang="ko-KR" altLang="en-US" sz="32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머신러닝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기술 숙련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팀 구성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인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1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조</a:t>
            </a:r>
            <a:endParaRPr lang="en-US" altLang="ko-KR" sz="32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870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40B02-DB4D-DF75-7878-491516C1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C85F5-35B5-29DE-59AC-5035A4A7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ED7D31"/>
                </a:solidFill>
              </a:rPr>
              <a:t>머신비전</a:t>
            </a:r>
            <a:r>
              <a:rPr lang="en-US" altLang="ko-KR" dirty="0">
                <a:solidFill>
                  <a:srgbClr val="ED7D31"/>
                </a:solidFill>
              </a:rPr>
              <a:t>/</a:t>
            </a:r>
            <a:r>
              <a:rPr lang="ko-KR" altLang="en-US" dirty="0" err="1">
                <a:solidFill>
                  <a:srgbClr val="ED7D31"/>
                </a:solidFill>
              </a:rPr>
              <a:t>머신러닝</a:t>
            </a:r>
            <a:r>
              <a:rPr lang="ko-KR" altLang="en-US" dirty="0">
                <a:solidFill>
                  <a:srgbClr val="ED7D31"/>
                </a:solidFill>
              </a:rPr>
              <a:t> 프로젝트 개요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E256F04-B1E1-A8DE-41A9-CACC01AFCDE7}"/>
              </a:ext>
            </a:extLst>
          </p:cNvPr>
          <p:cNvSpPr txBox="1">
            <a:spLocks/>
          </p:cNvSpPr>
          <p:nvPr/>
        </p:nvSpPr>
        <p:spPr>
          <a:xfrm>
            <a:off x="285750" y="973931"/>
            <a:ext cx="11654462" cy="563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기간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: 2/24(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화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~ 3/25(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계획서 보고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2/26(</a:t>
            </a:r>
            <a:r>
              <a:rPr lang="ko-KR" altLang="en-US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목</a:t>
            </a:r>
            <a:r>
              <a:rPr lang="en-US" altLang="ko-KR" sz="32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13:00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프로젝트 발표 </a:t>
            </a:r>
            <a:r>
              <a:rPr lang="en-US" altLang="ko-KR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: 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3/25(</a:t>
            </a:r>
            <a:r>
              <a:rPr lang="ko-KR" altLang="en-US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수</a:t>
            </a:r>
            <a:r>
              <a:rPr lang="en-US" altLang="ko-KR" sz="3200" b="1" dirty="0">
                <a:solidFill>
                  <a:srgbClr val="FF5050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 10:00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 startAt="5"/>
            </a:pPr>
            <a:r>
              <a:rPr lang="ko-KR" altLang="en-US" sz="3200" dirty="0"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필수 제출 사항</a:t>
            </a:r>
            <a:endParaRPr lang="en-US" altLang="ko-KR" sz="3200" dirty="0"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레포지토리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60000"/>
              </a:lnSpc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PPT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발표 자료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281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데이터 수집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ABF6D-2958-2396-3E84-34587C3CE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5903" y="1732860"/>
            <a:ext cx="5257800" cy="3912566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[AI </a:t>
            </a:r>
            <a:r>
              <a:rPr lang="ko-KR" altLang="en-US" sz="2400" dirty="0">
                <a:latin typeface="+mn-ea"/>
              </a:rPr>
              <a:t>허브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2"/>
              </a:rPr>
              <a:t>https://aihub.or.kr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국가 통계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3"/>
              </a:rPr>
              <a:t>https://kosis.kr/index/index.do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Roboflow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altLang="ko-KR" sz="2400" dirty="0">
                <a:latin typeface="+mn-ea"/>
                <a:hlinkClick r:id="rId4"/>
              </a:rPr>
              <a:t>https://public.roboflow.com/</a:t>
            </a: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endParaRPr lang="en-US" altLang="ko-KR" sz="2400" dirty="0">
              <a:latin typeface="+mn-ea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904612" y="1679851"/>
            <a:ext cx="5257800" cy="3667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kaggle</a:t>
            </a:r>
            <a:r>
              <a:rPr lang="ko-KR" altLang="en-US" sz="2400" dirty="0">
                <a:latin typeface="+mn-ea"/>
              </a:rPr>
              <a:t>데이터 셋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5"/>
              </a:rPr>
              <a:t>https://www.kaggle.com/datasets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ko-KR" altLang="en-US" sz="2400" dirty="0">
                <a:latin typeface="+mn-ea"/>
              </a:rPr>
              <a:t>공공데이터 포털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6"/>
              </a:rPr>
              <a:t>https://www.data.go.kr/index.do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[UCI </a:t>
            </a:r>
            <a:r>
              <a:rPr lang="ko-KR" altLang="en-US" sz="2400" dirty="0" err="1">
                <a:latin typeface="+mn-ea"/>
              </a:rPr>
              <a:t>머신러닝</a:t>
            </a:r>
            <a:r>
              <a:rPr lang="ko-KR" altLang="en-US" sz="2400" dirty="0">
                <a:latin typeface="+mn-ea"/>
              </a:rPr>
              <a:t> 저장소</a:t>
            </a:r>
            <a:r>
              <a:rPr lang="en-US" altLang="ko-KR" sz="2400" dirty="0">
                <a:latin typeface="+mn-ea"/>
              </a:rPr>
              <a:t>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  <a:hlinkClick r:id="rId7"/>
              </a:rPr>
              <a:t>https://archive.ics.uci.edu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0656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" y="0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영상 분석을 위한 데이터 세트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A1457AD-9C54-164C-1CD7-091B5AA62F0E}"/>
              </a:ext>
            </a:extLst>
          </p:cNvPr>
          <p:cNvSpPr txBox="1">
            <a:spLocks/>
          </p:cNvSpPr>
          <p:nvPr/>
        </p:nvSpPr>
        <p:spPr>
          <a:xfrm>
            <a:off x="904612" y="1679851"/>
            <a:ext cx="4031823" cy="3667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[MNIST]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필기체 숫자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[CIFAR10]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자연 이미지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[COCO]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일반사물 데이터 세트 </a:t>
            </a:r>
            <a:r>
              <a:rPr lang="en-US" altLang="ko-KR" sz="2400" dirty="0">
                <a:latin typeface="+mn-ea"/>
              </a:rPr>
              <a:t>- MS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51B509F-95A4-7A55-286F-6367712B31CD}"/>
              </a:ext>
            </a:extLst>
          </p:cNvPr>
          <p:cNvSpPr txBox="1">
            <a:spLocks/>
          </p:cNvSpPr>
          <p:nvPr/>
        </p:nvSpPr>
        <p:spPr>
          <a:xfrm>
            <a:off x="6096000" y="1679851"/>
            <a:ext cx="4492487" cy="403183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</a:t>
            </a:r>
            <a:r>
              <a:rPr lang="en-US" altLang="ko-KR" sz="2400" dirty="0" err="1">
                <a:latin typeface="+mn-ea"/>
              </a:rPr>
              <a:t>Labelme</a:t>
            </a:r>
            <a:r>
              <a:rPr lang="en-US" altLang="ko-KR" sz="2400" dirty="0">
                <a:latin typeface="+mn-ea"/>
              </a:rPr>
              <a:t>]</a:t>
            </a:r>
            <a:endParaRPr lang="en-US" altLang="ko-KR" sz="2400" dirty="0">
              <a:latin typeface="+mn-ea"/>
              <a:hlinkClick r:id="" action="ppaction://noactio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레이블이 있는 이미지의 대규모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[COIL20]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360</a:t>
            </a:r>
            <a:r>
              <a:rPr lang="ko-KR" altLang="en-US" sz="2400" dirty="0">
                <a:latin typeface="+mn-ea"/>
              </a:rPr>
              <a:t>도 회전으로 모든 각도에서 이미지가 생성되는 다양한 객체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400" dirty="0">
                <a:latin typeface="+mn-ea"/>
              </a:rPr>
              <a:t>[KITTI Version Benchmark Dataset]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+mn-ea"/>
              </a:rPr>
              <a:t>카메라와 레이저 스캐너를 사용해 다양한 지역의 도시 이미지를 수입한 데이터 세트</a:t>
            </a: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0809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C9AE-44BF-A9B4-8B66-4BC619C3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3AC0A6-99C1-1F4D-E6D5-96EDCE93C1A7}"/>
              </a:ext>
            </a:extLst>
          </p:cNvPr>
          <p:cNvSpPr txBox="1"/>
          <p:nvPr/>
        </p:nvSpPr>
        <p:spPr>
          <a:xfrm>
            <a:off x="3304245" y="2600493"/>
            <a:ext cx="55835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계획서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F32AC-D062-F74F-BE36-1F2AF426F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CADF1-77FB-5BBF-AE7C-EA2ABE5F2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7FBA2-0D0E-95A1-99CD-47F73202926B}"/>
              </a:ext>
            </a:extLst>
          </p:cNvPr>
          <p:cNvSpPr txBox="1"/>
          <p:nvPr/>
        </p:nvSpPr>
        <p:spPr>
          <a:xfrm>
            <a:off x="251788" y="909496"/>
            <a:ext cx="11635412" cy="5039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ko-KR" altLang="en-US" sz="3200" b="1" dirty="0"/>
              <a:t>💡 프로젝트 계획서 작성의 이유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명확한 목표 설정 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r>
              <a:rPr lang="ko-KR" altLang="en-US" sz="2200" dirty="0"/>
              <a:t>프로젝트의 목적</a:t>
            </a:r>
            <a:r>
              <a:rPr lang="en-US" altLang="ko-KR" sz="2200" dirty="0"/>
              <a:t>, </a:t>
            </a:r>
            <a:r>
              <a:rPr lang="ko-KR" altLang="en-US" sz="2200" dirty="0"/>
              <a:t>범위</a:t>
            </a:r>
            <a:r>
              <a:rPr lang="en-US" altLang="ko-KR" sz="2200" dirty="0"/>
              <a:t>, </a:t>
            </a:r>
            <a:r>
              <a:rPr lang="ko-KR" altLang="en-US" sz="2200" dirty="0"/>
              <a:t>목표를 명확히 정의하여 방향성을 확립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효율적인 자원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시간</a:t>
            </a:r>
            <a:r>
              <a:rPr lang="en-US" altLang="ko-KR" sz="2200" dirty="0"/>
              <a:t>, </a:t>
            </a:r>
            <a:r>
              <a:rPr lang="ko-KR" altLang="en-US" sz="2200" dirty="0"/>
              <a:t>인력</a:t>
            </a:r>
            <a:r>
              <a:rPr lang="en-US" altLang="ko-KR" sz="2200" dirty="0"/>
              <a:t>, </a:t>
            </a:r>
            <a:r>
              <a:rPr lang="ko-KR" altLang="en-US" sz="2200" dirty="0"/>
              <a:t>비용 등 필요한 자원을 체계적으로 관리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리스크 관리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잠재적인 문제점을 사전에 예측하고 대응 전략 마련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팀원 간 커뮤니케이션 </a:t>
            </a:r>
            <a:r>
              <a:rPr lang="en-US" altLang="ko-KR" sz="2200" b="1" dirty="0"/>
              <a:t>: </a:t>
            </a:r>
            <a:r>
              <a:rPr lang="ko-KR" altLang="en-US" sz="2200" dirty="0"/>
              <a:t>역할 분담 및 일정 공유를 통해 협업 강화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성과 측정 및 피드백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진행 상태를 체계적으로 모니터링하고 성과를 평가 가능</a:t>
            </a:r>
            <a:r>
              <a:rPr lang="en-US" altLang="ko-KR" sz="2200" dirty="0"/>
              <a:t>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200" b="1" dirty="0"/>
              <a:t>문서화 및 참고 자료 활용 </a:t>
            </a:r>
            <a:r>
              <a:rPr lang="en-US" altLang="ko-KR" sz="2200" b="1" dirty="0"/>
              <a:t>: </a:t>
            </a:r>
            <a:r>
              <a:rPr lang="ko-KR" altLang="en-US" sz="2200" dirty="0"/>
              <a:t>프로젝트 완료 후 다른 프로젝트에 활용 가능한 기준 및 참고 자료 제공</a:t>
            </a:r>
            <a:r>
              <a:rPr lang="en-US" altLang="ko-K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888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3301-E37F-440C-253A-F2E6EEB7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56FCC-7E64-FD97-F250-13632D99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C94EA-C7FC-44CF-5524-DD3EA4304B10}"/>
              </a:ext>
            </a:extLst>
          </p:cNvPr>
          <p:cNvSpPr txBox="1"/>
          <p:nvPr/>
        </p:nvSpPr>
        <p:spPr>
          <a:xfrm>
            <a:off x="399143" y="1325563"/>
            <a:ext cx="11393714" cy="456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1. </a:t>
            </a:r>
            <a:r>
              <a:rPr lang="ko-KR" altLang="en-US" sz="2800" b="1" dirty="0"/>
              <a:t>프로젝트 개요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1.1 </a:t>
            </a:r>
            <a:r>
              <a:rPr lang="ko-KR" altLang="en-US" sz="2400" b="1" dirty="0"/>
              <a:t>프로젝트 이름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이름을 명확히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1.2 </a:t>
            </a:r>
            <a:r>
              <a:rPr lang="ko-KR" altLang="en-US" sz="2400" b="1" dirty="0"/>
              <a:t>프로젝트 설명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목적과 주요 기능</a:t>
            </a:r>
            <a:r>
              <a:rPr lang="en-US" altLang="ko-KR" sz="2400" dirty="0"/>
              <a:t>, </a:t>
            </a:r>
            <a:r>
              <a:rPr lang="ko-KR" altLang="en-US" sz="2400" dirty="0"/>
              <a:t>해결하고자 하는 문제에 대해 간단히 설명해주세요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1.3 </a:t>
            </a:r>
            <a:r>
              <a:rPr lang="ko-KR" altLang="en-US" sz="2400" b="1" dirty="0"/>
              <a:t>주요 기술 스택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프로젝트에서 사용할 언어</a:t>
            </a:r>
            <a:r>
              <a:rPr lang="en-US" altLang="ko-KR" sz="2400" dirty="0"/>
              <a:t>, </a:t>
            </a:r>
            <a:r>
              <a:rPr lang="ko-KR" altLang="en-US" sz="2400" dirty="0"/>
              <a:t>프레임워크</a:t>
            </a:r>
            <a:r>
              <a:rPr lang="en-US" altLang="ko-KR" sz="2400" dirty="0"/>
              <a:t>, </a:t>
            </a:r>
            <a:r>
              <a:rPr lang="ko-KR" altLang="en-US" sz="2400" dirty="0"/>
              <a:t>라이브러리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 등을 명시해주세요</a:t>
            </a:r>
            <a:r>
              <a:rPr lang="en-US" altLang="ko-KR" sz="2400" dirty="0"/>
              <a:t>.(</a:t>
            </a:r>
            <a:r>
              <a:rPr lang="ko-KR" altLang="en-US" sz="2400" dirty="0"/>
              <a:t>사용 버전 포함</a:t>
            </a:r>
            <a:r>
              <a:rPr lang="en-US" altLang="ko-K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3231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3E07-50D6-56B5-03AC-FA5509B8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1520B-E237-636A-81B9-E12D4407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8EA8C-1C45-FFEA-762F-EE9FB27E3498}"/>
              </a:ext>
            </a:extLst>
          </p:cNvPr>
          <p:cNvSpPr txBox="1"/>
          <p:nvPr/>
        </p:nvSpPr>
        <p:spPr>
          <a:xfrm>
            <a:off x="399143" y="1151392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2. </a:t>
            </a:r>
            <a:r>
              <a:rPr lang="ko-KR" altLang="en-US" sz="2800" b="1" dirty="0"/>
              <a:t>팀 구성 및 역할 분담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2.1 </a:t>
            </a:r>
            <a:r>
              <a:rPr lang="ko-KR" altLang="en-US" sz="2400" b="1" dirty="0"/>
              <a:t>팀 소개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이름 및 팀에 관한 간단한 소개를 적어주세요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2.2 </a:t>
            </a:r>
            <a:r>
              <a:rPr lang="ko-KR" altLang="en-US" sz="2400" b="1" dirty="0"/>
              <a:t>역할 분담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팀 내 각 개인의 역할과 책임을 명시하세요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1D2E12-4BDA-6388-81BF-AFE44CA94E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338040"/>
          <a:ext cx="10515600" cy="17373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5279703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148372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8598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업무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2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전체 일정 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진행 상황 점검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81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김철수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프론트엔드</a:t>
                      </a:r>
                      <a:r>
                        <a:rPr lang="ko-KR" altLang="en-US" dirty="0"/>
                        <a:t>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UI/UX </a:t>
                      </a:r>
                      <a:r>
                        <a:rPr lang="ko-KR" altLang="en-US"/>
                        <a:t>설계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프론트엔드 기능 구현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6064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이영희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백엔드 개발자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API </a:t>
                      </a:r>
                      <a:r>
                        <a:rPr lang="ko-KR" altLang="en-US" dirty="0"/>
                        <a:t>설계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서버 구축 및 데이터베이스 관리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93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144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33C2-5426-C813-DC45-FFD0729B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A2085-8F26-F63F-91F7-E0A0C335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76CDB-2C59-F402-B483-3B96DC0CB1E9}"/>
              </a:ext>
            </a:extLst>
          </p:cNvPr>
          <p:cNvSpPr txBox="1"/>
          <p:nvPr/>
        </p:nvSpPr>
        <p:spPr>
          <a:xfrm>
            <a:off x="399143" y="917681"/>
            <a:ext cx="11393714" cy="18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 </a:t>
            </a:r>
            <a:r>
              <a:rPr lang="ko-KR" altLang="en-US" sz="2800" b="1" dirty="0"/>
              <a:t>프로젝트 세부 계획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3.1 </a:t>
            </a:r>
            <a:r>
              <a:rPr lang="ko-KR" altLang="en-US" sz="2400" b="1" dirty="0"/>
              <a:t>일정 및 마일스톤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주요 일정과 마일스톤을 작성하세요</a:t>
            </a:r>
            <a:r>
              <a:rPr lang="en-US" altLang="ko-KR" sz="28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7172C3B-2ADF-66A9-C301-BD7438939857}"/>
              </a:ext>
            </a:extLst>
          </p:cNvPr>
          <p:cNvGraphicFramePr>
            <a:graphicFrameLocks noGrp="1"/>
          </p:cNvGraphicFramePr>
          <p:nvPr/>
        </p:nvGraphicFramePr>
        <p:xfrm>
          <a:off x="460828" y="2815322"/>
          <a:ext cx="11270343" cy="18798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56781">
                  <a:extLst>
                    <a:ext uri="{9D8B030D-6E8A-4147-A177-3AD203B41FA5}">
                      <a16:colId xmlns:a16="http://schemas.microsoft.com/office/drawing/2014/main" val="2123945151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855385467"/>
                    </a:ext>
                  </a:extLst>
                </a:gridCol>
                <a:gridCol w="3756781">
                  <a:extLst>
                    <a:ext uri="{9D8B030D-6E8A-4147-A177-3AD203B41FA5}">
                      <a16:colId xmlns:a16="http://schemas.microsoft.com/office/drawing/2014/main" val="3322725072"/>
                    </a:ext>
                  </a:extLst>
                </a:gridCol>
              </a:tblGrid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마일스톤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목표 날짜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세부 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580736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기획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2025-01-15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기능 명세서 작성 및 기술 스택 확정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669567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en-US"/>
                        <a:t>MVP </a:t>
                      </a:r>
                      <a:r>
                        <a:rPr lang="ko-KR" altLang="en-US"/>
                        <a:t>개발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핵심 기능이 포함된 최소 제품 개발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861539"/>
                  </a:ext>
                </a:extLst>
              </a:tr>
              <a:tr h="469952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최종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dirty="0"/>
                        <a:t>2025-02-15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모든 기능 구현 및 발표 자료 준비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330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6956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FBD6A-4A94-7570-39EF-647F7C86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3164A-01B2-E962-CC3D-296BD054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154F8-059B-AFFA-97A3-C02CE01E73C5}"/>
              </a:ext>
            </a:extLst>
          </p:cNvPr>
          <p:cNvSpPr txBox="1"/>
          <p:nvPr/>
        </p:nvSpPr>
        <p:spPr>
          <a:xfrm>
            <a:off x="399143" y="103535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3.2 </a:t>
            </a:r>
            <a:r>
              <a:rPr lang="ko-KR" altLang="en-US" sz="2800" b="1" dirty="0"/>
              <a:t>개발 프로세스 및 팀 룰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개발 방식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Agile, Scrum)</a:t>
            </a:r>
            <a:r>
              <a:rPr lang="ko-KR" altLang="en-US" sz="2400" dirty="0"/>
              <a:t>과 주요 협업 툴</a:t>
            </a:r>
            <a:r>
              <a:rPr lang="en-US" altLang="ko-KR" sz="2400" dirty="0"/>
              <a:t>(</a:t>
            </a:r>
            <a:r>
              <a:rPr lang="ko-KR" altLang="en-US" sz="2400" dirty="0"/>
              <a:t>예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Github</a:t>
            </a:r>
            <a:r>
              <a:rPr lang="en-US" altLang="ko-KR" sz="2400" dirty="0"/>
              <a:t>, Notion, Figma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r>
              <a:rPr lang="ko-KR" altLang="en-US" sz="2400" dirty="0"/>
              <a:t>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사전에 합의된 팀 룰이 있다면 적어주세요</a:t>
            </a:r>
            <a:r>
              <a:rPr lang="en-US" altLang="ko-KR" sz="2400" dirty="0"/>
              <a:t>.(Lint </a:t>
            </a:r>
            <a:r>
              <a:rPr lang="ko-KR" altLang="en-US" sz="2400" dirty="0"/>
              <a:t>규칙</a:t>
            </a:r>
            <a:r>
              <a:rPr lang="en-US" altLang="ko-KR" sz="2400" dirty="0"/>
              <a:t>, Commit </a:t>
            </a:r>
            <a:r>
              <a:rPr lang="ko-KR" altLang="en-US" sz="2400" dirty="0"/>
              <a:t>규칙 등</a:t>
            </a:r>
            <a:r>
              <a:rPr lang="en-US" altLang="ko-KR" sz="24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0BE8D-8E83-727E-C2B0-3D2DEC60EDE3}"/>
              </a:ext>
            </a:extLst>
          </p:cNvPr>
          <p:cNvSpPr txBox="1"/>
          <p:nvPr/>
        </p:nvSpPr>
        <p:spPr>
          <a:xfrm>
            <a:off x="399143" y="2968672"/>
            <a:ext cx="11393714" cy="19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Commit </a:t>
            </a:r>
            <a:r>
              <a:rPr lang="ko-KR" altLang="en-US" sz="2400" b="1" dirty="0"/>
              <a:t>규칙</a:t>
            </a:r>
            <a:r>
              <a:rPr lang="en-US" altLang="ko-KR" sz="2400" b="1" dirty="0"/>
              <a:t>?</a:t>
            </a:r>
            <a:endParaRPr lang="ko-KR" altLang="en-US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git </a:t>
            </a:r>
            <a:r>
              <a:rPr lang="en-US" altLang="ko-KR" sz="2000" dirty="0" err="1"/>
              <a:t>commt</a:t>
            </a:r>
            <a:r>
              <a:rPr lang="en-US" altLang="ko-KR" sz="2000" dirty="0"/>
              <a:t> -m</a:t>
            </a:r>
            <a:r>
              <a:rPr lang="ko-KR" altLang="en-US" sz="2000" dirty="0"/>
              <a:t>으로 변경사항을 설명하는 메시지를 작성할 때 일관된 형식과 내용을 따르는 규칙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코드 변경 이력을 더 명확하고 효율적으로 관리할 수 있음</a:t>
            </a:r>
            <a:endParaRPr lang="en-US" altLang="ko-K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/>
              <a:t>팀원 간의 커뮤니케이션을 원활하게 하고</a:t>
            </a:r>
            <a:r>
              <a:rPr lang="en-US" altLang="ko-KR" sz="2000" dirty="0"/>
              <a:t>, </a:t>
            </a:r>
            <a:r>
              <a:rPr lang="ko-KR" altLang="en-US" sz="2000" dirty="0"/>
              <a:t>리뷰 과정에서 혼선을 줄여 줌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0650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0CFDA-C649-29DD-F91A-7E4DCB81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17818-B025-4C43-64A8-D7369F0CC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8CEFA-FAB2-C68C-075A-07555E7BFFEB}"/>
              </a:ext>
            </a:extLst>
          </p:cNvPr>
          <p:cNvSpPr txBox="1"/>
          <p:nvPr/>
        </p:nvSpPr>
        <p:spPr>
          <a:xfrm>
            <a:off x="251788" y="961751"/>
            <a:ext cx="4834561" cy="527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 err="1"/>
              <a:t>커밋</a:t>
            </a:r>
            <a:r>
              <a:rPr lang="ko-KR" altLang="en-US" sz="2800" b="1" dirty="0"/>
              <a:t> 메시지 작성 가이드</a:t>
            </a:r>
            <a:endParaRPr lang="en-US" altLang="ko-KR" sz="28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50</a:t>
            </a:r>
            <a:r>
              <a:rPr lang="ko-KR" altLang="en-US" dirty="0"/>
              <a:t>자 이내로 간결하게 작성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명령문 형태 사용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Add, Fix, Update </a:t>
            </a:r>
            <a:r>
              <a:rPr lang="ko-KR" altLang="en-US" dirty="0"/>
              <a:t>등</a:t>
            </a:r>
            <a:r>
              <a:rPr lang="en-US" altLang="ko-KR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필요 시 본문에서 상세 내용을 서술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타입 예시</a:t>
            </a:r>
            <a:r>
              <a:rPr lang="en-US" altLang="ko-KR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feat: </a:t>
            </a:r>
            <a:r>
              <a:rPr lang="ko-KR" altLang="en-US" dirty="0"/>
              <a:t>새로운 기능 추가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fix: </a:t>
            </a:r>
            <a:r>
              <a:rPr lang="ko-KR" altLang="en-US" dirty="0"/>
              <a:t>버그 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docs: </a:t>
            </a:r>
            <a:r>
              <a:rPr lang="ko-KR" altLang="en-US" dirty="0"/>
              <a:t>문서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style: </a:t>
            </a:r>
            <a:r>
              <a:rPr lang="ko-KR" altLang="en-US" dirty="0"/>
              <a:t>비즈니스 로직에 영향 없는 변경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refactor: </a:t>
            </a:r>
            <a:r>
              <a:rPr lang="ko-KR" altLang="en-US" dirty="0"/>
              <a:t>코드 </a:t>
            </a:r>
            <a:r>
              <a:rPr lang="ko-KR" altLang="en-US" dirty="0" err="1"/>
              <a:t>리팩토링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기능 변경 없음</a:t>
            </a:r>
            <a:r>
              <a:rPr lang="en-US" altLang="ko-KR" dirty="0"/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test: </a:t>
            </a:r>
            <a:r>
              <a:rPr lang="ko-KR" altLang="en-US" dirty="0"/>
              <a:t>테스트 코드 추가</a:t>
            </a:r>
            <a:r>
              <a:rPr lang="en-US" altLang="ko-KR" dirty="0"/>
              <a:t>/</a:t>
            </a:r>
            <a:r>
              <a:rPr lang="ko-KR" altLang="en-US" dirty="0"/>
              <a:t>수정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chore: </a:t>
            </a:r>
            <a:r>
              <a:rPr lang="ko-KR" altLang="en-US" dirty="0"/>
              <a:t>기타 변경사항</a:t>
            </a:r>
            <a:endParaRPr lang="en-US" altLang="ko-KR" sz="16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9CF43CE-4CA6-57D6-1185-8632C42B8EDE}"/>
              </a:ext>
            </a:extLst>
          </p:cNvPr>
          <p:cNvGrpSpPr/>
          <p:nvPr/>
        </p:nvGrpSpPr>
        <p:grpSpPr>
          <a:xfrm>
            <a:off x="5695949" y="1258888"/>
            <a:ext cx="6121173" cy="5201940"/>
            <a:chOff x="5683023" y="1258888"/>
            <a:chExt cx="6134100" cy="5212926"/>
          </a:xfrm>
        </p:grpSpPr>
        <p:pic>
          <p:nvPicPr>
            <p:cNvPr id="5127" name="Picture 7" descr="Make a meaningful git commit message with Semantic Commit Message | by  Martin David Valentino | Dev Genius">
              <a:extLst>
                <a:ext uri="{FF2B5EF4-FFF2-40B4-BE49-F238E27FC236}">
                  <a16:creationId xmlns:a16="http://schemas.microsoft.com/office/drawing/2014/main" id="{470296FF-BD3F-EC2C-2317-9702B01629E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769"/>
            <a:stretch/>
          </p:blipFill>
          <p:spPr bwMode="auto">
            <a:xfrm>
              <a:off x="5763532" y="1258888"/>
              <a:ext cx="5973082" cy="48128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7B1F56-12F3-3985-B581-4394B303E72B}"/>
                </a:ext>
              </a:extLst>
            </p:cNvPr>
            <p:cNvSpPr txBox="1"/>
            <p:nvPr/>
          </p:nvSpPr>
          <p:spPr>
            <a:xfrm>
              <a:off x="5683023" y="6071704"/>
              <a:ext cx="61341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https://blog.devgenius.io/make-a-meaningful-git-commit-message-with-semantic-commit-message-b39a79b13aa3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645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9AB8-9B14-DF3A-49BC-80BE3BBDD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FD2D1-3C6D-DF4F-4D23-C52FF561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87F97-3D78-ED31-5C5D-7DC27A71EA8F}"/>
              </a:ext>
            </a:extLst>
          </p:cNvPr>
          <p:cNvSpPr txBox="1"/>
          <p:nvPr/>
        </p:nvSpPr>
        <p:spPr>
          <a:xfrm>
            <a:off x="399143" y="917681"/>
            <a:ext cx="11393714" cy="1795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4. </a:t>
            </a:r>
            <a:r>
              <a:rPr lang="ko-KR" altLang="en-US" sz="2800" b="1" dirty="0"/>
              <a:t>기능 명세서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4.1 </a:t>
            </a:r>
            <a:r>
              <a:rPr lang="ko-KR" altLang="en-US" sz="2400" b="1" dirty="0"/>
              <a:t>핵심 기능 리스트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프로젝트의 주요 기능들을 목록으로 작성하세요</a:t>
            </a:r>
            <a:r>
              <a:rPr lang="en-US" altLang="ko-KR" sz="2400" dirty="0"/>
              <a:t>.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C1ED4BE-5443-7F42-349A-293007613145}"/>
              </a:ext>
            </a:extLst>
          </p:cNvPr>
          <p:cNvGraphicFramePr>
            <a:graphicFrameLocks noGrp="1"/>
          </p:cNvGraphicFramePr>
          <p:nvPr/>
        </p:nvGraphicFramePr>
        <p:xfrm>
          <a:off x="537033" y="2864219"/>
          <a:ext cx="11255824" cy="2560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13956">
                  <a:extLst>
                    <a:ext uri="{9D8B030D-6E8A-4147-A177-3AD203B41FA5}">
                      <a16:colId xmlns:a16="http://schemas.microsoft.com/office/drawing/2014/main" val="2505894645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404648023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477267660"/>
                    </a:ext>
                  </a:extLst>
                </a:gridCol>
                <a:gridCol w="2813956">
                  <a:extLst>
                    <a:ext uri="{9D8B030D-6E8A-4147-A177-3AD203B41FA5}">
                      <a16:colId xmlns:a16="http://schemas.microsoft.com/office/drawing/2014/main" val="1755039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기능 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우선순위 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High/Medium/Low)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담당자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462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사용자 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이메일과 비밀번호로 로그인할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홍길동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60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게시글 작성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게시글을 작성하고 저장할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김철수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676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검색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키워드로 콘텐츠를 검색할 수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이영희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630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97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8F54E-0721-1AF4-6053-B5CC07BF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31A54F-2268-8496-B6E3-7A526276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69ED6-8A6D-0E49-05F0-4D7594E7194A}"/>
              </a:ext>
            </a:extLst>
          </p:cNvPr>
          <p:cNvSpPr txBox="1"/>
          <p:nvPr/>
        </p:nvSpPr>
        <p:spPr>
          <a:xfrm>
            <a:off x="399143" y="1207967"/>
            <a:ext cx="1139371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4.2 </a:t>
            </a:r>
            <a:r>
              <a:rPr lang="ko-KR" altLang="en-US" sz="2800" b="1" dirty="0"/>
              <a:t>플로우 차트</a:t>
            </a:r>
          </a:p>
          <a:p>
            <a:r>
              <a:rPr lang="ko-KR" altLang="en-US" sz="2400" dirty="0"/>
              <a:t>기능 간 데이터 흐름을 간략히 설명하거나 다이어그램으로 표현하세요</a:t>
            </a:r>
            <a:r>
              <a:rPr lang="en-US" altLang="ko-KR" sz="2400" dirty="0"/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28FBEE4-FEA4-5EDB-E862-75FFCBDDC051}"/>
              </a:ext>
            </a:extLst>
          </p:cNvPr>
          <p:cNvGrpSpPr/>
          <p:nvPr/>
        </p:nvGrpSpPr>
        <p:grpSpPr>
          <a:xfrm>
            <a:off x="399143" y="2420104"/>
            <a:ext cx="6139542" cy="3766206"/>
            <a:chOff x="428172" y="2289476"/>
            <a:chExt cx="6139542" cy="3766206"/>
          </a:xfrm>
        </p:grpSpPr>
        <p:pic>
          <p:nvPicPr>
            <p:cNvPr id="4098" name="Picture 2" descr="좀 더 발전한 '캠핏'의 Flow Chart">
              <a:extLst>
                <a:ext uri="{FF2B5EF4-FFF2-40B4-BE49-F238E27FC236}">
                  <a16:creationId xmlns:a16="http://schemas.microsoft.com/office/drawing/2014/main" id="{AB66E841-F90E-FBCF-5BF3-3F250D8E9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29" y="2289476"/>
              <a:ext cx="5921828" cy="333102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0A2EA7-5565-F706-440F-05E5C891A8C4}"/>
                </a:ext>
              </a:extLst>
            </p:cNvPr>
            <p:cNvSpPr txBox="1"/>
            <p:nvPr/>
          </p:nvSpPr>
          <p:spPr>
            <a:xfrm>
              <a:off x="428172" y="5809461"/>
              <a:ext cx="613954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[</a:t>
              </a:r>
              <a:r>
                <a:rPr lang="ko-KR" altLang="en-US" sz="1000" dirty="0"/>
                <a:t>출처</a:t>
              </a:r>
              <a:r>
                <a:rPr lang="en-US" altLang="ko-KR" sz="1000" dirty="0"/>
                <a:t>] </a:t>
              </a:r>
              <a:r>
                <a:rPr lang="ko-KR" altLang="en-US" sz="1000" dirty="0"/>
                <a:t>https://brunch.co.kr/@hyunn2/36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D19C79-8E52-A46B-9075-AA87958A7B20}"/>
              </a:ext>
            </a:extLst>
          </p:cNvPr>
          <p:cNvSpPr txBox="1"/>
          <p:nvPr/>
        </p:nvSpPr>
        <p:spPr>
          <a:xfrm>
            <a:off x="6763657" y="3110318"/>
            <a:ext cx="5428343" cy="178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b="1" dirty="0"/>
              <a:t>무료 제작 도구</a:t>
            </a:r>
            <a:endParaRPr lang="en-US" altLang="ko-KR" sz="2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Miro: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3"/>
              </a:rPr>
              <a:t>https://miro.com/ko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</a:rPr>
              <a:t>Draw.io: </a:t>
            </a:r>
            <a:r>
              <a:rPr lang="en-US" altLang="ko-KR" sz="2400" b="1" i="0" dirty="0">
                <a:solidFill>
                  <a:srgbClr val="000000"/>
                </a:solidFill>
                <a:effectLst/>
                <a:latin typeface="Noto Sans KR"/>
                <a:hlinkClick r:id="rId4"/>
              </a:rPr>
              <a:t>https://app.diagrams.net/</a:t>
            </a:r>
            <a:endParaRPr lang="en-US" altLang="ko-KR" sz="2400" b="1" i="0" dirty="0">
              <a:solidFill>
                <a:srgbClr val="000000"/>
              </a:solidFill>
              <a:effectLst/>
              <a:latin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537509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A8FB6-DEC6-F2FE-F20C-0069351E4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064FA-BAD3-106B-8D86-A985326F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계획서 작성</a:t>
            </a:r>
            <a:r>
              <a:rPr lang="en-US" altLang="ko-KR" dirty="0"/>
              <a:t>(</a:t>
            </a:r>
            <a:r>
              <a:rPr lang="ko-KR" altLang="en-US" dirty="0"/>
              <a:t>예시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347AD2-F43B-A913-ADA9-493DF65D07BB}"/>
              </a:ext>
            </a:extLst>
          </p:cNvPr>
          <p:cNvSpPr txBox="1"/>
          <p:nvPr/>
        </p:nvSpPr>
        <p:spPr>
          <a:xfrm>
            <a:off x="399143" y="1325563"/>
            <a:ext cx="11393714" cy="29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/>
              <a:t>5. </a:t>
            </a:r>
            <a:r>
              <a:rPr lang="ko-KR" altLang="en-US" sz="2800" b="1" dirty="0"/>
              <a:t>기타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5.1 </a:t>
            </a:r>
            <a:r>
              <a:rPr lang="ko-KR" altLang="en-US" sz="2400" b="1" dirty="0"/>
              <a:t>참고 자료 및 링크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참고한 자료</a:t>
            </a:r>
            <a:r>
              <a:rPr lang="en-US" altLang="ko-KR" sz="2400" dirty="0"/>
              <a:t>, </a:t>
            </a:r>
            <a:r>
              <a:rPr lang="ko-KR" altLang="en-US" sz="2400" dirty="0"/>
              <a:t>레퍼런스 링크</a:t>
            </a:r>
            <a:r>
              <a:rPr lang="en-US" altLang="ko-KR" sz="2400" dirty="0"/>
              <a:t>, API </a:t>
            </a:r>
            <a:r>
              <a:rPr lang="ko-KR" altLang="en-US" sz="2400" dirty="0"/>
              <a:t>문서 등을 작성하세요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/>
              <a:t>5.2 </a:t>
            </a:r>
            <a:r>
              <a:rPr lang="ko-KR" altLang="en-US" sz="2400" b="1" dirty="0"/>
              <a:t>부가 정보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기타 필요한 정보 작성</a:t>
            </a:r>
          </a:p>
        </p:txBody>
      </p:sp>
    </p:spTree>
    <p:extLst>
      <p:ext uri="{BB962C8B-B14F-4D97-AF65-F5344CB8AC3E}">
        <p14:creationId xmlns:p14="http://schemas.microsoft.com/office/powerpoint/2010/main" val="4167490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ECF0-0546-0575-04D5-B82B7A86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BC792C-9AD9-5444-708A-769514CF8558}"/>
              </a:ext>
            </a:extLst>
          </p:cNvPr>
          <p:cNvSpPr txBox="1"/>
          <p:nvPr/>
        </p:nvSpPr>
        <p:spPr>
          <a:xfrm>
            <a:off x="3674536" y="2600493"/>
            <a:ext cx="48429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발표자료 예시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811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CE201531-E415-73FA-6C15-A093B272CF02}"/>
              </a:ext>
            </a:extLst>
          </p:cNvPr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7" name="사각형: 둥근 위쪽 모서리 6">
              <a:extLst>
                <a:ext uri="{FF2B5EF4-FFF2-40B4-BE49-F238E27FC236}">
                  <a16:creationId xmlns:a16="http://schemas.microsoft.com/office/drawing/2014/main" id="{20CEB42D-27A7-01E0-8C72-1940C197DA31}"/>
                </a:ext>
              </a:extLst>
            </p:cNvPr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name="adj1" fmla="val 8239"/>
                <a:gd name="adj2" fmla="val 0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000"/>
                  </a:srgbClr>
                </a:gs>
              </a:gsLst>
              <a:lin ang="16200000" scaled="1"/>
            </a:gradFill>
            <a:ln w="12261" cap="flat">
              <a:noFill/>
              <a:prstDash val="solid"/>
              <a:miter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020429F-1416-5903-8511-22F8E7B515CA}"/>
                </a:ext>
              </a:extLst>
            </p:cNvPr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pic>
          <p:nvPicPr>
            <p:cNvPr id="10" name="그래픽 39">
              <a:extLst>
                <a:ext uri="{FF2B5EF4-FFF2-40B4-BE49-F238E27FC236}">
                  <a16:creationId xmlns:a16="http://schemas.microsoft.com/office/drawing/2014/main" id="{941ADA50-64C2-37EE-C27F-C97C25EA3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</p:spPr>
        </p:pic>
        <p:pic>
          <p:nvPicPr>
            <p:cNvPr id="16" name="그래픽 57">
              <a:extLst>
                <a:ext uri="{FF2B5EF4-FFF2-40B4-BE49-F238E27FC236}">
                  <a16:creationId xmlns:a16="http://schemas.microsoft.com/office/drawing/2014/main" id="{5776C62F-FC39-30A5-8C05-0EA4976C7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8282" y="4699746"/>
              <a:ext cx="513759" cy="513759"/>
            </a:xfrm>
            <a:prstGeom prst="rect">
              <a:avLst/>
            </a:prstGeom>
          </p:spPr>
        </p:pic>
      </p:grpSp>
      <p:pic>
        <p:nvPicPr>
          <p:cNvPr id="5" name="그림 4" descr="노트북, 컴퓨터, 의류, 사람이(가) 표시된 사진&#10;&#10;자동 생성된 설명">
            <a:extLst>
              <a:ext uri="{FF2B5EF4-FFF2-40B4-BE49-F238E27FC236}">
                <a16:creationId xmlns:a16="http://schemas.microsoft.com/office/drawing/2014/main" id="{65866456-3A04-FF02-3B68-1DDA24DD4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3" y="2852936"/>
            <a:ext cx="6272386" cy="3816424"/>
          </a:xfrm>
          <a:prstGeom prst="rect">
            <a:avLst/>
          </a:prstGeom>
        </p:spPr>
      </p:pic>
      <p:pic>
        <p:nvPicPr>
          <p:cNvPr id="28" name="그래픽 67">
            <a:extLst>
              <a:ext uri="{FF2B5EF4-FFF2-40B4-BE49-F238E27FC236}">
                <a16:creationId xmlns:a16="http://schemas.microsoft.com/office/drawing/2014/main" id="{80C07BB0-31E5-6486-268B-B1E3D500D9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32004" y="3739512"/>
            <a:ext cx="104775" cy="762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BE0201-4E19-4F17-880B-68EB902B69A3}"/>
              </a:ext>
            </a:extLst>
          </p:cNvPr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dirty="0"/>
              <a:t>(PPT </a:t>
            </a:r>
            <a:r>
              <a:rPr lang="ko-KR" altLang="en-US" sz="2400" b="1" dirty="0"/>
              <a:t>작성 시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아래 경로에 등록된 </a:t>
            </a:r>
            <a:endParaRPr lang="en-US" altLang="ko-KR" sz="2400" b="1" dirty="0"/>
          </a:p>
          <a:p>
            <a:pPr>
              <a:lnSpc>
                <a:spcPct val="200000"/>
              </a:lnSpc>
            </a:pPr>
            <a:r>
              <a:rPr lang="en-US" altLang="ko-KR" sz="2400" dirty="0"/>
              <a:t>[</a:t>
            </a:r>
            <a:r>
              <a:rPr lang="ko-KR" altLang="en-US" sz="2400" b="1" dirty="0"/>
              <a:t>작성가이드 </a:t>
            </a:r>
            <a:r>
              <a:rPr lang="en-US" altLang="ko-KR" sz="2400" b="1" dirty="0"/>
              <a:t>2. </a:t>
            </a:r>
            <a:r>
              <a:rPr lang="ko-KR" altLang="en-US" sz="2400" b="1" dirty="0"/>
              <a:t>팀별 프로젝트 결과보고서</a:t>
            </a:r>
            <a:r>
              <a:rPr lang="en-US" altLang="ko-KR" sz="2400" b="1" dirty="0"/>
              <a:t>]</a:t>
            </a:r>
          </a:p>
          <a:p>
            <a:pPr>
              <a:lnSpc>
                <a:spcPct val="200000"/>
              </a:lnSpc>
            </a:pPr>
            <a:r>
              <a:rPr lang="ko-KR" altLang="en-US" sz="2400" b="1" dirty="0"/>
              <a:t>영상을 참고하여 작성하세요</a:t>
            </a:r>
            <a:r>
              <a:rPr lang="en-US" altLang="ko-KR" sz="2400" b="1" dirty="0"/>
              <a:t>!</a:t>
            </a:r>
            <a:r>
              <a:rPr lang="ko-KR" altLang="en-US" sz="2400" b="1" dirty="0"/>
              <a:t>     </a:t>
            </a:r>
            <a:endParaRPr lang="ko-KR" altLang="en-US" sz="2400" dirty="0"/>
          </a:p>
        </p:txBody>
      </p:sp>
      <p:pic>
        <p:nvPicPr>
          <p:cNvPr id="33" name="그래픽 32">
            <a:extLst>
              <a:ext uri="{FF2B5EF4-FFF2-40B4-BE49-F238E27FC236}">
                <a16:creationId xmlns:a16="http://schemas.microsoft.com/office/drawing/2014/main" id="{605BBCBF-7F86-424E-B6F1-1163FB3CA1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7575" y="1114901"/>
            <a:ext cx="231912" cy="231912"/>
          </a:xfrm>
          <a:prstGeom prst="rect">
            <a:avLst/>
          </a:prstGeom>
        </p:spPr>
      </p:pic>
      <p:pic>
        <p:nvPicPr>
          <p:cNvPr id="34" name="그래픽 33">
            <a:extLst>
              <a:ext uri="{FF2B5EF4-FFF2-40B4-BE49-F238E27FC236}">
                <a16:creationId xmlns:a16="http://schemas.microsoft.com/office/drawing/2014/main" id="{1ED7A898-AC55-42A7-BBAA-5FB146DCA9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1472" y="5970452"/>
            <a:ext cx="106965" cy="106965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63769094-2B28-4CF3-87D3-E86DAFE87CB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70411" y="3333846"/>
            <a:ext cx="320555" cy="320555"/>
          </a:xfrm>
          <a:prstGeom prst="rect">
            <a:avLst/>
          </a:prstGeom>
        </p:spPr>
      </p:pic>
      <p:pic>
        <p:nvPicPr>
          <p:cNvPr id="36" name="그래픽 39">
            <a:extLst>
              <a:ext uri="{FF2B5EF4-FFF2-40B4-BE49-F238E27FC236}">
                <a16:creationId xmlns:a16="http://schemas.microsoft.com/office/drawing/2014/main" id="{941ADA50-64C2-37EE-C27F-C97C25EA3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1657" y="3051749"/>
            <a:ext cx="190500" cy="266700"/>
          </a:xfrm>
          <a:prstGeom prst="rect">
            <a:avLst/>
          </a:prstGeom>
        </p:spPr>
      </p:pic>
      <p:pic>
        <p:nvPicPr>
          <p:cNvPr id="37" name="그래픽 41">
            <a:extLst>
              <a:ext uri="{FF2B5EF4-FFF2-40B4-BE49-F238E27FC236}">
                <a16:creationId xmlns:a16="http://schemas.microsoft.com/office/drawing/2014/main" id="{C059AD3E-9512-40E4-B4F1-8EC2B01947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35731" y="4683554"/>
            <a:ext cx="459767" cy="437634"/>
          </a:xfrm>
          <a:prstGeom prst="rect">
            <a:avLst/>
          </a:prstGeom>
        </p:spPr>
      </p:pic>
      <p:pic>
        <p:nvPicPr>
          <p:cNvPr id="40" name="그래픽 296">
            <a:extLst>
              <a:ext uri="{FF2B5EF4-FFF2-40B4-BE49-F238E27FC236}">
                <a16:creationId xmlns:a16="http://schemas.microsoft.com/office/drawing/2014/main" id="{0D93E5BE-BF5F-A52F-20A6-B017D69DC82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51618" y="692696"/>
            <a:ext cx="955324" cy="955324"/>
          </a:xfrm>
          <a:prstGeom prst="rect">
            <a:avLst/>
          </a:prstGeom>
        </p:spPr>
      </p:pic>
      <p:pic>
        <p:nvPicPr>
          <p:cNvPr id="41" name="그래픽 298">
            <a:extLst>
              <a:ext uri="{FF2B5EF4-FFF2-40B4-BE49-F238E27FC236}">
                <a16:creationId xmlns:a16="http://schemas.microsoft.com/office/drawing/2014/main" id="{2D3ECE42-9946-304E-ADC9-553BD8A99CD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26450" y="2232252"/>
            <a:ext cx="361822" cy="361822"/>
          </a:xfrm>
          <a:prstGeom prst="rect">
            <a:avLst/>
          </a:prstGeom>
        </p:spPr>
      </p:pic>
      <p:pic>
        <p:nvPicPr>
          <p:cNvPr id="42" name="그래픽 125">
            <a:extLst>
              <a:ext uri="{FF2B5EF4-FFF2-40B4-BE49-F238E27FC236}">
                <a16:creationId xmlns:a16="http://schemas.microsoft.com/office/drawing/2014/main" id="{306708EC-43B1-1FD4-1B3C-80EAE278923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12553974">
            <a:off x="10881716" y="4218190"/>
            <a:ext cx="190500" cy="428625"/>
          </a:xfrm>
          <a:prstGeom prst="rect">
            <a:avLst/>
          </a:prstGeom>
        </p:spPr>
      </p:pic>
      <p:pic>
        <p:nvPicPr>
          <p:cNvPr id="43" name="그래픽 121">
            <a:extLst>
              <a:ext uri="{FF2B5EF4-FFF2-40B4-BE49-F238E27FC236}">
                <a16:creationId xmlns:a16="http://schemas.microsoft.com/office/drawing/2014/main" id="{888286FF-25C9-3A48-568B-FEE0BC283D7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069497" y="5648116"/>
            <a:ext cx="190500" cy="18097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6D18CFB-C137-406C-88BD-E6300970EA61}"/>
              </a:ext>
            </a:extLst>
          </p:cNvPr>
          <p:cNvSpPr txBox="1"/>
          <p:nvPr/>
        </p:nvSpPr>
        <p:spPr>
          <a:xfrm>
            <a:off x="6493773" y="4703560"/>
            <a:ext cx="40307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5"/>
              </a:rPr>
              <a:t>https://youtu.be/AzQ6RnzUnpE</a:t>
            </a:r>
            <a:endParaRPr lang="ko-KR" altLang="en-US" sz="20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0BCF08-13F5-457B-911B-0BDD2B874287}"/>
              </a:ext>
            </a:extLst>
          </p:cNvPr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22910" fontAlgn="base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* 링크를 따라가려면 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&lt;ctrl&gt;</a:t>
            </a: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키를 누른 채 클릭하세요</a:t>
            </a:r>
            <a:r>
              <a:rPr lang="en-US" altLang="ko-KR" sz="105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굴림체" panose="020B0609000101010101" pitchFamily="49" charset="-127"/>
                <a:ea typeface="굴림체" panose="020B0609000101010101" pitchFamily="49" charset="-127"/>
              </a:rPr>
              <a:t>.</a:t>
            </a:r>
            <a:endParaRPr lang="ko-KR" altLang="en-US" sz="1050" dirty="0">
              <a:ln>
                <a:solidFill>
                  <a:schemeClr val="accent1">
                    <a:alpha val="0"/>
                  </a:schemeClr>
                </a:solidFill>
              </a:ln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  <p:sp>
        <p:nvSpPr>
          <p:cNvPr id="39" name="TextBox 11">
            <a:extLst>
              <a:ext uri="{FF2B5EF4-FFF2-40B4-BE49-F238E27FC236}">
                <a16:creationId xmlns:a16="http://schemas.microsoft.com/office/drawing/2014/main" id="{08D694D8-661B-F6D1-68E1-35769C5E2546}"/>
              </a:ext>
            </a:extLst>
          </p:cNvPr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PPT</a:t>
            </a:r>
            <a:r>
              <a:rPr lang="ko-KR" altLang="en-US" sz="3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1A355C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작성 가이드 안내</a:t>
            </a: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DDA2451D-BC49-446F-BB5A-BD4056A187BE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229081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EF94F9A-BEE3-D4E0-C68F-5CC13F0CB7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2792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BBD4645-05C1-2461-0CA1-7E8039FB2786}"/>
              </a:ext>
            </a:extLst>
          </p:cNvPr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작성요령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AC1A773-1649-49F3-E681-8736AC33CFD8}"/>
              </a:ext>
            </a:extLst>
          </p:cNvPr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7263B6A-5B09-A94E-7305-B9E59D67F725}"/>
                </a:ext>
              </a:extLst>
            </p:cNvPr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D1BB396F-A52A-BF9D-CF1F-8F67B1A4DA02}"/>
                  </a:ext>
                </a:extLst>
              </p:cNvPr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sp>
            <p:nvSpPr>
              <p:cNvPr id="49" name="그래픽 27">
                <a:extLst>
                  <a:ext uri="{FF2B5EF4-FFF2-40B4-BE49-F238E27FC236}">
                    <a16:creationId xmlns:a16="http://schemas.microsoft.com/office/drawing/2014/main" id="{9F3FACB8-96F0-B588-4F0C-28013B1D5FF6}"/>
                  </a:ext>
                </a:extLst>
              </p:cNvPr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avLst/>
                <a:gdLst>
                  <a:gd name="connsiteX0" fmla="*/ 277636 w 733449"/>
                  <a:gd name="connsiteY0" fmla="*/ 570685 h 570685"/>
                  <a:gd name="connsiteX1" fmla="*/ 211152 w 733449"/>
                  <a:gd name="connsiteY1" fmla="*/ 542301 h 570685"/>
                  <a:gd name="connsiteX2" fmla="*/ 25700 w 733449"/>
                  <a:gd name="connsiteY2" fmla="*/ 349324 h 570685"/>
                  <a:gd name="connsiteX3" fmla="*/ 28272 w 733449"/>
                  <a:gd name="connsiteY3" fmla="*/ 218927 h 570685"/>
                  <a:gd name="connsiteX4" fmla="*/ 158669 w 733449"/>
                  <a:gd name="connsiteY4" fmla="*/ 221594 h 570685"/>
                  <a:gd name="connsiteX5" fmla="*/ 276874 w 733449"/>
                  <a:gd name="connsiteY5" fmla="*/ 344752 h 570685"/>
                  <a:gd name="connsiteX6" fmla="*/ 574149 w 733449"/>
                  <a:gd name="connsiteY6" fmla="*/ 28999 h 570685"/>
                  <a:gd name="connsiteX7" fmla="*/ 704451 w 733449"/>
                  <a:gd name="connsiteY7" fmla="*/ 25093 h 570685"/>
                  <a:gd name="connsiteX8" fmla="*/ 708357 w 733449"/>
                  <a:gd name="connsiteY8" fmla="*/ 155395 h 570685"/>
                  <a:gd name="connsiteX9" fmla="*/ 344692 w 733449"/>
                  <a:gd name="connsiteY9" fmla="*/ 541729 h 570685"/>
                  <a:gd name="connsiteX10" fmla="*/ 278017 w 733449"/>
                  <a:gd name="connsiteY10" fmla="*/ 570685 h 570685"/>
                  <a:gd name="connsiteX11" fmla="*/ 277541 w 733449"/>
                  <a:gd name="connsiteY11" fmla="*/ 570685 h 57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33449" h="570685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>
                  <a:latin typeface="+mj-lt"/>
                </a:endParaRP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FCF935-8196-A185-816C-95D844ACA952}"/>
                </a:ext>
              </a:extLst>
            </p:cNvPr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작성요령</a:t>
              </a:r>
              <a:endParaRPr lang="en-US" altLang="ko-KR" sz="20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1AA92F-7E42-EDDF-C00D-43EF76A58DEB}"/>
              </a:ext>
            </a:extLst>
          </p:cNvPr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254AE529-22EB-54D7-0976-B5EF4A458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</p:spPr>
        </p:pic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94CD6DF-A047-4DF8-F9E5-E0C6CD064203}"/>
                </a:ext>
              </a:extLst>
            </p:cNvPr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8C27D-C8CD-BF6D-BC46-E2F8F4927CC5}"/>
                </a:ext>
              </a:extLst>
            </p:cNvPr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56" name="사각형: 둥근 모서리 55">
                <a:extLst>
                  <a:ext uri="{FF2B5EF4-FFF2-40B4-BE49-F238E27FC236}">
                    <a16:creationId xmlns:a16="http://schemas.microsoft.com/office/drawing/2014/main" id="{A6690AB2-A08B-0BA0-316E-656B1C8791DA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4B46D51-2159-3485-F56F-EE8687B19D31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+mj-lt"/>
                    <a:ea typeface="세방고딕 Bold" panose="00000800000000000000" pitchFamily="2" charset="-127"/>
                  </a:rPr>
                  <a:t>2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CE62BF6-EB75-F122-7642-C178C95C921B}"/>
                </a:ext>
              </a:extLst>
            </p:cNvPr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작성주체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9087C6-A385-FDBD-7FC4-8919D8D0053B}"/>
                </a:ext>
              </a:extLst>
            </p:cNvPr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훈련생이 직접 작성하고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훈련기관 담당자가 임의로 삭제 혹은 수정하지 않아야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5CAFA98F-7B4A-201A-B8D7-1DDB2B5EDBF9}"/>
              </a:ext>
            </a:extLst>
          </p:cNvPr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D65B55A5-50A9-0D43-E523-5E15AFFB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</p:spPr>
        </p:pic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194F574F-A0FD-9843-883B-ED65C07104C2}"/>
                </a:ext>
              </a:extLst>
            </p:cNvPr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D00B70C8-0C51-F79C-681B-357513D2FC7E}"/>
                </a:ext>
              </a:extLst>
            </p:cNvPr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id="{816615A8-0428-2613-F44C-50FB5E8F1C4F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16F42B0-20BD-5545-1FFD-791E8DC7781D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1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388280B-ED2E-E1BC-CBB8-411E48304EF7}"/>
                </a:ext>
              </a:extLst>
            </p:cNvPr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맑은 고딕" panose="020B0503020000020004" pitchFamily="50" charset="-127"/>
                </a:rPr>
                <a:t>제출형태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0CF0C1-2A7D-3D19-BF69-1D080EC8F862}"/>
                </a:ext>
              </a:extLst>
            </p:cNvPr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팀별 프로젝트 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(PPT)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는 팀별로 각각 작성하여 제출해야 함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C587D62-5C5B-8568-5550-1D6383C5DEE9}"/>
                </a:ext>
              </a:extLst>
            </p:cNvPr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단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개별 진행된 경우 개별로 작성하여 제출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FF652EE3-449C-BE36-9B21-DE9A986E9380}"/>
                </a:ext>
              </a:extLst>
            </p:cNvPr>
            <p:cNvSpPr/>
            <p:nvPr/>
          </p:nvSpPr>
          <p:spPr>
            <a:xfrm>
              <a:off x="2802691" y="2095552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DD54B0E7-C0BC-E4DB-D62F-AD05F23AF0A2}"/>
              </a:ext>
            </a:extLst>
          </p:cNvPr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CADC2AC-4A12-8D3C-1210-798C9F7CC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</p:spPr>
        </p:pic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E2D13C13-1CD0-287D-6C1B-E5312AE095D6}"/>
                </a:ext>
              </a:extLst>
            </p:cNvPr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B27F5CCB-EFA8-D804-BF2E-597216790FBA}"/>
                </a:ext>
              </a:extLst>
            </p:cNvPr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8D2C11B5-83E8-2470-9DED-9156C304B3D2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D3ABF101-0F85-B13F-E0D4-806F172542B9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3</a:t>
                </a:r>
              </a:p>
            </p:txBody>
          </p:sp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FAA222C-4C3F-46C1-A9CC-60C84CEB096D}"/>
                </a:ext>
              </a:extLst>
            </p:cNvPr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 일 명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DC1CA84-CA24-4C7E-F412-14C7217BA48E}"/>
                </a:ext>
              </a:extLst>
            </p:cNvPr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결과보고서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_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팀주제명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9B456EE-8C65-3985-7041-982FA9B622E3}"/>
                </a:ext>
              </a:extLst>
            </p:cNvPr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예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) 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결과보고서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_1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팀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(OOO</a:t>
              </a: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를 활용한 </a:t>
              </a:r>
              <a:r>
                <a:rPr lang="en-US" altLang="ko-KR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OOOO)</a:t>
              </a:r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99F40289-4205-D43E-3A2D-4DFF14485379}"/>
                </a:ext>
              </a:extLst>
            </p:cNvPr>
            <p:cNvSpPr/>
            <p:nvPr/>
          </p:nvSpPr>
          <p:spPr>
            <a:xfrm>
              <a:off x="2802691" y="37569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FB418381-C607-BD5A-B520-DA0CC9D7DBB8}"/>
              </a:ext>
            </a:extLst>
          </p:cNvPr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233CCD15-0A61-5088-FC70-133E66685F9A}"/>
                </a:ext>
              </a:extLst>
            </p:cNvPr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5518D2B0-5774-6D31-B75C-30F523692C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alphaModFix amt="6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</p:spPr>
          </p:pic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A0A71DDE-6F2C-71A5-A47E-26072A82EFEF}"/>
                  </a:ext>
                </a:extLst>
              </p:cNvPr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name="adj" fmla="val 5120"/>
                </a:avLst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j-lt"/>
                </a:endParaRPr>
              </a:p>
            </p:txBody>
          </p:sp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D407A655-D264-D4C2-BFA1-5D2D789B9C94}"/>
                  </a:ext>
                </a:extLst>
              </p:cNvPr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23" name="사각형: 둥근 모서리 122">
                  <a:extLst>
                    <a:ext uri="{FF2B5EF4-FFF2-40B4-BE49-F238E27FC236}">
                      <a16:creationId xmlns:a16="http://schemas.microsoft.com/office/drawing/2014/main" id="{2683B883-37D7-CDC7-989E-B057FBC1D849}"/>
                    </a:ext>
                  </a:extLst>
                </p:cNvPr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j-lt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1F52D926-F82F-43E6-09C7-C06240926BE1}"/>
                    </a:ext>
                  </a:extLst>
                </p:cNvPr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 anchorCtr="0">
                  <a:spAutoFit/>
                </a:bodyPr>
                <a:lstStyle/>
                <a:p>
                  <a:pPr algn="ctr">
                    <a:defRPr/>
                  </a:pPr>
                  <a:r>
                    <a:rPr lang="en-US" altLang="ko-KR" sz="12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378C8"/>
                      </a:solidFill>
                      <a:latin typeface="+mj-lt"/>
                      <a:ea typeface="세방고딕 Bold" panose="00000800000000000000" pitchFamily="2" charset="-127"/>
                    </a:rPr>
                    <a:t>4</a:t>
                  </a: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2E56CAD0-0947-1BF9-F044-9D82701B5483}"/>
                  </a:ext>
                </a:extLst>
              </p:cNvPr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-410210" fontAlgn="base">
                  <a:spcBef>
                    <a:spcPts val="700"/>
                  </a:spcBef>
                </a:pPr>
                <a:r>
                  <a:rPr lang="ko-KR" altLang="en-US" sz="16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구성내용</a:t>
                </a:r>
              </a:p>
            </p:txBody>
          </p:sp>
        </p:grp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6B74CBFD-AFCF-89B0-713D-A29A14725DDC}"/>
                </a:ext>
              </a:extLst>
            </p:cNvPr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제공된 목차 항목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구성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/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세부내용이 모두 포함되어야 하며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n-ea"/>
                </a:rPr>
                <a:t>페이지별 상세 안내 내용을 참고하여 작성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378C8"/>
                </a:solidFill>
                <a:latin typeface="+mn-ea"/>
              </a:endParaRP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714EA25-4349-04B6-227F-14752927437C}"/>
              </a:ext>
            </a:extLst>
          </p:cNvPr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28" name="그림 127">
              <a:extLst>
                <a:ext uri="{FF2B5EF4-FFF2-40B4-BE49-F238E27FC236}">
                  <a16:creationId xmlns:a16="http://schemas.microsoft.com/office/drawing/2014/main" id="{E6C0944C-6B4A-649A-F52E-0DC2380C3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</p:spPr>
        </p:pic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C6D2C8FF-28D4-D182-1774-8238DD9B86E3}"/>
                </a:ext>
              </a:extLst>
            </p:cNvPr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name="adj" fmla="val 5120"/>
              </a:avLst>
            </a:prstGeom>
            <a:solidFill>
              <a:srgbClr val="49729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j-lt"/>
              </a:endParaRPr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A33218E0-A3BB-81A3-CC73-F8BAF589C625}"/>
                </a:ext>
              </a:extLst>
            </p:cNvPr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858CD352-4F65-6C35-CEFF-EA9433C8E51D}"/>
                  </a:ext>
                </a:extLst>
              </p:cNvPr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lt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C205424B-638D-87F5-0B3A-473A4210093E}"/>
                  </a:ext>
                </a:extLst>
              </p:cNvPr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49729E"/>
                    </a:solidFill>
                    <a:latin typeface="+mj-lt"/>
                    <a:ea typeface="세방고딕 Bold" panose="00000800000000000000" pitchFamily="2" charset="-127"/>
                  </a:rPr>
                  <a:t>5</a:t>
                </a:r>
              </a:p>
            </p:txBody>
          </p:sp>
        </p:grp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86A9A3-3071-02A4-7B5E-E4E3ED9E98AD}"/>
                </a:ext>
              </a:extLst>
            </p:cNvPr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-410210" fontAlgn="base">
                <a:spcBef>
                  <a:spcPts val="700"/>
                </a:spcBef>
              </a:pPr>
              <a:r>
                <a:rPr lang="ko-KR" altLang="en-US" sz="16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디 자 인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E663AE3-9AE9-210F-42B6-BFA57A295F83}"/>
                </a:ext>
              </a:extLst>
            </p:cNvPr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base" latinLnBrk="0">
                <a:lnSpc>
                  <a:spcPct val="120000"/>
                </a:lnSpc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참고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예시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)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디자인이므로 자유롭게 변경 가능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기본폰트를 사용하지 않은 경우 </a:t>
              </a:r>
              <a:r>
                <a:rPr lang="en-US" altLang="ko-KR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PDF</a:t>
              </a:r>
              <a:r>
                <a:rPr lang="ko-KR" altLang="en-US" sz="14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9729E"/>
                  </a:solidFill>
                  <a:latin typeface="+mn-ea"/>
                </a:rPr>
                <a:t>로 저장하여 제출</a:t>
              </a:r>
              <a:endParaRPr lang="en-US" altLang="ko-KR" sz="1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9729E"/>
                </a:solidFill>
                <a:latin typeface="+mn-ea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0ED1B30-E7C1-21BF-02E8-504CED4B5E33}"/>
                </a:ext>
              </a:extLst>
            </p:cNvPr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프로젝트 결과물의 우수성 및 완성도를 잘 나타낼 수 있는 형태로 작성</a:t>
              </a:r>
              <a:endPara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34" name="자유형: 도형 133">
              <a:extLst>
                <a:ext uri="{FF2B5EF4-FFF2-40B4-BE49-F238E27FC236}">
                  <a16:creationId xmlns:a16="http://schemas.microsoft.com/office/drawing/2014/main" id="{AC705F14-C0AF-6F3A-3A70-BC2CDAF6D854}"/>
                </a:ext>
              </a:extLst>
            </p:cNvPr>
            <p:cNvSpPr/>
            <p:nvPr/>
          </p:nvSpPr>
          <p:spPr>
            <a:xfrm>
              <a:off x="2802691" y="580167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05729245-FB8A-8D13-9D3D-205BD3D7A7C0}"/>
                </a:ext>
              </a:extLst>
            </p:cNvPr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 latinLnBrk="0">
                <a:spcBef>
                  <a:spcPts val="300"/>
                </a:spcBef>
                <a:spcAft>
                  <a:spcPts val="300"/>
                </a:spcAft>
              </a:pPr>
              <a:r>
                <a:rPr lang="ko-KR" altLang="en-US" sz="1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저작권 문제로 유료 폰트는 사용 금지</a:t>
              </a:r>
            </a:p>
          </p:txBody>
        </p:sp>
        <p:sp>
          <p:nvSpPr>
            <p:cNvPr id="136" name="자유형: 도형 135">
              <a:extLst>
                <a:ext uri="{FF2B5EF4-FFF2-40B4-BE49-F238E27FC236}">
                  <a16:creationId xmlns:a16="http://schemas.microsoft.com/office/drawing/2014/main" id="{9D805BEB-E360-8D72-2F27-E3284789514A}"/>
                </a:ext>
              </a:extLst>
            </p:cNvPr>
            <p:cNvSpPr/>
            <p:nvPr/>
          </p:nvSpPr>
          <p:spPr>
            <a:xfrm>
              <a:off x="2802691" y="6049788"/>
              <a:ext cx="151043" cy="117601"/>
            </a:xfrm>
            <a:custGeom>
              <a:avLst/>
              <a:gdLst>
                <a:gd name="connsiteX0" fmla="*/ 57208 w 151043"/>
                <a:gd name="connsiteY0" fmla="*/ 117601 h 117601"/>
                <a:gd name="connsiteX1" fmla="*/ 43492 w 151043"/>
                <a:gd name="connsiteY1" fmla="*/ 111743 h 117601"/>
                <a:gd name="connsiteX2" fmla="*/ 5296 w 151043"/>
                <a:gd name="connsiteY2" fmla="*/ 71976 h 117601"/>
                <a:gd name="connsiteX3" fmla="*/ 5820 w 151043"/>
                <a:gd name="connsiteY3" fmla="*/ 45116 h 117601"/>
                <a:gd name="connsiteX4" fmla="*/ 32681 w 151043"/>
                <a:gd name="connsiteY4" fmla="*/ 45640 h 117601"/>
                <a:gd name="connsiteX5" fmla="*/ 57017 w 151043"/>
                <a:gd name="connsiteY5" fmla="*/ 70976 h 117601"/>
                <a:gd name="connsiteX6" fmla="*/ 118215 w 151043"/>
                <a:gd name="connsiteY6" fmla="*/ 5968 h 117601"/>
                <a:gd name="connsiteX7" fmla="*/ 145076 w 151043"/>
                <a:gd name="connsiteY7" fmla="*/ 5158 h 117601"/>
                <a:gd name="connsiteX8" fmla="*/ 145885 w 151043"/>
                <a:gd name="connsiteY8" fmla="*/ 32019 h 117601"/>
                <a:gd name="connsiteX9" fmla="*/ 70971 w 151043"/>
                <a:gd name="connsiteY9" fmla="*/ 111600 h 117601"/>
                <a:gd name="connsiteX10" fmla="*/ 57255 w 151043"/>
                <a:gd name="connsiteY10" fmla="*/ 117553 h 117601"/>
                <a:gd name="connsiteX11" fmla="*/ 57160 w 151043"/>
                <a:gd name="connsiteY11" fmla="*/ 117553 h 117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1043" h="117601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>
                <a:latin typeface="+mj-lt"/>
              </a:endParaRPr>
            </a:p>
          </p:txBody>
        </p:sp>
      </p:grpSp>
      <p:pic>
        <p:nvPicPr>
          <p:cNvPr id="139" name="그래픽 138">
            <a:extLst>
              <a:ext uri="{FF2B5EF4-FFF2-40B4-BE49-F238E27FC236}">
                <a16:creationId xmlns:a16="http://schemas.microsoft.com/office/drawing/2014/main" id="{E5E8A66C-FD69-4A07-BAC1-67D5B5075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99" y="6146170"/>
            <a:ext cx="516028" cy="724897"/>
          </a:xfrm>
          <a:prstGeom prst="rect">
            <a:avLst/>
          </a:prstGeom>
        </p:spPr>
      </p:pic>
      <p:pic>
        <p:nvPicPr>
          <p:cNvPr id="140" name="그래픽 139">
            <a:extLst>
              <a:ext uri="{FF2B5EF4-FFF2-40B4-BE49-F238E27FC236}">
                <a16:creationId xmlns:a16="http://schemas.microsoft.com/office/drawing/2014/main" id="{784CF9DC-6F05-EF5B-B873-2894311E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0953181">
            <a:off x="50218" y="5743137"/>
            <a:ext cx="342900" cy="428625"/>
          </a:xfrm>
          <a:prstGeom prst="rect">
            <a:avLst/>
          </a:prstGeom>
        </p:spPr>
      </p:pic>
      <p:sp>
        <p:nvSpPr>
          <p:cNvPr id="73" name="TextBox 5">
            <a:extLst>
              <a:ext uri="{FF2B5EF4-FFF2-40B4-BE49-F238E27FC236}">
                <a16:creationId xmlns:a16="http://schemas.microsoft.com/office/drawing/2014/main" id="{F827ABC8-3156-4505-8791-135D60E6E703}"/>
              </a:ext>
            </a:extLst>
          </p:cNvPr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FF0000"/>
                </a:solidFill>
              </a:rPr>
              <a:t>제출 시 본 페이지는 삭제 후 제출하세요</a:t>
            </a:r>
          </a:p>
        </p:txBody>
      </p:sp>
    </p:spTree>
    <p:extLst>
      <p:ext uri="{BB962C8B-B14F-4D97-AF65-F5344CB8AC3E}">
        <p14:creationId xmlns:p14="http://schemas.microsoft.com/office/powerpoint/2010/main" val="1884760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○○아카데미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훈련기관명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팀 프로젝트명</a:t>
              </a:r>
              <a:b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주제</a:t>
              </a:r>
              <a:r>
                <a:rPr lang="en-US" altLang="ko-KR" sz="4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어벤져스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팀명</a:t>
              </a: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최○○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○○○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120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63170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842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특화 포인트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기존 유사 서비스와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u="sng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차별화된 내용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제시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구현 내용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컨셉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훈련내용과의 연관성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포함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개발환경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등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산출물의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효용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효과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)/</a:t>
              </a:r>
              <a:b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비즈니스 실무 활용성 제시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4477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E247BE64-85B5-7C04-D551-43D7EA2D00D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해당 프로젝트를 진행하면서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 별로 주도적으로 참여한 부분을 중심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*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운영 중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FF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지원내역도 간략하게 작성</a:t>
              </a:r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박○○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정○○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이○○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 정제 및 정규화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모바일 서비스 테스팅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53" name="그래픽 152">
              <a:extLst>
                <a:ext uri="{FF2B5EF4-FFF2-40B4-BE49-F238E27FC236}">
                  <a16:creationId xmlns:a16="http://schemas.microsoft.com/office/drawing/2014/main" id="{174C7E6C-425A-20A4-A214-6EC7573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</p:spPr>
        </p:pic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 플랫폼 구현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93097" y="4335700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서비스 시스템 설계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텍스트 마이닝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4D67248-D905-9E52-5F24-7FF8A07814EF}"/>
              </a:ext>
            </a:extLst>
          </p:cNvPr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FEA7CFED-846E-5236-EA65-8F066B703370}"/>
                </a:ext>
              </a:extLst>
            </p:cNvPr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0F6B7CC6-DD9D-E65B-295A-7E37D0E9510A}"/>
                </a:ext>
              </a:extLst>
            </p:cNvPr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1E9FBEB-C5FB-ED00-2326-8673D24E284C}"/>
                </a:ext>
              </a:extLst>
            </p:cNvPr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외부 데이터 수집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6" name="그래픽 185">
              <a:extLst>
                <a:ext uri="{FF2B5EF4-FFF2-40B4-BE49-F238E27FC236}">
                  <a16:creationId xmlns:a16="http://schemas.microsoft.com/office/drawing/2014/main" id="{F0589C36-6558-DE35-D2A0-47812F499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540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85117FB-7436-83E8-CACF-9CC7B72D927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프로젝트의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사전 기획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수행 및 완료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과정으로 나누어서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F776B-9A28-263D-E9C4-5AC5D2B67486}"/>
              </a:ext>
            </a:extLst>
          </p:cNvPr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절차를 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도식화하여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제시하거나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더 효과적으로 전달하는 방법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등이 있다면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수정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하여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작성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가능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indent="-285750">
              <a:spcAft>
                <a:spcPts val="600"/>
              </a:spcAft>
              <a:buFontTx/>
              <a:buChar char="-"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기획 단계에서 도출된 주제와 아이디어를 기반으로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실제 프로젝트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수행한 세부적인 기간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과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활동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내용 작성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/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0252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6C09F73A-C1E8-C027-B178-EF2EB31EA301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accent1"/>
                  </a:solidFill>
                  <a:latin typeface="+mj-ea"/>
                  <a:ea typeface="+mj-ea"/>
                </a:rPr>
                <a:t>프로젝트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결과물이 도출된 과정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세부적으로 작성한다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48F1558-81FC-ADBD-7F72-02E1608F0309}"/>
              </a:ext>
            </a:extLst>
          </p:cNvPr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3082793-1863-DA6D-DFAD-F5F7C77FA261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898C1A-E42C-1959-DDA8-7FA3885AF73D}"/>
                </a:ext>
              </a:extLst>
            </p:cNvPr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j-ea"/>
                  <a:ea typeface="+mj-ea"/>
                </a:rPr>
                <a:t>이어지는 예시는 하나의 사례 제공을 위해서 간단하게 제시한 것이므로 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프로젝트 성격에 따라 보다 자세하게 작성</a:t>
              </a:r>
              <a:endPara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D85C"/>
                </a:solidFill>
                <a:latin typeface="+mj-ea"/>
                <a:ea typeface="+mj-ea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41AF91E-7785-5418-A751-C43D2064BD1B}"/>
                </a:ext>
              </a:extLst>
            </p:cNvPr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5A20973A-497E-594B-CABE-FDE69AE049EF}"/>
                  </a:ext>
                </a:extLst>
              </p:cNvPr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174ECA-311B-4561-DF3D-C98A0C484116}"/>
                  </a:ext>
                </a:extLst>
              </p:cNvPr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200" b="1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rgbClr val="3378C8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</a:rPr>
                  <a:t>!</a:t>
                </a:r>
                <a:endParaRPr lang="ko-KR" altLang="en-US" sz="1200" b="1" dirty="0"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endParaRPr>
              </a:p>
            </p:txBody>
          </p:sp>
        </p:grpSp>
      </p:grp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AA2D157E-DC4B-3915-37B9-389E3A4FFCFC}"/>
              </a:ext>
            </a:extLst>
          </p:cNvPr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name="adj1" fmla="val 63525"/>
              <a:gd name="adj2" fmla="val 8173"/>
            </a:avLst>
          </a:prstGeom>
          <a:ln w="15875" cap="rnd" cmpd="sng">
            <a:solidFill>
              <a:schemeClr val="bg1">
                <a:lumMod val="75000"/>
                <a:alpha val="87000"/>
              </a:schemeClr>
            </a:solidFill>
            <a:prstDash val="sys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62D4CE-F6A7-ADDA-07ED-7CFBCE199F48}"/>
              </a:ext>
            </a:extLst>
          </p:cNvPr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프로젝트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defRPr/>
            </a:pPr>
            <a:r>
              <a:rPr lang="ko-KR" altLang="en-US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수행 경과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F94D926-D978-3CED-E480-F2C90DA63374}"/>
              </a:ext>
            </a:extLst>
          </p:cNvPr>
          <p:cNvGrpSpPr/>
          <p:nvPr/>
        </p:nvGrpSpPr>
        <p:grpSpPr>
          <a:xfrm>
            <a:off x="2638615" y="3661000"/>
            <a:ext cx="9211099" cy="673099"/>
            <a:chOff x="2665127" y="3661000"/>
            <a:chExt cx="9211099" cy="6730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85E5837F-33ED-4B0A-BE59-F900C8DD2AE7}"/>
                </a:ext>
              </a:extLst>
            </p:cNvPr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C19EA3D4-16C1-C2D2-3A00-41314A3E6335}"/>
                </a:ext>
              </a:extLst>
            </p:cNvPr>
            <p:cNvGrpSpPr/>
            <p:nvPr/>
          </p:nvGrpSpPr>
          <p:grpSpPr>
            <a:xfrm>
              <a:off x="2665127" y="3812537"/>
              <a:ext cx="408282" cy="351966"/>
              <a:chOff x="450324" y="2128945"/>
              <a:chExt cx="889526" cy="766832"/>
            </a:xfrm>
          </p:grpSpPr>
          <p:sp>
            <p:nvSpPr>
              <p:cNvPr id="50" name="육각형 49">
                <a:extLst>
                  <a:ext uri="{FF2B5EF4-FFF2-40B4-BE49-F238E27FC236}">
                    <a16:creationId xmlns:a16="http://schemas.microsoft.com/office/drawing/2014/main" id="{5CDA4196-E1B2-7E49-518F-8F2F10F6F60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1" name="자유형: 도형 50">
                <a:extLst>
                  <a:ext uri="{FF2B5EF4-FFF2-40B4-BE49-F238E27FC236}">
                    <a16:creationId xmlns:a16="http://schemas.microsoft.com/office/drawing/2014/main" id="{D2201DFF-ED8F-E21C-83BC-E77D5DDD539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A1EEE5-2A25-4981-5450-C4AA5A85F86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BC8E924-E6BF-22EA-5924-F6AF36A3A462}"/>
                </a:ext>
              </a:extLst>
            </p:cNvPr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과정이 잘 드러날 수 있도록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가공 과정부터 활용까지 전체적인 프로세스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단계별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로 작성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AB460BD-FCED-3D3B-D88E-7BA4E871FD67}"/>
              </a:ext>
            </a:extLst>
          </p:cNvPr>
          <p:cNvGrpSpPr/>
          <p:nvPr/>
        </p:nvGrpSpPr>
        <p:grpSpPr>
          <a:xfrm>
            <a:off x="2638615" y="4597922"/>
            <a:ext cx="9095030" cy="673099"/>
            <a:chOff x="2665127" y="4597922"/>
            <a:chExt cx="9095030" cy="673099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60AEF2CD-96BE-6EDB-1CF2-927625F6B439}"/>
                </a:ext>
              </a:extLst>
            </p:cNvPr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191F00A3-4D0E-4CB1-0655-054E51789F4A}"/>
                </a:ext>
              </a:extLst>
            </p:cNvPr>
            <p:cNvGrpSpPr/>
            <p:nvPr/>
          </p:nvGrpSpPr>
          <p:grpSpPr>
            <a:xfrm>
              <a:off x="2665127" y="4749120"/>
              <a:ext cx="408282" cy="351966"/>
              <a:chOff x="450324" y="2128945"/>
              <a:chExt cx="889526" cy="766832"/>
            </a:xfrm>
          </p:grpSpPr>
          <p:sp>
            <p:nvSpPr>
              <p:cNvPr id="54" name="육각형 53">
                <a:extLst>
                  <a:ext uri="{FF2B5EF4-FFF2-40B4-BE49-F238E27FC236}">
                    <a16:creationId xmlns:a16="http://schemas.microsoft.com/office/drawing/2014/main" id="{C31EEF7E-1FD0-E48B-A776-0ACBD3B0BC1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6C68B973-3659-4454-BD29-CE68FD01C44E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BC77D60-A844-B390-ADE8-FEB89E7E6BC4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87B303-51FE-D056-D117-A87B789B4E7C}"/>
                </a:ext>
              </a:extLst>
            </p:cNvPr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프로젝트 수행 과정에서의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피드백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과 그것을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적용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보완 등</a:t>
              </a:r>
              <a:r>
                <a:rPr lang="en-US" altLang="ko-KR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)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한 내용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이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포함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되도록 작성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6EB6972-64A2-D199-D99B-9DC2AD775BFD}"/>
              </a:ext>
            </a:extLst>
          </p:cNvPr>
          <p:cNvGrpSpPr/>
          <p:nvPr/>
        </p:nvGrpSpPr>
        <p:grpSpPr>
          <a:xfrm>
            <a:off x="2638615" y="2724078"/>
            <a:ext cx="9095030" cy="673099"/>
            <a:chOff x="2665127" y="2724078"/>
            <a:chExt cx="9095030" cy="673099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5C4D692F-24A9-2E64-EDDC-3309FB5D256A}"/>
                </a:ext>
              </a:extLst>
            </p:cNvPr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7BB0B9-E2A0-8195-FC06-E1784851614C}"/>
                </a:ext>
              </a:extLst>
            </p:cNvPr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결과를 서술하는 과정에서는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활용된 기술 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방법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핵심기능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구현 결과</a:t>
              </a:r>
              <a:r>
                <a:rPr lang="en-US" altLang="ko-KR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*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등을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상세히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작성</a:t>
              </a:r>
              <a:endParaRPr lang="en-US" altLang="ko-KR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8B6CBB9-7D5C-2C3E-1ABD-C655F98DD92E}"/>
                </a:ext>
              </a:extLst>
            </p:cNvPr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빅데이터 직종의 경우 정확도 등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AE94BE5-34AC-6820-6F4E-6545486CA43D}"/>
                </a:ext>
              </a:extLst>
            </p:cNvPr>
            <p:cNvGrpSpPr/>
            <p:nvPr/>
          </p:nvGrpSpPr>
          <p:grpSpPr>
            <a:xfrm>
              <a:off x="2665127" y="2875954"/>
              <a:ext cx="408282" cy="388045"/>
              <a:chOff x="450324" y="2128945"/>
              <a:chExt cx="889526" cy="845438"/>
            </a:xfrm>
          </p:grpSpPr>
          <p:sp>
            <p:nvSpPr>
              <p:cNvPr id="46" name="육각형 45">
                <a:extLst>
                  <a:ext uri="{FF2B5EF4-FFF2-40B4-BE49-F238E27FC236}">
                    <a16:creationId xmlns:a16="http://schemas.microsoft.com/office/drawing/2014/main" id="{EB4E98E3-EA86-0711-6A3D-B085D6207A8D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7" name="자유형: 도형 46">
                <a:extLst>
                  <a:ext uri="{FF2B5EF4-FFF2-40B4-BE49-F238E27FC236}">
                    <a16:creationId xmlns:a16="http://schemas.microsoft.com/office/drawing/2014/main" id="{DC9CD92F-68F5-4F71-873E-C52262D4E4E7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78A259-752C-6DC6-39E8-9778F13F2078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18FF9A56-7FA6-CC9A-F116-4EEE4E55D731}"/>
                </a:ext>
              </a:extLst>
            </p:cNvPr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예시</a:t>
              </a:r>
              <a:endPara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8123C23-7A76-99C8-0803-53A933D1ACBE}"/>
              </a:ext>
            </a:extLst>
          </p:cNvPr>
          <p:cNvGrpSpPr/>
          <p:nvPr/>
        </p:nvGrpSpPr>
        <p:grpSpPr>
          <a:xfrm>
            <a:off x="2638615" y="5534844"/>
            <a:ext cx="9095030" cy="673099"/>
            <a:chOff x="2665127" y="5534844"/>
            <a:chExt cx="9095030" cy="67309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91919741-9825-9507-FEF9-5652C463E060}"/>
                </a:ext>
              </a:extLst>
            </p:cNvPr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/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76200" algn="ctr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5E8775BF-8025-6B56-33EC-E05C4930BEF3}"/>
                </a:ext>
              </a:extLst>
            </p:cNvPr>
            <p:cNvGrpSpPr/>
            <p:nvPr/>
          </p:nvGrpSpPr>
          <p:grpSpPr>
            <a:xfrm>
              <a:off x="2665127" y="5685703"/>
              <a:ext cx="408282" cy="351966"/>
              <a:chOff x="450324" y="2128945"/>
              <a:chExt cx="889526" cy="766832"/>
            </a:xfrm>
          </p:grpSpPr>
          <p:sp>
            <p:nvSpPr>
              <p:cNvPr id="58" name="육각형 57">
                <a:extLst>
                  <a:ext uri="{FF2B5EF4-FFF2-40B4-BE49-F238E27FC236}">
                    <a16:creationId xmlns:a16="http://schemas.microsoft.com/office/drawing/2014/main" id="{F2B5CC19-848E-CE0D-0EDF-332B4D2DBF1F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59" name="자유형: 도형 58">
                <a:extLst>
                  <a:ext uri="{FF2B5EF4-FFF2-40B4-BE49-F238E27FC236}">
                    <a16:creationId xmlns:a16="http://schemas.microsoft.com/office/drawing/2014/main" id="{59767EC2-0DEE-BA6F-D589-DB61944A0665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DD2F99E-900E-5D0C-7186-254A772638BA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6921BBF-1516-FB24-0D8B-3AB3A25A673E}"/>
                </a:ext>
              </a:extLst>
            </p:cNvPr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수행 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결과물을 잘 드러낼 수 있는 자료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를</a:t>
              </a:r>
              <a:r>
                <a:rPr lang="ko-KR" altLang="en-US" sz="14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첨부</a:t>
              </a:r>
              <a:r>
                <a:rPr lang="ko-KR" altLang="en-US" sz="14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하여 작성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EE8EA9C-7E9C-B73B-B961-169901066557}"/>
                </a:ext>
              </a:extLst>
            </p:cNvPr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결과물 사진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시연 영상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구동 화면 등 프로젝트의 우수성이 드러날 수 있는 자료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219DCB6A-47C7-22E5-1FE9-986DF4AE099E}"/>
                </a:ext>
              </a:extLst>
            </p:cNvPr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 자료 예시</a:t>
              </a:r>
            </a:p>
          </p:txBody>
        </p:sp>
      </p:grpSp>
      <p:pic>
        <p:nvPicPr>
          <p:cNvPr id="74" name="그래픽 73">
            <a:extLst>
              <a:ext uri="{FF2B5EF4-FFF2-40B4-BE49-F238E27FC236}">
                <a16:creationId xmlns:a16="http://schemas.microsoft.com/office/drawing/2014/main" id="{684C52F4-7034-4768-87B0-83A54038EA3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7803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69379C-8748-91C9-144D-FE47E2D5A0C4}"/>
              </a:ext>
            </a:extLst>
          </p:cNvPr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97DDB7A6-5825-3062-E194-7A2E89250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065F2D4F-E585-2883-F3BC-F4E544D20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57705" y="4277173"/>
              <a:ext cx="142074" cy="142074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D6ABE428-E132-1E87-86F1-385627753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F297602-7BCC-5393-C242-81517292EEDF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26" name="_x278651016" descr="EMB0000378c3f3d">
              <a:extLst>
                <a:ext uri="{FF2B5EF4-FFF2-40B4-BE49-F238E27FC236}">
                  <a16:creationId xmlns:a16="http://schemas.microsoft.com/office/drawing/2014/main" id="{C18F29AF-7582-C62A-7853-7017BD7C81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그래픽 23">
              <a:extLst>
                <a:ext uri="{FF2B5EF4-FFF2-40B4-BE49-F238E27FC236}">
                  <a16:creationId xmlns:a16="http://schemas.microsoft.com/office/drawing/2014/main" id="{53A71266-6E81-59F0-9CDE-3F943094D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2538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선정 배경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14100E51-3C10-DFF6-3751-E6DBDFB1D3D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4573"/>
          <a:stretch/>
        </p:blipFill>
        <p:spPr>
          <a:xfrm>
            <a:off x="1559112" y="1739348"/>
            <a:ext cx="8015865" cy="37338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85828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F01C9E6-9BB6-59CC-12AF-1C85407632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7947" y="1661881"/>
            <a:ext cx="6912987" cy="445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14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C205B6F-B4ED-96FC-5CC7-7C64EB025E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6191" y="1615757"/>
            <a:ext cx="4465959" cy="32953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CF99E8-D1D7-831F-F10B-CDBF855A9E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451521"/>
            <a:ext cx="4939312" cy="308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160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52BDA39-3A2F-799F-6652-588431E8377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5807"/>
          <a:stretch/>
        </p:blipFill>
        <p:spPr>
          <a:xfrm>
            <a:off x="1461721" y="2223924"/>
            <a:ext cx="8490662" cy="317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851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시연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+mn-ea"/>
                <a:ea typeface="맑은 고딕" panose="020B0503020000020004" pitchFamily="50" charset="-127"/>
              </a:rPr>
              <a:t>데이터 시각화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C0DBFD0-AFE7-ADDB-D467-CAD5CBED0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6521" y="1989356"/>
            <a:ext cx="9336157" cy="3545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118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0709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3A009-8F52-296F-D684-01BBED7691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프로젝트 평가 기준</a:t>
            </a:r>
          </a:p>
        </p:txBody>
      </p:sp>
    </p:spTree>
    <p:extLst>
      <p:ext uri="{BB962C8B-B14F-4D97-AF65-F5344CB8AC3E}">
        <p14:creationId xmlns:p14="http://schemas.microsoft.com/office/powerpoint/2010/main" val="26063881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B18A272-70E8-1541-08A4-6F79CE28D1C9}"/>
              </a:ext>
            </a:extLst>
          </p:cNvPr>
          <p:cNvGraphicFramePr>
            <a:graphicFrameLocks noGrp="1"/>
          </p:cNvGraphicFramePr>
          <p:nvPr/>
        </p:nvGraphicFramePr>
        <p:xfrm>
          <a:off x="791683" y="1525588"/>
          <a:ext cx="10608634" cy="4494208"/>
        </p:xfrm>
        <a:graphic>
          <a:graphicData uri="http://schemas.openxmlformats.org/drawingml/2006/table">
            <a:tbl>
              <a:tblPr/>
              <a:tblGrid>
                <a:gridCol w="553931">
                  <a:extLst>
                    <a:ext uri="{9D8B030D-6E8A-4147-A177-3AD203B41FA5}">
                      <a16:colId xmlns:a16="http://schemas.microsoft.com/office/drawing/2014/main" val="1013490651"/>
                    </a:ext>
                  </a:extLst>
                </a:gridCol>
                <a:gridCol w="1158222">
                  <a:extLst>
                    <a:ext uri="{9D8B030D-6E8A-4147-A177-3AD203B41FA5}">
                      <a16:colId xmlns:a16="http://schemas.microsoft.com/office/drawing/2014/main" val="3137928540"/>
                    </a:ext>
                  </a:extLst>
                </a:gridCol>
                <a:gridCol w="6059679">
                  <a:extLst>
                    <a:ext uri="{9D8B030D-6E8A-4147-A177-3AD203B41FA5}">
                      <a16:colId xmlns:a16="http://schemas.microsoft.com/office/drawing/2014/main" val="166051831"/>
                    </a:ext>
                  </a:extLst>
                </a:gridCol>
                <a:gridCol w="570718">
                  <a:extLst>
                    <a:ext uri="{9D8B030D-6E8A-4147-A177-3AD203B41FA5}">
                      <a16:colId xmlns:a16="http://schemas.microsoft.com/office/drawing/2014/main" val="2936623732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1301440446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715420275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874342549"/>
                    </a:ext>
                  </a:extLst>
                </a:gridCol>
                <a:gridCol w="566521">
                  <a:extLst>
                    <a:ext uri="{9D8B030D-6E8A-4147-A177-3AD203B41FA5}">
                      <a16:colId xmlns:a16="http://schemas.microsoft.com/office/drawing/2014/main" val="3394694401"/>
                    </a:ext>
                  </a:extLst>
                </a:gridCol>
              </a:tblGrid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7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562059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정의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061411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명확성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해결하려는 문제를 명확히 정의했는가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399125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중요성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문제의 중요성을 설득력 있게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054769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독창성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정의한 문제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또는 프로젝트의 주제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독창적인가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171315"/>
                  </a:ext>
                </a:extLst>
              </a:tr>
              <a:tr h="561776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선택</a:t>
                      </a:r>
                    </a:p>
                  </a:txBody>
                  <a:tcPr marL="94650" marR="94650" marT="47325" marB="473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26692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선택의 이유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 스택을 선택한 이유를 명확하게 설명했는가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279248"/>
                  </a:ext>
                </a:extLst>
              </a:tr>
              <a:tr h="5617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9859" marR="9859" marT="985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아키텍쳐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사용된 기술 간의 상호작용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아키텍처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 명확히 설명되었는가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859" marR="9859" marT="985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94650" marR="94650" marT="47325" marB="473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A6A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683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19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1826A-1781-B301-7A35-74301578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919B5-C524-6EBA-C01C-65E1800CC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EFC9D15-CB97-4998-3490-7B1266476E33}"/>
              </a:ext>
            </a:extLst>
          </p:cNvPr>
          <p:cNvGraphicFramePr>
            <a:graphicFrameLocks noGrp="1"/>
          </p:cNvGraphicFramePr>
          <p:nvPr/>
        </p:nvGraphicFramePr>
        <p:xfrm>
          <a:off x="771353" y="1746648"/>
          <a:ext cx="10649294" cy="4101704"/>
        </p:xfrm>
        <a:graphic>
          <a:graphicData uri="http://schemas.openxmlformats.org/drawingml/2006/table">
            <a:tbl>
              <a:tblPr/>
              <a:tblGrid>
                <a:gridCol w="556495">
                  <a:extLst>
                    <a:ext uri="{9D8B030D-6E8A-4147-A177-3AD203B41FA5}">
                      <a16:colId xmlns:a16="http://schemas.microsoft.com/office/drawing/2014/main" val="4001356113"/>
                    </a:ext>
                  </a:extLst>
                </a:gridCol>
                <a:gridCol w="1163580">
                  <a:extLst>
                    <a:ext uri="{9D8B030D-6E8A-4147-A177-3AD203B41FA5}">
                      <a16:colId xmlns:a16="http://schemas.microsoft.com/office/drawing/2014/main" val="3142641584"/>
                    </a:ext>
                  </a:extLst>
                </a:gridCol>
                <a:gridCol w="6083504">
                  <a:extLst>
                    <a:ext uri="{9D8B030D-6E8A-4147-A177-3AD203B41FA5}">
                      <a16:colId xmlns:a16="http://schemas.microsoft.com/office/drawing/2014/main" val="1810945146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170870957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43272001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3346846469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1739621471"/>
                    </a:ext>
                  </a:extLst>
                </a:gridCol>
                <a:gridCol w="569143">
                  <a:extLst>
                    <a:ext uri="{9D8B030D-6E8A-4147-A177-3AD203B41FA5}">
                      <a16:colId xmlns:a16="http://schemas.microsoft.com/office/drawing/2014/main" val="4062402361"/>
                    </a:ext>
                  </a:extLst>
                </a:gridCol>
              </a:tblGrid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번호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항목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121129" marR="121129" marT="60565" marB="6056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77224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18635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6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기술을 활용한 문제 해결 방식이 충분히 </a:t>
                      </a:r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이해가도록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26308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7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현실성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해결 방안이 실질적으로 적용 가능하고 현실적인가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856695"/>
                  </a:ext>
                </a:extLst>
              </a:tr>
              <a:tr h="51271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결과</a:t>
                      </a:r>
                    </a:p>
                  </a:txBody>
                  <a:tcPr marL="121129" marR="121129" marT="60565" marB="6056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4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953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8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정량적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결과를 정량적 데이터로 타당하게 설명했는가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69821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9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정성적 성과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기대 효과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자체 평가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가 적절하게 포함 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147592"/>
                  </a:ext>
                </a:extLst>
              </a:tr>
              <a:tr h="5127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10</a:t>
                      </a:r>
                    </a:p>
                  </a:txBody>
                  <a:tcPr marL="12618" marR="12618" marT="12618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타당성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프로젝트 결과가 문제 정의 및 목표와 논리적으로 연결 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?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　</a:t>
                      </a:r>
                    </a:p>
                  </a:txBody>
                  <a:tcPr marL="12618" marR="12618" marT="126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53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76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8263-7F9A-F1B7-3727-41B09B4D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4755C2-195D-0697-131D-7164D60A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평가 기준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C417CE7-C56A-CCE4-EFDD-94A1E87B7537}"/>
              </a:ext>
            </a:extLst>
          </p:cNvPr>
          <p:cNvGraphicFramePr>
            <a:graphicFrameLocks noGrp="1"/>
          </p:cNvGraphicFramePr>
          <p:nvPr/>
        </p:nvGraphicFramePr>
        <p:xfrm>
          <a:off x="857250" y="1721644"/>
          <a:ext cx="10515600" cy="4164808"/>
        </p:xfrm>
        <a:graphic>
          <a:graphicData uri="http://schemas.openxmlformats.org/drawingml/2006/table">
            <a:tbl>
              <a:tblPr/>
              <a:tblGrid>
                <a:gridCol w="549508">
                  <a:extLst>
                    <a:ext uri="{9D8B030D-6E8A-4147-A177-3AD203B41FA5}">
                      <a16:colId xmlns:a16="http://schemas.microsoft.com/office/drawing/2014/main" val="1721594225"/>
                    </a:ext>
                  </a:extLst>
                </a:gridCol>
                <a:gridCol w="1148972">
                  <a:extLst>
                    <a:ext uri="{9D8B030D-6E8A-4147-A177-3AD203B41FA5}">
                      <a16:colId xmlns:a16="http://schemas.microsoft.com/office/drawing/2014/main" val="776349848"/>
                    </a:ext>
                  </a:extLst>
                </a:gridCol>
                <a:gridCol w="6007130">
                  <a:extLst>
                    <a:ext uri="{9D8B030D-6E8A-4147-A177-3AD203B41FA5}">
                      <a16:colId xmlns:a16="http://schemas.microsoft.com/office/drawing/2014/main" val="78296485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9180766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810562700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4291793355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3657610044"/>
                    </a:ext>
                  </a:extLst>
                </a:gridCol>
                <a:gridCol w="561998">
                  <a:extLst>
                    <a:ext uri="{9D8B030D-6E8A-4147-A177-3AD203B41FA5}">
                      <a16:colId xmlns:a16="http://schemas.microsoft.com/office/drawing/2014/main" val="1704462005"/>
                    </a:ext>
                  </a:extLst>
                </a:gridCol>
              </a:tblGrid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평가점수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</a:t>
                      </a:r>
                      <a:r>
                        <a:rPr lang="ko-KR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 만점</a:t>
                      </a:r>
                      <a:r>
                        <a:rPr lang="en-US" altLang="ko-KR" sz="1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84150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878431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발표자가 청중이 듣기에 이해도도록 매끄럽게 발표했는가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301750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 자료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슬라이드 등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청중이 보기에 적절하게 구성되었는가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781243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40551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시연이 원활하게 진행되었는가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433220"/>
                  </a:ext>
                </a:extLst>
              </a:tr>
              <a:tr h="520601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및 답변 준비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638947"/>
                  </a:ext>
                </a:extLst>
              </a:tr>
              <a:tr h="520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예상되는 질문에 대한 답변이 준비되어 있는가</a:t>
                      </a: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90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7347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8688</TotalTime>
  <Words>1984</Words>
  <Application>Microsoft Office PowerPoint</Application>
  <PresentationFormat>와이드스크린</PresentationFormat>
  <Paragraphs>498</Paragraphs>
  <Slides>35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52" baseType="lpstr">
      <vt:lpstr>Pretendard ExtraBold</vt:lpstr>
      <vt:lpstr>G마켓 산스 TTF Bold</vt:lpstr>
      <vt:lpstr>Noto Sans KR</vt:lpstr>
      <vt:lpstr>맑은 고딕</vt:lpstr>
      <vt:lpstr>Pretendard Medium</vt:lpstr>
      <vt:lpstr>Kim jung chul Gothic Regular</vt:lpstr>
      <vt:lpstr>Arial</vt:lpstr>
      <vt:lpstr>Pretendard Black</vt:lpstr>
      <vt:lpstr>굴림체</vt:lpstr>
      <vt:lpstr>휴먼둥근헤드라인</vt:lpstr>
      <vt:lpstr>Pretendard Light</vt:lpstr>
      <vt:lpstr>세방고딕 Bold</vt:lpstr>
      <vt:lpstr>Wingdings</vt:lpstr>
      <vt:lpstr>세방고딕 Regular</vt:lpstr>
      <vt:lpstr>맑은 고딕 Semilight</vt:lpstr>
      <vt:lpstr>메이플스토리</vt:lpstr>
      <vt:lpstr>1_Office 테마</vt:lpstr>
      <vt:lpstr>x</vt:lpstr>
      <vt:lpstr>신재생에너지 IoT 구현 프로젝트 개요</vt:lpstr>
      <vt:lpstr>머신비전/머신러닝 프로젝트 개요</vt:lpstr>
      <vt:lpstr>데이터 수집 사이트</vt:lpstr>
      <vt:lpstr> 영상 분석을 위한 데이터 세트</vt:lpstr>
      <vt:lpstr>PowerPoint 프레젠테이션</vt:lpstr>
      <vt:lpstr>프로젝트 계획서 작성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프로젝트 계획서 작성(예시)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프로젝트 평가 기준</vt:lpstr>
      <vt:lpstr>프로젝트 평가 기준</vt:lpstr>
      <vt:lpstr>프로젝트 평가 기준</vt:lpstr>
      <vt:lpstr>프로젝트 평가 기준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633</cp:revision>
  <dcterms:created xsi:type="dcterms:W3CDTF">2023-01-31T04:26:23Z</dcterms:created>
  <dcterms:modified xsi:type="dcterms:W3CDTF">2026-03-12T01:04:51Z</dcterms:modified>
</cp:coreProperties>
</file>