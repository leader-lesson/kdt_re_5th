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sldIdLst>
    <p:sldId id="1020" r:id="rId2"/>
    <p:sldId id="1035" r:id="rId3"/>
    <p:sldId id="1036" r:id="rId4"/>
    <p:sldId id="1037" r:id="rId5"/>
    <p:sldId id="1038" r:id="rId6"/>
    <p:sldId id="1039" r:id="rId7"/>
    <p:sldId id="1040" r:id="rId8"/>
    <p:sldId id="1041" r:id="rId9"/>
    <p:sldId id="1044" r:id="rId10"/>
    <p:sldId id="1042" r:id="rId11"/>
    <p:sldId id="1043" r:id="rId12"/>
    <p:sldId id="1045" r:id="rId13"/>
    <p:sldId id="1046" r:id="rId14"/>
    <p:sldId id="1047" r:id="rId15"/>
    <p:sldId id="1048" r:id="rId16"/>
    <p:sldId id="1049" r:id="rId17"/>
    <p:sldId id="1050" r:id="rId18"/>
    <p:sldId id="1051" r:id="rId19"/>
    <p:sldId id="1052" r:id="rId20"/>
    <p:sldId id="1053" r:id="rId21"/>
    <p:sldId id="1054" r:id="rId22"/>
    <p:sldId id="836" r:id="rId2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FF5050"/>
    <a:srgbClr val="00FF99"/>
    <a:srgbClr val="FF7C80"/>
    <a:srgbClr val="2B2B2B"/>
    <a:srgbClr val="00B050"/>
    <a:srgbClr val="ED7D31"/>
    <a:srgbClr val="0059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56" autoAdjust="0"/>
    <p:restoredTop sz="79874" autoAdjust="0"/>
  </p:normalViewPr>
  <p:slideViewPr>
    <p:cSldViewPr snapToGrid="0">
      <p:cViewPr varScale="1">
        <p:scale>
          <a:sx n="85" d="100"/>
          <a:sy n="85" d="100"/>
        </p:scale>
        <p:origin x="1692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40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2026-02-09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예시</a:t>
            </a:r>
            <a:r>
              <a:rPr lang="en-US" altLang="ko-KR" dirty="0"/>
              <a:t>:</a:t>
            </a:r>
          </a:p>
          <a:p>
            <a:r>
              <a:rPr lang="ko-KR" altLang="en-US" dirty="0"/>
              <a:t>오늘 발전량</a:t>
            </a:r>
          </a:p>
          <a:p>
            <a:r>
              <a:rPr lang="ko-KR" altLang="en-US" dirty="0"/>
              <a:t>어제 발전량</a:t>
            </a:r>
          </a:p>
          <a:p>
            <a:r>
              <a:rPr lang="ko-KR" altLang="en-US" dirty="0"/>
              <a:t>그제 발전량</a:t>
            </a:r>
          </a:p>
          <a:p>
            <a:r>
              <a:rPr lang="ko-KR" altLang="en-US" dirty="0"/>
              <a:t>“이 순서를 바꾸면</a:t>
            </a:r>
            <a:br>
              <a:rPr lang="ko-KR" altLang="en-US" dirty="0"/>
            </a:br>
            <a:r>
              <a:rPr lang="ko-KR" altLang="en-US" dirty="0"/>
              <a:t>의미가 그대로일까요</a:t>
            </a:r>
            <a:r>
              <a:rPr lang="en-US" altLang="ko-KR" dirty="0"/>
              <a:t>?”</a:t>
            </a:r>
          </a:p>
          <a:p>
            <a:r>
              <a:rPr lang="ko-KR" altLang="en-US" dirty="0"/>
              <a:t>👉 ❌ 아니다</a:t>
            </a:r>
            <a:br>
              <a:rPr lang="ko-KR" altLang="en-US" dirty="0"/>
            </a:br>
            <a:r>
              <a:rPr lang="ko-KR" altLang="en-US" dirty="0"/>
              <a:t>👉 </a:t>
            </a:r>
            <a:r>
              <a:rPr lang="ko-KR" altLang="en-US" b="1" dirty="0"/>
              <a:t>순서 자체가 정보다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180909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1" dirty="0"/>
              <a:t>“모든 과거가 다 중요한 게 아니다</a:t>
            </a:r>
            <a:r>
              <a:rPr lang="en-US" altLang="ko-KR" b="1" dirty="0"/>
              <a:t>.”</a:t>
            </a:r>
            <a:endParaRPr lang="ko-KR" altLang="en-US" dirty="0"/>
          </a:p>
          <a:p>
            <a:r>
              <a:rPr lang="en-US" altLang="ko-KR" dirty="0"/>
              <a:t>lag 1, 2: </a:t>
            </a:r>
            <a:r>
              <a:rPr lang="ko-KR" altLang="en-US" dirty="0"/>
              <a:t>관계 있음</a:t>
            </a:r>
          </a:p>
          <a:p>
            <a:r>
              <a:rPr lang="en-US" altLang="ko-KR" dirty="0"/>
              <a:t>lag 5, 6: </a:t>
            </a:r>
            <a:r>
              <a:rPr lang="ko-KR" altLang="en-US" dirty="0"/>
              <a:t>관계 약함</a:t>
            </a:r>
          </a:p>
          <a:p>
            <a:r>
              <a:rPr lang="ko-KR" altLang="en-US" dirty="0"/>
              <a:t>👉 그래서</a:t>
            </a:r>
            <a:r>
              <a:rPr lang="en-US" altLang="ko-KR" dirty="0"/>
              <a:t>:</a:t>
            </a:r>
          </a:p>
          <a:p>
            <a:r>
              <a:rPr lang="en-US" altLang="ko-KR" dirty="0"/>
              <a:t>lag</a:t>
            </a:r>
            <a:r>
              <a:rPr lang="ko-KR" altLang="en-US" dirty="0"/>
              <a:t>를 무작정 많이 쓰면 ❌</a:t>
            </a:r>
          </a:p>
          <a:p>
            <a:r>
              <a:rPr lang="ko-KR" altLang="en-US" b="1" dirty="0"/>
              <a:t>의미 있는 </a:t>
            </a:r>
            <a:r>
              <a:rPr lang="en-US" altLang="ko-KR" b="1" dirty="0"/>
              <a:t>lag</a:t>
            </a:r>
            <a:r>
              <a:rPr lang="ko-KR" altLang="en-US" b="1" dirty="0"/>
              <a:t>만 선택해야 ⭕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705940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Rolling → </a:t>
            </a:r>
            <a:r>
              <a:rPr lang="ko-KR" altLang="en-US" dirty="0"/>
              <a:t>노이즈 제거 </a:t>
            </a:r>
            <a:r>
              <a:rPr lang="en-US" altLang="ko-KR" dirty="0"/>
              <a:t>(</a:t>
            </a:r>
            <a:r>
              <a:rPr lang="ko-KR" altLang="en-US" dirty="0"/>
              <a:t>선이 부드러움</a:t>
            </a:r>
            <a:r>
              <a:rPr lang="en-US" altLang="ko-KR"/>
              <a:t>)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52972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1" dirty="0"/>
              <a:t>언제 “예측 </a:t>
            </a:r>
            <a:r>
              <a:rPr lang="ko-KR" altLang="en-US" b="1" dirty="0" err="1"/>
              <a:t>문제”가</a:t>
            </a:r>
            <a:r>
              <a:rPr lang="ko-KR" altLang="en-US" b="1" dirty="0"/>
              <a:t> 되는가</a:t>
            </a:r>
            <a:r>
              <a:rPr lang="en-US" altLang="ko-KR" b="1" dirty="0"/>
              <a:t>?</a:t>
            </a:r>
          </a:p>
          <a:p>
            <a:r>
              <a:rPr lang="ko-KR" altLang="en-US" dirty="0"/>
              <a:t>시계열 데이터가 </a:t>
            </a:r>
            <a:r>
              <a:rPr lang="ko-KR" altLang="en-US" b="1" dirty="0"/>
              <a:t>예측 문제</a:t>
            </a:r>
            <a:r>
              <a:rPr lang="ko-KR" altLang="en-US" dirty="0"/>
              <a:t>가 되려면</a:t>
            </a:r>
            <a:br>
              <a:rPr lang="ko-KR" altLang="en-US" dirty="0"/>
            </a:br>
            <a:r>
              <a:rPr lang="ko-KR" altLang="en-US" dirty="0"/>
              <a:t>반드시 이 질문이 명확해야 한다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“우리는 이 데이터를 써서</a:t>
            </a:r>
            <a:br>
              <a:rPr lang="ko-KR" altLang="en-US" b="1" dirty="0"/>
            </a:br>
            <a:r>
              <a:rPr lang="ko-KR" altLang="en-US" b="1" dirty="0"/>
              <a:t>미래의 무엇을 결정하려 하는가</a:t>
            </a:r>
            <a:r>
              <a:rPr lang="en-US" altLang="ko-KR" b="1" dirty="0"/>
              <a:t>?”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243333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1" dirty="0"/>
              <a:t>🎤 강사 설명 포인트</a:t>
            </a:r>
          </a:p>
          <a:p>
            <a:r>
              <a:rPr lang="ko-KR" altLang="en-US" dirty="0"/>
              <a:t>“예측 문제에서 가장 중요한 건</a:t>
            </a:r>
            <a:br>
              <a:rPr lang="ko-KR" altLang="en-US" dirty="0"/>
            </a:br>
            <a:r>
              <a:rPr lang="ko-KR" altLang="en-US" dirty="0"/>
              <a:t>모델이 아니라 </a:t>
            </a:r>
            <a:r>
              <a:rPr lang="ko-KR" altLang="en-US" b="1" dirty="0"/>
              <a:t>예측 대상 정의</a:t>
            </a:r>
            <a:r>
              <a:rPr lang="ko-KR" altLang="en-US" dirty="0"/>
              <a:t>입니다</a:t>
            </a:r>
            <a:r>
              <a:rPr lang="en-US" altLang="ko-KR" dirty="0"/>
              <a:t>.”</a:t>
            </a:r>
          </a:p>
          <a:p>
            <a:r>
              <a:rPr lang="ko-KR" altLang="en-US" dirty="0"/>
              <a:t>언제의 값인가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단기인가</a:t>
            </a:r>
            <a:r>
              <a:rPr lang="en-US" altLang="ko-KR" dirty="0"/>
              <a:t>, </a:t>
            </a:r>
            <a:r>
              <a:rPr lang="ko-KR" altLang="en-US" dirty="0"/>
              <a:t>장기인가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👉 이게 흐리면 </a:t>
            </a:r>
            <a:r>
              <a:rPr lang="ko-KR" altLang="en-US" b="1" dirty="0"/>
              <a:t>모든 모델이 실패</a:t>
            </a:r>
            <a:r>
              <a:rPr lang="ko-KR" altLang="en-US" dirty="0"/>
              <a:t>한다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609704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1" dirty="0"/>
              <a:t>🎤 강사 설명 포인트</a:t>
            </a:r>
          </a:p>
          <a:p>
            <a:r>
              <a:rPr lang="ko-KR" altLang="en-US" dirty="0"/>
              <a:t>“미래를 예측하는 문제에서</a:t>
            </a:r>
            <a:br>
              <a:rPr lang="ko-KR" altLang="en-US" dirty="0"/>
            </a:br>
            <a:r>
              <a:rPr lang="ko-KR" altLang="en-US" dirty="0"/>
              <a:t>미래 데이터를 학습에 쓰면 안 됩니다</a:t>
            </a:r>
            <a:r>
              <a:rPr lang="en-US" altLang="ko-KR" dirty="0"/>
              <a:t>.”</a:t>
            </a:r>
          </a:p>
          <a:p>
            <a:r>
              <a:rPr lang="ko-KR" altLang="en-US" dirty="0"/>
              <a:t>👉 </a:t>
            </a:r>
            <a:r>
              <a:rPr lang="ko-KR" altLang="en-US" b="1" dirty="0"/>
              <a:t>실습 </a:t>
            </a:r>
            <a:r>
              <a:rPr lang="en-US" altLang="ko-KR" b="1" dirty="0"/>
              <a:t>2</a:t>
            </a:r>
            <a:r>
              <a:rPr lang="ko-KR" altLang="en-US" b="1" dirty="0"/>
              <a:t>에서 이미 경험한 내용</a:t>
            </a:r>
            <a:br>
              <a:rPr lang="ko-KR" altLang="en-US" dirty="0"/>
            </a:br>
            <a:r>
              <a:rPr lang="ko-KR" altLang="en-US" dirty="0"/>
              <a:t>👉 여기서 다시 ‘</a:t>
            </a:r>
            <a:r>
              <a:rPr lang="ko-KR" altLang="en-US" dirty="0" err="1"/>
              <a:t>규칙’으로</a:t>
            </a:r>
            <a:r>
              <a:rPr lang="ko-KR" altLang="en-US" dirty="0"/>
              <a:t> 정리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541636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1" dirty="0"/>
              <a:t>🎤 강사 설명 포인트</a:t>
            </a:r>
          </a:p>
          <a:p>
            <a:r>
              <a:rPr lang="ko-KR" altLang="en-US" dirty="0"/>
              <a:t>“</a:t>
            </a:r>
            <a:r>
              <a:rPr lang="ko-KR" altLang="en-US" dirty="0" err="1"/>
              <a:t>셔플이</a:t>
            </a:r>
            <a:r>
              <a:rPr lang="ko-KR" altLang="en-US" dirty="0"/>
              <a:t> 나쁜 게 아니라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b="1" dirty="0"/>
              <a:t>시계열에서는 맞지 않는 것</a:t>
            </a:r>
            <a:r>
              <a:rPr lang="ko-KR" altLang="en-US" dirty="0"/>
              <a:t>입니다</a:t>
            </a:r>
            <a:r>
              <a:rPr lang="en-US" altLang="ko-KR"/>
              <a:t>.”</a:t>
            </a:r>
          </a:p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908127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1" dirty="0"/>
              <a:t>🎤 강사 설명 포인트</a:t>
            </a:r>
          </a:p>
          <a:p>
            <a:r>
              <a:rPr lang="ko-KR" altLang="en-US" dirty="0"/>
              <a:t>“</a:t>
            </a:r>
            <a:r>
              <a:rPr lang="en-US" altLang="ko-KR" dirty="0"/>
              <a:t>MAE, RMSE(</a:t>
            </a:r>
            <a:r>
              <a:rPr lang="ko-KR" altLang="en-US" dirty="0"/>
              <a:t>평균 제곱근 오차</a:t>
            </a:r>
            <a:r>
              <a:rPr lang="en-US" altLang="ko-KR" dirty="0"/>
              <a:t>) </a:t>
            </a:r>
            <a:r>
              <a:rPr lang="ko-KR" altLang="en-US" dirty="0"/>
              <a:t>같은 숫자는</a:t>
            </a:r>
            <a:br>
              <a:rPr lang="ko-KR" altLang="en-US" dirty="0"/>
            </a:br>
            <a:r>
              <a:rPr lang="ko-KR" altLang="en-US" dirty="0"/>
              <a:t>결과일 뿐입니다</a:t>
            </a:r>
            <a:r>
              <a:rPr lang="en-US" altLang="ko-KR" dirty="0"/>
              <a:t>.”</a:t>
            </a:r>
          </a:p>
          <a:p>
            <a:r>
              <a:rPr lang="en-US" altLang="ko-KR" dirty="0"/>
              <a:t>“</a:t>
            </a:r>
            <a:r>
              <a:rPr lang="ko-KR" altLang="en-US" dirty="0"/>
              <a:t>중요한 건</a:t>
            </a:r>
            <a:br>
              <a:rPr lang="ko-KR" altLang="en-US" dirty="0"/>
            </a:br>
            <a:r>
              <a:rPr lang="ko-KR" altLang="en-US" b="1" dirty="0"/>
              <a:t>이 숫자가 어떤 조건에서 </a:t>
            </a:r>
            <a:r>
              <a:rPr lang="ko-KR" altLang="en-US" b="1" dirty="0" err="1"/>
              <a:t>나왔는가</a:t>
            </a:r>
            <a:r>
              <a:rPr lang="ko-KR" altLang="en-US" dirty="0" err="1"/>
              <a:t>입니다</a:t>
            </a:r>
            <a:r>
              <a:rPr lang="en-US" altLang="ko-KR" dirty="0"/>
              <a:t>.”</a:t>
            </a:r>
          </a:p>
          <a:p>
            <a:endParaRPr lang="en-US" altLang="ko-KR" dirty="0"/>
          </a:p>
          <a:p>
            <a:r>
              <a:rPr lang="ko-KR" altLang="en-US" dirty="0"/>
              <a:t>“시계열에서는</a:t>
            </a:r>
            <a:br>
              <a:rPr lang="ko-KR" altLang="en-US" dirty="0"/>
            </a:br>
            <a:r>
              <a:rPr lang="ko-KR" altLang="en-US" dirty="0"/>
              <a:t>정확도보다 </a:t>
            </a:r>
            <a:r>
              <a:rPr lang="ko-KR" altLang="en-US" b="1" dirty="0"/>
              <a:t>정직함</a:t>
            </a:r>
            <a:r>
              <a:rPr lang="ko-KR" altLang="en-US" dirty="0"/>
              <a:t>이 먼저입니다</a:t>
            </a:r>
            <a:r>
              <a:rPr lang="en-US" altLang="ko-KR" dirty="0"/>
              <a:t>.”</a:t>
            </a:r>
          </a:p>
          <a:p>
            <a:endParaRPr lang="en-US" altLang="ko-KR" dirty="0"/>
          </a:p>
          <a:p>
            <a:r>
              <a:rPr lang="ko-KR" altLang="en-US" dirty="0"/>
              <a:t>정직한 분석이란</a:t>
            </a:r>
            <a:br>
              <a:rPr lang="ko-KR" altLang="en-US" dirty="0"/>
            </a:br>
            <a:r>
              <a:rPr lang="ko-KR" altLang="en-US" dirty="0"/>
              <a:t>현실에서 불가능한 정보를</a:t>
            </a:r>
            <a:br>
              <a:rPr lang="ko-KR" altLang="en-US" dirty="0"/>
            </a:br>
            <a:r>
              <a:rPr lang="ko-KR" altLang="en-US" dirty="0"/>
              <a:t>분석이나 평가에 사용하지 않는 것이다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774447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“</a:t>
            </a:r>
            <a:r>
              <a:rPr lang="en-US" altLang="ko-KR" dirty="0"/>
              <a:t>ARIMA</a:t>
            </a:r>
            <a:r>
              <a:rPr lang="ko-KR" altLang="en-US" dirty="0"/>
              <a:t>를 써도</a:t>
            </a:r>
            <a:r>
              <a:rPr lang="en-US" altLang="ko-KR" dirty="0"/>
              <a:t>, </a:t>
            </a:r>
            <a:r>
              <a:rPr lang="ko-KR" altLang="en-US" dirty="0" err="1"/>
              <a:t>딥러닝을</a:t>
            </a:r>
            <a:r>
              <a:rPr lang="ko-KR" altLang="en-US" dirty="0"/>
              <a:t> 써도</a:t>
            </a:r>
            <a:r>
              <a:rPr lang="en-US" altLang="ko-KR" dirty="0"/>
              <a:t>, </a:t>
            </a:r>
            <a:r>
              <a:rPr lang="ko-KR" altLang="en-US" dirty="0"/>
              <a:t>시간 규칙은 바뀌지 않습니다</a:t>
            </a:r>
            <a:r>
              <a:rPr lang="en-US" altLang="ko-KR" dirty="0"/>
              <a:t>.” </a:t>
            </a:r>
            <a:r>
              <a:rPr lang="ko-KR" altLang="en-US" dirty="0"/>
              <a:t>👉 시계열 ≠ </a:t>
            </a:r>
            <a:r>
              <a:rPr lang="en-US" altLang="ko-KR" dirty="0"/>
              <a:t>LSTM </a:t>
            </a:r>
            <a:r>
              <a:rPr lang="ko-KR" altLang="en-US" dirty="0"/>
              <a:t>👉 이 오해를 여기서 반드시 끊어야 함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시간 규칙이란</a:t>
            </a:r>
            <a:br>
              <a:rPr lang="ko-KR" altLang="en-US" dirty="0"/>
            </a:br>
            <a:r>
              <a:rPr lang="ko-KR" altLang="en-US" dirty="0"/>
              <a:t>‘그 시점에 실제로 알 수 있었던 정보만으로</a:t>
            </a:r>
            <a:br>
              <a:rPr lang="ko-KR" altLang="en-US" dirty="0"/>
            </a:br>
            <a:r>
              <a:rPr lang="ko-KR" altLang="en-US" dirty="0"/>
              <a:t>미래를 예측해야 </a:t>
            </a:r>
            <a:r>
              <a:rPr lang="ko-KR" altLang="en-US" dirty="0" err="1"/>
              <a:t>한다’는</a:t>
            </a:r>
            <a:r>
              <a:rPr lang="ko-KR" altLang="en-US" dirty="0"/>
              <a:t> 분석의 기본 원칙이다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249023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시계열 분석은</a:t>
            </a:r>
            <a:br>
              <a:rPr lang="ko-KR" altLang="en-US" dirty="0"/>
            </a:br>
            <a:r>
              <a:rPr lang="ko-KR" altLang="en-US" dirty="0"/>
              <a:t>예측 문제를 올바르게 정의하고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 err="1"/>
              <a:t>머신러닝이</a:t>
            </a:r>
            <a:r>
              <a:rPr lang="ko-KR" altLang="en-US" dirty="0"/>
              <a:t> 잘 작동할 수 있는 환경을 만드는 단계다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928922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2EE83-52CB-E118-49CB-3EBDD6EF2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0F83B01-3943-C359-9322-8EB719FB82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2F259CF-8156-0FB2-87BB-C2421F329E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01DD34-5BFE-877A-E657-9B3A6B1B5C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16455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736B21-4C59-5A88-37D9-B5B38376A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80795"/>
            <a:ext cx="10515600" cy="1325563"/>
          </a:xfrm>
        </p:spPr>
        <p:txBody>
          <a:bodyPr/>
          <a:lstStyle>
            <a:lvl1pPr algn="ctr">
              <a:defRPr sz="600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AA25496-F3F2-E088-321D-06D66F84A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4945542-35EE-2EA8-C80C-66A9D746A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579F9B5-BCEE-FABF-C276-2A1677874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5411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FE122-E831-904C-0AAE-87F481BD3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561" y="2541087"/>
            <a:ext cx="853440" cy="935038"/>
          </a:xfrm>
        </p:spPr>
        <p:txBody>
          <a:bodyPr/>
          <a:lstStyle/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FC9A9E68-1C40-179C-9126-E3D84DE20A0A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E78D3EA-D15D-AC23-FCDE-3921C4292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0" name="그림 9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A611E206-8734-8C1B-C7A0-99730D8C0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  <p:sp>
        <p:nvSpPr>
          <p:cNvPr id="8" name="부제목 2">
            <a:extLst>
              <a:ext uri="{FF2B5EF4-FFF2-40B4-BE49-F238E27FC236}">
                <a16:creationId xmlns:a16="http://schemas.microsoft.com/office/drawing/2014/main" id="{DB4B2667-B3F4-F4E7-4A87-A3477312E2B1}"/>
              </a:ext>
            </a:extLst>
          </p:cNvPr>
          <p:cNvSpPr txBox="1">
            <a:spLocks/>
          </p:cNvSpPr>
          <p:nvPr/>
        </p:nvSpPr>
        <p:spPr>
          <a:xfrm>
            <a:off x="5194406" y="3686684"/>
            <a:ext cx="4316585" cy="530087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신재생에너지 </a:t>
            </a:r>
            <a:r>
              <a:rPr lang="en-US" altLang="ko-KR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IoT </a:t>
            </a:r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개발자 입문 과정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3B0D367-DE04-26A9-6CB6-502ED4BB2F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9943" y="3670957"/>
            <a:ext cx="2303166" cy="34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806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14AFDD-E47C-7EA7-1E12-94BA9E217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시계열 데이터란</a:t>
            </a:r>
          </a:p>
        </p:txBody>
      </p:sp>
    </p:spTree>
    <p:extLst>
      <p:ext uri="{BB962C8B-B14F-4D97-AF65-F5344CB8AC3E}">
        <p14:creationId xmlns:p14="http://schemas.microsoft.com/office/powerpoint/2010/main" val="32019054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9DEDFE-1791-BE7C-6F7B-29DE70EE2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시계열 데이터란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4BCA80-CE40-806B-8F2D-83708811DC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시간의 흐름에 따라 순서대로 관측되고 기록된 데이터</a:t>
            </a:r>
            <a:endParaRPr lang="en-US" altLang="ko-KR" dirty="0"/>
          </a:p>
          <a:p>
            <a:pPr lvl="1"/>
            <a:r>
              <a:rPr lang="en-US" altLang="ko-KR" dirty="0"/>
              <a:t>Ex) </a:t>
            </a:r>
            <a:r>
              <a:rPr lang="ko-KR" altLang="en-US" dirty="0"/>
              <a:t>금융</a:t>
            </a:r>
            <a:r>
              <a:rPr lang="en-US" altLang="ko-KR" dirty="0"/>
              <a:t>, </a:t>
            </a:r>
            <a:r>
              <a:rPr lang="ko-KR" altLang="en-US" dirty="0"/>
              <a:t>경제</a:t>
            </a:r>
            <a:r>
              <a:rPr lang="en-US" altLang="ko-KR" dirty="0"/>
              <a:t>, </a:t>
            </a:r>
            <a:r>
              <a:rPr lang="ko-KR" altLang="en-US" dirty="0"/>
              <a:t>날씨</a:t>
            </a:r>
            <a:r>
              <a:rPr lang="en-US" altLang="ko-KR" dirty="0"/>
              <a:t>, </a:t>
            </a:r>
            <a:r>
              <a:rPr lang="ko-KR" altLang="en-US" dirty="0"/>
              <a:t>센서 데이터 등</a:t>
            </a:r>
            <a:endParaRPr lang="en-US" altLang="ko-KR" dirty="0"/>
          </a:p>
          <a:p>
            <a:r>
              <a:rPr lang="ko-KR" altLang="en-US" dirty="0"/>
              <a:t>과거 데이터 기반의 </a:t>
            </a:r>
            <a:r>
              <a:rPr lang="ko-KR" altLang="en-US" b="1" dirty="0"/>
              <a:t>패턴 이해 및 필요 시 미래 예측</a:t>
            </a:r>
            <a:r>
              <a:rPr lang="ko-KR" altLang="en-US" dirty="0"/>
              <a:t>에 활용됨</a:t>
            </a:r>
            <a:endParaRPr lang="en-US" altLang="ko-KR" dirty="0"/>
          </a:p>
          <a:p>
            <a:r>
              <a:rPr lang="ko-KR" altLang="en-US" dirty="0"/>
              <a:t>특징</a:t>
            </a:r>
            <a:endParaRPr lang="en-US" altLang="ko-KR" dirty="0"/>
          </a:p>
          <a:p>
            <a:pPr lvl="1"/>
            <a:r>
              <a:rPr lang="ko-KR" altLang="en-US" dirty="0"/>
              <a:t>시간 의존성</a:t>
            </a:r>
            <a:endParaRPr lang="en-US" altLang="ko-KR" dirty="0"/>
          </a:p>
          <a:p>
            <a:pPr lvl="1"/>
            <a:r>
              <a:rPr lang="ko-KR" altLang="en-US" dirty="0"/>
              <a:t>시간 인덱스</a:t>
            </a:r>
            <a:endParaRPr lang="en-US" altLang="ko-KR" dirty="0"/>
          </a:p>
          <a:p>
            <a:pPr lvl="1"/>
            <a:r>
              <a:rPr lang="ko-KR" altLang="en-US" dirty="0"/>
              <a:t>패턴 존재</a:t>
            </a:r>
          </a:p>
        </p:txBody>
      </p:sp>
    </p:spTree>
    <p:extLst>
      <p:ext uri="{BB962C8B-B14F-4D97-AF65-F5344CB8AC3E}">
        <p14:creationId xmlns:p14="http://schemas.microsoft.com/office/powerpoint/2010/main" val="3733918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511930-BACC-EFEB-0017-B0380C865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시계열 데이터 분석법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885B19-85AB-0A82-6112-5DF8CB5946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컴퓨터는 </a:t>
            </a:r>
            <a:r>
              <a:rPr lang="en-US" altLang="ko-KR" dirty="0"/>
              <a:t>‘</a:t>
            </a:r>
            <a:r>
              <a:rPr lang="ko-KR" altLang="en-US" dirty="0"/>
              <a:t>어제</a:t>
            </a:r>
            <a:r>
              <a:rPr lang="en-US" altLang="ko-KR" dirty="0"/>
              <a:t>‘, ‘</a:t>
            </a:r>
            <a:r>
              <a:rPr lang="ko-KR" altLang="en-US" dirty="0"/>
              <a:t>오늘</a:t>
            </a:r>
            <a:r>
              <a:rPr lang="en-US" altLang="ko-KR" dirty="0"/>
              <a:t>＇</a:t>
            </a:r>
            <a:r>
              <a:rPr lang="ko-KR" altLang="en-US" dirty="0"/>
              <a:t>을 이해하지 못함</a:t>
            </a:r>
            <a:endParaRPr lang="en-US" altLang="ko-KR" dirty="0"/>
          </a:p>
          <a:p>
            <a:r>
              <a:rPr lang="ko-KR" altLang="en-US" dirty="0"/>
              <a:t>따라서</a:t>
            </a:r>
            <a:r>
              <a:rPr lang="en-US" altLang="ko-KR" dirty="0"/>
              <a:t>,</a:t>
            </a:r>
          </a:p>
          <a:p>
            <a:pPr>
              <a:buFontTx/>
              <a:buChar char="-"/>
            </a:pPr>
            <a:r>
              <a:rPr lang="ko-KR" altLang="en-US" dirty="0"/>
              <a:t>시간 </a:t>
            </a:r>
            <a:r>
              <a:rPr lang="en-US" altLang="ko-KR" dirty="0"/>
              <a:t>-&gt; </a:t>
            </a:r>
            <a:r>
              <a:rPr lang="ko-KR" altLang="en-US" dirty="0"/>
              <a:t>숫자</a:t>
            </a:r>
            <a:endParaRPr lang="en-US" altLang="ko-KR" dirty="0"/>
          </a:p>
          <a:p>
            <a:pPr>
              <a:buFontTx/>
              <a:buChar char="-"/>
            </a:pPr>
            <a:r>
              <a:rPr lang="ko-KR" altLang="en-US" dirty="0"/>
              <a:t>과거 정보 </a:t>
            </a:r>
            <a:r>
              <a:rPr lang="en-US" altLang="ko-KR" dirty="0"/>
              <a:t>-&gt; </a:t>
            </a:r>
            <a:r>
              <a:rPr lang="ko-KR" altLang="en-US" dirty="0"/>
              <a:t>피처</a:t>
            </a:r>
            <a:r>
              <a:rPr lang="en-US" altLang="ko-KR" dirty="0"/>
              <a:t> </a:t>
            </a:r>
            <a:r>
              <a:rPr lang="ko-KR" altLang="en-US" dirty="0"/>
              <a:t>로 변경 필요</a:t>
            </a:r>
            <a:r>
              <a:rPr lang="en-US" altLang="ko-KR" dirty="0"/>
              <a:t>. </a:t>
            </a:r>
            <a:r>
              <a:rPr lang="ko-KR" altLang="en-US" dirty="0"/>
              <a:t>해당 변환 방식이 필요함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1831667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42A87B-73AC-BC2E-E3AD-EC60EFD39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시계열 데이터 분석법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0EB1F8-0F04-F108-35D3-27F1B47648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시계열은 </a:t>
            </a:r>
            <a:r>
              <a:rPr lang="en-US" altLang="ko-KR" dirty="0"/>
              <a:t>“</a:t>
            </a:r>
            <a:r>
              <a:rPr lang="ko-KR" altLang="en-US" dirty="0"/>
              <a:t>현재가 과거에 의존</a:t>
            </a:r>
            <a:r>
              <a:rPr lang="en-US" altLang="ko-KR" dirty="0"/>
              <a:t>＂</a:t>
            </a:r>
            <a:r>
              <a:rPr lang="ko-KR" altLang="en-US" dirty="0"/>
              <a:t>한다</a:t>
            </a:r>
            <a:endParaRPr lang="en-US" altLang="ko-KR" dirty="0"/>
          </a:p>
          <a:p>
            <a:pPr lvl="1"/>
            <a:r>
              <a:rPr lang="ko-KR" altLang="en-US" dirty="0"/>
              <a:t>직전 상태가 영향을 줌</a:t>
            </a:r>
            <a:endParaRPr lang="en-US" altLang="ko-KR" dirty="0"/>
          </a:p>
          <a:p>
            <a:pPr lvl="1"/>
            <a:r>
              <a:rPr lang="ko-KR" altLang="en-US" dirty="0"/>
              <a:t>현재를 설명하는데 과거가 필요</a:t>
            </a:r>
            <a:endParaRPr lang="en-US" altLang="ko-KR" dirty="0"/>
          </a:p>
          <a:p>
            <a:r>
              <a:rPr lang="ko-KR" altLang="en-US" dirty="0"/>
              <a:t>노이즈가 많아 </a:t>
            </a:r>
            <a:r>
              <a:rPr lang="en-US" altLang="ko-KR" dirty="0"/>
              <a:t>“</a:t>
            </a:r>
            <a:r>
              <a:rPr lang="ko-KR" altLang="en-US" dirty="0"/>
              <a:t>한 시점</a:t>
            </a:r>
            <a:r>
              <a:rPr lang="en-US" altLang="ko-KR" dirty="0"/>
              <a:t>”</a:t>
            </a:r>
            <a:r>
              <a:rPr lang="ko-KR" altLang="en-US" dirty="0"/>
              <a:t>만 보면 불안하다</a:t>
            </a:r>
            <a:endParaRPr lang="en-US" altLang="ko-KR" dirty="0"/>
          </a:p>
          <a:p>
            <a:pPr lvl="1"/>
            <a:r>
              <a:rPr lang="ko-KR" altLang="en-US" dirty="0"/>
              <a:t>센서 데이터</a:t>
            </a:r>
            <a:r>
              <a:rPr lang="en-US" altLang="ko-KR" dirty="0"/>
              <a:t>/</a:t>
            </a:r>
            <a:r>
              <a:rPr lang="ko-KR" altLang="en-US" dirty="0"/>
              <a:t>발전량 데이터의 경우 순간 측정 오차</a:t>
            </a:r>
            <a:r>
              <a:rPr lang="en-US" altLang="ko-KR" dirty="0"/>
              <a:t>, </a:t>
            </a:r>
            <a:r>
              <a:rPr lang="ko-KR" altLang="en-US" dirty="0"/>
              <a:t>순간의 구름</a:t>
            </a:r>
            <a:r>
              <a:rPr lang="en-US" altLang="ko-KR" dirty="0"/>
              <a:t>/</a:t>
            </a:r>
            <a:r>
              <a:rPr lang="ko-KR" altLang="en-US" dirty="0"/>
              <a:t>바람의 변화 존재</a:t>
            </a:r>
            <a:endParaRPr lang="en-US" altLang="ko-KR" dirty="0"/>
          </a:p>
          <a:p>
            <a:pPr lvl="1"/>
            <a:r>
              <a:rPr lang="ko-KR" altLang="en-US" dirty="0"/>
              <a:t>따라서 구간 평균 또는 추세를 같이 봐야 안정적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9716448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565288-89B3-8C0B-C4C1-DC6265F05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Lag &amp; Rolling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048149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661489-0C4C-8C4F-9108-1D47343BC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Lag</a:t>
            </a:r>
            <a:r>
              <a:rPr lang="ko-KR" altLang="en-US" dirty="0"/>
              <a:t>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F0CEAA-1C91-A4A4-AAF3-FB9C14096A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과거 시점의 값을 현재 시점의 입력 피처로 붙이는 것</a:t>
            </a:r>
            <a:endParaRPr lang="en-US" altLang="ko-KR" dirty="0"/>
          </a:p>
          <a:p>
            <a:r>
              <a:rPr lang="ko-KR" altLang="en-US" dirty="0"/>
              <a:t>예시</a:t>
            </a:r>
            <a:endParaRPr lang="en-US" altLang="ko-KR" dirty="0"/>
          </a:p>
          <a:p>
            <a:pPr lvl="1"/>
            <a:r>
              <a:rPr lang="en-US" altLang="ko-KR" dirty="0"/>
              <a:t>1</a:t>
            </a:r>
            <a:r>
              <a:rPr lang="ko-KR" altLang="en-US" dirty="0"/>
              <a:t>시간 단위 데이터의 </a:t>
            </a:r>
            <a:r>
              <a:rPr lang="en-US" altLang="ko-KR" dirty="0"/>
              <a:t>power(t)</a:t>
            </a:r>
            <a:r>
              <a:rPr lang="ko-KR" altLang="en-US" dirty="0"/>
              <a:t>를 예측할 때</a:t>
            </a:r>
            <a:endParaRPr lang="en-US" altLang="ko-KR" dirty="0"/>
          </a:p>
          <a:p>
            <a:pPr lvl="1"/>
            <a:r>
              <a:rPr lang="en-US" altLang="ko-KR" dirty="0"/>
              <a:t>power(t-1) 1</a:t>
            </a:r>
            <a:r>
              <a:rPr lang="ko-KR" altLang="en-US" dirty="0"/>
              <a:t>시간 전</a:t>
            </a:r>
            <a:r>
              <a:rPr lang="en-US" altLang="ko-KR" dirty="0"/>
              <a:t>, power(t-2) 2</a:t>
            </a:r>
            <a:r>
              <a:rPr lang="ko-KR" altLang="en-US" dirty="0"/>
              <a:t>시간 전</a:t>
            </a:r>
            <a:r>
              <a:rPr lang="en-US" altLang="ko-KR" dirty="0"/>
              <a:t>, power(t-24) </a:t>
            </a:r>
            <a:r>
              <a:rPr lang="ko-KR" altLang="en-US" dirty="0"/>
              <a:t>하루 전 같은 시간</a:t>
            </a:r>
            <a:endParaRPr lang="en-US" altLang="ko-KR" dirty="0"/>
          </a:p>
          <a:p>
            <a:pPr lvl="1"/>
            <a:r>
              <a:rPr lang="ko-KR" altLang="en-US" dirty="0"/>
              <a:t>각각을 피처로 만듦</a:t>
            </a:r>
          </a:p>
        </p:txBody>
      </p:sp>
    </p:spTree>
    <p:extLst>
      <p:ext uri="{BB962C8B-B14F-4D97-AF65-F5344CB8AC3E}">
        <p14:creationId xmlns:p14="http://schemas.microsoft.com/office/powerpoint/2010/main" val="4369673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A5BB93-E43E-DA79-14B2-316F33897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Lag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05F778E-AD0D-6D10-3C6E-7D3EFE853E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Lag</a:t>
            </a:r>
            <a:r>
              <a:rPr lang="ko-KR" altLang="en-US" dirty="0"/>
              <a:t> 방법 </a:t>
            </a:r>
            <a:r>
              <a:rPr lang="en-US" altLang="ko-KR" dirty="0"/>
              <a:t>: </a:t>
            </a:r>
            <a:r>
              <a:rPr lang="ko-KR" altLang="en-US" dirty="0"/>
              <a:t>시계열을 연속적이어서 가까운 과거일수록 현재와 비슷한 경우가 많음</a:t>
            </a:r>
            <a:endParaRPr lang="en-US" altLang="ko-KR" dirty="0"/>
          </a:p>
          <a:p>
            <a:r>
              <a:rPr lang="en-US" altLang="ko-KR" dirty="0"/>
              <a:t>Lag </a:t>
            </a:r>
            <a:r>
              <a:rPr lang="ko-KR" altLang="en-US" dirty="0"/>
              <a:t>사용이 유리한 경우</a:t>
            </a:r>
            <a:endParaRPr lang="en-US" altLang="ko-KR" dirty="0"/>
          </a:p>
          <a:p>
            <a:pPr lvl="1"/>
            <a:r>
              <a:rPr lang="ko-KR" altLang="en-US" dirty="0"/>
              <a:t>직전 상태가 중요한 데이터</a:t>
            </a:r>
            <a:endParaRPr lang="en-US" altLang="ko-KR" dirty="0"/>
          </a:p>
          <a:p>
            <a:pPr lvl="1"/>
            <a:r>
              <a:rPr lang="ko-KR" altLang="en-US" dirty="0"/>
              <a:t>단기 예측 </a:t>
            </a:r>
            <a:r>
              <a:rPr lang="en-US" altLang="ko-KR" dirty="0"/>
              <a:t>(</a:t>
            </a:r>
            <a:r>
              <a:rPr lang="ko-KR" altLang="en-US" dirty="0"/>
              <a:t>다음 </a:t>
            </a:r>
            <a:r>
              <a:rPr lang="en-US" altLang="ko-KR" dirty="0"/>
              <a:t>1</a:t>
            </a:r>
            <a:r>
              <a:rPr lang="ko-KR" altLang="en-US" dirty="0"/>
              <a:t>시간</a:t>
            </a:r>
            <a:r>
              <a:rPr lang="en-US" altLang="ko-KR" dirty="0"/>
              <a:t>, </a:t>
            </a:r>
            <a:r>
              <a:rPr lang="ko-KR" altLang="en-US" dirty="0"/>
              <a:t>다음 </a:t>
            </a:r>
            <a:r>
              <a:rPr lang="en-US" altLang="ko-KR" dirty="0"/>
              <a:t>1</a:t>
            </a:r>
            <a:r>
              <a:rPr lang="ko-KR" altLang="en-US" dirty="0"/>
              <a:t>일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관성이 있는 시스템 </a:t>
            </a:r>
            <a:r>
              <a:rPr lang="en-US" altLang="ko-KR" dirty="0"/>
              <a:t>(</a:t>
            </a:r>
            <a:r>
              <a:rPr lang="ko-KR" altLang="en-US" dirty="0"/>
              <a:t>발전</a:t>
            </a:r>
            <a:r>
              <a:rPr lang="en-US" altLang="ko-KR" dirty="0"/>
              <a:t>, </a:t>
            </a:r>
            <a:r>
              <a:rPr lang="ko-KR" altLang="en-US" dirty="0"/>
              <a:t>수요</a:t>
            </a:r>
            <a:r>
              <a:rPr lang="en-US" altLang="ko-KR" dirty="0"/>
              <a:t>, </a:t>
            </a:r>
            <a:r>
              <a:rPr lang="ko-KR" altLang="en-US" dirty="0"/>
              <a:t>센서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주의점</a:t>
            </a:r>
            <a:endParaRPr lang="en-US" altLang="ko-KR" dirty="0"/>
          </a:p>
          <a:p>
            <a:pPr lvl="1"/>
            <a:r>
              <a:rPr lang="ko-KR" altLang="en-US" dirty="0"/>
              <a:t>처음 몇 행은 </a:t>
            </a:r>
            <a:r>
              <a:rPr lang="en-US" altLang="ko-KR" dirty="0"/>
              <a:t>lag </a:t>
            </a:r>
            <a:r>
              <a:rPr lang="ko-KR" altLang="en-US" dirty="0"/>
              <a:t>값이 없어 결측 발생</a:t>
            </a:r>
            <a:endParaRPr lang="en-US" altLang="ko-KR" dirty="0"/>
          </a:p>
          <a:p>
            <a:pPr lvl="1"/>
            <a:r>
              <a:rPr lang="ko-KR" altLang="en-US" dirty="0"/>
              <a:t>너무 많은 </a:t>
            </a:r>
            <a:r>
              <a:rPr lang="en-US" altLang="ko-KR" dirty="0"/>
              <a:t>lag </a:t>
            </a:r>
            <a:r>
              <a:rPr lang="ko-KR" altLang="en-US" dirty="0"/>
              <a:t>사용 시 피처가 많아져 </a:t>
            </a:r>
            <a:r>
              <a:rPr lang="ko-KR" altLang="en-US" dirty="0" err="1"/>
              <a:t>과적합</a:t>
            </a:r>
            <a:r>
              <a:rPr lang="ko-KR" altLang="en-US" dirty="0"/>
              <a:t> 위험</a:t>
            </a:r>
            <a:endParaRPr lang="en-US" altLang="ko-KR" dirty="0"/>
          </a:p>
          <a:p>
            <a:pPr lvl="1"/>
            <a:r>
              <a:rPr lang="ko-KR" altLang="en-US" dirty="0"/>
              <a:t>시간 분할 잘못 시 미래 정보가 섞일 수 있음</a:t>
            </a:r>
            <a:endParaRPr lang="en-US" altLang="ko-KR" dirty="0"/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764732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FADEEA-987F-2E45-C5F4-109B440E1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D64FAB-EA2D-CBA6-7269-10312B22B8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033932"/>
            <a:ext cx="11701221" cy="5143031"/>
          </a:xfrm>
        </p:spPr>
        <p:txBody>
          <a:bodyPr/>
          <a:lstStyle/>
          <a:p>
            <a:r>
              <a:rPr lang="ko-KR" altLang="en-US" dirty="0"/>
              <a:t>‘몇 시간 전까지의 과거가 지금을 설명해 줄 수 있을까</a:t>
            </a:r>
            <a:r>
              <a:rPr lang="en-US" altLang="ko-KR" dirty="0"/>
              <a:t>?’</a:t>
            </a:r>
            <a:endParaRPr lang="ko-KR" altLang="en-US" dirty="0"/>
          </a:p>
        </p:txBody>
      </p:sp>
      <p:pic>
        <p:nvPicPr>
          <p:cNvPr id="2050" name="Picture 2" descr="Time Series as Features">
            <a:extLst>
              <a:ext uri="{FF2B5EF4-FFF2-40B4-BE49-F238E27FC236}">
                <a16:creationId xmlns:a16="http://schemas.microsoft.com/office/drawing/2014/main" id="{C3988210-7731-9459-A2BB-DBE3910E49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66" y="2064322"/>
            <a:ext cx="5044722" cy="3759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49083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31B125-CE18-8662-53E0-CBC1E07C0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7" y="0"/>
            <a:ext cx="10515600" cy="1145406"/>
          </a:xfrm>
        </p:spPr>
        <p:txBody>
          <a:bodyPr>
            <a:normAutofit/>
          </a:bodyPr>
          <a:lstStyle/>
          <a:p>
            <a:r>
              <a:rPr lang="en-US" altLang="ko-KR" dirty="0"/>
              <a:t>Rolling</a:t>
            </a:r>
            <a:r>
              <a:rPr lang="ko-KR" altLang="en-US" dirty="0"/>
              <a:t>이란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5E4761-B877-3DAF-A4C2-FC6635253B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최근 </a:t>
            </a:r>
            <a:r>
              <a:rPr lang="en-US" altLang="ko-KR" dirty="0"/>
              <a:t>N</a:t>
            </a:r>
            <a:r>
              <a:rPr lang="ko-KR" altLang="en-US" dirty="0"/>
              <a:t>개 구간을 묶어서 </a:t>
            </a:r>
            <a:r>
              <a:rPr lang="ko-KR" altLang="en-US" dirty="0" err="1"/>
              <a:t>요약값을</a:t>
            </a:r>
            <a:r>
              <a:rPr lang="ko-KR" altLang="en-US" dirty="0"/>
              <a:t> 만들고 그 </a:t>
            </a:r>
            <a:r>
              <a:rPr lang="ko-KR" altLang="en-US" dirty="0" err="1"/>
              <a:t>요약값을</a:t>
            </a:r>
            <a:r>
              <a:rPr lang="ko-KR" altLang="en-US" dirty="0"/>
              <a:t> 현재의 입력 피처로 쓰는 것</a:t>
            </a:r>
            <a:endParaRPr lang="en-US" altLang="ko-KR" dirty="0"/>
          </a:p>
          <a:p>
            <a:pPr lvl="1"/>
            <a:r>
              <a:rPr lang="ko-KR" altLang="en-US" dirty="0"/>
              <a:t>예시</a:t>
            </a:r>
            <a:r>
              <a:rPr lang="en-US" altLang="ko-KR" dirty="0"/>
              <a:t>: </a:t>
            </a:r>
            <a:r>
              <a:rPr lang="ko-KR" altLang="en-US" dirty="0"/>
              <a:t>이동 평균</a:t>
            </a:r>
            <a:endParaRPr lang="en-US" altLang="ko-KR" dirty="0"/>
          </a:p>
          <a:p>
            <a:pPr lvl="1"/>
            <a:r>
              <a:rPr lang="en-US" altLang="ko-KR" dirty="0"/>
              <a:t>rolling_6_mean: </a:t>
            </a:r>
            <a:r>
              <a:rPr lang="ko-KR" altLang="en-US" dirty="0"/>
              <a:t>최근 </a:t>
            </a:r>
            <a:r>
              <a:rPr lang="en-US" altLang="ko-KR" dirty="0"/>
              <a:t>6</a:t>
            </a:r>
            <a:r>
              <a:rPr lang="ko-KR" altLang="en-US" dirty="0"/>
              <a:t>시간 평균</a:t>
            </a:r>
          </a:p>
          <a:p>
            <a:pPr lvl="1"/>
            <a:r>
              <a:rPr lang="en-US" altLang="ko-KR" dirty="0"/>
              <a:t>rolling_24_mean: </a:t>
            </a:r>
            <a:r>
              <a:rPr lang="ko-KR" altLang="en-US" dirty="0"/>
              <a:t>최근 </a:t>
            </a:r>
            <a:r>
              <a:rPr lang="en-US" altLang="ko-KR" dirty="0"/>
              <a:t>24</a:t>
            </a:r>
            <a:r>
              <a:rPr lang="ko-KR" altLang="en-US" dirty="0"/>
              <a:t>시간 평균</a:t>
            </a:r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570440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970E9C-938C-755C-4C69-578CF9361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Rolling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D42CB6A-A842-6591-DCEE-350CA2E8A9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사용이 적합한 상황</a:t>
            </a:r>
            <a:endParaRPr lang="en-US" altLang="ko-KR" dirty="0"/>
          </a:p>
          <a:p>
            <a:pPr lvl="1"/>
            <a:r>
              <a:rPr lang="ko-KR" altLang="en-US" dirty="0"/>
              <a:t>노이즈가 큰 데이터</a:t>
            </a:r>
            <a:endParaRPr lang="en-US" altLang="ko-KR" dirty="0"/>
          </a:p>
          <a:p>
            <a:pPr lvl="1"/>
            <a:r>
              <a:rPr lang="ko-KR" altLang="en-US" dirty="0"/>
              <a:t>패턴이 부드럽게 이어지는 데이터</a:t>
            </a:r>
            <a:endParaRPr lang="en-US" altLang="ko-KR" dirty="0"/>
          </a:p>
          <a:p>
            <a:pPr lvl="1"/>
            <a:r>
              <a:rPr lang="ko-KR" altLang="en-US" dirty="0"/>
              <a:t>최근 추세</a:t>
            </a:r>
            <a:r>
              <a:rPr lang="en-US" altLang="ko-KR" dirty="0"/>
              <a:t>, </a:t>
            </a:r>
            <a:r>
              <a:rPr lang="ko-KR" altLang="en-US" dirty="0"/>
              <a:t>최근 상태가 중요할 때</a:t>
            </a:r>
            <a:endParaRPr lang="en-US" altLang="ko-KR" dirty="0"/>
          </a:p>
          <a:p>
            <a:r>
              <a:rPr lang="ko-KR" altLang="en-US" dirty="0"/>
              <a:t>주의점</a:t>
            </a:r>
            <a:endParaRPr lang="en-US" altLang="ko-KR" dirty="0"/>
          </a:p>
          <a:p>
            <a:pPr lvl="1"/>
            <a:r>
              <a:rPr lang="ko-KR" altLang="en-US" dirty="0"/>
              <a:t>처음 구간은 값이 비어서 결측 발생</a:t>
            </a:r>
            <a:endParaRPr lang="en-US" altLang="ko-KR" dirty="0"/>
          </a:p>
          <a:p>
            <a:pPr lvl="1"/>
            <a:r>
              <a:rPr lang="ko-KR" altLang="en-US" dirty="0"/>
              <a:t>윈도우가 너무 크면 디테일이 사라짐</a:t>
            </a:r>
            <a:endParaRPr lang="en-US" altLang="ko-KR" dirty="0"/>
          </a:p>
          <a:p>
            <a:pPr lvl="1"/>
            <a:r>
              <a:rPr lang="ko-KR" altLang="en-US" dirty="0"/>
              <a:t>윈도우가 너무 작으면 노이즈가 남음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ED1996-36C1-50AD-FD51-1611A4D29035}"/>
              </a:ext>
            </a:extLst>
          </p:cNvPr>
          <p:cNvSpPr txBox="1"/>
          <p:nvPr/>
        </p:nvSpPr>
        <p:spPr>
          <a:xfrm>
            <a:off x="5779911" y="4763910"/>
            <a:ext cx="603723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highlight>
                  <a:srgbClr val="FFFF00"/>
                </a:highlight>
              </a:rPr>
              <a:t>*</a:t>
            </a:r>
            <a:r>
              <a:rPr lang="ko-KR" altLang="en-US" dirty="0">
                <a:solidFill>
                  <a:schemeClr val="bg1">
                    <a:lumMod val="65000"/>
                  </a:schemeClr>
                </a:solidFill>
                <a:highlight>
                  <a:srgbClr val="FFFF00"/>
                </a:highlight>
              </a:rPr>
              <a:t>윈도우</a:t>
            </a:r>
            <a:endParaRPr lang="en-US" altLang="ko-KR" dirty="0">
              <a:solidFill>
                <a:schemeClr val="bg1">
                  <a:lumMod val="65000"/>
                </a:schemeClr>
              </a:solidFill>
              <a:highlight>
                <a:srgbClr val="FFFF00"/>
              </a:highlight>
            </a:endParaRPr>
          </a:p>
          <a:p>
            <a:r>
              <a:rPr lang="ko-KR" altLang="en-US" dirty="0">
                <a:solidFill>
                  <a:schemeClr val="bg1">
                    <a:lumMod val="65000"/>
                  </a:schemeClr>
                </a:solidFill>
                <a:highlight>
                  <a:srgbClr val="FFFF00"/>
                </a:highlight>
              </a:rPr>
              <a:t>현재 시점을 기준으로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highlight>
                  <a:srgbClr val="FFFF00"/>
                </a:highlight>
              </a:rPr>
              <a:t>, </a:t>
            </a:r>
            <a:r>
              <a:rPr lang="ko-KR" altLang="en-US" dirty="0">
                <a:solidFill>
                  <a:schemeClr val="bg1">
                    <a:lumMod val="65000"/>
                  </a:schemeClr>
                </a:solidFill>
                <a:highlight>
                  <a:srgbClr val="FFFF00"/>
                </a:highlight>
              </a:rPr>
              <a:t>과거 몇 개의 데이터를 묶어서 볼 것인가를</a:t>
            </a:r>
            <a:endParaRPr lang="en-US" altLang="ko-KR" dirty="0">
              <a:solidFill>
                <a:schemeClr val="bg1">
                  <a:lumMod val="65000"/>
                </a:schemeClr>
              </a:solidFill>
              <a:highlight>
                <a:srgbClr val="FFFF00"/>
              </a:highlight>
            </a:endParaRPr>
          </a:p>
          <a:p>
            <a:r>
              <a:rPr lang="ko-KR" altLang="en-US" dirty="0">
                <a:solidFill>
                  <a:schemeClr val="bg1">
                    <a:lumMod val="65000"/>
                  </a:schemeClr>
                </a:solidFill>
                <a:highlight>
                  <a:srgbClr val="FFFF00"/>
                </a:highlight>
              </a:rPr>
              <a:t>정하는 크기</a:t>
            </a:r>
          </a:p>
        </p:txBody>
      </p:sp>
    </p:spTree>
    <p:extLst>
      <p:ext uri="{BB962C8B-B14F-4D97-AF65-F5344CB8AC3E}">
        <p14:creationId xmlns:p14="http://schemas.microsoft.com/office/powerpoint/2010/main" val="29932877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A96AC2-1936-FC80-A233-9A4D50A7E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074" name="Picture 2" descr="Smoothing data with moving averages - Dallasfed.org">
            <a:extLst>
              <a:ext uri="{FF2B5EF4-FFF2-40B4-BE49-F238E27FC236}">
                <a16:creationId xmlns:a16="http://schemas.microsoft.com/office/drawing/2014/main" id="{C06B2051-2BCD-303F-8E22-CB23CFA8073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5832" y="1511300"/>
            <a:ext cx="8233037" cy="4665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88540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CCC5C2-3737-2F36-D0C8-5D43EEB2D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시계열 예측</a:t>
            </a:r>
          </a:p>
        </p:txBody>
      </p:sp>
    </p:spTree>
    <p:extLst>
      <p:ext uri="{BB962C8B-B14F-4D97-AF65-F5344CB8AC3E}">
        <p14:creationId xmlns:p14="http://schemas.microsoft.com/office/powerpoint/2010/main" val="37091589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8EE5D1-F0B4-30A5-8E53-E1FF97E88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시계열 예측 문제 정의하기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D14EE1-E07F-E9E4-1D72-44F3C236FD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시계열 분석은 필요한 경우 미래의 값을 </a:t>
            </a:r>
            <a:r>
              <a:rPr lang="ko-KR" altLang="en-US"/>
              <a:t>예측하기 위해 사용됨</a:t>
            </a:r>
            <a:endParaRPr lang="en-US" altLang="ko-KR" dirty="0"/>
          </a:p>
          <a:p>
            <a:r>
              <a:rPr lang="ko-KR" altLang="en-US" dirty="0"/>
              <a:t>예측을 위해서는 질문을 명확히 정의해야 함</a:t>
            </a:r>
            <a:endParaRPr lang="en-US" altLang="ko-KR" dirty="0"/>
          </a:p>
          <a:p>
            <a:r>
              <a:rPr lang="ko-KR" altLang="en-US" dirty="0"/>
              <a:t>모든 시계열 데이터가 자동으로 예측 문제가 되지는 않음</a:t>
            </a:r>
            <a:endParaRPr lang="en-US" altLang="ko-KR" dirty="0"/>
          </a:p>
          <a:p>
            <a:r>
              <a:rPr lang="ko-KR" altLang="en-US" dirty="0"/>
              <a:t>예측이 필요한 경우</a:t>
            </a:r>
          </a:p>
          <a:p>
            <a:pPr lvl="1"/>
            <a:r>
              <a:rPr lang="ko-KR" altLang="en-US" dirty="0"/>
              <a:t>발전량을 미리 알아야 운영 계획을 세울 때</a:t>
            </a:r>
          </a:p>
          <a:p>
            <a:pPr lvl="1"/>
            <a:r>
              <a:rPr lang="ko-KR" altLang="en-US" dirty="0"/>
              <a:t>수요를 예측해서 공급을 조절할 때</a:t>
            </a:r>
          </a:p>
          <a:p>
            <a:pPr lvl="1"/>
            <a:r>
              <a:rPr lang="ko-KR" altLang="en-US" dirty="0"/>
              <a:t>미리 대비해야 할 의사결정이 있을 때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505731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7B911C-8133-273C-B49A-09698AA3A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무엇을 예측할 것인가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4DD698-3CD6-4B79-B13C-A6461E727B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예측 대상</a:t>
            </a:r>
            <a:r>
              <a:rPr lang="en-US" altLang="ko-KR" dirty="0"/>
              <a:t>: </a:t>
            </a:r>
            <a:r>
              <a:rPr lang="ko-KR" altLang="en-US" dirty="0"/>
              <a:t>시간 기준으로 정의</a:t>
            </a:r>
            <a:endParaRPr lang="en-US" altLang="ko-KR" dirty="0"/>
          </a:p>
          <a:p>
            <a:r>
              <a:rPr lang="ko-KR" altLang="en-US" dirty="0"/>
              <a:t>예시</a:t>
            </a:r>
            <a:endParaRPr lang="en-US" altLang="ko-KR" dirty="0"/>
          </a:p>
          <a:p>
            <a:pPr lvl="1"/>
            <a:r>
              <a:rPr lang="ko-KR" altLang="en-US" dirty="0"/>
              <a:t>다음 </a:t>
            </a:r>
            <a:r>
              <a:rPr lang="en-US" altLang="ko-KR" dirty="0"/>
              <a:t>1</a:t>
            </a:r>
            <a:r>
              <a:rPr lang="ko-KR" altLang="en-US" dirty="0"/>
              <a:t>시간 발전량</a:t>
            </a:r>
            <a:endParaRPr lang="en-US" altLang="ko-KR" dirty="0"/>
          </a:p>
          <a:p>
            <a:pPr lvl="1"/>
            <a:r>
              <a:rPr lang="ko-KR" altLang="en-US" dirty="0"/>
              <a:t>다음 날 평균 발전량</a:t>
            </a:r>
            <a:endParaRPr lang="en-US" altLang="ko-KR" dirty="0"/>
          </a:p>
          <a:p>
            <a:pPr lvl="1"/>
            <a:r>
              <a:rPr lang="ko-KR" altLang="en-US" dirty="0"/>
              <a:t>특정 시간대의 발전량</a:t>
            </a:r>
          </a:p>
        </p:txBody>
      </p:sp>
    </p:spTree>
    <p:extLst>
      <p:ext uri="{BB962C8B-B14F-4D97-AF65-F5344CB8AC3E}">
        <p14:creationId xmlns:p14="http://schemas.microsoft.com/office/powerpoint/2010/main" val="22203729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E50052-3E97-08FA-6C53-D11DCD946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시간 기반 데이터 분할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5AF06C-7678-A376-4367-0551753B6C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시계열 데이터는 시간 순서를 반드시 유지해야 함</a:t>
            </a:r>
            <a:endParaRPr lang="en-US" altLang="ko-KR" dirty="0"/>
          </a:p>
          <a:p>
            <a:r>
              <a:rPr lang="ko-KR" altLang="en-US" dirty="0"/>
              <a:t>데이터 분할 방식</a:t>
            </a:r>
            <a:endParaRPr lang="en-US" altLang="ko-KR" dirty="0"/>
          </a:p>
          <a:p>
            <a:pPr lvl="1"/>
            <a:r>
              <a:rPr lang="ko-KR" altLang="en-US" dirty="0"/>
              <a:t>과거 </a:t>
            </a:r>
            <a:r>
              <a:rPr lang="en-US" altLang="ko-KR" dirty="0"/>
              <a:t>-&gt; </a:t>
            </a:r>
            <a:r>
              <a:rPr lang="ko-KR" altLang="en-US" dirty="0"/>
              <a:t>학습</a:t>
            </a:r>
            <a:endParaRPr lang="en-US" altLang="ko-KR" dirty="0"/>
          </a:p>
          <a:p>
            <a:pPr lvl="1"/>
            <a:r>
              <a:rPr lang="ko-KR" altLang="en-US" dirty="0"/>
              <a:t>미래 </a:t>
            </a:r>
            <a:r>
              <a:rPr lang="en-US" altLang="ko-KR" dirty="0"/>
              <a:t>-&gt; </a:t>
            </a:r>
            <a:r>
              <a:rPr lang="ko-KR" altLang="en-US" dirty="0"/>
              <a:t>평가</a:t>
            </a:r>
          </a:p>
        </p:txBody>
      </p:sp>
    </p:spTree>
    <p:extLst>
      <p:ext uri="{BB962C8B-B14F-4D97-AF65-F5344CB8AC3E}">
        <p14:creationId xmlns:p14="http://schemas.microsoft.com/office/powerpoint/2010/main" val="6451539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E13DA4-D2AC-80D3-3C1F-D639951AF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잘못된 분할 </a:t>
            </a:r>
            <a:r>
              <a:rPr lang="en-US" altLang="ko-KR" dirty="0"/>
              <a:t>vs </a:t>
            </a:r>
            <a:r>
              <a:rPr lang="ko-KR" altLang="en-US" dirty="0"/>
              <a:t>올바른 분할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58CB43A-A802-6C1D-E531-CB5ADEEE5C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랜덤 분할</a:t>
            </a:r>
            <a:endParaRPr lang="en-US" altLang="ko-KR" dirty="0"/>
          </a:p>
          <a:p>
            <a:pPr lvl="1"/>
            <a:r>
              <a:rPr lang="ko-KR" altLang="en-US" dirty="0"/>
              <a:t>미래 정보가 섞일 수 있음</a:t>
            </a:r>
            <a:endParaRPr lang="en-US" altLang="ko-KR" dirty="0"/>
          </a:p>
          <a:p>
            <a:pPr lvl="1"/>
            <a:r>
              <a:rPr lang="ko-KR" altLang="en-US" dirty="0"/>
              <a:t>현실을 반영하지 못함</a:t>
            </a:r>
            <a:endParaRPr lang="en-US" altLang="ko-KR" dirty="0"/>
          </a:p>
          <a:p>
            <a:r>
              <a:rPr lang="ko-KR" altLang="en-US" dirty="0"/>
              <a:t>시간 기반 분할</a:t>
            </a:r>
            <a:endParaRPr lang="en-US" altLang="ko-KR" dirty="0"/>
          </a:p>
          <a:p>
            <a:pPr lvl="1"/>
            <a:r>
              <a:rPr lang="ko-KR" altLang="en-US" dirty="0"/>
              <a:t>실제 예측 상황과 동일</a:t>
            </a:r>
            <a:endParaRPr lang="en-US" altLang="ko-KR" dirty="0"/>
          </a:p>
          <a:p>
            <a:pPr lvl="1"/>
            <a:r>
              <a:rPr lang="ko-KR" altLang="en-US" dirty="0"/>
              <a:t>평가 결과를 신뢰할 수 있음</a:t>
            </a:r>
          </a:p>
        </p:txBody>
      </p:sp>
    </p:spTree>
    <p:extLst>
      <p:ext uri="{BB962C8B-B14F-4D97-AF65-F5344CB8AC3E}">
        <p14:creationId xmlns:p14="http://schemas.microsoft.com/office/powerpoint/2010/main" val="24472865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A7A773-0339-63E5-DB8B-3AEE04863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평가 지표 해석 시 주의점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10EFCEF-981E-4219-64BD-65A2ABAC02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평가 지표는 모델의 </a:t>
            </a:r>
            <a:r>
              <a:rPr lang="en-US" altLang="ko-KR" dirty="0"/>
              <a:t>‘</a:t>
            </a:r>
            <a:r>
              <a:rPr lang="ko-KR" altLang="en-US" dirty="0"/>
              <a:t>정직함</a:t>
            </a:r>
            <a:r>
              <a:rPr lang="en-US" altLang="ko-KR" dirty="0"/>
              <a:t>＇</a:t>
            </a:r>
            <a:r>
              <a:rPr lang="ko-KR" altLang="en-US" dirty="0"/>
              <a:t>을 보장하지 않음</a:t>
            </a:r>
            <a:endParaRPr lang="en-US" altLang="ko-KR" dirty="0"/>
          </a:p>
          <a:p>
            <a:r>
              <a:rPr lang="ko-KR" altLang="en-US" dirty="0"/>
              <a:t>숫자가 좋다고 항상 좋은 모델은 아님</a:t>
            </a:r>
            <a:endParaRPr lang="en-US" altLang="ko-KR" dirty="0"/>
          </a:p>
          <a:p>
            <a:r>
              <a:rPr lang="ko-KR" altLang="en-US" dirty="0"/>
              <a:t>숫자보다 중요한 것</a:t>
            </a:r>
            <a:endParaRPr lang="en-US" altLang="ko-KR" dirty="0"/>
          </a:p>
          <a:p>
            <a:pPr lvl="1"/>
            <a:r>
              <a:rPr lang="ko-KR" altLang="en-US" dirty="0"/>
              <a:t>시간 순서를 지켰는가</a:t>
            </a:r>
            <a:r>
              <a:rPr lang="en-US" altLang="ko-KR" dirty="0"/>
              <a:t>?, </a:t>
            </a:r>
            <a:r>
              <a:rPr lang="ko-KR" altLang="en-US" dirty="0"/>
              <a:t>미래 정보가 섞이지 않았는가</a:t>
            </a:r>
            <a:r>
              <a:rPr lang="en-US" altLang="ko-KR" dirty="0"/>
              <a:t>?, </a:t>
            </a:r>
            <a:r>
              <a:rPr lang="ko-KR" altLang="en-US" dirty="0"/>
              <a:t>실제 사용 상황을 반영했는가</a:t>
            </a:r>
            <a:r>
              <a:rPr lang="en-US" altLang="ko-KR" dirty="0"/>
              <a:t>? ..</a:t>
            </a:r>
          </a:p>
          <a:p>
            <a:r>
              <a:rPr lang="ko-KR" altLang="en-US" dirty="0"/>
              <a:t>평가 방식이 현실을 반영하는지가 중요</a:t>
            </a:r>
          </a:p>
        </p:txBody>
      </p:sp>
    </p:spTree>
    <p:extLst>
      <p:ext uri="{BB962C8B-B14F-4D97-AF65-F5344CB8AC3E}">
        <p14:creationId xmlns:p14="http://schemas.microsoft.com/office/powerpoint/2010/main" val="42914921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FFC444-EA1D-6390-D365-A76EBFDEA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시계열 분석은 모델이 아니다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2DA4730-7928-183F-8A5C-884D52606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시계열 분석은 특정한 모델을 의미하지 않음</a:t>
            </a:r>
            <a:endParaRPr lang="en-US" altLang="ko-KR" dirty="0"/>
          </a:p>
          <a:p>
            <a:r>
              <a:rPr lang="ko-KR" altLang="en-US" dirty="0"/>
              <a:t>데이터를 다루는 규칙과 관점에 가까움</a:t>
            </a:r>
            <a:endParaRPr lang="en-US" altLang="ko-KR" dirty="0"/>
          </a:p>
          <a:p>
            <a:r>
              <a:rPr lang="ko-KR" altLang="en-US" dirty="0"/>
              <a:t>어떤 모델을 쓰더라도 시계열 규칙은 동일하게 적용</a:t>
            </a:r>
            <a:endParaRPr lang="en-US" altLang="ko-KR" dirty="0"/>
          </a:p>
          <a:p>
            <a:pPr lvl="1"/>
            <a:r>
              <a:rPr lang="ko-KR" altLang="en-US" dirty="0"/>
              <a:t>시간 순서 유지</a:t>
            </a:r>
            <a:endParaRPr lang="en-US" altLang="ko-KR" dirty="0"/>
          </a:p>
          <a:p>
            <a:pPr lvl="1"/>
            <a:r>
              <a:rPr lang="ko-KR" altLang="en-US" dirty="0"/>
              <a:t>미래 정보는 입력에 포함하지 않는다</a:t>
            </a:r>
            <a:endParaRPr lang="en-US" altLang="ko-KR" dirty="0"/>
          </a:p>
          <a:p>
            <a:pPr lvl="1"/>
            <a:r>
              <a:rPr lang="ko-KR" altLang="en-US" dirty="0"/>
              <a:t>예측 시점 기준으로 피처를 만든다</a:t>
            </a:r>
            <a:endParaRPr lang="en-US" altLang="ko-KR" dirty="0"/>
          </a:p>
          <a:p>
            <a:pPr lvl="1"/>
            <a:r>
              <a:rPr lang="ko-KR" altLang="en-US" dirty="0"/>
              <a:t>평가는 현실 시나리오와 같아야 한다</a:t>
            </a:r>
          </a:p>
        </p:txBody>
      </p:sp>
    </p:spTree>
    <p:extLst>
      <p:ext uri="{BB962C8B-B14F-4D97-AF65-F5344CB8AC3E}">
        <p14:creationId xmlns:p14="http://schemas.microsoft.com/office/powerpoint/2010/main" val="15022257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C1DC2B-DFCE-9960-22D9-303629F70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시계열 분석이 </a:t>
            </a:r>
            <a:r>
              <a:rPr lang="ko-KR" altLang="en-US" dirty="0" err="1"/>
              <a:t>머신러닝에</a:t>
            </a:r>
            <a:r>
              <a:rPr lang="ko-KR" altLang="en-US" dirty="0"/>
              <a:t> 주는 역할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892B0CB-BBF7-C6DD-743A-AF97F663F7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시계열 분석은 </a:t>
            </a:r>
            <a:r>
              <a:rPr lang="ko-KR" altLang="en-US" dirty="0" err="1"/>
              <a:t>머신러닝을</a:t>
            </a:r>
            <a:r>
              <a:rPr lang="ko-KR" altLang="en-US" dirty="0"/>
              <a:t> 위한 준비 단계</a:t>
            </a:r>
            <a:endParaRPr lang="en-US" altLang="ko-KR" dirty="0"/>
          </a:p>
          <a:p>
            <a:r>
              <a:rPr lang="ko-KR" altLang="en-US" dirty="0"/>
              <a:t>제공하는 것</a:t>
            </a:r>
            <a:endParaRPr lang="en-US" altLang="ko-KR" dirty="0"/>
          </a:p>
          <a:p>
            <a:pPr lvl="1"/>
            <a:r>
              <a:rPr lang="ko-KR" altLang="en-US" dirty="0"/>
              <a:t>올바른 데이터 분할</a:t>
            </a:r>
            <a:endParaRPr lang="en-US" altLang="ko-KR" dirty="0"/>
          </a:p>
          <a:p>
            <a:pPr lvl="1"/>
            <a:r>
              <a:rPr lang="ko-KR" altLang="en-US" dirty="0"/>
              <a:t>의미 있는 피처 </a:t>
            </a:r>
            <a:r>
              <a:rPr lang="en-US" altLang="ko-KR" dirty="0"/>
              <a:t>(Lag, Rolling)</a:t>
            </a:r>
          </a:p>
          <a:p>
            <a:pPr lvl="1"/>
            <a:r>
              <a:rPr lang="ko-KR" altLang="en-US" dirty="0"/>
              <a:t>신뢰 가능한 평가 기준</a:t>
            </a:r>
          </a:p>
        </p:txBody>
      </p:sp>
    </p:spTree>
    <p:extLst>
      <p:ext uri="{BB962C8B-B14F-4D97-AF65-F5344CB8AC3E}">
        <p14:creationId xmlns:p14="http://schemas.microsoft.com/office/powerpoint/2010/main" val="4296057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DA3AC5-0734-2271-C134-2AAC6A54C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다음 단계</a:t>
            </a:r>
            <a:r>
              <a:rPr lang="en-US" altLang="ko-KR" dirty="0"/>
              <a:t>: </a:t>
            </a:r>
            <a:r>
              <a:rPr lang="ko-KR" altLang="en-US" dirty="0" err="1"/>
              <a:t>머신러닝</a:t>
            </a:r>
            <a:r>
              <a:rPr lang="ko-KR" altLang="en-US" dirty="0"/>
              <a:t> 기초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267F83-DBB2-6581-29CA-D26FC3EC73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다음에 배울 것</a:t>
            </a:r>
            <a:endParaRPr lang="en-US" altLang="ko-KR" dirty="0"/>
          </a:p>
          <a:p>
            <a:pPr lvl="1"/>
            <a:r>
              <a:rPr lang="ko-KR" altLang="en-US"/>
              <a:t>회귀와 분류</a:t>
            </a:r>
            <a:endParaRPr lang="en-US" altLang="ko-KR"/>
          </a:p>
          <a:p>
            <a:pPr lvl="1"/>
            <a:r>
              <a:rPr lang="ko-KR" altLang="en-US"/>
              <a:t>모델 학습 방법</a:t>
            </a:r>
            <a:endParaRPr lang="en-US" altLang="ko-KR"/>
          </a:p>
          <a:p>
            <a:pPr lvl="1"/>
            <a:r>
              <a:rPr lang="ko-KR" altLang="en-US"/>
              <a:t>성능 평가</a:t>
            </a:r>
            <a:endParaRPr lang="en-US" altLang="ko-KR"/>
          </a:p>
          <a:p>
            <a:pPr lvl="1"/>
            <a:endParaRPr lang="ko-KR" altLang="en-US" dirty="0"/>
          </a:p>
        </p:txBody>
      </p:sp>
      <p:pic>
        <p:nvPicPr>
          <p:cNvPr id="1026" name="Picture 2" descr="Machine Learning Icon Showing AI Algorithms And Predictive Analytics Models">
            <a:extLst>
              <a:ext uri="{FF2B5EF4-FFF2-40B4-BE49-F238E27FC236}">
                <a16:creationId xmlns:a16="http://schemas.microsoft.com/office/drawing/2014/main" id="{EBB3A31F-780D-1560-D84A-046200A74A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1401367"/>
            <a:ext cx="4343400" cy="434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42240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71936-481C-71EB-7D96-6C9DFC6F9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100005ED-53E3-BFC8-AFAA-7BAFFA3752AB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417181868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9001</TotalTime>
  <Words>900</Words>
  <Application>Microsoft Office PowerPoint</Application>
  <PresentationFormat>와이드스크린</PresentationFormat>
  <Paragraphs>160</Paragraphs>
  <Slides>22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31" baseType="lpstr">
      <vt:lpstr>Kim jung chul Gothic Regular</vt:lpstr>
      <vt:lpstr>Arial</vt:lpstr>
      <vt:lpstr>G마켓 산스 TTF Bold</vt:lpstr>
      <vt:lpstr>Pretendard Black</vt:lpstr>
      <vt:lpstr>Pretendard Light</vt:lpstr>
      <vt:lpstr>Pretendard Medium</vt:lpstr>
      <vt:lpstr>Wingdings</vt:lpstr>
      <vt:lpstr>메이플스토리</vt:lpstr>
      <vt:lpstr>1_Office 테마</vt:lpstr>
      <vt:lpstr>x</vt:lpstr>
      <vt:lpstr>시계열 데이터란</vt:lpstr>
      <vt:lpstr>시계열 데이터란</vt:lpstr>
      <vt:lpstr>시계열 데이터 분석법</vt:lpstr>
      <vt:lpstr>시계열 데이터 분석법</vt:lpstr>
      <vt:lpstr>Lag &amp; Rolling</vt:lpstr>
      <vt:lpstr>Lag란?</vt:lpstr>
      <vt:lpstr>Lag</vt:lpstr>
      <vt:lpstr>PowerPoint 프레젠테이션</vt:lpstr>
      <vt:lpstr>Rolling이란?</vt:lpstr>
      <vt:lpstr>Rolling</vt:lpstr>
      <vt:lpstr>PowerPoint 프레젠테이션</vt:lpstr>
      <vt:lpstr>시계열 예측</vt:lpstr>
      <vt:lpstr>시계열 예측 문제 정의하기</vt:lpstr>
      <vt:lpstr>무엇을 예측할 것인가?</vt:lpstr>
      <vt:lpstr>시간 기반 데이터 분할</vt:lpstr>
      <vt:lpstr>잘못된 분할 vs 올바른 분할</vt:lpstr>
      <vt:lpstr>평가 지표 해석 시 주의점</vt:lpstr>
      <vt:lpstr>시계열 분석은 모델이 아니다</vt:lpstr>
      <vt:lpstr>시계열 분석이 머신러닝에 주는 역할</vt:lpstr>
      <vt:lpstr>다음 단계: 머신러닝 기초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592</cp:revision>
  <dcterms:created xsi:type="dcterms:W3CDTF">2023-01-31T04:26:23Z</dcterms:created>
  <dcterms:modified xsi:type="dcterms:W3CDTF">2026-02-09T08:11:45Z</dcterms:modified>
</cp:coreProperties>
</file>