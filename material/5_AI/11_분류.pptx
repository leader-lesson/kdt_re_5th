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13" r:id="rId2"/>
    <p:sldId id="724" r:id="rId3"/>
    <p:sldId id="720" r:id="rId4"/>
    <p:sldId id="1022" r:id="rId5"/>
    <p:sldId id="1035" r:id="rId6"/>
    <p:sldId id="1036" r:id="rId7"/>
    <p:sldId id="1025" r:id="rId8"/>
    <p:sldId id="1037" r:id="rId9"/>
    <p:sldId id="1027" r:id="rId10"/>
    <p:sldId id="1023" r:id="rId11"/>
    <p:sldId id="614" r:id="rId12"/>
    <p:sldId id="642" r:id="rId13"/>
    <p:sldId id="671" r:id="rId14"/>
    <p:sldId id="672" r:id="rId15"/>
    <p:sldId id="643" r:id="rId16"/>
    <p:sldId id="674" r:id="rId17"/>
    <p:sldId id="615" r:id="rId18"/>
    <p:sldId id="1029" r:id="rId19"/>
    <p:sldId id="1030" r:id="rId20"/>
    <p:sldId id="1024" r:id="rId21"/>
    <p:sldId id="618" r:id="rId22"/>
    <p:sldId id="619" r:id="rId23"/>
    <p:sldId id="683" r:id="rId24"/>
    <p:sldId id="676" r:id="rId25"/>
    <p:sldId id="678" r:id="rId26"/>
    <p:sldId id="629" r:id="rId27"/>
    <p:sldId id="636" r:id="rId28"/>
    <p:sldId id="641" r:id="rId29"/>
    <p:sldId id="1034" r:id="rId30"/>
    <p:sldId id="617" r:id="rId31"/>
    <p:sldId id="1026" r:id="rId32"/>
    <p:sldId id="1028" r:id="rId33"/>
    <p:sldId id="623" r:id="rId34"/>
    <p:sldId id="1031" r:id="rId35"/>
    <p:sldId id="694" r:id="rId36"/>
    <p:sldId id="83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66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97" d="100"/>
          <a:sy n="97" d="100"/>
        </p:scale>
        <p:origin x="121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ko-KR" altLang="en-US" dirty="0"/>
              <a:t>는 </a:t>
            </a:r>
            <a:r>
              <a:rPr lang="ko-KR" altLang="en-US" dirty="0" err="1"/>
              <a:t>로짓</a:t>
            </a:r>
            <a:r>
              <a:rPr lang="en-US" altLang="ko-KR" dirty="0"/>
              <a:t>, </a:t>
            </a:r>
            <a:r>
              <a:rPr lang="ko-KR" altLang="en-US" dirty="0"/>
              <a:t>이전 계층의 </a:t>
            </a:r>
            <a:r>
              <a:rPr lang="ko-KR" altLang="en-US" dirty="0" err="1"/>
              <a:t>출력값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4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743159" y="2413337"/>
            <a:ext cx="67056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역전파</a:t>
            </a:r>
            <a:endParaRPr lang="en-US" altLang="ko-KR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Back 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Propagtion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323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3840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3200" b="1" dirty="0"/>
              <a:t>💡 </a:t>
            </a:r>
            <a:r>
              <a:rPr lang="ko-KR" altLang="en-US" dirty="0"/>
              <a:t>오차를 계산하고</a:t>
            </a:r>
            <a:r>
              <a:rPr lang="en-US" altLang="ko-KR" dirty="0"/>
              <a:t>, </a:t>
            </a:r>
            <a:r>
              <a:rPr lang="ko-KR" altLang="en-US" dirty="0"/>
              <a:t>이를 이용해 신경망의 가중치를 업데이트하는 알고리즘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발생한 오차에 대해서 각각 </a:t>
            </a:r>
            <a:r>
              <a:rPr lang="en-US" altLang="ko-KR" dirty="0"/>
              <a:t>w</a:t>
            </a:r>
            <a:r>
              <a:rPr lang="ko-KR" altLang="en-US" dirty="0"/>
              <a:t>에 대한 기여도를 계산하여 </a:t>
            </a:r>
            <a:r>
              <a:rPr lang="en-US" altLang="ko-KR" dirty="0"/>
              <a:t>w</a:t>
            </a:r>
            <a:r>
              <a:rPr lang="ko-KR" altLang="en-US" dirty="0"/>
              <a:t>를 업데이트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→ 이를 </a:t>
            </a:r>
            <a:r>
              <a:rPr lang="en-US" altLang="ko-KR" dirty="0"/>
              <a:t>input layer</a:t>
            </a:r>
            <a:r>
              <a:rPr lang="ko-KR" altLang="en-US" dirty="0"/>
              <a:t>까지 반복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14018" cy="4805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주요 단계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1️⃣ </a:t>
            </a:r>
            <a:r>
              <a:rPr lang="ko-KR" altLang="en-US" sz="2400" b="1" dirty="0" err="1"/>
              <a:t>순전파</a:t>
            </a:r>
            <a:r>
              <a:rPr lang="en-US" altLang="ko-KR" sz="2400" b="1" dirty="0"/>
              <a:t>(Forward Propagation)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입력값</a:t>
            </a:r>
            <a:r>
              <a:rPr lang="ko-KR" altLang="en-US" sz="2000" dirty="0"/>
              <a:t> → </a:t>
            </a:r>
            <a:r>
              <a:rPr lang="ko-KR" altLang="en-US" sz="2000" dirty="0" err="1"/>
              <a:t>출력값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모델의 </a:t>
            </a:r>
            <a:r>
              <a:rPr lang="ko-KR" altLang="en-US" sz="2000" dirty="0" err="1"/>
              <a:t>예측값과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실제값의</a:t>
            </a:r>
            <a:r>
              <a:rPr lang="ko-KR" altLang="en-US" sz="2000" dirty="0"/>
              <a:t> 차이를 측정하여 </a:t>
            </a:r>
            <a:r>
              <a:rPr lang="ko-KR" altLang="en-US" sz="2000" b="1" dirty="0"/>
              <a:t>오차</a:t>
            </a:r>
            <a:r>
              <a:rPr lang="ko-KR" altLang="en-US" sz="2000" dirty="0"/>
              <a:t>를 계산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2️⃣ </a:t>
            </a:r>
            <a:r>
              <a:rPr lang="ko-KR" altLang="en-US" sz="2400" b="1" dirty="0" err="1"/>
              <a:t>역전파</a:t>
            </a:r>
            <a:r>
              <a:rPr lang="en-US" altLang="ko-KR" sz="2400" b="1" dirty="0"/>
              <a:t>(Backward Propagation)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오차를 </a:t>
            </a:r>
            <a:r>
              <a:rPr lang="ko-KR" altLang="en-US" sz="2000" b="1" dirty="0" err="1"/>
              <a:t>출력층에서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입력층</a:t>
            </a:r>
            <a:r>
              <a:rPr lang="ko-KR" altLang="en-US" sz="2000" b="1" dirty="0"/>
              <a:t> 방향으로 전파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가중치가 오차에 얼마나 영향을 미쳤는지 계산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기울기를 이용해 가중치를 업데이트</a:t>
            </a:r>
            <a:r>
              <a:rPr lang="en-US" altLang="ko-KR" sz="2000" dirty="0"/>
              <a:t>(</a:t>
            </a:r>
            <a:r>
              <a:rPr lang="ko-KR" altLang="en-US" sz="2000" dirty="0"/>
              <a:t>경사 </a:t>
            </a:r>
            <a:r>
              <a:rPr lang="ko-KR" altLang="en-US" sz="2000" dirty="0" err="1"/>
              <a:t>하강법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8BC8E7-EA51-666D-6E19-9E48C6A89975}"/>
              </a:ext>
            </a:extLst>
          </p:cNvPr>
          <p:cNvGrpSpPr/>
          <p:nvPr/>
        </p:nvGrpSpPr>
        <p:grpSpPr>
          <a:xfrm>
            <a:off x="6601876" y="1922222"/>
            <a:ext cx="5303738" cy="3487234"/>
            <a:chOff x="6601876" y="1922222"/>
            <a:chExt cx="5303738" cy="3487234"/>
          </a:xfrm>
        </p:grpSpPr>
        <p:pic>
          <p:nvPicPr>
            <p:cNvPr id="6" name="Picture 2" descr="What is backpropagation in neural networks?">
              <a:extLst>
                <a:ext uri="{FF2B5EF4-FFF2-40B4-BE49-F238E27FC236}">
                  <a16:creationId xmlns:a16="http://schemas.microsoft.com/office/drawing/2014/main" id="{068F030F-32F5-1D74-4D65-9510FCA0A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876" y="1922222"/>
              <a:ext cx="5303738" cy="31831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777D295-ED3A-2FB9-4263-ECB6FE529846}"/>
                </a:ext>
              </a:extLst>
            </p:cNvPr>
            <p:cNvSpPr/>
            <p:nvPr/>
          </p:nvSpPr>
          <p:spPr>
            <a:xfrm>
              <a:off x="6931177" y="5163235"/>
              <a:ext cx="464513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https://serokell.io/blog/understanding-backpropagation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20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ow to apply Gradient Descent from Scratch for any ML problem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689956" y="2651931"/>
            <a:ext cx="4812088" cy="15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76079" cy="15357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계산의 핵심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체인 룰</a:t>
            </a:r>
            <a:r>
              <a:rPr lang="en-US" altLang="ko-KR" sz="2400" b="1" dirty="0"/>
              <a:t>(Chain Rule)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역전파는 미분을 이용함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ko-KR" altLang="en-US" sz="2000" b="1" dirty="0"/>
              <a:t>체인 룰</a:t>
            </a:r>
            <a:r>
              <a:rPr lang="ko-KR" altLang="en-US" sz="2000" dirty="0"/>
              <a:t>을 활용하여 오차가 각 가중치에 미치는 영향을 계산</a:t>
            </a:r>
            <a:endParaRPr lang="en-US" altLang="ko-K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0"/>
          <a:stretch/>
        </p:blipFill>
        <p:spPr bwMode="auto">
          <a:xfrm>
            <a:off x="1268903" y="4702165"/>
            <a:ext cx="4028660" cy="126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타원 2"/>
          <p:cNvSpPr/>
          <p:nvPr/>
        </p:nvSpPr>
        <p:spPr>
          <a:xfrm>
            <a:off x="7020560" y="2580640"/>
            <a:ext cx="1188720" cy="17576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134678" y="4043680"/>
            <a:ext cx="2997642" cy="58795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20" y="4702165"/>
            <a:ext cx="4846482" cy="126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 txBox="1">
            <a:spLocks/>
          </p:cNvSpPr>
          <p:nvPr/>
        </p:nvSpPr>
        <p:spPr>
          <a:xfrm>
            <a:off x="5513574" y="4985097"/>
            <a:ext cx="490297" cy="541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9278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3E7D72F-9082-45EE-2612-77DD81195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40" y="1549540"/>
            <a:ext cx="8124720" cy="418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0A9280B-AA0F-28B3-F612-69F02A47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91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89B759-9CB9-58B3-8055-CE807105F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475" y="4573476"/>
            <a:ext cx="5099050" cy="991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녹색은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forward pass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빨간색은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backward pass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의한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gradient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4BD0D8-9CE4-005C-C99C-4D27D19DD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38" y="1775265"/>
            <a:ext cx="5357324" cy="270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00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991" y="1565123"/>
                <a:ext cx="10515600" cy="372775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 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우리가 원하는 값은 최종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output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에 대한 각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input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의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gradient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인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𝑞𝑧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991" y="1565123"/>
                <a:ext cx="10515600" cy="3727753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05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E8DBA-CC39-9041-C0A9-3711E6B24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38" y="727246"/>
            <a:ext cx="5357324" cy="270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361" y="3242393"/>
                <a:ext cx="6335278" cy="30032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체인 룰에 의해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체인 룰에 의해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361" y="3242393"/>
                <a:ext cx="6335278" cy="3003299"/>
              </a:xfrm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10676" y="2459504"/>
            <a:ext cx="619913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분류</a:t>
            </a:r>
            <a:endParaRPr lang="en-US" altLang="ko-KR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Classification</a:t>
            </a:r>
            <a:endParaRPr lang="ko-KR" altLang="en-US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80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3-ap-northeast-2.amazonaws.com/opentutorials-user-file/module/4916/12309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840" y="2129287"/>
            <a:ext cx="6370320" cy="358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</a:t>
            </a:r>
            <a:r>
              <a:rPr lang="en-US" altLang="ko-KR" b="1" dirty="0">
                <a:latin typeface="+mj-ea"/>
              </a:rPr>
              <a:t>(Classification)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1120" cy="8016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입력 데이터를 사전에 정의된 여러 클래스 중 하나로 구분하는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40926" y="5501097"/>
            <a:ext cx="31101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https://opentutorials.org/module/4916/28942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995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</a:t>
            </a:r>
            <a:r>
              <a:rPr lang="en-US" altLang="ko-KR" b="1" dirty="0">
                <a:latin typeface="+mj-ea"/>
              </a:rPr>
              <a:t>(Classification)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993" y="1197686"/>
            <a:ext cx="9072014" cy="634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</a:t>
            </a:r>
            <a:r>
              <a:rPr lang="ko-KR" altLang="en-US" dirty="0" err="1">
                <a:latin typeface="+mn-ea"/>
              </a:rPr>
              <a:t>분류란</a:t>
            </a:r>
            <a:r>
              <a:rPr lang="ko-KR" altLang="en-US" dirty="0">
                <a:latin typeface="+mn-ea"/>
              </a:rPr>
              <a:t> 최적의 </a:t>
            </a:r>
            <a:r>
              <a:rPr lang="ko-KR" altLang="en-US" b="1" dirty="0">
                <a:solidFill>
                  <a:srgbClr val="FF0066"/>
                </a:solidFill>
                <a:latin typeface="+mn-ea"/>
              </a:rPr>
              <a:t>결정 경계선</a:t>
            </a:r>
            <a:r>
              <a:rPr lang="en-US" altLang="ko-KR" b="1" dirty="0">
                <a:solidFill>
                  <a:srgbClr val="FF0066"/>
                </a:solidFill>
                <a:latin typeface="+mn-ea"/>
              </a:rPr>
              <a:t>Decision Boundary</a:t>
            </a:r>
            <a:r>
              <a:rPr lang="ko-KR" altLang="en-US" dirty="0">
                <a:latin typeface="+mn-ea"/>
              </a:rPr>
              <a:t>을 찾는 것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C23755-FEC9-8D7A-28C9-18F289D37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87" y="2021137"/>
            <a:ext cx="6998826" cy="404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1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분류의 주요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55541"/>
            <a:ext cx="11501120" cy="45469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입력 데이터와 출력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입력 데이터</a:t>
            </a:r>
            <a:r>
              <a:rPr lang="en-US" altLang="ko-KR" b="1" dirty="0">
                <a:latin typeface="+mn-ea"/>
              </a:rPr>
              <a:t>(Features): </a:t>
            </a:r>
            <a:r>
              <a:rPr lang="ko-KR" altLang="en-US" dirty="0">
                <a:latin typeface="+mn-ea"/>
              </a:rPr>
              <a:t>예측에 사용되는 다양한 특성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사진의 픽셀 값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텍스트의 단어 빈도 등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출력</a:t>
            </a:r>
            <a:r>
              <a:rPr lang="en-US" altLang="ko-KR" b="1" dirty="0">
                <a:latin typeface="+mn-ea"/>
              </a:rPr>
              <a:t>(Label): </a:t>
            </a:r>
            <a:r>
              <a:rPr lang="ko-KR" altLang="en-US" dirty="0">
                <a:latin typeface="+mn-ea"/>
              </a:rPr>
              <a:t>각 데이터가 속한 클래스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고양이</a:t>
            </a:r>
            <a:r>
              <a:rPr lang="en-US" altLang="ko-KR" sz="1800" dirty="0">
                <a:latin typeface="+mn-ea"/>
              </a:rPr>
              <a:t>(1) / </a:t>
            </a:r>
            <a:r>
              <a:rPr lang="ko-KR" altLang="en-US" sz="1800" dirty="0">
                <a:latin typeface="+mn-ea"/>
              </a:rPr>
              <a:t>강아지</a:t>
            </a:r>
            <a:r>
              <a:rPr lang="en-US" altLang="ko-KR" sz="1800" dirty="0">
                <a:latin typeface="+mn-ea"/>
              </a:rPr>
              <a:t>(0).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9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분류의 주요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1120" cy="49912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클래스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이진 분류</a:t>
            </a:r>
            <a:r>
              <a:rPr lang="en-US" altLang="ko-KR" dirty="0">
                <a:latin typeface="+mn-ea"/>
              </a:rPr>
              <a:t>(Binary Classification): </a:t>
            </a:r>
            <a:r>
              <a:rPr lang="ko-KR" altLang="en-US" dirty="0">
                <a:latin typeface="+mn-ea"/>
              </a:rPr>
              <a:t>두 가지 클래스만 구분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 err="1">
                <a:latin typeface="+mn-ea"/>
              </a:rPr>
              <a:t>이메일이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스팸인지</a:t>
            </a:r>
            <a:r>
              <a:rPr lang="ko-KR" altLang="en-US" dirty="0">
                <a:latin typeface="+mn-ea"/>
              </a:rPr>
              <a:t> 아닌지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스팸</a:t>
            </a:r>
            <a:r>
              <a:rPr lang="en-US" altLang="ko-KR" dirty="0">
                <a:latin typeface="+mn-ea"/>
              </a:rPr>
              <a:t>=1, </a:t>
            </a:r>
            <a:r>
              <a:rPr lang="ko-KR" altLang="en-US" dirty="0">
                <a:latin typeface="+mn-ea"/>
              </a:rPr>
              <a:t>정상</a:t>
            </a:r>
            <a:r>
              <a:rPr lang="en-US" altLang="ko-KR" dirty="0">
                <a:latin typeface="+mn-ea"/>
              </a:rPr>
              <a:t>=0)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다항 분류</a:t>
            </a:r>
            <a:r>
              <a:rPr lang="en-US" altLang="ko-KR" dirty="0">
                <a:latin typeface="+mn-ea"/>
              </a:rPr>
              <a:t>(Multi-class Classification): </a:t>
            </a:r>
            <a:r>
              <a:rPr lang="ko-KR" altLang="en-US" dirty="0">
                <a:latin typeface="+mn-ea"/>
              </a:rPr>
              <a:t>세 가지 이상의 클래스를 구분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고양이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강아지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새 중 하나로 분류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다중 분류</a:t>
            </a:r>
            <a:r>
              <a:rPr lang="en-US" altLang="ko-KR" b="1" dirty="0"/>
              <a:t>(Multi-label Classification): </a:t>
            </a:r>
            <a:r>
              <a:rPr lang="ko-KR" altLang="en-US" dirty="0"/>
              <a:t>샘플이 </a:t>
            </a:r>
            <a:r>
              <a:rPr lang="ko-KR" altLang="en-US" b="1" dirty="0"/>
              <a:t>여러 클래스에 동시에 속할 수 있는</a:t>
            </a:r>
            <a:r>
              <a:rPr lang="ko-KR" altLang="en-US" dirty="0"/>
              <a:t> 분류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예시</a:t>
            </a:r>
            <a:r>
              <a:rPr lang="en-US" altLang="ko-KR" dirty="0"/>
              <a:t>: </a:t>
            </a:r>
            <a:r>
              <a:rPr lang="ko-KR" altLang="en-US" dirty="0"/>
              <a:t>영화 장르 분류</a:t>
            </a:r>
            <a:r>
              <a:rPr lang="en-US" altLang="ko-KR" dirty="0"/>
              <a:t>(</a:t>
            </a:r>
            <a:r>
              <a:rPr lang="ko-KR" altLang="en-US" dirty="0"/>
              <a:t>액션 </a:t>
            </a:r>
            <a:r>
              <a:rPr lang="en-US" altLang="ko-KR" dirty="0"/>
              <a:t>+ </a:t>
            </a:r>
            <a:r>
              <a:rPr lang="ko-KR" altLang="en-US" dirty="0"/>
              <a:t>로맨스 </a:t>
            </a:r>
            <a:r>
              <a:rPr lang="en-US" altLang="ko-KR" dirty="0"/>
              <a:t>+ </a:t>
            </a:r>
            <a:r>
              <a:rPr lang="ko-KR" altLang="en-US" dirty="0"/>
              <a:t>코미디 가능</a:t>
            </a:r>
            <a:r>
              <a:rPr lang="en-US" altLang="ko-KR" dirty="0"/>
              <a:t>), </a:t>
            </a:r>
            <a:r>
              <a:rPr lang="ko-KR" altLang="en-US" dirty="0"/>
              <a:t>사진 </a:t>
            </a:r>
            <a:r>
              <a:rPr lang="ko-KR" altLang="en-US" dirty="0" err="1"/>
              <a:t>태깅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강아지 </a:t>
            </a:r>
            <a:r>
              <a:rPr lang="en-US" altLang="ko-KR" dirty="0"/>
              <a:t>+ </a:t>
            </a:r>
            <a:r>
              <a:rPr lang="ko-KR" altLang="en-US" dirty="0"/>
              <a:t>공원 </a:t>
            </a:r>
            <a:r>
              <a:rPr lang="en-US" altLang="ko-KR" dirty="0"/>
              <a:t>+ </a:t>
            </a:r>
            <a:r>
              <a:rPr lang="ko-KR" altLang="en-US" dirty="0"/>
              <a:t>사람 가능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90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 알고리즘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48539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선형 모델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로지스틱 회귀</a:t>
            </a:r>
            <a:r>
              <a:rPr lang="en-US" altLang="ko-KR" dirty="0">
                <a:latin typeface="+mn-ea"/>
              </a:rPr>
              <a:t>(Logistic Regression): </a:t>
            </a:r>
            <a:r>
              <a:rPr lang="ko-KR" altLang="en-US" dirty="0">
                <a:latin typeface="+mn-ea"/>
              </a:rPr>
              <a:t>선형 방정식을 사용해 클래스 확률을 계산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주로 이항 분류에 사용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비선형 모델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의사결정나무</a:t>
            </a:r>
            <a:r>
              <a:rPr lang="en-US" altLang="ko-KR" dirty="0">
                <a:latin typeface="+mn-ea"/>
              </a:rPr>
              <a:t>(Decision Tree): </a:t>
            </a:r>
            <a:r>
              <a:rPr lang="ko-KR" altLang="en-US" dirty="0">
                <a:latin typeface="+mn-ea"/>
              </a:rPr>
              <a:t>데이터를 분할하여 예측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랜덤 </a:t>
            </a:r>
            <a:r>
              <a:rPr lang="ko-KR" altLang="en-US" dirty="0" err="1">
                <a:latin typeface="+mn-ea"/>
              </a:rPr>
              <a:t>포레스트</a:t>
            </a:r>
            <a:r>
              <a:rPr lang="en-US" altLang="ko-KR" dirty="0">
                <a:latin typeface="+mn-ea"/>
              </a:rPr>
              <a:t>(Random Forest): </a:t>
            </a:r>
            <a:r>
              <a:rPr lang="ko-KR" altLang="en-US" dirty="0">
                <a:latin typeface="+mn-ea"/>
              </a:rPr>
              <a:t>다수의 의사결정나무를 결합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서포트</a:t>
            </a:r>
            <a:r>
              <a:rPr lang="ko-KR" altLang="en-US" dirty="0">
                <a:latin typeface="+mn-ea"/>
              </a:rPr>
              <a:t> 벡터 머신</a:t>
            </a:r>
            <a:r>
              <a:rPr lang="en-US" altLang="ko-KR" dirty="0">
                <a:latin typeface="+mn-ea"/>
              </a:rPr>
              <a:t>(SVM): </a:t>
            </a:r>
            <a:r>
              <a:rPr lang="ko-KR" altLang="en-US" dirty="0" err="1">
                <a:latin typeface="+mn-ea"/>
              </a:rPr>
              <a:t>초평면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Hyperplane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사용해 클래스 간 경계를 설정</a:t>
            </a:r>
            <a:r>
              <a:rPr lang="en-US" altLang="ko-KR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0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 알고리즘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468095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3️⃣ </a:t>
            </a:r>
            <a:r>
              <a:rPr lang="ko-KR" altLang="en-US" b="1" dirty="0">
                <a:latin typeface="+mn-ea"/>
              </a:rPr>
              <a:t>확률 기반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나이브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베이즈</a:t>
            </a:r>
            <a:r>
              <a:rPr lang="en-US" altLang="ko-KR" dirty="0">
                <a:latin typeface="+mn-ea"/>
              </a:rPr>
              <a:t>(Naive Bayes): </a:t>
            </a:r>
            <a:r>
              <a:rPr lang="ko-KR" altLang="en-US" dirty="0">
                <a:latin typeface="+mn-ea"/>
              </a:rPr>
              <a:t>조건부 확률을 기반으로 분류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4️⃣ </a:t>
            </a:r>
            <a:r>
              <a:rPr lang="ko-KR" altLang="en-US" b="1" dirty="0">
                <a:latin typeface="+mn-ea"/>
              </a:rPr>
              <a:t>신경망 기반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인공 신경망</a:t>
            </a:r>
            <a:r>
              <a:rPr lang="en-US" altLang="ko-KR" dirty="0">
                <a:latin typeface="+mn-ea"/>
              </a:rPr>
              <a:t>(ANN): </a:t>
            </a:r>
            <a:r>
              <a:rPr lang="ko-KR" altLang="en-US" dirty="0" err="1">
                <a:latin typeface="+mn-ea"/>
              </a:rPr>
              <a:t>노드와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레이어로</a:t>
            </a:r>
            <a:r>
              <a:rPr lang="ko-KR" altLang="en-US" dirty="0">
                <a:latin typeface="+mn-ea"/>
              </a:rPr>
              <a:t> 구성된 신경망 모델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컨볼루션</a:t>
            </a:r>
            <a:r>
              <a:rPr lang="ko-KR" altLang="en-US" dirty="0">
                <a:latin typeface="+mn-ea"/>
              </a:rPr>
              <a:t> 신경망</a:t>
            </a:r>
            <a:r>
              <a:rPr lang="en-US" altLang="ko-KR" dirty="0">
                <a:latin typeface="+mn-ea"/>
              </a:rPr>
              <a:t>(CNN): </a:t>
            </a:r>
            <a:r>
              <a:rPr lang="ko-KR" altLang="en-US" dirty="0">
                <a:latin typeface="+mn-ea"/>
              </a:rPr>
              <a:t>이미지 분류에서 자주 사용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순환 신경망</a:t>
            </a:r>
            <a:r>
              <a:rPr lang="en-US" altLang="ko-KR" dirty="0">
                <a:latin typeface="+mn-ea"/>
              </a:rPr>
              <a:t>(RNN): </a:t>
            </a:r>
            <a:r>
              <a:rPr lang="ko-KR" altLang="en-US" dirty="0">
                <a:latin typeface="+mn-ea"/>
              </a:rPr>
              <a:t>텍스트 또는 </a:t>
            </a:r>
            <a:r>
              <a:rPr lang="ko-KR" altLang="en-US" dirty="0" err="1">
                <a:latin typeface="+mn-ea"/>
              </a:rPr>
              <a:t>시계열</a:t>
            </a:r>
            <a:r>
              <a:rPr lang="ko-KR" altLang="en-US" dirty="0">
                <a:latin typeface="+mn-ea"/>
              </a:rPr>
              <a:t> 데이터 분류에 적합</a:t>
            </a:r>
            <a:r>
              <a:rPr lang="en-US" altLang="ko-KR" dirty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9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이항 분류</a:t>
            </a:r>
            <a:r>
              <a:rPr lang="en-US" altLang="ko-KR" sz="4400" b="1" dirty="0">
                <a:latin typeface="+mj-ea"/>
              </a:rPr>
              <a:t>(Binary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944823"/>
            <a:ext cx="6363638" cy="38940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en-US" altLang="ko-KR" sz="2400" dirty="0">
                <a:latin typeface="+mn-ea"/>
              </a:rPr>
              <a:t>2</a:t>
            </a:r>
            <a:r>
              <a:rPr lang="ko-KR" altLang="en-US" sz="2400" dirty="0">
                <a:latin typeface="+mn-ea"/>
              </a:rPr>
              <a:t>개의 </a:t>
            </a:r>
            <a:r>
              <a:rPr lang="en-US" altLang="ko-KR" sz="2400" dirty="0">
                <a:latin typeface="+mn-ea"/>
              </a:rPr>
              <a:t>Label</a:t>
            </a:r>
            <a:r>
              <a:rPr lang="ko-KR" altLang="en-US" sz="2400" dirty="0">
                <a:latin typeface="+mn-ea"/>
              </a:rPr>
              <a:t>을 갖는 데이터가 들어왔을 때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0 </a:t>
            </a:r>
            <a:r>
              <a:rPr lang="ko-KR" altLang="en-US" sz="2400" dirty="0">
                <a:latin typeface="+mn-ea"/>
              </a:rPr>
              <a:t>또는 </a:t>
            </a:r>
            <a:r>
              <a:rPr lang="en-US" altLang="ko-KR" sz="2400" dirty="0">
                <a:latin typeface="+mn-ea"/>
              </a:rPr>
              <a:t>1</a:t>
            </a:r>
            <a:r>
              <a:rPr lang="ko-KR" altLang="en-US" sz="2400" dirty="0">
                <a:latin typeface="+mn-ea"/>
              </a:rPr>
              <a:t>로 분류를 하는 것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활성화 함수는 주로 </a:t>
            </a:r>
            <a:r>
              <a:rPr lang="en-US" altLang="ko-KR" sz="2000" dirty="0">
                <a:solidFill>
                  <a:srgbClr val="FF5050"/>
                </a:solidFill>
                <a:latin typeface="+mn-ea"/>
              </a:rPr>
              <a:t>Sigmoid</a:t>
            </a:r>
            <a:r>
              <a:rPr lang="en-US" altLang="ko-KR" sz="2000" dirty="0">
                <a:latin typeface="+mn-ea"/>
              </a:rPr>
              <a:t>(S</a:t>
            </a:r>
            <a:r>
              <a:rPr lang="ko-KR" altLang="en-US" sz="2000" dirty="0" err="1">
                <a:latin typeface="+mn-ea"/>
              </a:rPr>
              <a:t>자모양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함수를 사용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>Sigmoid </a:t>
            </a:r>
            <a:r>
              <a:rPr lang="ko-KR" altLang="en-US" sz="2000" dirty="0">
                <a:latin typeface="+mn-ea"/>
              </a:rPr>
              <a:t>대신 </a:t>
            </a:r>
            <a:r>
              <a:rPr lang="en-US" altLang="ko-KR" sz="2000" dirty="0" err="1">
                <a:latin typeface="+mn-ea"/>
              </a:rPr>
              <a:t>Softmax</a:t>
            </a:r>
            <a:r>
              <a:rPr lang="ko-KR" altLang="en-US" sz="2000" dirty="0">
                <a:latin typeface="+mn-ea"/>
              </a:rPr>
              <a:t>를 사용하는 것이 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오른쪽 그림은 </a:t>
            </a:r>
            <a:r>
              <a:rPr lang="en-US" altLang="ko-KR" sz="2000" dirty="0">
                <a:latin typeface="+mn-ea"/>
              </a:rPr>
              <a:t>Sigmoid</a:t>
            </a:r>
            <a:r>
              <a:rPr lang="ko-KR" altLang="en-US" sz="2000" dirty="0">
                <a:latin typeface="+mn-ea"/>
              </a:rPr>
              <a:t> 함수의 예시인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로지스틱 함수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ACC718E-BB2F-DC2B-B311-6BF6B2D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398" y="2260532"/>
            <a:ext cx="4323126" cy="287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08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7F20-D01E-CAE1-8C31-10AA904B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83C43-1344-66F9-C7C6-90A0D8CC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이항 분류</a:t>
            </a:r>
            <a:r>
              <a:rPr lang="en-US" altLang="ko-KR" sz="4400" b="1" dirty="0">
                <a:latin typeface="+mj-ea"/>
              </a:rPr>
              <a:t>(Binary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E37E83-A9EB-B38F-AEA7-1F25B15D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45407"/>
            <a:ext cx="11701221" cy="44276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b="1" dirty="0"/>
              <a:t>손실 함수</a:t>
            </a:r>
            <a:r>
              <a:rPr lang="en-US" altLang="ko-KR" sz="2400" dirty="0"/>
              <a:t>: Binary Cross Entropy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이진 분류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정답이 </a:t>
            </a:r>
            <a:r>
              <a:rPr lang="en-US" altLang="ko-KR" sz="2000" dirty="0">
                <a:latin typeface="+mn-ea"/>
              </a:rPr>
              <a:t>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정답</a:t>
            </a:r>
            <a:r>
              <a:rPr lang="en-US" altLang="ko-KR" sz="2000" dirty="0">
                <a:latin typeface="+mn-ea"/>
              </a:rPr>
              <a:t>(Label): </a:t>
            </a:r>
            <a:r>
              <a:rPr lang="ko-KR" altLang="en-US" sz="2000" dirty="0">
                <a:latin typeface="+mn-ea"/>
              </a:rPr>
              <a:t>하나의 스칼라 값으로 표현됨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"</a:t>
            </a:r>
            <a:r>
              <a:rPr lang="ko-KR" altLang="en-US" sz="1800" dirty="0">
                <a:latin typeface="+mn-ea"/>
              </a:rPr>
              <a:t>양성</a:t>
            </a:r>
            <a:r>
              <a:rPr lang="en-US" altLang="ko-KR" sz="1800" dirty="0">
                <a:latin typeface="+mn-ea"/>
              </a:rPr>
              <a:t>=1 / </a:t>
            </a:r>
            <a:r>
              <a:rPr lang="ko-KR" altLang="en-US" sz="1800" dirty="0">
                <a:latin typeface="+mn-ea"/>
              </a:rPr>
              <a:t>음성</a:t>
            </a:r>
            <a:r>
              <a:rPr lang="en-US" altLang="ko-KR" sz="1800" dirty="0">
                <a:latin typeface="+mn-ea"/>
              </a:rPr>
              <a:t>=0" </a:t>
            </a:r>
            <a:r>
              <a:rPr lang="ko-KR" altLang="en-US" sz="1800" dirty="0">
                <a:latin typeface="+mn-ea"/>
              </a:rPr>
              <a:t>두 가지일 때 → </a:t>
            </a:r>
            <a:r>
              <a:rPr lang="en-US" altLang="ko-KR" sz="1800" dirty="0">
                <a:latin typeface="+mn-ea"/>
              </a:rPr>
              <a:t>1 </a:t>
            </a:r>
            <a:r>
              <a:rPr lang="ko-KR" altLang="en-US" sz="1800" dirty="0">
                <a:latin typeface="+mn-ea"/>
              </a:rPr>
              <a:t>또는 </a:t>
            </a:r>
            <a:r>
              <a:rPr lang="en-US" altLang="ko-KR" sz="1800" dirty="0">
                <a:latin typeface="+mn-ea"/>
              </a:rPr>
              <a:t>0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신경망 출력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 err="1">
                <a:latin typeface="+mn-ea"/>
              </a:rPr>
              <a:t>시그모이드</a:t>
            </a:r>
            <a:r>
              <a:rPr lang="ko-KR" altLang="en-US" sz="1800" dirty="0">
                <a:latin typeface="+mn-ea"/>
              </a:rPr>
              <a:t> 결과</a:t>
            </a:r>
            <a:r>
              <a:rPr lang="en-US" altLang="ko-KR" sz="1800" dirty="0">
                <a:latin typeface="+mn-ea"/>
              </a:rPr>
              <a:t>, 0~1 </a:t>
            </a:r>
            <a:r>
              <a:rPr lang="ko-KR" altLang="en-US" sz="1800" dirty="0">
                <a:latin typeface="+mn-ea"/>
              </a:rPr>
              <a:t>사이 값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과 실제 정답</a:t>
            </a:r>
            <a:r>
              <a:rPr lang="en-US" altLang="ko-KR" sz="1800" dirty="0">
                <a:latin typeface="+mn-ea"/>
              </a:rPr>
              <a:t>(0 </a:t>
            </a:r>
            <a:r>
              <a:rPr lang="ko-KR" altLang="en-US" sz="1800" dirty="0">
                <a:latin typeface="+mn-ea"/>
              </a:rPr>
              <a:t>또는 </a:t>
            </a:r>
            <a:r>
              <a:rPr lang="en-US" altLang="ko-KR" sz="1800" dirty="0">
                <a:latin typeface="+mn-ea"/>
              </a:rPr>
              <a:t>1) </a:t>
            </a:r>
            <a:r>
              <a:rPr lang="ko-KR" altLang="en-US" sz="1800" dirty="0">
                <a:latin typeface="+mn-ea"/>
              </a:rPr>
              <a:t>간의 오차를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확률이 정답에 가까울수록 손실이 작아지고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멀어질수록 손실이 커짐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모델 출력</a:t>
            </a:r>
            <a:r>
              <a:rPr lang="en-US" altLang="ko-KR" sz="1800" dirty="0">
                <a:latin typeface="+mn-ea"/>
              </a:rPr>
              <a:t>: 0.8 / </a:t>
            </a:r>
            <a:r>
              <a:rPr lang="ko-KR" altLang="en-US" sz="1800" dirty="0">
                <a:latin typeface="+mn-ea"/>
              </a:rPr>
              <a:t>정답</a:t>
            </a:r>
            <a:r>
              <a:rPr lang="en-US" altLang="ko-KR" sz="1800" dirty="0">
                <a:latin typeface="+mn-ea"/>
              </a:rPr>
              <a:t>: 1 </a:t>
            </a:r>
            <a:r>
              <a:rPr lang="ko-KR" altLang="en-US" sz="1800" dirty="0">
                <a:latin typeface="+mn-ea"/>
              </a:rPr>
              <a:t>→ 손실</a:t>
            </a:r>
            <a:r>
              <a:rPr lang="en-US" altLang="ko-KR" sz="1800" dirty="0">
                <a:latin typeface="+mn-ea"/>
              </a:rPr>
              <a:t>: -log(0.8)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CA35AA-6EFC-C964-67A0-66144553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70EA21-E1DE-98E8-EBA3-91D47D18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23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8BD04-AAF3-09D3-06DF-F91F1D3D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50B9D-8839-8F36-49C6-D0B23EC8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B8E76A-2B43-869A-232B-CDB444A9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FC57B-9F78-FAE8-F971-7AE3A3BAB6DA}"/>
              </a:ext>
            </a:extLst>
          </p:cNvPr>
          <p:cNvSpPr txBox="1"/>
          <p:nvPr/>
        </p:nvSpPr>
        <p:spPr>
          <a:xfrm>
            <a:off x="3741032" y="2719554"/>
            <a:ext cx="48429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로지스틱 회귀</a:t>
            </a:r>
          </a:p>
        </p:txBody>
      </p:sp>
    </p:spTree>
    <p:extLst>
      <p:ext uri="{BB962C8B-B14F-4D97-AF65-F5344CB8AC3E}">
        <p14:creationId xmlns:p14="http://schemas.microsoft.com/office/powerpoint/2010/main" val="3341757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err="1">
                <a:latin typeface="+mj-ea"/>
              </a:rPr>
              <a:t>로지스틱</a:t>
            </a:r>
            <a:r>
              <a:rPr lang="ko-KR" altLang="en-US" sz="4800" b="1" dirty="0">
                <a:latin typeface="+mj-ea"/>
              </a:rPr>
              <a:t> 회귀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en-US" altLang="ko-KR" sz="4000" b="1" dirty="0"/>
              <a:t>Logistic Regression)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09094" cy="51687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선형 회귀를 기반으로 한 분류 알고리즘으로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입력 데이터를 분석하여 특정 클래스에 속할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확률을 예측함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출력 값</a:t>
            </a:r>
            <a:r>
              <a:rPr lang="en-US" altLang="ko-KR" sz="2000" dirty="0"/>
              <a:t>: 0</a:t>
            </a:r>
            <a:r>
              <a:rPr lang="ko-KR" altLang="en-US" sz="2000" dirty="0"/>
              <a:t>과 </a:t>
            </a:r>
            <a:r>
              <a:rPr lang="en-US" altLang="ko-KR" sz="2000" dirty="0"/>
              <a:t>1 </a:t>
            </a:r>
            <a:r>
              <a:rPr lang="ko-KR" altLang="en-US" sz="2000" dirty="0"/>
              <a:t>사이의 확률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주요 용도</a:t>
            </a:r>
            <a:r>
              <a:rPr lang="en-US" altLang="ko-KR" sz="2000" dirty="0"/>
              <a:t>: </a:t>
            </a:r>
            <a:r>
              <a:rPr lang="ko-KR" altLang="en-US" sz="2000" dirty="0"/>
              <a:t>이진 분류 문제</a:t>
            </a:r>
            <a:endParaRPr lang="en-US" altLang="ko-KR" sz="18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작동 원리</a:t>
            </a:r>
            <a:endParaRPr lang="en-US" altLang="ko-KR" sz="2400" b="1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선형 모델 계산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시그모이드</a:t>
            </a:r>
            <a:r>
              <a:rPr lang="ko-KR" altLang="en-US" sz="2000" dirty="0"/>
              <a:t> 함수</a:t>
            </a:r>
            <a:r>
              <a:rPr lang="en-US" altLang="ko-KR" sz="2000" dirty="0"/>
              <a:t> </a:t>
            </a:r>
            <a:r>
              <a:rPr lang="ko-KR" altLang="en-US" sz="2000" dirty="0"/>
              <a:t>적용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결과 분류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489" y="4244318"/>
            <a:ext cx="5134733" cy="39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2271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계단 함수의 문제</a:t>
            </a:r>
            <a:endParaRPr lang="ko-KR" altLang="en-US" sz="48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26" name="내용 개체 틀 22">
            <a:extLst>
              <a:ext uri="{FF2B5EF4-FFF2-40B4-BE49-F238E27FC236}">
                <a16:creationId xmlns:a16="http://schemas.microsoft.com/office/drawing/2014/main" id="{EE04D668-2104-C083-C697-E02C3A26D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02" y="1744389"/>
            <a:ext cx="4637590" cy="3751852"/>
          </a:xfrm>
          <a:prstGeom prst="rect">
            <a:avLst/>
          </a:prstGeom>
        </p:spPr>
      </p:pic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2714904"/>
            <a:ext cx="6768195" cy="181082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계단함수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 err="1">
                <a:latin typeface="+mn-ea"/>
              </a:rPr>
              <a:t>임계값</a:t>
            </a:r>
            <a:r>
              <a:rPr lang="en-US" altLang="ko-KR" sz="2400" dirty="0">
                <a:latin typeface="+mn-ea"/>
              </a:rPr>
              <a:t>(0)</a:t>
            </a:r>
            <a:r>
              <a:rPr lang="ko-KR" altLang="en-US" sz="2400" dirty="0">
                <a:latin typeface="+mn-ea"/>
              </a:rPr>
              <a:t>을 경계로 출력이 바뀌는 함수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미분 불가능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전달 값이 극단적</a:t>
            </a:r>
            <a:r>
              <a:rPr lang="en-US" altLang="ko-KR" sz="2000" dirty="0">
                <a:latin typeface="+mn-ea"/>
              </a:rPr>
              <a:t>(0,1)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4377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en-US" altLang="ko-KR" b="1" dirty="0">
                <a:latin typeface="+mj-ea"/>
              </a:rPr>
              <a:t>(Sigmoid)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820014" cy="6764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입력값을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값으로 변환하는 </a:t>
            </a:r>
            <a:r>
              <a:rPr lang="ko-KR" altLang="en-US" b="1" dirty="0"/>
              <a:t>활성화 함수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754" y="3016790"/>
            <a:ext cx="3668492" cy="175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881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en-US" altLang="ko-KR" b="1" dirty="0">
                <a:latin typeface="+mj-ea"/>
              </a:rPr>
              <a:t>(Sigmoid)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72353"/>
            <a:ext cx="7176304" cy="45958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📌 계단함수는 미분이 불가능하고 극단적인 값을 전달하기 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때문에 데이터 정보가 손실됨</a:t>
            </a:r>
            <a:endParaRPr lang="en-US" altLang="ko-KR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계단함수를 곡선의 형태로 변형시킨 형태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 err="1">
                <a:latin typeface="+mn-ea"/>
              </a:rPr>
              <a:t>로지스틱</a:t>
            </a:r>
            <a:r>
              <a:rPr lang="ko-KR" altLang="en-US" sz="2000" dirty="0">
                <a:latin typeface="+mn-ea"/>
              </a:rPr>
              <a:t> 함수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특징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함수값이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(0,1)</a:t>
            </a:r>
            <a:r>
              <a:rPr lang="ko-KR" altLang="en-US" sz="2000" dirty="0">
                <a:latin typeface="+mn-ea"/>
              </a:rPr>
              <a:t>로 제한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중간값은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0.5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매우 큰 값을 가지면 </a:t>
            </a:r>
            <a:r>
              <a:rPr lang="ko-KR" altLang="en-US" sz="2000" dirty="0" err="1">
                <a:latin typeface="+mn-ea"/>
              </a:rPr>
              <a:t>함수값은</a:t>
            </a:r>
            <a:r>
              <a:rPr lang="ko-KR" altLang="en-US" sz="2000" dirty="0">
                <a:latin typeface="+mn-ea"/>
              </a:rPr>
              <a:t> 거의 </a:t>
            </a:r>
            <a:r>
              <a:rPr lang="en-US" altLang="ko-KR" sz="2000" dirty="0">
                <a:latin typeface="+mn-ea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반대는 거의 </a:t>
            </a:r>
            <a:r>
              <a:rPr lang="en-US" altLang="ko-KR" sz="2000" dirty="0">
                <a:latin typeface="+mn-ea"/>
              </a:rPr>
              <a:t>0</a:t>
            </a: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945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1170884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dsig">
            <a:extLst>
              <a:ext uri="{FF2B5EF4-FFF2-40B4-BE49-F238E27FC236}">
                <a16:creationId xmlns:a16="http://schemas.microsoft.com/office/drawing/2014/main" id="{3C487AE4-C066-7E60-8C1D-D0113658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3794400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890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800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4591" y="1355857"/>
            <a:ext cx="7562817" cy="1687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✅ </a:t>
            </a:r>
            <a:r>
              <a:rPr lang="en-US" altLang="ko-KR" sz="2400" dirty="0">
                <a:latin typeface="+mn-ea"/>
                <a:ea typeface="+mn-ea"/>
              </a:rPr>
              <a:t>Sigmoid function</a:t>
            </a:r>
            <a:r>
              <a:rPr lang="ko-KR" altLang="en-US" sz="2400" dirty="0">
                <a:latin typeface="+mn-ea"/>
                <a:ea typeface="+mn-ea"/>
              </a:rPr>
              <a:t>의 함수식을 </a:t>
            </a:r>
            <a:r>
              <a:rPr lang="en-US" altLang="ko-KR" sz="2400" dirty="0">
                <a:latin typeface="+mn-ea"/>
                <a:ea typeface="+mn-ea"/>
              </a:rPr>
              <a:t>Cost function(MSE)</a:t>
            </a:r>
            <a:r>
              <a:rPr lang="ko-KR" altLang="en-US" sz="2400" dirty="0">
                <a:latin typeface="+mn-ea"/>
                <a:ea typeface="+mn-ea"/>
              </a:rPr>
              <a:t>에 </a:t>
            </a:r>
            <a:endParaRPr lang="en-US" altLang="ko-KR" sz="240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ko-KR" altLang="en-US" sz="2400" dirty="0">
                <a:latin typeface="+mn-ea"/>
                <a:ea typeface="+mn-ea"/>
              </a:rPr>
              <a:t>대입하여 그래프로 표현하면 아래와 같음 </a:t>
            </a:r>
            <a:r>
              <a:rPr lang="en-US" altLang="ko-KR" sz="2400" dirty="0">
                <a:latin typeface="+mn-ea"/>
                <a:ea typeface="+mn-ea"/>
              </a:rPr>
              <a:t>(Non-convex)</a:t>
            </a: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      ➡️ 따라서 새로운 </a:t>
            </a:r>
            <a:r>
              <a:rPr lang="ko-KR" altLang="en-US" sz="2400" b="1" dirty="0">
                <a:latin typeface="+mj-ea"/>
              </a:rPr>
              <a:t>손실함수가</a:t>
            </a:r>
            <a:r>
              <a:rPr lang="ko-KR" altLang="en-US" sz="2400" b="1" dirty="0">
                <a:latin typeface="+mn-ea"/>
              </a:rPr>
              <a:t> 필요함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3FF7B16-73DD-5BE0-53CA-DB76F2B91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511" y="3296771"/>
            <a:ext cx="5094974" cy="261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310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810" cy="31538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이진 분류 문제에서 사용하는 손실 함수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예측값</a:t>
            </a:r>
            <a:r>
              <a:rPr lang="en-US" altLang="ko-KR" sz="2000" dirty="0">
                <a:latin typeface="+mn-ea"/>
              </a:rPr>
              <a:t>(0~1 </a:t>
            </a:r>
            <a:r>
              <a:rPr lang="ko-KR" altLang="en-US" sz="2000" dirty="0">
                <a:latin typeface="+mn-ea"/>
              </a:rPr>
              <a:t>사이 확률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이 </a:t>
            </a:r>
            <a:r>
              <a:rPr lang="ko-KR" altLang="en-US" sz="2000" dirty="0" err="1">
                <a:latin typeface="+mn-ea"/>
              </a:rPr>
              <a:t>실제값</a:t>
            </a:r>
            <a:r>
              <a:rPr lang="en-US" altLang="ko-KR" sz="2000" dirty="0">
                <a:latin typeface="+mn-ea"/>
              </a:rPr>
              <a:t>(0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1)</a:t>
            </a:r>
            <a:r>
              <a:rPr lang="ko-KR" altLang="en-US" sz="2000" dirty="0">
                <a:latin typeface="+mn-ea"/>
              </a:rPr>
              <a:t>과 얼마나 가까운지 측정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22" y="2815000"/>
            <a:ext cx="9498956" cy="12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339300" y="3959176"/>
            <a:ext cx="3513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y: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실제값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(0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또는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1)</a:t>
            </a:r>
          </a:p>
          <a:p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모델이 예측한 확률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(0~1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76227" y="4962169"/>
            <a:ext cx="6439545" cy="96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예측값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가까울수록 손실이 작음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레이어에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시그모이드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사용하는 경우가 많음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421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926" y="4451275"/>
            <a:ext cx="2865938" cy="577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Cost Function: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0596DE-B97F-194A-0233-86DD14E9D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18" y="1490911"/>
            <a:ext cx="36480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FB83DA-329C-BD2C-77F0-908C6AF2E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914" y="1613175"/>
            <a:ext cx="6987364" cy="1563239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396" y="5029044"/>
            <a:ext cx="5744112" cy="913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713D382-7D6A-C608-3B18-D1EC3F047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5" r="8291"/>
          <a:stretch/>
        </p:blipFill>
        <p:spPr bwMode="auto">
          <a:xfrm>
            <a:off x="415418" y="5354036"/>
            <a:ext cx="3648075" cy="5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50910C8-A129-9159-2CCD-6B00B950A4F1}"/>
              </a:ext>
            </a:extLst>
          </p:cNvPr>
          <p:cNvSpPr/>
          <p:nvPr/>
        </p:nvSpPr>
        <p:spPr>
          <a:xfrm>
            <a:off x="4455703" y="2331140"/>
            <a:ext cx="449259" cy="283808"/>
          </a:xfrm>
          <a:prstGeom prst="rightArrow">
            <a:avLst>
              <a:gd name="adj1" fmla="val 50000"/>
              <a:gd name="adj2" fmla="val 7237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2ECED05-ECB1-7345-5286-D32AA6724805}"/>
              </a:ext>
            </a:extLst>
          </p:cNvPr>
          <p:cNvSpPr/>
          <p:nvPr/>
        </p:nvSpPr>
        <p:spPr>
          <a:xfrm rot="5400000">
            <a:off x="8231139" y="3556603"/>
            <a:ext cx="449259" cy="283808"/>
          </a:xfrm>
          <a:prstGeom prst="rightArrow">
            <a:avLst>
              <a:gd name="adj1" fmla="val 50000"/>
              <a:gd name="adj2" fmla="val 7237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8D923-AD9F-D7F1-BC68-DEEBA6570C0E}"/>
              </a:ext>
            </a:extLst>
          </p:cNvPr>
          <p:cNvSpPr txBox="1"/>
          <p:nvPr/>
        </p:nvSpPr>
        <p:spPr>
          <a:xfrm>
            <a:off x="453125" y="1197009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우도 함수 </a:t>
            </a:r>
            <a:r>
              <a:rPr lang="en-US" altLang="ko-KR" dirty="0"/>
              <a:t>(Likelihood function)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AFB6AD-249D-EF66-7DAB-E5925AE99036}"/>
              </a:ext>
            </a:extLst>
          </p:cNvPr>
          <p:cNvSpPr txBox="1"/>
          <p:nvPr/>
        </p:nvSpPr>
        <p:spPr>
          <a:xfrm>
            <a:off x="6643447" y="1191747"/>
            <a:ext cx="334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로그 우도 </a:t>
            </a:r>
            <a:r>
              <a:rPr lang="en-US" altLang="ko-KR" dirty="0"/>
              <a:t>(Log-Likelihood)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193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ko-KR" altLang="en-US" b="1" dirty="0">
                <a:latin typeface="+mj-ea"/>
              </a:rPr>
              <a:t> 함수의 한계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708" y="1688245"/>
            <a:ext cx="6710540" cy="39872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ko-KR" altLang="en-US" sz="2400" b="1" dirty="0" err="1">
                <a:latin typeface="+mn-ea"/>
              </a:rPr>
              <a:t>시그모이드</a:t>
            </a:r>
            <a:r>
              <a:rPr lang="ko-KR" altLang="en-US" sz="2400" b="1" dirty="0">
                <a:latin typeface="+mn-ea"/>
              </a:rPr>
              <a:t> 함수의 단점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i="0" dirty="0">
                <a:effectLst/>
                <a:latin typeface="+mn-ea"/>
              </a:rPr>
              <a:t>기울기 소실</a:t>
            </a:r>
            <a:r>
              <a:rPr lang="en-US" altLang="ko-KR" sz="2000" b="1" i="0" dirty="0">
                <a:effectLst/>
                <a:latin typeface="+mn-ea"/>
              </a:rPr>
              <a:t>(Gradient Vanishing)</a:t>
            </a:r>
            <a:r>
              <a:rPr lang="en-US" altLang="ko-KR" sz="2000" b="0" i="0" dirty="0">
                <a:effectLst/>
                <a:latin typeface="+mn-ea"/>
              </a:rPr>
              <a:t> </a:t>
            </a:r>
            <a:r>
              <a:rPr lang="ko-KR" altLang="en-US" sz="2000" b="0" i="0" dirty="0">
                <a:effectLst/>
                <a:latin typeface="+mn-ea"/>
              </a:rPr>
              <a:t>현상 </a:t>
            </a:r>
            <a:r>
              <a:rPr lang="en-US" altLang="ko-KR" sz="2000" b="0" i="0" dirty="0">
                <a:effectLst/>
                <a:latin typeface="+mn-ea"/>
              </a:rPr>
              <a:t>: x</a:t>
            </a:r>
            <a:r>
              <a:rPr lang="ko-KR" altLang="en-US" sz="2000" b="0" i="0" dirty="0">
                <a:effectLst/>
                <a:latin typeface="+mn-ea"/>
              </a:rPr>
              <a:t>의 절대값이 커질수록 </a:t>
            </a:r>
            <a:r>
              <a:rPr lang="ko-KR" altLang="en-US" sz="2000" b="0" i="0" dirty="0" err="1">
                <a:effectLst/>
                <a:latin typeface="+mn-ea"/>
              </a:rPr>
              <a:t>미분값이</a:t>
            </a:r>
            <a:r>
              <a:rPr lang="ko-KR" altLang="en-US" sz="2000" b="0" i="0" dirty="0">
                <a:effectLst/>
                <a:latin typeface="+mn-ea"/>
              </a:rPr>
              <a:t> 소실</a:t>
            </a:r>
            <a:endParaRPr lang="en-US" altLang="ko-KR" sz="2000" b="0" i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함수의 중심이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이 아니다</a:t>
            </a:r>
            <a:r>
              <a:rPr lang="en-US" altLang="ko-KR" sz="2000" dirty="0">
                <a:latin typeface="+mn-ea"/>
              </a:rPr>
              <a:t>. : </a:t>
            </a:r>
            <a:r>
              <a:rPr lang="ko-KR" altLang="en-US" sz="2000" dirty="0">
                <a:latin typeface="+mn-ea"/>
              </a:rPr>
              <a:t>가중치가 항상 같은 부호를 갖게 되므로 학습이 느려짐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이러한 이유로 최근에는 자주 사용하지 않음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1170884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dsig">
            <a:extLst>
              <a:ext uri="{FF2B5EF4-FFF2-40B4-BE49-F238E27FC236}">
                <a16:creationId xmlns:a16="http://schemas.microsoft.com/office/drawing/2014/main" id="{3C487AE4-C066-7E60-8C1D-D0113658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3794400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721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>
                <a:latin typeface="+mj-ea"/>
              </a:rPr>
              <a:t>시그모이드</a:t>
            </a:r>
            <a:r>
              <a:rPr lang="ko-KR" altLang="en-US" b="1" dirty="0">
                <a:latin typeface="+mj-ea"/>
              </a:rPr>
              <a:t> 함수의 한계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A02127-3637-4E0D-647B-A7DAA03CCE84}"/>
              </a:ext>
            </a:extLst>
          </p:cNvPr>
          <p:cNvGrpSpPr/>
          <p:nvPr/>
        </p:nvGrpSpPr>
        <p:grpSpPr>
          <a:xfrm>
            <a:off x="2103279" y="2503275"/>
            <a:ext cx="7985442" cy="3617425"/>
            <a:chOff x="2063507" y="2503275"/>
            <a:chExt cx="7985442" cy="3617425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FDA2DAE-2CCA-B63B-484C-08AEA05D76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507" y="2982701"/>
              <a:ext cx="3512684" cy="313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F95FD3C9-E10C-3A16-CF49-B893626F7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6265" y="2970992"/>
              <a:ext cx="3512684" cy="3149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4E33B9-1173-C347-3071-909B4DB202FA}"/>
                </a:ext>
              </a:extLst>
            </p:cNvPr>
            <p:cNvSpPr txBox="1"/>
            <p:nvPr/>
          </p:nvSpPr>
          <p:spPr>
            <a:xfrm>
              <a:off x="2196872" y="2503275"/>
              <a:ext cx="3142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최적의 이동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(w2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감소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w1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증가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90A8D8-FDC1-0CA3-C67D-244C12A1AFF7}"/>
                </a:ext>
              </a:extLst>
            </p:cNvPr>
            <p:cNvSpPr txBox="1"/>
            <p:nvPr/>
          </p:nvSpPr>
          <p:spPr>
            <a:xfrm>
              <a:off x="6536265" y="2503275"/>
              <a:ext cx="3142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둘의 부호가 같을 때의 이동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0A2B31E-C870-1233-B3B5-3C1D0D887B27}"/>
              </a:ext>
            </a:extLst>
          </p:cNvPr>
          <p:cNvSpPr txBox="1"/>
          <p:nvPr/>
        </p:nvSpPr>
        <p:spPr>
          <a:xfrm>
            <a:off x="2063507" y="1117017"/>
            <a:ext cx="8064985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시그모이드</a:t>
            </a:r>
            <a:r>
              <a:rPr lang="ko-KR" altLang="en-US" sz="2400" dirty="0">
                <a:latin typeface="+mn-ea"/>
              </a:rPr>
              <a:t> 함수의 한계</a:t>
            </a:r>
            <a:endParaRPr lang="en-US" altLang="ko-KR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가중치에 대한 기울기 부호가 같아지는 경향 → 지그재그로 흔들림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169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9A85-F074-B978-082A-CE6C0265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76364-644B-7E88-2563-87E83175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393779-2720-4B10-45F8-AB7DA4CC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579D4-21AF-7F57-8685-E8056629D21C}"/>
              </a:ext>
            </a:extLst>
          </p:cNvPr>
          <p:cNvSpPr txBox="1"/>
          <p:nvPr/>
        </p:nvSpPr>
        <p:spPr>
          <a:xfrm>
            <a:off x="2279900" y="2719554"/>
            <a:ext cx="77652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다항분류와 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Softmax</a:t>
            </a:r>
            <a:endParaRPr lang="ko-KR" altLang="en-US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699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다항 분류</a:t>
            </a:r>
            <a:r>
              <a:rPr lang="en-US" altLang="ko-KR" sz="4400" b="1" dirty="0">
                <a:latin typeface="+mj-ea"/>
              </a:rPr>
              <a:t>(Multi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55033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en-US" altLang="ko-KR" sz="2400" dirty="0">
                <a:latin typeface="+mn-ea"/>
              </a:rPr>
              <a:t>3</a:t>
            </a:r>
            <a:r>
              <a:rPr lang="ko-KR" altLang="en-US" sz="2400" dirty="0">
                <a:latin typeface="+mn-ea"/>
              </a:rPr>
              <a:t>개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이상의 </a:t>
            </a:r>
            <a:r>
              <a:rPr lang="en-US" altLang="ko-KR" sz="2400" dirty="0">
                <a:latin typeface="+mn-ea"/>
              </a:rPr>
              <a:t>Label</a:t>
            </a:r>
            <a:r>
              <a:rPr lang="ko-KR" altLang="en-US" sz="2400" dirty="0">
                <a:latin typeface="+mn-ea"/>
              </a:rPr>
              <a:t>을 갖는 데이터에 대한 분류 작업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숫자 이미지 분류</a:t>
            </a:r>
            <a:r>
              <a:rPr lang="en-US" altLang="ko-KR" sz="2000" dirty="0">
                <a:latin typeface="+mn-ea"/>
              </a:rPr>
              <a:t>(MNIST → 0~9</a:t>
            </a:r>
            <a:r>
              <a:rPr lang="ko-KR" altLang="en-US" sz="2000" dirty="0">
                <a:latin typeface="+mn-ea"/>
              </a:rPr>
              <a:t>까지 </a:t>
            </a:r>
            <a:r>
              <a:rPr lang="en-US" altLang="ko-KR" sz="2000" dirty="0">
                <a:latin typeface="+mn-ea"/>
              </a:rPr>
              <a:t>10</a:t>
            </a:r>
            <a:r>
              <a:rPr lang="ko-KR" altLang="en-US" sz="2000" dirty="0">
                <a:latin typeface="+mn-ea"/>
              </a:rPr>
              <a:t>개 클래스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출력층</a:t>
            </a:r>
            <a:r>
              <a:rPr lang="ko-KR" altLang="en-US" sz="2400" dirty="0">
                <a:latin typeface="+mn-ea"/>
              </a:rPr>
              <a:t> 활성화 함수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보통 </a:t>
            </a:r>
            <a:r>
              <a:rPr lang="en-US" altLang="ko-KR" sz="2400" dirty="0" err="1">
                <a:solidFill>
                  <a:srgbClr val="FF5050"/>
                </a:solidFill>
                <a:latin typeface="+mn-ea"/>
              </a:rPr>
              <a:t>Softmax</a:t>
            </a:r>
            <a:r>
              <a:rPr lang="ko-KR" altLang="en-US" sz="2400" dirty="0">
                <a:latin typeface="+mn-ea"/>
              </a:rPr>
              <a:t>를 사용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각 클래스별 확률 값을 계산하여 전체 합이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이 되도록 정규화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: [0.1, 0.7, 0.2] → "</a:t>
            </a:r>
            <a:r>
              <a:rPr lang="ko-KR" altLang="en-US" sz="2000" dirty="0">
                <a:latin typeface="+mn-ea"/>
              </a:rPr>
              <a:t>클래스 </a:t>
            </a:r>
            <a:r>
              <a:rPr lang="en-US" altLang="ko-KR" sz="2000" dirty="0">
                <a:latin typeface="+mn-ea"/>
              </a:rPr>
              <a:t>2</a:t>
            </a:r>
            <a:r>
              <a:rPr lang="ko-KR" altLang="en-US" sz="2000" dirty="0">
                <a:latin typeface="+mn-ea"/>
              </a:rPr>
              <a:t>일 확률이 </a:t>
            </a:r>
            <a:r>
              <a:rPr lang="en-US" altLang="ko-KR" sz="2000" dirty="0">
                <a:latin typeface="+mn-ea"/>
              </a:rPr>
              <a:t>70%"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12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3F16-4C57-8697-63EB-6A04DBC5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AD9A2-8328-45CF-E5BF-AC2F57FF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다항 분류 </a:t>
            </a:r>
            <a:r>
              <a:rPr lang="en-US" altLang="ko-KR" sz="4400" b="1" dirty="0">
                <a:latin typeface="+mj-ea"/>
              </a:rPr>
              <a:t>- </a:t>
            </a:r>
            <a:r>
              <a:rPr lang="ko-KR" altLang="en-US" sz="4400" b="1" dirty="0">
                <a:latin typeface="+mn-ea"/>
              </a:rPr>
              <a:t>손실함수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DD5D4-DD46-A1A6-9246-2DCB6A56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1️⃣ Categorical Cross Entropy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One-hot encoding(</a:t>
            </a:r>
            <a:r>
              <a:rPr lang="ko-KR" altLang="en-US" sz="2000" dirty="0"/>
              <a:t>범주형 데이터를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로 이루어진 벡터</a:t>
            </a:r>
            <a:r>
              <a:rPr lang="ko-KR" altLang="en-US" sz="2000" dirty="0"/>
              <a:t>로 표현하는 방법</a:t>
            </a:r>
            <a:r>
              <a:rPr lang="en-US" altLang="ko-KR" sz="2000" dirty="0"/>
              <a:t>)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정답</a:t>
            </a:r>
            <a:r>
              <a:rPr lang="en-US" altLang="ko-KR" sz="1800" dirty="0">
                <a:latin typeface="+mn-ea"/>
              </a:rPr>
              <a:t>(Label)</a:t>
            </a:r>
            <a:r>
              <a:rPr lang="ko-KR" altLang="en-US" sz="1800" dirty="0">
                <a:latin typeface="+mn-ea"/>
              </a:rPr>
              <a:t>이 벡터로 표현됨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4</a:t>
            </a:r>
            <a:r>
              <a:rPr lang="ko-KR" altLang="en-US" sz="1800" dirty="0">
                <a:latin typeface="+mn-ea"/>
              </a:rPr>
              <a:t>개일 때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정답이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번 클래스라면 → </a:t>
            </a:r>
            <a:r>
              <a:rPr lang="en-US" altLang="ko-KR" sz="1800" dirty="0">
                <a:latin typeface="+mn-ea"/>
              </a:rPr>
              <a:t>[0, 1, 0, 0]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신경망 출력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Softmax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결과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와 정답 벡터</a:t>
            </a:r>
            <a:r>
              <a:rPr lang="en-US" altLang="ko-KR" sz="1800" dirty="0">
                <a:latin typeface="+mn-ea"/>
              </a:rPr>
              <a:t>(One-hot) </a:t>
            </a:r>
            <a:r>
              <a:rPr lang="ko-KR" altLang="en-US" sz="1800" dirty="0">
                <a:latin typeface="+mn-ea"/>
              </a:rPr>
              <a:t>간의 오차를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모델 출력</a:t>
            </a:r>
            <a:r>
              <a:rPr lang="en-US" altLang="ko-KR" sz="1600" dirty="0">
                <a:latin typeface="+mn-ea"/>
              </a:rPr>
              <a:t>: [0.1, 0.7, 0.1, 0.1]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정답</a:t>
            </a:r>
            <a:r>
              <a:rPr lang="en-US" altLang="ko-KR" sz="1600" dirty="0">
                <a:latin typeface="+mn-ea"/>
              </a:rPr>
              <a:t>: [0, 1, 0, 0]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손실</a:t>
            </a:r>
            <a:r>
              <a:rPr lang="en-US" altLang="ko-KR" sz="1600" dirty="0">
                <a:latin typeface="+mn-ea"/>
              </a:rPr>
              <a:t>: -log(0.7)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44DA52-ABB8-34BC-AB52-0314159F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1EE4FF-557C-1267-F170-AD5AC42D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58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367C-DB49-9F45-645F-7AA4EA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0AD44-7837-B556-FD4A-042F2A19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다항 분류 </a:t>
            </a:r>
            <a:r>
              <a:rPr lang="en-US" altLang="ko-KR" sz="4400" b="1" dirty="0">
                <a:latin typeface="+mj-ea"/>
              </a:rPr>
              <a:t>- </a:t>
            </a:r>
            <a:r>
              <a:rPr lang="ko-KR" altLang="en-US" sz="4400" b="1" dirty="0">
                <a:latin typeface="+mn-ea"/>
              </a:rPr>
              <a:t>손실함수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F300C-5D30-AE01-DBD1-A5585BD7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2️⃣ Sparse Categorical Cross Entropy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정수</a:t>
            </a:r>
            <a:r>
              <a:rPr lang="en-US" altLang="ko-KR" sz="2000" dirty="0">
                <a:latin typeface="+mn-ea"/>
              </a:rPr>
              <a:t>(Integer) </a:t>
            </a:r>
            <a:r>
              <a:rPr lang="ko-KR" altLang="en-US" sz="2000" dirty="0">
                <a:latin typeface="+mn-ea"/>
              </a:rPr>
              <a:t>레이블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4</a:t>
            </a:r>
            <a:r>
              <a:rPr lang="ko-KR" altLang="en-US" sz="1800" dirty="0">
                <a:latin typeface="+mn-ea"/>
              </a:rPr>
              <a:t>개일 때 정답이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번 클래스라면 → </a:t>
            </a:r>
            <a:r>
              <a:rPr lang="en-US" altLang="ko-KR" sz="1800" dirty="0">
                <a:latin typeface="+mn-ea"/>
              </a:rPr>
              <a:t>2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따로 </a:t>
            </a:r>
            <a:r>
              <a:rPr lang="en-US" altLang="ko-KR" sz="1800" dirty="0">
                <a:latin typeface="+mn-ea"/>
              </a:rPr>
              <a:t>One-hot encoding </a:t>
            </a:r>
            <a:r>
              <a:rPr lang="ko-KR" altLang="en-US" sz="1800" dirty="0">
                <a:latin typeface="+mn-ea"/>
              </a:rPr>
              <a:t>하지 않고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정수값만</a:t>
            </a:r>
            <a:r>
              <a:rPr lang="ko-KR" altLang="en-US" sz="1800" dirty="0">
                <a:latin typeface="+mn-ea"/>
              </a:rPr>
              <a:t> 사용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내부적으로 정수를 </a:t>
            </a:r>
            <a:r>
              <a:rPr lang="en-US" altLang="ko-KR" sz="1800" dirty="0">
                <a:latin typeface="+mn-ea"/>
              </a:rPr>
              <a:t>One-hot encoding </a:t>
            </a:r>
            <a:r>
              <a:rPr lang="ko-KR" altLang="en-US" sz="1800" dirty="0">
                <a:latin typeface="+mn-ea"/>
              </a:rPr>
              <a:t>한 것과 동일하게 처리합니다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메모리와 연산 효율성이 좋아서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클래스 수가 많을 때 유리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E2914-8C9C-CA2E-85C9-9F6135DB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63F8A-024F-54D7-FC03-19CB2635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826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06536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여러 개의 출력 값을 확률</a:t>
            </a:r>
            <a:r>
              <a:rPr lang="en-US" altLang="ko-KR" sz="2400" dirty="0"/>
              <a:t>(0~1 </a:t>
            </a:r>
            <a:r>
              <a:rPr lang="ko-KR" altLang="en-US" sz="2400" dirty="0"/>
              <a:t>사이 값</a:t>
            </a:r>
            <a:r>
              <a:rPr lang="en-US" altLang="ko-KR" sz="2400" dirty="0"/>
              <a:t>)</a:t>
            </a:r>
            <a:r>
              <a:rPr lang="ko-KR" altLang="en-US" sz="2400" dirty="0"/>
              <a:t>로 바꾸어 주는 함수</a:t>
            </a:r>
            <a:r>
              <a:rPr lang="en-US" altLang="ko-KR" sz="2400" dirty="0"/>
              <a:t>.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여러 클래스 중 하나를 선택해야 하는 다항 분류 문제</a:t>
            </a:r>
            <a:r>
              <a:rPr lang="ko-KR" altLang="en-US" sz="2000" dirty="0"/>
              <a:t>에서 확률을 계산하는 함수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주로 </a:t>
            </a:r>
            <a:r>
              <a:rPr lang="ko-KR" altLang="en-US" sz="2000" b="1" dirty="0"/>
              <a:t>신경망의 출력층</a:t>
            </a:r>
            <a:r>
              <a:rPr lang="ko-KR" altLang="en-US" sz="2000" dirty="0"/>
              <a:t>에서 사용됨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출력 값들의 합이 항상 </a:t>
            </a:r>
            <a:r>
              <a:rPr lang="en-US" altLang="ko-KR" sz="2000" b="1" dirty="0"/>
              <a:t>1</a:t>
            </a:r>
            <a:r>
              <a:rPr lang="ko-KR" altLang="en-US" sz="2000" dirty="0"/>
              <a:t>이 되도록 </a:t>
            </a:r>
            <a:r>
              <a:rPr lang="ko-KR" altLang="en-US" sz="2000" dirty="0" err="1"/>
              <a:t>정규화함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예시</a:t>
            </a:r>
            <a:r>
              <a:rPr lang="en-US" altLang="ko-KR" sz="2400" dirty="0">
                <a:latin typeface="+mn-ea"/>
              </a:rPr>
              <a:t> : </a:t>
            </a:r>
            <a:r>
              <a:rPr lang="ko-KR" altLang="en-US" sz="2400" dirty="0"/>
              <a:t>피자 </a:t>
            </a:r>
            <a:r>
              <a:rPr lang="ko-KR" altLang="en-US" sz="2400" dirty="0" err="1"/>
              <a:t>토핑</a:t>
            </a:r>
            <a:r>
              <a:rPr lang="ko-KR" altLang="en-US" sz="2400" dirty="0"/>
              <a:t> 고르기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친구들이 </a:t>
            </a:r>
            <a:r>
              <a:rPr lang="ko-KR" altLang="en-US" sz="2000" dirty="0" err="1"/>
              <a:t>토핑</a:t>
            </a:r>
            <a:r>
              <a:rPr lang="ko-KR" altLang="en-US" sz="2000" dirty="0"/>
              <a:t> 점수를 매김 → 치즈 </a:t>
            </a:r>
            <a:r>
              <a:rPr lang="en-US" altLang="ko-KR" sz="2000" dirty="0"/>
              <a:t>5, </a:t>
            </a:r>
            <a:r>
              <a:rPr lang="ko-KR" altLang="en-US" sz="2000" dirty="0" err="1"/>
              <a:t>페퍼로니</a:t>
            </a:r>
            <a:r>
              <a:rPr lang="ko-KR" altLang="en-US" sz="2000" dirty="0"/>
              <a:t> </a:t>
            </a:r>
            <a:r>
              <a:rPr lang="en-US" altLang="ko-KR" sz="2000" dirty="0"/>
              <a:t>3, </a:t>
            </a:r>
            <a:r>
              <a:rPr lang="ko-KR" altLang="en-US" sz="2000" dirty="0"/>
              <a:t>파인애플 </a:t>
            </a:r>
            <a:r>
              <a:rPr lang="en-US" altLang="ko-KR" sz="2000" dirty="0"/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Softmax</a:t>
            </a:r>
            <a:r>
              <a:rPr lang="ko-KR" altLang="en-US" sz="2000" dirty="0"/>
              <a:t>는 점수를 </a:t>
            </a:r>
            <a:r>
              <a:rPr lang="ko-KR" altLang="en-US" sz="2000" b="1" dirty="0"/>
              <a:t>확률로 변환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치즈 </a:t>
            </a:r>
            <a:r>
              <a:rPr lang="en-US" altLang="ko-KR" dirty="0"/>
              <a:t>70% · </a:t>
            </a:r>
            <a:r>
              <a:rPr lang="ko-KR" altLang="en-US" dirty="0" err="1"/>
              <a:t>페퍼로니</a:t>
            </a:r>
            <a:r>
              <a:rPr lang="ko-KR" altLang="en-US" dirty="0"/>
              <a:t> </a:t>
            </a:r>
            <a:r>
              <a:rPr lang="en-US" altLang="ko-KR" dirty="0"/>
              <a:t>20% · </a:t>
            </a:r>
            <a:r>
              <a:rPr lang="ko-KR" altLang="en-US" dirty="0"/>
              <a:t>파인애플 </a:t>
            </a:r>
            <a:r>
              <a:rPr lang="en-US" altLang="ko-KR" dirty="0"/>
              <a:t>10%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가장 선호도가 높은 선택을 확률적으로 결정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544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01D4-4777-4D25-41F5-18DEE3F8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E04EF-B500-C059-A341-677DFFF3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236DF-6DFE-7B32-0C87-C9D79157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307F9C-2385-4028-B7DC-F316C320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C211D68-FAD8-2F25-8138-C6452DCA80CA}"/>
              </a:ext>
            </a:extLst>
          </p:cNvPr>
          <p:cNvGrpSpPr/>
          <p:nvPr/>
        </p:nvGrpSpPr>
        <p:grpSpPr>
          <a:xfrm>
            <a:off x="2415773" y="2094396"/>
            <a:ext cx="7360453" cy="1774436"/>
            <a:chOff x="2550290" y="3806599"/>
            <a:chExt cx="7360453" cy="1774436"/>
          </a:xfrm>
        </p:grpSpPr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2ECBA89E-5BEB-4D89-4551-05527B66E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0290" y="3806599"/>
              <a:ext cx="3734764" cy="1774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67" name="Picture 3">
              <a:extLst>
                <a:ext uri="{FF2B5EF4-FFF2-40B4-BE49-F238E27FC236}">
                  <a16:creationId xmlns:a16="http://schemas.microsoft.com/office/drawing/2014/main" id="{7AC443E1-C3E3-B45D-0036-1CCD32EB5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268" y="3969917"/>
              <a:ext cx="3419475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63567BF-0A83-33CF-EF9A-437570635227}"/>
              </a:ext>
            </a:extLst>
          </p:cNvPr>
          <p:cNvSpPr txBox="1"/>
          <p:nvPr/>
        </p:nvSpPr>
        <p:spPr>
          <a:xfrm>
            <a:off x="3201671" y="4122134"/>
            <a:ext cx="5788658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: 점수를 양수로 변환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분모: 모든 클래스의 지수합으로 나눠 전체 합이 1이 되도록 맞춤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FCFDF5-F98D-FE33-11F8-3E2FED4339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1" t="18555" b="2773"/>
          <a:stretch>
            <a:fillRect/>
          </a:stretch>
        </p:blipFill>
        <p:spPr>
          <a:xfrm>
            <a:off x="3313699" y="4234649"/>
            <a:ext cx="419100" cy="2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49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47362" cy="44039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특징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확률 분포 생성 </a:t>
            </a:r>
            <a:r>
              <a:rPr lang="en-US" altLang="ko-KR" sz="2000" b="1" dirty="0"/>
              <a:t>:</a:t>
            </a:r>
            <a:r>
              <a:rPr lang="ko-KR" altLang="en-US" sz="2000" b="1" dirty="0"/>
              <a:t> </a:t>
            </a:r>
            <a:r>
              <a:rPr lang="ko-KR" altLang="en-US" sz="2000" dirty="0"/>
              <a:t>출력 값이 </a:t>
            </a:r>
            <a:r>
              <a:rPr lang="en-US" altLang="ko-KR" sz="2000" dirty="0"/>
              <a:t>0</a:t>
            </a:r>
            <a:r>
              <a:rPr lang="ko-KR" altLang="en-US" sz="2000" dirty="0"/>
              <a:t>에서 </a:t>
            </a:r>
            <a:r>
              <a:rPr lang="en-US" altLang="ko-KR" sz="2000" dirty="0"/>
              <a:t>1 </a:t>
            </a:r>
            <a:r>
              <a:rPr lang="ko-KR" altLang="en-US" sz="2000" dirty="0"/>
              <a:t>사이로 </a:t>
            </a:r>
            <a:r>
              <a:rPr lang="ko-KR" altLang="en-US" sz="2000" dirty="0" err="1"/>
              <a:t>정규화되며</a:t>
            </a:r>
            <a:r>
              <a:rPr lang="en-US" altLang="ko-KR" sz="2000" dirty="0"/>
              <a:t>, </a:t>
            </a:r>
            <a:r>
              <a:rPr lang="ko-KR" altLang="en-US" sz="2000" dirty="0"/>
              <a:t>총합은 </a:t>
            </a:r>
            <a:r>
              <a:rPr lang="en-US" altLang="ko-KR" sz="2000" dirty="0"/>
              <a:t>1</a:t>
            </a:r>
            <a:r>
              <a:rPr lang="ko-KR" altLang="en-US" sz="2000" dirty="0"/>
              <a:t>이 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해석 용이성 </a:t>
            </a:r>
            <a:r>
              <a:rPr lang="en-US" altLang="ko-KR" sz="2000" b="1" dirty="0"/>
              <a:t>: </a:t>
            </a:r>
            <a:r>
              <a:rPr lang="ko-KR" altLang="en-US" sz="2000" dirty="0"/>
              <a:t>각 클래스의 </a:t>
            </a:r>
            <a:r>
              <a:rPr lang="ko-KR" altLang="en-US" sz="2000" b="1" dirty="0"/>
              <a:t>예측 확률</a:t>
            </a:r>
            <a:r>
              <a:rPr lang="ko-KR" altLang="en-US" sz="2000" dirty="0"/>
              <a:t>을 제공하므로 직관적인 결과 해석이 가능함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활용 사례 </a:t>
            </a:r>
            <a:r>
              <a:rPr lang="en-US" altLang="ko-KR" sz="2000" b="1" dirty="0"/>
              <a:t>: </a:t>
            </a:r>
            <a:r>
              <a:rPr lang="ko-KR" altLang="en-US" sz="2000" dirty="0"/>
              <a:t>딥러닝 모델의 </a:t>
            </a:r>
            <a:r>
              <a:rPr lang="ko-KR" altLang="en-US" sz="2000" dirty="0" err="1"/>
              <a:t>출력층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이미지 분류</a:t>
            </a:r>
            <a:r>
              <a:rPr lang="en-US" altLang="ko-KR" sz="2000" dirty="0"/>
              <a:t>, </a:t>
            </a:r>
            <a:r>
              <a:rPr lang="ko-KR" altLang="en-US" sz="2000" dirty="0"/>
              <a:t>텍스트 분류 등</a:t>
            </a:r>
            <a:r>
              <a:rPr lang="en-US" altLang="ko-KR" sz="20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155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8357</TotalTime>
  <Words>1513</Words>
  <Application>Microsoft Office PowerPoint</Application>
  <PresentationFormat>와이드스크린</PresentationFormat>
  <Paragraphs>255</Paragraphs>
  <Slides>36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역전파(back propagation)</vt:lpstr>
      <vt:lpstr>역전파(back propagation)</vt:lpstr>
      <vt:lpstr>역전파(back propagation)</vt:lpstr>
      <vt:lpstr>역전파(back propagation)</vt:lpstr>
      <vt:lpstr>역전파 예제</vt:lpstr>
      <vt:lpstr>역전파 예제</vt:lpstr>
      <vt:lpstr>역전파 예제</vt:lpstr>
      <vt:lpstr>PowerPoint 프레젠테이션</vt:lpstr>
      <vt:lpstr>분류(Classification)</vt:lpstr>
      <vt:lpstr>분류(Classification)</vt:lpstr>
      <vt:lpstr>분류의 주요 개념</vt:lpstr>
      <vt:lpstr>분류의 주요 개념</vt:lpstr>
      <vt:lpstr>분류 알고리즘 종류</vt:lpstr>
      <vt:lpstr>분류 알고리즘 종류</vt:lpstr>
      <vt:lpstr>이항 분류(Binary Classification)</vt:lpstr>
      <vt:lpstr>이항 분류(Binary Classification)</vt:lpstr>
      <vt:lpstr>PowerPoint 프레젠테이션</vt:lpstr>
      <vt:lpstr>로지스틱 회귀(Logistic Regression)</vt:lpstr>
      <vt:lpstr>계단 함수의 문제</vt:lpstr>
      <vt:lpstr>시그모이드(Sigmoid) 함수</vt:lpstr>
      <vt:lpstr>시그모이드(Sigmoid) 함수</vt:lpstr>
      <vt:lpstr>로지스틱 회귀의 손실함수</vt:lpstr>
      <vt:lpstr>로지스틱 회귀의 손실함수</vt:lpstr>
      <vt:lpstr>로지스틱 회귀의 손실함수</vt:lpstr>
      <vt:lpstr>시그모이드 함수의 한계</vt:lpstr>
      <vt:lpstr>시그모이드 함수의 한계</vt:lpstr>
      <vt:lpstr>PowerPoint 프레젠테이션</vt:lpstr>
      <vt:lpstr>다항 분류(Multi Classification)</vt:lpstr>
      <vt:lpstr>다항 분류 - 손실함수</vt:lpstr>
      <vt:lpstr>다항 분류 - 손실함수</vt:lpstr>
      <vt:lpstr>Softmax 함수</vt:lpstr>
      <vt:lpstr>Softmax 함수</vt:lpstr>
      <vt:lpstr>Softmax 함수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596</cp:revision>
  <dcterms:created xsi:type="dcterms:W3CDTF">2023-01-31T04:26:23Z</dcterms:created>
  <dcterms:modified xsi:type="dcterms:W3CDTF">2026-02-10T10:53:55Z</dcterms:modified>
</cp:coreProperties>
</file>