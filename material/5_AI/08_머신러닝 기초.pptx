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1013" r:id="rId2"/>
    <p:sldId id="635" r:id="rId3"/>
    <p:sldId id="681" r:id="rId4"/>
    <p:sldId id="698" r:id="rId5"/>
    <p:sldId id="1023" r:id="rId6"/>
    <p:sldId id="636" r:id="rId7"/>
    <p:sldId id="697" r:id="rId8"/>
    <p:sldId id="699" r:id="rId9"/>
    <p:sldId id="637" r:id="rId10"/>
    <p:sldId id="1024" r:id="rId11"/>
    <p:sldId id="1025" r:id="rId12"/>
    <p:sldId id="638" r:id="rId13"/>
    <p:sldId id="1028" r:id="rId14"/>
    <p:sldId id="725" r:id="rId15"/>
    <p:sldId id="639" r:id="rId16"/>
    <p:sldId id="727" r:id="rId17"/>
    <p:sldId id="641" r:id="rId18"/>
    <p:sldId id="642" r:id="rId19"/>
    <p:sldId id="728" r:id="rId20"/>
    <p:sldId id="737" r:id="rId21"/>
    <p:sldId id="558" r:id="rId22"/>
    <p:sldId id="731" r:id="rId23"/>
    <p:sldId id="694" r:id="rId24"/>
    <p:sldId id="695" r:id="rId25"/>
    <p:sldId id="696" r:id="rId26"/>
    <p:sldId id="732" r:id="rId27"/>
    <p:sldId id="733" r:id="rId28"/>
    <p:sldId id="671" r:id="rId29"/>
    <p:sldId id="734" r:id="rId30"/>
    <p:sldId id="735" r:id="rId31"/>
    <p:sldId id="736" r:id="rId32"/>
    <p:sldId id="625" r:id="rId33"/>
    <p:sldId id="1026" r:id="rId34"/>
    <p:sldId id="688" r:id="rId35"/>
    <p:sldId id="730" r:id="rId36"/>
    <p:sldId id="1027" r:id="rId37"/>
    <p:sldId id="692" r:id="rId38"/>
    <p:sldId id="693" r:id="rId39"/>
    <p:sldId id="690" r:id="rId40"/>
    <p:sldId id="1029" r:id="rId41"/>
    <p:sldId id="1030" r:id="rId42"/>
    <p:sldId id="836" r:id="rId4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0066"/>
    <a:srgbClr val="FF5050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56" autoAdjust="0"/>
    <p:restoredTop sz="76478" autoAdjust="0"/>
  </p:normalViewPr>
  <p:slideViewPr>
    <p:cSldViewPr snapToGrid="0">
      <p:cViewPr varScale="1">
        <p:scale>
          <a:sx n="84" d="100"/>
          <a:sy n="84" d="100"/>
        </p:scale>
        <p:origin x="17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-234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2026-02-12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9887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</a:t>
            </a:r>
            <a:r>
              <a:rPr lang="ko-KR" altLang="en-US" dirty="0" err="1"/>
              <a:t>머신러닝은</a:t>
            </a:r>
            <a:br>
              <a:rPr lang="ko-KR" altLang="en-US" dirty="0"/>
            </a:br>
            <a:r>
              <a:rPr lang="ko-KR" altLang="en-US" dirty="0"/>
              <a:t>컴퓨터에게 규칙을 하나하나 알려주는 게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데이터로부터 규칙을 스스로 찾게 하는 방법</a:t>
            </a:r>
            <a:r>
              <a:rPr lang="ko-KR" altLang="en-US" dirty="0"/>
              <a:t>입니다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앞에서 시계열 분석에서</a:t>
            </a:r>
            <a:br>
              <a:rPr lang="ko-KR" altLang="en-US" dirty="0"/>
            </a:br>
            <a:r>
              <a:rPr lang="ko-KR" altLang="en-US" dirty="0"/>
              <a:t>데이터를 어떻게 다뤄야 하는지 배웠죠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이제는 그 데이터를 가지고</a:t>
            </a:r>
            <a:br>
              <a:rPr lang="ko-KR" altLang="en-US" dirty="0"/>
            </a:br>
            <a:r>
              <a:rPr lang="ko-KR" altLang="en-US" b="1" dirty="0"/>
              <a:t>어떻게 규칙을 학습시키는지</a:t>
            </a:r>
            <a:r>
              <a:rPr lang="ko-KR" altLang="en-US" dirty="0"/>
              <a:t>를 보겠습니다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0028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</a:t>
            </a:r>
            <a:r>
              <a:rPr lang="en-US" altLang="ko-KR" dirty="0"/>
              <a:t>: </a:t>
            </a:r>
            <a:r>
              <a:rPr lang="ko-KR" altLang="en-US" dirty="0"/>
              <a:t>우리가 가진 정보</a:t>
            </a:r>
          </a:p>
          <a:p>
            <a:r>
              <a:rPr lang="ko-KR" altLang="en-US" dirty="0"/>
              <a:t>모델</a:t>
            </a:r>
            <a:r>
              <a:rPr lang="en-US" altLang="ko-KR" dirty="0"/>
              <a:t>: </a:t>
            </a:r>
            <a:r>
              <a:rPr lang="ko-KR" altLang="en-US" dirty="0"/>
              <a:t>관계를 표현하는 틀</a:t>
            </a:r>
          </a:p>
          <a:p>
            <a:r>
              <a:rPr lang="ko-KR" altLang="en-US" dirty="0"/>
              <a:t>학습</a:t>
            </a:r>
            <a:r>
              <a:rPr lang="en-US" altLang="ko-KR" dirty="0"/>
              <a:t>: </a:t>
            </a:r>
            <a:r>
              <a:rPr lang="ko-KR" altLang="en-US" dirty="0"/>
              <a:t>모델이 데이터를 보고 조정되는 과정</a:t>
            </a:r>
          </a:p>
          <a:p>
            <a:r>
              <a:rPr lang="ko-KR" altLang="en-US" dirty="0"/>
              <a:t>평가</a:t>
            </a:r>
            <a:r>
              <a:rPr lang="en-US" altLang="ko-KR" dirty="0"/>
              <a:t>: </a:t>
            </a:r>
            <a:r>
              <a:rPr lang="ko-KR" altLang="en-US" dirty="0"/>
              <a:t>그 결과를 확인하는 단계</a:t>
            </a:r>
          </a:p>
          <a:p>
            <a:r>
              <a:rPr lang="ko-KR" altLang="en-US" dirty="0"/>
              <a:t>“앞에서 배운 시계열 규칙은</a:t>
            </a:r>
            <a:br>
              <a:rPr lang="ko-KR" altLang="en-US" dirty="0"/>
            </a:br>
            <a:r>
              <a:rPr lang="ko-KR" altLang="en-US" dirty="0"/>
              <a:t>이 중 </a:t>
            </a:r>
            <a:r>
              <a:rPr lang="ko-KR" altLang="en-US" b="1" dirty="0"/>
              <a:t>데이터와 평가 단계에 계속 적용됩니다</a:t>
            </a:r>
            <a:r>
              <a:rPr lang="en-US" altLang="ko-KR" b="1" dirty="0"/>
              <a:t>.</a:t>
            </a:r>
            <a:r>
              <a:rPr lang="ko-KR" altLang="en-US" dirty="0"/>
              <a:t>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6777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</a:t>
            </a:r>
            <a:r>
              <a:rPr lang="ko-KR" altLang="en-US" dirty="0" err="1"/>
              <a:t>머신러닝은</a:t>
            </a:r>
            <a:br>
              <a:rPr lang="ko-KR" altLang="en-US" dirty="0"/>
            </a:br>
            <a:r>
              <a:rPr lang="ko-KR" altLang="en-US" dirty="0"/>
              <a:t>한 번에 끝나는 작업이 아닙니다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학습 → 평가 → 수정 → 다시 학습</a:t>
            </a:r>
            <a:br>
              <a:rPr lang="ko-KR" altLang="en-US" dirty="0"/>
            </a:br>
            <a:r>
              <a:rPr lang="ko-KR" altLang="en-US" dirty="0"/>
              <a:t>이 과정을 반복합니다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그래서 성능이 한 번에 잘 안 나와도</a:t>
            </a:r>
            <a:br>
              <a:rPr lang="ko-KR" altLang="en-US" dirty="0"/>
            </a:br>
            <a:r>
              <a:rPr lang="ko-KR" altLang="en-US" b="1" dirty="0"/>
              <a:t>이상한 게 아닙니다</a:t>
            </a:r>
            <a:r>
              <a:rPr lang="en-US" altLang="ko-KR" b="1" dirty="0"/>
              <a:t>.</a:t>
            </a:r>
            <a:r>
              <a:rPr lang="ko-KR" altLang="en-US" dirty="0"/>
              <a:t>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0264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8760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B9FFD-805C-C2DC-6E5E-E881553E5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5F2353-2CDA-2FC0-E138-D57668A8F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F7D160-47CB-FC22-0A08-09C979666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과정은</a:t>
            </a:r>
            <a:br>
              <a:rPr lang="ko-KR" altLang="en-US" dirty="0"/>
            </a:br>
            <a:r>
              <a:rPr lang="ko-KR" altLang="en-US" dirty="0"/>
              <a:t>이후 </a:t>
            </a:r>
            <a:r>
              <a:rPr lang="ko-KR" altLang="en-US" dirty="0" err="1"/>
              <a:t>머신러닝</a:t>
            </a:r>
            <a:r>
              <a:rPr lang="ko-KR" altLang="en-US" dirty="0"/>
              <a:t> 프로젝트에서</a:t>
            </a:r>
            <a:br>
              <a:rPr lang="ko-KR" altLang="en-US" dirty="0"/>
            </a:br>
            <a:r>
              <a:rPr lang="ko-KR" altLang="en-US" dirty="0"/>
              <a:t>실제로 경험하게 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488046-FD32-5194-52B5-E1EF32385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2438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3451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0183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1754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646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770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7703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카테고리를 예측하는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93130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770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7DCD9-97DC-C741-40BA-54BBC97D6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5A8C3A-CC70-31EC-5979-0DCB1EC6B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E9031D-82A6-8A4D-68BD-F953038A8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0494B8-4F66-7C2A-37AE-B4AB9C1A1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43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ANN</a:t>
            </a:r>
            <a:r>
              <a:rPr lang="ko-KR" altLang="en-US" dirty="0"/>
              <a:t>은</a:t>
            </a:r>
            <a:br>
              <a:rPr lang="ko-KR" altLang="en-US" dirty="0"/>
            </a:br>
            <a:r>
              <a:rPr lang="ko-KR" altLang="en-US" dirty="0"/>
              <a:t>입력과 출력 사이의 복잡한 관계를</a:t>
            </a:r>
            <a:br>
              <a:rPr lang="ko-KR" altLang="en-US" dirty="0"/>
            </a:br>
            <a:r>
              <a:rPr lang="ko-KR" altLang="en-US" dirty="0"/>
              <a:t>여러 단계로 나눠 표현하는 모델이다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기존 모델의 한계</a:t>
            </a:r>
          </a:p>
          <a:p>
            <a:r>
              <a:rPr lang="ko-KR" altLang="en-US" dirty="0"/>
              <a:t>선형 회귀</a:t>
            </a:r>
            <a:r>
              <a:rPr lang="en-US" altLang="ko-KR" dirty="0"/>
              <a:t>: </a:t>
            </a:r>
            <a:r>
              <a:rPr lang="ko-KR" altLang="en-US" dirty="0"/>
              <a:t>직선만 표현 가능</a:t>
            </a:r>
          </a:p>
          <a:p>
            <a:r>
              <a:rPr lang="ko-KR" altLang="en-US" dirty="0"/>
              <a:t>실제 데이터</a:t>
            </a:r>
            <a:r>
              <a:rPr lang="en-US" altLang="ko-KR" dirty="0"/>
              <a:t>: </a:t>
            </a:r>
            <a:r>
              <a:rPr lang="ko-KR" altLang="en-US" dirty="0"/>
              <a:t>훨씬 복잡</a:t>
            </a:r>
          </a:p>
          <a:p>
            <a:r>
              <a:rPr lang="ko-KR" altLang="en-US" dirty="0"/>
              <a:t>“현실 데이터는</a:t>
            </a:r>
            <a:br>
              <a:rPr lang="ko-KR" altLang="en-US" dirty="0"/>
            </a:br>
            <a:r>
              <a:rPr lang="ko-KR" altLang="en-US" dirty="0"/>
              <a:t>직선 하나로 설명되지 않습니다</a:t>
            </a:r>
            <a:r>
              <a:rPr lang="en-US" altLang="ko-KR" dirty="0"/>
              <a:t>.”</a:t>
            </a:r>
          </a:p>
          <a:p>
            <a:r>
              <a:rPr lang="ko-KR" altLang="en-US" dirty="0"/>
              <a:t>👉 그래서 </a:t>
            </a:r>
            <a:r>
              <a:rPr lang="ko-KR" altLang="en-US" b="1" dirty="0"/>
              <a:t>여러 단계를 쌓아보자</a:t>
            </a:r>
            <a:r>
              <a:rPr lang="ko-KR" altLang="en-US" dirty="0"/>
              <a:t>는 아이디어가 나옴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“이 인공신경망 구조를</a:t>
            </a:r>
            <a:br>
              <a:rPr lang="ko-KR" altLang="en-US" dirty="0"/>
            </a:br>
            <a:r>
              <a:rPr lang="ko-KR" altLang="en-US" dirty="0"/>
              <a:t>실제 코드로 구현하는 도구가</a:t>
            </a:r>
            <a:br>
              <a:rPr lang="ko-KR" altLang="en-US" dirty="0"/>
            </a:br>
            <a:r>
              <a:rPr lang="ko-KR" altLang="en-US" dirty="0"/>
              <a:t>바로 </a:t>
            </a:r>
            <a:r>
              <a:rPr lang="en-US" altLang="ko-KR" b="1" dirty="0" err="1"/>
              <a:t>PyTorch</a:t>
            </a:r>
            <a:r>
              <a:rPr lang="ko-KR" altLang="en-US" dirty="0"/>
              <a:t>입니다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지금은 구조를 이해하고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구현은 다음 단계에서 합니다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92964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“이제부터 볼 회귀와 </a:t>
            </a:r>
            <a:r>
              <a:rPr lang="ko-KR" altLang="en-US" dirty="0" err="1"/>
              <a:t>경사하강법은</a:t>
            </a:r>
            <a:br>
              <a:rPr lang="ko-KR" altLang="en-US" dirty="0"/>
            </a:br>
            <a:r>
              <a:rPr lang="ko-KR" altLang="en-US" dirty="0"/>
              <a:t>이 과정을 수학적으로 표현한 것입니다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43391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“지금까지 우리는</a:t>
            </a:r>
            <a:br>
              <a:rPr lang="ko-KR" altLang="en-US" dirty="0"/>
            </a:br>
            <a:r>
              <a:rPr lang="ko-KR" altLang="en-US" dirty="0"/>
              <a:t>모델이 무엇인지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학습이 무엇인지 개념적으로 봤습니다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이제부터는</a:t>
            </a:r>
            <a:br>
              <a:rPr lang="ko-KR" altLang="en-US" dirty="0"/>
            </a:br>
            <a:r>
              <a:rPr lang="ko-KR" altLang="en-US" dirty="0"/>
              <a:t>가장 단순한 모델인 </a:t>
            </a:r>
            <a:r>
              <a:rPr lang="ko-KR" altLang="en-US" b="1" dirty="0"/>
              <a:t>회귀</a:t>
            </a:r>
            <a:r>
              <a:rPr lang="ko-KR" altLang="en-US" dirty="0"/>
              <a:t>를 통해</a:t>
            </a:r>
            <a:br>
              <a:rPr lang="ko-KR" altLang="en-US" dirty="0"/>
            </a:br>
            <a:r>
              <a:rPr lang="ko-KR" altLang="en-US" dirty="0"/>
              <a:t>‘모델이 실제로 어떻게 </a:t>
            </a:r>
            <a:r>
              <a:rPr lang="ko-KR" altLang="en-US" dirty="0" err="1"/>
              <a:t>학습되는지’를</a:t>
            </a:r>
            <a:br>
              <a:rPr lang="ko-KR" altLang="en-US" dirty="0"/>
            </a:br>
            <a:r>
              <a:rPr lang="ko-KR" altLang="en-US" dirty="0"/>
              <a:t>하나씩 뜯어보겠습니다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핵심 규칙이</a:t>
            </a:r>
            <a:br>
              <a:rPr lang="ko-KR" altLang="en-US" dirty="0"/>
            </a:br>
            <a:r>
              <a:rPr lang="ko-KR" altLang="en-US" dirty="0"/>
              <a:t>바로 </a:t>
            </a:r>
            <a:r>
              <a:rPr lang="ko-KR" altLang="en-US" b="1" dirty="0" err="1"/>
              <a:t>경사하강법</a:t>
            </a:r>
            <a:r>
              <a:rPr lang="ko-KR" altLang="en-US" dirty="0" err="1"/>
              <a:t>입니다</a:t>
            </a:r>
            <a:r>
              <a:rPr lang="en-US" altLang="ko-KR" dirty="0"/>
              <a:t>.”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“</a:t>
            </a:r>
            <a:r>
              <a:rPr lang="ko-KR" altLang="en-US" dirty="0" err="1"/>
              <a:t>경사하강법은</a:t>
            </a:r>
            <a:br>
              <a:rPr lang="ko-KR" altLang="en-US" dirty="0"/>
            </a:br>
            <a:r>
              <a:rPr lang="ko-KR" altLang="en-US" dirty="0"/>
              <a:t>‘어디로 얼마나 </a:t>
            </a:r>
            <a:r>
              <a:rPr lang="ko-KR" altLang="en-US" dirty="0" err="1"/>
              <a:t>고칠지’를</a:t>
            </a:r>
            <a:r>
              <a:rPr lang="ko-KR" altLang="en-US" dirty="0"/>
              <a:t> 정하는 규칙입니다</a:t>
            </a:r>
            <a:r>
              <a:rPr lang="en-US" altLang="ko-KR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60564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875412" y="2719554"/>
            <a:ext cx="65742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머신러닝의</a:t>
            </a:r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기본 과정</a:t>
            </a:r>
          </a:p>
        </p:txBody>
      </p:sp>
    </p:spTree>
    <p:extLst>
      <p:ext uri="{BB962C8B-B14F-4D97-AF65-F5344CB8AC3E}">
        <p14:creationId xmlns:p14="http://schemas.microsoft.com/office/powerpoint/2010/main" val="946621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745C4-B635-BAF5-E9AA-230F7219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A967BED-F977-8961-83AE-5EC86FC4E8B0}"/>
              </a:ext>
            </a:extLst>
          </p:cNvPr>
          <p:cNvSpPr/>
          <p:nvPr/>
        </p:nvSpPr>
        <p:spPr>
          <a:xfrm>
            <a:off x="267783" y="2673460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입출력 정의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C52F78-F0D4-00E6-050A-021A25705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2D206C-C3BD-A704-B202-22C7A6E6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DA9515E4-85E2-F418-1AC4-D934CF739D0F}"/>
              </a:ext>
            </a:extLst>
          </p:cNvPr>
          <p:cNvSpPr/>
          <p:nvPr/>
        </p:nvSpPr>
        <p:spPr>
          <a:xfrm>
            <a:off x="2521698" y="3227723"/>
            <a:ext cx="714121" cy="449943"/>
          </a:xfrm>
          <a:prstGeom prst="rightArrow">
            <a:avLst>
              <a:gd name="adj1" fmla="val 50000"/>
              <a:gd name="adj2" fmla="val 790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4C7F3C72-1DD7-46EB-3846-2624530BA7F3}"/>
              </a:ext>
            </a:extLst>
          </p:cNvPr>
          <p:cNvSpPr/>
          <p:nvPr/>
        </p:nvSpPr>
        <p:spPr>
          <a:xfrm>
            <a:off x="5729414" y="3204027"/>
            <a:ext cx="714121" cy="449943"/>
          </a:xfrm>
          <a:prstGeom prst="rightArrow">
            <a:avLst>
              <a:gd name="adj1" fmla="val 50000"/>
              <a:gd name="adj2" fmla="val 790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51E3D94-C548-5BDC-3CE3-7CAAD0D9980B}"/>
              </a:ext>
            </a:extLst>
          </p:cNvPr>
          <p:cNvSpPr/>
          <p:nvPr/>
        </p:nvSpPr>
        <p:spPr>
          <a:xfrm>
            <a:off x="3413917" y="2697154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모델 만들기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D1A3522-550D-3A01-FA37-0304D6AACFA7}"/>
              </a:ext>
            </a:extLst>
          </p:cNvPr>
          <p:cNvSpPr/>
          <p:nvPr/>
        </p:nvSpPr>
        <p:spPr>
          <a:xfrm>
            <a:off x="6560051" y="2673458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손실함수</a:t>
            </a:r>
            <a:endParaRPr lang="en-US" altLang="ko-KR" sz="2800" b="1" dirty="0"/>
          </a:p>
          <a:p>
            <a:pPr algn="ctr"/>
            <a:r>
              <a:rPr lang="ko-KR" altLang="en-US" sz="2800" b="1" dirty="0"/>
              <a:t>정의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1399C37-7E5B-E765-9EDE-A4D7BF218989}"/>
              </a:ext>
            </a:extLst>
          </p:cNvPr>
          <p:cNvSpPr/>
          <p:nvPr/>
        </p:nvSpPr>
        <p:spPr>
          <a:xfrm>
            <a:off x="8877841" y="3227723"/>
            <a:ext cx="714121" cy="449943"/>
          </a:xfrm>
          <a:prstGeom prst="rightArrow">
            <a:avLst>
              <a:gd name="adj1" fmla="val 50000"/>
              <a:gd name="adj2" fmla="val 790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8A0BD21-E687-6305-BD12-C918C8A92993}"/>
              </a:ext>
            </a:extLst>
          </p:cNvPr>
          <p:cNvSpPr/>
          <p:nvPr/>
        </p:nvSpPr>
        <p:spPr>
          <a:xfrm>
            <a:off x="9833935" y="2616532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Weight</a:t>
            </a:r>
          </a:p>
          <a:p>
            <a:pPr algn="ctr"/>
            <a:r>
              <a:rPr lang="ko-KR" altLang="en-US" sz="2800" b="1" dirty="0"/>
              <a:t>최적화</a:t>
            </a: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A507FF5A-EBA9-CE71-C118-A248C2A6B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9087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976113" cy="34369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>
                <a:latin typeface="+mn-ea"/>
              </a:rPr>
              <a:t>1️⃣ </a:t>
            </a:r>
            <a:r>
              <a:rPr lang="ko-KR" altLang="en-US" sz="3200" dirty="0">
                <a:latin typeface="+mn-ea"/>
              </a:rPr>
              <a:t>데이터</a:t>
            </a:r>
            <a:endParaRPr lang="en-US" altLang="ko-KR" sz="32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>
                <a:latin typeface="+mn-ea"/>
              </a:rPr>
              <a:t>2️⃣ </a:t>
            </a:r>
            <a:r>
              <a:rPr lang="ko-KR" altLang="en-US" sz="3200" dirty="0">
                <a:latin typeface="+mn-ea"/>
              </a:rPr>
              <a:t>모델</a:t>
            </a:r>
            <a:endParaRPr lang="en-US" altLang="ko-KR" sz="32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>
                <a:latin typeface="+mn-ea"/>
              </a:rPr>
              <a:t>3️⃣ </a:t>
            </a:r>
            <a:r>
              <a:rPr lang="ko-KR" altLang="en-US" sz="3200" dirty="0">
                <a:latin typeface="+mn-ea"/>
              </a:rPr>
              <a:t>학습 알고리즘</a:t>
            </a:r>
            <a:endParaRPr lang="en-US" altLang="ko-KR" sz="32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>
                <a:latin typeface="+mn-ea"/>
              </a:rPr>
              <a:t>4️⃣ </a:t>
            </a:r>
            <a:r>
              <a:rPr lang="ko-KR" altLang="en-US" sz="3200" dirty="0">
                <a:latin typeface="+mn-ea"/>
              </a:rPr>
              <a:t>평가 및 예측</a:t>
            </a:r>
            <a:endParaRPr lang="en-US" altLang="ko-KR" sz="28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5B1CAA87-9CB3-C2C9-7F70-DB08F9540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핵심요소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65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59209" cy="394908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latin typeface="+mn-ea"/>
              </a:rPr>
              <a:t>1️⃣ </a:t>
            </a:r>
            <a:r>
              <a:rPr lang="ko-KR" altLang="en-US" b="1" dirty="0">
                <a:latin typeface="+mn-ea"/>
              </a:rPr>
              <a:t>데이터</a:t>
            </a:r>
            <a:endParaRPr lang="en-US" altLang="ko-KR" b="1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0" i="0" dirty="0" err="1">
                <a:solidFill>
                  <a:srgbClr val="374151"/>
                </a:solidFill>
                <a:effectLst/>
                <a:latin typeface="+mn-ea"/>
              </a:rPr>
              <a:t>머신러닝은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+mn-ea"/>
              </a:rPr>
              <a:t> 데이터를 기반으로 모델을 학습하고 예측하는 방법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데이터는 입력 데이터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(features)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와 출력 데이터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(labels)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로 구성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데이터 품질이 모델 성능에 큰 영향을 미치며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전처리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(</a:t>
            </a: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결측값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 처리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이상값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 제거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정규화 등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)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와 특징 추출이 필수적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풍부하고 다양한 데이터 확보가 중요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.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A328E509-14C6-7563-53DA-426CA7223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핵심요소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4049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29392" cy="485657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2️⃣ </a:t>
            </a:r>
            <a:r>
              <a:rPr lang="ko-KR" altLang="en-US" b="1" dirty="0">
                <a:latin typeface="+mn-ea"/>
              </a:rPr>
              <a:t>모델</a:t>
            </a:r>
            <a:endParaRPr lang="en-US" altLang="ko-KR" b="1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0" i="0" dirty="0">
                <a:solidFill>
                  <a:srgbClr val="374151"/>
                </a:solidFill>
                <a:effectLst/>
                <a:latin typeface="+mn-ea"/>
              </a:rPr>
              <a:t>모델은 데이터를 통해 패턴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+mn-ea"/>
              </a:rPr>
              <a:t>/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+mn-ea"/>
              </a:rPr>
              <a:t>관계를 학습하고 결과를 예측하는 수학적인 알고리즘의 집합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문제 유형에 따라 다양한 모델이 존재하며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대표적으로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지도 학습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: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선형 회귀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로지스틱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 회귀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의사결정 나무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신경망 등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비지도 학습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: K-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평균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PCA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등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강화 학습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: Q-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러닝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딥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Q-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네트워크 등</a:t>
            </a:r>
            <a:endParaRPr lang="en-US" altLang="ko-KR" b="0" i="0" dirty="0">
              <a:solidFill>
                <a:srgbClr val="374151"/>
              </a:solidFill>
              <a:effectLst/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모델은 입력 데이터에서 특징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(feature)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을 추출하거나 활용하여 예측을 수행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.</a:t>
            </a:r>
            <a:endParaRPr lang="en-US" altLang="ko-KR" b="0" i="0" dirty="0">
              <a:solidFill>
                <a:srgbClr val="374151"/>
              </a:solidFill>
              <a:effectLst/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F5C2241F-D5D5-9BEB-D628-411F09EB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핵심요소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4355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821464" cy="35147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3️⃣ </a:t>
            </a:r>
            <a:r>
              <a:rPr lang="ko-KR" altLang="en-US" b="1" dirty="0">
                <a:latin typeface="+mn-ea"/>
              </a:rPr>
              <a:t>학습 알고리즘</a:t>
            </a:r>
            <a:endParaRPr lang="en-US" altLang="ko-KR" b="1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학습 알고리즘은 데이터를 활용해 모델의 </a:t>
            </a: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파라미터를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 조정하고 최적화함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주로 손실 함수를 최소화하거나 성능 지표를 최대화하는 방향으로 동작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대표적인 방법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: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경사 하강법과 그 변형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(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확률적 경사 </a:t>
            </a: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하강법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모멘텀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 등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).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과적합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 방지와 일반화 성능 확보를 위해 정규화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드롭아웃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 등 사용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20E4BE46-CAA9-4DF0-783F-A5BF4B267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핵심요소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3671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1945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4️⃣ </a:t>
            </a:r>
            <a:r>
              <a:rPr lang="ko-KR" altLang="en-US" b="1" dirty="0">
                <a:latin typeface="+mn-ea"/>
              </a:rPr>
              <a:t>평가 및 예측</a:t>
            </a:r>
            <a:endParaRPr lang="en-US" altLang="ko-KR" b="1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학습된 모델은 평가 데이터를 활용해 성능 검증 후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새로운 입력 데이터에 대해 예측 수행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주요 평가 지표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: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정확도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정밀도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재현율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등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0" i="0" dirty="0">
                <a:solidFill>
                  <a:srgbClr val="374151"/>
                </a:solidFill>
                <a:effectLst/>
                <a:latin typeface="+mn-ea"/>
              </a:rPr>
              <a:t>이를 통해 모델의 일반화 능력을 평가하고 필요에 따라 모델을 조정하거나 다른 알고리즘을 시도할 수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있음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</a:rPr>
              <a:t>데이터 누수 방지 및 훈련</a:t>
            </a:r>
            <a:r>
              <a:rPr lang="en-US" altLang="ko-KR" dirty="0">
                <a:solidFill>
                  <a:srgbClr val="374151"/>
                </a:solidFill>
              </a:rPr>
              <a:t>-</a:t>
            </a:r>
            <a:r>
              <a:rPr lang="ko-KR" altLang="en-US" dirty="0">
                <a:solidFill>
                  <a:srgbClr val="374151"/>
                </a:solidFill>
              </a:rPr>
              <a:t>평가 데이터의 명확한 분리가 필수</a:t>
            </a:r>
            <a:r>
              <a:rPr lang="en-US" altLang="ko-KR" dirty="0">
                <a:solidFill>
                  <a:srgbClr val="374151"/>
                </a:solidFill>
              </a:rPr>
              <a:t>.</a:t>
            </a:r>
            <a:endParaRPr lang="en-US" altLang="ko-KR" dirty="0">
              <a:solidFill>
                <a:srgbClr val="374151"/>
              </a:solidFill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055D5678-950C-8641-1DB5-D74F44D6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핵심요소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5916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21" y="1325562"/>
            <a:ext cx="11390243" cy="473967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문제정의</a:t>
            </a:r>
            <a:endParaRPr lang="en-US" altLang="ko-KR" dirty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모델</a:t>
            </a:r>
            <a:endParaRPr lang="en-US" altLang="ko-KR" dirty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학습 알고리즘</a:t>
            </a:r>
            <a:endParaRPr lang="en-US" altLang="ko-KR" dirty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평가 및 예측</a:t>
            </a:r>
            <a:endParaRPr lang="en-US" altLang="ko-KR" dirty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모델 평가</a:t>
            </a:r>
            <a:endParaRPr lang="en-US" altLang="ko-KR" dirty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예측</a:t>
            </a:r>
            <a:endParaRPr lang="en-US" altLang="ko-KR" dirty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모델 개선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AE05E1D9-6FA7-C442-314E-C2C8B87BD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8280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09513" cy="473967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문제정의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i="0" dirty="0" err="1">
                <a:solidFill>
                  <a:srgbClr val="374151"/>
                </a:solidFill>
                <a:effectLst/>
                <a:latin typeface="+mn-ea"/>
              </a:rPr>
              <a:t>머신러닝을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 적용할 문제를 정의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예를 들어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주어진 데이터로부터 사진에 나타난 객체를 분류하는 문제를 해결하고자 할 수 있다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모델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문제 해결을 위해 필요한 데이터를 수집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데이터는 입력 데이터와 해당하는 출력 데이터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(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레이블 또는 클래스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)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로 구성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수집된 데이터는 </a:t>
            </a:r>
            <a:r>
              <a:rPr lang="ko-KR" altLang="en-US" sz="2000" b="0" i="0" dirty="0" err="1">
                <a:solidFill>
                  <a:srgbClr val="374151"/>
                </a:solidFill>
                <a:effectLst/>
                <a:latin typeface="+mn-ea"/>
              </a:rPr>
              <a:t>전처리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 과정을 거쳐 </a:t>
            </a:r>
            <a:r>
              <a:rPr lang="ko-KR" altLang="en-US" sz="2000" b="0" i="0" dirty="0" err="1">
                <a:solidFill>
                  <a:srgbClr val="374151"/>
                </a:solidFill>
                <a:effectLst/>
                <a:latin typeface="+mn-ea"/>
              </a:rPr>
              <a:t>결측치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 처리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정규화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범주형 데이터의 인코딩 등의 작업을 수행하여 데이터를 준비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2448B81D-988D-7A8B-1B89-717FF53C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5510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489635" cy="473967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400" b="1" dirty="0">
                <a:latin typeface="+mn-ea"/>
              </a:rPr>
              <a:t>학습 알고리즘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전체 데이터를 학습 데이터와 테스트 데이터로 분할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학습 데이터는 모델을 학습시키는 데 사용되고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테스트 데이터는 학습된 모델의 성능을 평가하는 데 사용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일반적으로 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70-80%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를 학습 데이터로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나머지를 테스트 데이터로 사용하는 것이 일반적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400" b="1" dirty="0">
                <a:latin typeface="+mn-ea"/>
              </a:rPr>
              <a:t>평가 및 예측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문제에 적합한 모델을 선택하고 학습을 진행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선택한 모델은 데이터를 통해 학습되어 가중치와 편향이 조정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이 과정에서 학습 알고리즘과 최적화 기법을 사용하여 모델의 파라미터를 조정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51E37A4A-7546-F778-DE86-E7338AD7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5950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6"/>
            <a:ext cx="11489634" cy="509029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b="1" dirty="0">
                <a:latin typeface="+mn-ea"/>
              </a:rPr>
              <a:t>모델 평가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학습된 모델을 테스트 데이터에 적용하여 성능을 평가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이를 통해 모델의 정확도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정밀도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 err="1">
                <a:solidFill>
                  <a:srgbClr val="374151"/>
                </a:solidFill>
                <a:effectLst/>
                <a:latin typeface="+mn-ea"/>
              </a:rPr>
              <a:t>재현율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F1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점수 등의 지표를 계산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평가 결과를 통해 모델의 성능을 분석하고 필요에 따라 모델을 조정하거나 다른 모델을 시도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b="1" dirty="0">
                <a:latin typeface="+mn-ea"/>
              </a:rPr>
              <a:t>예측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학습된 모델이 새로운 입력 데이터에 대해 예측을 수행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입력 데이터를 모델에 주입하여 출력을 얻고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예측된 결과를 활용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97FED557-88E9-C1FA-3047-204D4F733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8093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67471-5F74-B4B4-B680-A9866317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78808AC1-2798-B75F-72CA-7747C6176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6"/>
            <a:ext cx="11489634" cy="509029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b="1" dirty="0">
                <a:latin typeface="+mn-ea"/>
              </a:rPr>
              <a:t>모델 개선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모델의 성능이 만족스럽지 않은 경우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추가적인 조치를 취하여 모델을 개선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이는 데이터의 품질 향상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모델 구조 변경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 err="1">
                <a:solidFill>
                  <a:srgbClr val="374151"/>
                </a:solidFill>
                <a:effectLst/>
                <a:latin typeface="+mn-ea"/>
              </a:rPr>
              <a:t>하이퍼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 파라미터 조정 등을 포함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800" dirty="0">
                <a:solidFill>
                  <a:srgbClr val="374151"/>
                </a:solidFill>
                <a:latin typeface="+mn-ea"/>
              </a:rPr>
              <a:t>🔎 </a:t>
            </a:r>
            <a:r>
              <a:rPr lang="ko-KR" altLang="en-US" sz="1800" dirty="0" err="1">
                <a:solidFill>
                  <a:srgbClr val="374151"/>
                </a:solidFill>
                <a:latin typeface="+mn-ea"/>
              </a:rPr>
              <a:t>하이퍼</a:t>
            </a:r>
            <a:r>
              <a:rPr lang="ko-KR" altLang="en-US" sz="1800" dirty="0">
                <a:solidFill>
                  <a:srgbClr val="374151"/>
                </a:solidFill>
                <a:latin typeface="+mn-ea"/>
              </a:rPr>
              <a:t> 파라미터 </a:t>
            </a:r>
            <a:r>
              <a:rPr lang="en-US" altLang="ko-KR" sz="1800" dirty="0">
                <a:solidFill>
                  <a:srgbClr val="374151"/>
                </a:solidFill>
                <a:latin typeface="+mn-ea"/>
              </a:rPr>
              <a:t>: </a:t>
            </a:r>
            <a:r>
              <a:rPr lang="ko-KR" altLang="en-US" sz="1800" dirty="0" err="1"/>
              <a:t>머신러닝</a:t>
            </a:r>
            <a:r>
              <a:rPr lang="ko-KR" altLang="en-US" sz="1800" dirty="0"/>
              <a:t> 모델이 학습하기 전에 사람이 직접 설정하는 값</a:t>
            </a:r>
            <a:r>
              <a:rPr lang="en-US" altLang="ko-KR" sz="1800" dirty="0"/>
              <a:t>. </a:t>
            </a:r>
            <a:r>
              <a:rPr lang="ko-KR" altLang="en-US" sz="1800" dirty="0" err="1"/>
              <a:t>학습률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에폭</a:t>
            </a:r>
            <a:r>
              <a:rPr lang="en-US" altLang="ko-KR" sz="1800" dirty="0"/>
              <a:t>(</a:t>
            </a:r>
            <a:r>
              <a:rPr lang="ko-KR" altLang="en-US" sz="1800" dirty="0"/>
              <a:t>반복횟수</a:t>
            </a:r>
            <a:r>
              <a:rPr lang="en-US" altLang="ko-KR" sz="1800" dirty="0"/>
              <a:t>), </a:t>
            </a:r>
            <a:r>
              <a:rPr lang="ko-KR" altLang="en-US" sz="1800" dirty="0"/>
              <a:t>레이어 수 등</a:t>
            </a:r>
            <a:endParaRPr lang="en-US" altLang="ko-KR" sz="18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880C9C-0500-8A84-F101-6038F7125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F05302-DEAB-2DEE-96C8-CB9D0E70B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D8C7D56-0F01-A80B-57A7-62822692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4003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681175" y="2719554"/>
            <a:ext cx="89627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전처리 및 데이터 분할</a:t>
            </a:r>
          </a:p>
        </p:txBody>
      </p:sp>
    </p:spTree>
    <p:extLst>
      <p:ext uri="{BB962C8B-B14F-4D97-AF65-F5344CB8AC3E}">
        <p14:creationId xmlns:p14="http://schemas.microsoft.com/office/powerpoint/2010/main" val="2966290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273" y="1176476"/>
            <a:ext cx="11519453" cy="48863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데이터 전처리란</a:t>
            </a:r>
            <a:r>
              <a:rPr lang="en-US" altLang="ko-KR" sz="2400" b="1" dirty="0"/>
              <a:t>?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데이터 분석 및 모델링 이전에 데이터를 정리하고 품질을 개선하는 과정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데이터 </a:t>
            </a:r>
            <a:r>
              <a:rPr lang="ko-KR" altLang="en-US" sz="2000" dirty="0" err="1"/>
              <a:t>사이언티스트들이</a:t>
            </a:r>
            <a:r>
              <a:rPr lang="ko-KR" altLang="en-US" sz="2000" dirty="0"/>
              <a:t> 소모하는 전체 시간의 약 </a:t>
            </a:r>
            <a:r>
              <a:rPr lang="en-US" altLang="ko-KR" sz="2000" dirty="0"/>
              <a:t>60%</a:t>
            </a:r>
            <a:r>
              <a:rPr lang="ko-KR" altLang="en-US" sz="2000" dirty="0"/>
              <a:t>를 차지함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📌 데이터 전처리의 목적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데이터 품질 향상 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오류 데이터나 불완전한 데이터를 처리하여 분석 결과의 신뢰도를 높임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분석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모델링 효율성 향상 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데이터를 정돈하여 알고리즘이 데이터를 더 잘 이해하도록 도움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계산 성능 최적화 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불필요한 데이터를 제거</a:t>
            </a:r>
            <a:r>
              <a:rPr lang="en-US" altLang="ko-KR" sz="2000" dirty="0">
                <a:latin typeface="+mn-ea"/>
              </a:rPr>
              <a:t>·</a:t>
            </a:r>
            <a:r>
              <a:rPr lang="ko-KR" altLang="en-US" sz="2000" dirty="0">
                <a:latin typeface="+mn-ea"/>
              </a:rPr>
              <a:t>요약하여 처리 속도와 자원 사용을 최적화</a:t>
            </a:r>
            <a:r>
              <a:rPr lang="en-US" altLang="ko-KR" sz="2000" dirty="0">
                <a:latin typeface="+mn-ea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F05C9585-E180-D900-1D40-21185EB64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데이터 </a:t>
            </a:r>
            <a:r>
              <a:rPr lang="ko-KR" altLang="en-US" b="1" dirty="0" err="1">
                <a:latin typeface="+mj-ea"/>
              </a:rPr>
              <a:t>전처리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1382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19453" cy="485657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주요 작업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오류 데이터 제거 </a:t>
            </a:r>
            <a:r>
              <a:rPr lang="en-US" altLang="ko-KR" sz="2000" dirty="0"/>
              <a:t>: </a:t>
            </a:r>
            <a:r>
              <a:rPr lang="ko-KR" altLang="en-US" sz="2000" dirty="0"/>
              <a:t>잘못된 값이나 누락 데이터를 식별하고 제거 또는 수정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이상값</a:t>
            </a:r>
            <a:r>
              <a:rPr lang="ko-KR" altLang="en-US" sz="2000" dirty="0"/>
              <a:t> 제거 </a:t>
            </a:r>
            <a:r>
              <a:rPr lang="en-US" altLang="ko-KR" sz="2000" dirty="0"/>
              <a:t>: </a:t>
            </a:r>
            <a:r>
              <a:rPr lang="ko-KR" altLang="en-US" sz="2000" dirty="0"/>
              <a:t>데이터 분포에서 벗어난 비정상적인 값을 탐지하고 처리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데이터 변환 </a:t>
            </a:r>
            <a:r>
              <a:rPr lang="en-US" altLang="ko-KR" sz="2000" dirty="0"/>
              <a:t>:</a:t>
            </a:r>
            <a:r>
              <a:rPr lang="ko-KR" altLang="en-US" sz="2000" dirty="0"/>
              <a:t>일관성 있는 형식으로 데이터 정리 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 </a:t>
            </a:r>
            <a:r>
              <a:rPr lang="ko-KR" altLang="en-US" sz="2000" dirty="0"/>
              <a:t>날짜</a:t>
            </a:r>
            <a:r>
              <a:rPr lang="en-US" altLang="ko-KR" sz="2000" dirty="0"/>
              <a:t>, </a:t>
            </a:r>
            <a:r>
              <a:rPr lang="ko-KR" altLang="en-US" sz="2000" dirty="0"/>
              <a:t>문자열</a:t>
            </a:r>
            <a:r>
              <a:rPr lang="en-US" altLang="ko-KR" sz="2000" dirty="0"/>
              <a:t>, </a:t>
            </a:r>
            <a:r>
              <a:rPr lang="ko-KR" altLang="en-US" sz="2000" dirty="0"/>
              <a:t>숫자 형식 통일</a:t>
            </a:r>
            <a:r>
              <a:rPr lang="en-US" altLang="ko-KR" sz="2000" dirty="0"/>
              <a:t>).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정규화 </a:t>
            </a:r>
            <a:r>
              <a:rPr lang="en-US" altLang="ko-KR" sz="2000" dirty="0"/>
              <a:t>(Normalization) : </a:t>
            </a:r>
            <a:r>
              <a:rPr lang="ko-KR" altLang="en-US" sz="2000" dirty="0"/>
              <a:t>데이터 범위를 조정하여 스케일을 통일 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데이터 축소 </a:t>
            </a:r>
            <a:r>
              <a:rPr lang="en-US" altLang="ko-KR" sz="2000" dirty="0"/>
              <a:t>: </a:t>
            </a:r>
            <a:r>
              <a:rPr lang="ko-KR" altLang="en-US" sz="2000" dirty="0"/>
              <a:t>차원 축소 및 요약 작업으로 데이터의 크기를 줄이고 효율성 향상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8" name="제목 5">
            <a:extLst>
              <a:ext uri="{FF2B5EF4-FFF2-40B4-BE49-F238E27FC236}">
                <a16:creationId xmlns:a16="http://schemas.microsoft.com/office/drawing/2014/main" id="{969DB6BA-ACA5-04E7-5D72-4EA9740FA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0"/>
            <a:ext cx="10515600" cy="1146175"/>
          </a:xfrm>
        </p:spPr>
        <p:txBody>
          <a:bodyPr/>
          <a:lstStyle/>
          <a:p>
            <a:r>
              <a:rPr lang="ko-KR" altLang="en-US" b="1" dirty="0">
                <a:latin typeface="+mj-ea"/>
              </a:rPr>
              <a:t>데이터 </a:t>
            </a:r>
            <a:r>
              <a:rPr lang="ko-KR" altLang="en-US" b="1" dirty="0" err="1">
                <a:latin typeface="+mj-ea"/>
              </a:rPr>
              <a:t>전처리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5875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19453" cy="485657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 데이터 분할 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전체 </a:t>
            </a:r>
            <a:r>
              <a:rPr lang="ko-KR" altLang="en-US" sz="2000" dirty="0" err="1"/>
              <a:t>데이터셋을</a:t>
            </a:r>
            <a:r>
              <a:rPr lang="ko-KR" altLang="en-US" sz="2000" dirty="0"/>
              <a:t> </a:t>
            </a:r>
            <a:r>
              <a:rPr lang="ko-KR" altLang="en-US" sz="2000" b="1" dirty="0"/>
              <a:t>훈련 데이터</a:t>
            </a:r>
            <a:r>
              <a:rPr lang="en-US" altLang="ko-KR" sz="2000" b="1" dirty="0"/>
              <a:t>(Training Set)</a:t>
            </a:r>
            <a:r>
              <a:rPr lang="en-US" altLang="ko-KR" sz="2000" dirty="0"/>
              <a:t>, </a:t>
            </a:r>
            <a:r>
              <a:rPr lang="ko-KR" altLang="en-US" sz="2000" b="1" dirty="0"/>
              <a:t>검증 데이터</a:t>
            </a:r>
            <a:r>
              <a:rPr lang="en-US" altLang="ko-KR" sz="2000" b="1" dirty="0"/>
              <a:t>(Validation Set)</a:t>
            </a:r>
            <a:r>
              <a:rPr lang="en-US" altLang="ko-KR" sz="2000" dirty="0"/>
              <a:t>, </a:t>
            </a:r>
            <a:r>
              <a:rPr lang="ko-KR" altLang="en-US" sz="2000" b="1" dirty="0"/>
              <a:t>테스트 데이터</a:t>
            </a:r>
            <a:r>
              <a:rPr lang="en-US" altLang="ko-KR" sz="2000" b="1" dirty="0"/>
              <a:t>(Test Set)</a:t>
            </a:r>
            <a:r>
              <a:rPr lang="ko-KR" altLang="en-US" sz="2000" dirty="0"/>
              <a:t>로 나누어</a:t>
            </a:r>
            <a:r>
              <a:rPr lang="en-US" altLang="ko-KR" sz="2000" dirty="0"/>
              <a:t>, </a:t>
            </a:r>
            <a:r>
              <a:rPr lang="ko-KR" altLang="en-US" sz="2000" dirty="0"/>
              <a:t>모델 학습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하이퍼파라미터</a:t>
            </a:r>
            <a:r>
              <a:rPr lang="ko-KR" altLang="en-US" sz="2000" dirty="0"/>
              <a:t> 튜닝</a:t>
            </a:r>
            <a:r>
              <a:rPr lang="en-US" altLang="ko-KR" sz="2000" dirty="0"/>
              <a:t>, </a:t>
            </a:r>
            <a:r>
              <a:rPr lang="ko-KR" altLang="en-US" sz="2000" dirty="0"/>
              <a:t>성능 평가를 각각 독립적으로 수행하도록 구성하는 과정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훈련 데이터로 </a:t>
            </a:r>
            <a:r>
              <a:rPr lang="ko-KR" altLang="en-US" sz="2000" dirty="0"/>
              <a:t>학습하고</a:t>
            </a:r>
            <a:r>
              <a:rPr lang="en-US" altLang="ko-KR" sz="2000" dirty="0"/>
              <a:t>, </a:t>
            </a:r>
            <a:r>
              <a:rPr lang="ko-KR" altLang="en-US" sz="2000" b="1" dirty="0"/>
              <a:t>검증 데이터로 </a:t>
            </a:r>
            <a:r>
              <a:rPr lang="ko-KR" altLang="en-US" sz="2000" dirty="0"/>
              <a:t>성능을 평가하여 최적의 </a:t>
            </a:r>
            <a:r>
              <a:rPr lang="ko-KR" altLang="en-US" sz="2000" dirty="0" err="1"/>
              <a:t>파라미터</a:t>
            </a:r>
            <a:r>
              <a:rPr lang="ko-KR" altLang="en-US" sz="2000" dirty="0"/>
              <a:t> 선택</a:t>
            </a:r>
            <a:r>
              <a:rPr lang="en-US" altLang="ko-KR" sz="2000" dirty="0"/>
              <a:t>, </a:t>
            </a:r>
            <a:r>
              <a:rPr lang="ko-KR" altLang="en-US" sz="2000" dirty="0"/>
              <a:t>이후 </a:t>
            </a:r>
            <a:r>
              <a:rPr lang="ko-KR" altLang="en-US" sz="2000" b="1" dirty="0"/>
              <a:t>테스트 데이터를 </a:t>
            </a:r>
            <a:r>
              <a:rPr lang="ko-KR" altLang="en-US" sz="2000" dirty="0"/>
              <a:t>사용하여 최종 평가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독립성 유지</a:t>
            </a:r>
            <a:r>
              <a:rPr lang="en-US" altLang="ko-KR" sz="2000" dirty="0"/>
              <a:t>: </a:t>
            </a:r>
            <a:r>
              <a:rPr lang="ko-KR" altLang="en-US" sz="2000" dirty="0"/>
              <a:t>훈련</a:t>
            </a:r>
            <a:r>
              <a:rPr lang="en-US" altLang="ko-KR" sz="2000" dirty="0"/>
              <a:t>, </a:t>
            </a:r>
            <a:r>
              <a:rPr lang="ko-KR" altLang="en-US" sz="2000" dirty="0"/>
              <a:t>검증</a:t>
            </a:r>
            <a:r>
              <a:rPr lang="en-US" altLang="ko-KR" sz="2000" dirty="0"/>
              <a:t>, </a:t>
            </a:r>
            <a:r>
              <a:rPr lang="ko-KR" altLang="en-US" sz="2000" dirty="0"/>
              <a:t>테스트 데이터는 서로 겹치지 않아야 함</a:t>
            </a:r>
            <a:r>
              <a:rPr lang="en-US" altLang="ko-KR" sz="20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	Ex) </a:t>
            </a:r>
            <a:r>
              <a:rPr lang="ko-KR" altLang="en-US" sz="2000" dirty="0"/>
              <a:t>교과서</a:t>
            </a:r>
            <a:r>
              <a:rPr lang="en-US" altLang="ko-KR" sz="2000" dirty="0"/>
              <a:t>, </a:t>
            </a:r>
            <a:r>
              <a:rPr lang="ko-KR" altLang="en-US" sz="2000" dirty="0"/>
              <a:t>모의고사</a:t>
            </a:r>
            <a:r>
              <a:rPr lang="en-US" altLang="ko-KR" sz="2000" dirty="0"/>
              <a:t>, </a:t>
            </a:r>
            <a:r>
              <a:rPr lang="ko-KR" altLang="en-US" sz="2000" dirty="0"/>
              <a:t>최종시험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※ </a:t>
            </a:r>
            <a:r>
              <a:rPr lang="ko-KR" altLang="en-US" sz="2000" dirty="0"/>
              <a:t>시계열 데이터의 경우 랜덤 분할이 아닌 </a:t>
            </a:r>
            <a:r>
              <a:rPr lang="ko-KR" altLang="en-US" sz="2000" b="1" dirty="0"/>
              <a:t>시간 기반 분할을 사용함</a:t>
            </a:r>
            <a:endParaRPr lang="ko-KR" altLang="en-US" sz="2000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F1183FA9-1A63-A471-B4F7-D2999EE6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데이터 분할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8911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16140" cy="49228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✅ 데이터 분할의 목적</a:t>
            </a:r>
            <a:endParaRPr lang="en-US" altLang="ko-KR" sz="2400" b="1" dirty="0">
              <a:latin typeface="+mn-ea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b="1" dirty="0">
                <a:latin typeface="+mn-ea"/>
              </a:rPr>
              <a:t>일반화 성능 평가</a:t>
            </a:r>
            <a:endParaRPr lang="en-US" altLang="ko-KR" sz="2000" b="1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모델이 새로운 데이터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테스트셋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에 대해 얼마나 잘 동작하는지 확인</a:t>
            </a:r>
            <a:r>
              <a:rPr lang="en-US" altLang="ko-KR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실제 환경에서의 성능을 측정</a:t>
            </a:r>
            <a:r>
              <a:rPr lang="en-US" altLang="ko-KR" dirty="0">
                <a:latin typeface="+mn-ea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b="1" dirty="0" err="1">
                <a:latin typeface="+mn-ea"/>
              </a:rPr>
              <a:t>과적합</a:t>
            </a:r>
            <a:r>
              <a:rPr lang="en-US" altLang="ko-KR" sz="2000" b="1" dirty="0">
                <a:latin typeface="+mn-ea"/>
              </a:rPr>
              <a:t>(</a:t>
            </a:r>
            <a:r>
              <a:rPr lang="en-US" altLang="ko-KR" sz="2000" b="1" dirty="0" err="1">
                <a:latin typeface="+mn-ea"/>
              </a:rPr>
              <a:t>Overfitting</a:t>
            </a:r>
            <a:r>
              <a:rPr lang="en-US" altLang="ko-KR" sz="2000" b="1" dirty="0">
                <a:latin typeface="+mn-ea"/>
              </a:rPr>
              <a:t>) </a:t>
            </a:r>
            <a:r>
              <a:rPr lang="ko-KR" altLang="en-US" sz="2000" b="1" dirty="0">
                <a:latin typeface="+mn-ea"/>
              </a:rPr>
              <a:t>검증</a:t>
            </a:r>
            <a:endParaRPr lang="en-US" altLang="ko-KR" sz="2000" b="1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모델이 </a:t>
            </a:r>
            <a:r>
              <a:rPr lang="ko-KR" altLang="en-US" dirty="0" err="1">
                <a:latin typeface="+mn-ea"/>
              </a:rPr>
              <a:t>과적합되지</a:t>
            </a:r>
            <a:r>
              <a:rPr lang="ko-KR" altLang="en-US" dirty="0">
                <a:latin typeface="+mn-ea"/>
              </a:rPr>
              <a:t> 않았는지 검증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테스트셋의 성능이 트레이닝 셋보다 현저히 낮다면 </a:t>
            </a:r>
            <a:r>
              <a:rPr lang="ko-KR" altLang="en-US" dirty="0" err="1">
                <a:latin typeface="+mn-ea"/>
              </a:rPr>
              <a:t>과적합된</a:t>
            </a:r>
            <a:r>
              <a:rPr lang="ko-KR" altLang="en-US" dirty="0">
                <a:latin typeface="+mn-ea"/>
              </a:rPr>
              <a:t> 상태일 가능성 높음</a:t>
            </a:r>
            <a:endParaRPr lang="en-US" altLang="ko-KR" dirty="0">
              <a:latin typeface="+mn-ea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b="1" dirty="0" err="1">
                <a:latin typeface="+mn-ea"/>
              </a:rPr>
              <a:t>하이퍼파라미터</a:t>
            </a:r>
            <a:r>
              <a:rPr lang="ko-KR" altLang="en-US" sz="2000" b="1" dirty="0">
                <a:latin typeface="+mn-ea"/>
              </a:rPr>
              <a:t> 튜닝</a:t>
            </a:r>
            <a:endParaRPr lang="en-US" altLang="ko-KR" sz="2000" b="1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검증셋으로 </a:t>
            </a:r>
            <a:r>
              <a:rPr lang="ko-KR" altLang="en-US" dirty="0" err="1">
                <a:latin typeface="+mn-ea"/>
              </a:rPr>
              <a:t>하이퍼파라미터를</a:t>
            </a:r>
            <a:r>
              <a:rPr lang="ko-KR" altLang="en-US" dirty="0">
                <a:latin typeface="+mn-ea"/>
              </a:rPr>
              <a:t> 조정하여 최적의 모델 구성</a:t>
            </a:r>
            <a:endParaRPr lang="en-US" altLang="ko-KR" sz="18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AC63390-F071-642B-8B4C-A8CF4372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데이터 분할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7148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59816" cy="51664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>
                <a:latin typeface="+mn-ea"/>
              </a:rPr>
              <a:t>1️⃣ </a:t>
            </a:r>
            <a:r>
              <a:rPr lang="ko-KR" altLang="en-US" sz="2400" b="1" dirty="0">
                <a:latin typeface="+mn-ea"/>
              </a:rPr>
              <a:t>훈련 데이터</a:t>
            </a:r>
            <a:r>
              <a:rPr lang="en-US" altLang="ko-KR" sz="2400" b="1" dirty="0">
                <a:latin typeface="+mn-ea"/>
              </a:rPr>
              <a:t>(Training Set)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모델 학습에 사용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입력과 출력 간의 관계를 학습하고 </a:t>
            </a:r>
            <a:r>
              <a:rPr lang="ko-KR" altLang="en-US" sz="2000" dirty="0" err="1">
                <a:latin typeface="+mn-ea"/>
              </a:rPr>
              <a:t>파라미터를</a:t>
            </a:r>
            <a:r>
              <a:rPr lang="ko-KR" altLang="en-US" sz="2000" dirty="0">
                <a:latin typeface="+mn-ea"/>
              </a:rPr>
              <a:t> 최적화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>
                <a:latin typeface="+mn-ea"/>
              </a:rPr>
              <a:t>2️⃣ </a:t>
            </a:r>
            <a:r>
              <a:rPr lang="ko-KR" altLang="en-US" sz="2400" b="1" dirty="0">
                <a:latin typeface="+mn-ea"/>
              </a:rPr>
              <a:t>검증 데이터 </a:t>
            </a:r>
            <a:r>
              <a:rPr lang="en-US" altLang="ko-KR" sz="2400" b="1" dirty="0">
                <a:latin typeface="+mn-ea"/>
              </a:rPr>
              <a:t>(Validation Set)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학습 중간 성능 점검 및 </a:t>
            </a:r>
            <a:r>
              <a:rPr lang="ko-KR" altLang="en-US" sz="2000" dirty="0" err="1">
                <a:latin typeface="+mn-ea"/>
              </a:rPr>
              <a:t>하이퍼파라미터</a:t>
            </a:r>
            <a:r>
              <a:rPr lang="ko-KR" altLang="en-US" sz="2000" dirty="0">
                <a:latin typeface="+mn-ea"/>
              </a:rPr>
              <a:t> 튜닝에 사용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>
                <a:latin typeface="+mn-ea"/>
              </a:rPr>
              <a:t>과적합</a:t>
            </a:r>
            <a:r>
              <a:rPr lang="ko-KR" altLang="en-US" sz="2000" dirty="0">
                <a:latin typeface="+mn-ea"/>
              </a:rPr>
              <a:t> 방지 및 최적의 모델 선택 지원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>
                <a:latin typeface="+mn-ea"/>
              </a:rPr>
              <a:t>3️⃣ </a:t>
            </a:r>
            <a:r>
              <a:rPr lang="ko-KR" altLang="en-US" sz="2400" b="1" dirty="0">
                <a:latin typeface="+mn-ea"/>
              </a:rPr>
              <a:t>테스트 데이터 </a:t>
            </a:r>
            <a:r>
              <a:rPr lang="en-US" altLang="ko-KR" sz="2400" b="1" dirty="0">
                <a:latin typeface="+mn-ea"/>
              </a:rPr>
              <a:t>(Test Set)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학습 완료 후 최종 성능 평가에 사용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모델 개선에는 사용하지 않으며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독립적으로 유지</a:t>
            </a:r>
            <a:r>
              <a:rPr lang="en-US" altLang="ko-KR" sz="2000" dirty="0">
                <a:latin typeface="+mn-ea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81FAF4-5596-F59E-C7F2-9E301B290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데이터 분할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5406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6D201-563A-1578-A506-0A223FB05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962960-BE54-F164-F523-A9C70CFE0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CD8530-D156-CC1A-2054-CB87E6827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DC97DF-A953-DE63-72EE-82C2166F0D84}"/>
              </a:ext>
            </a:extLst>
          </p:cNvPr>
          <p:cNvSpPr txBox="1"/>
          <p:nvPr/>
        </p:nvSpPr>
        <p:spPr>
          <a:xfrm>
            <a:off x="2808882" y="2644434"/>
            <a:ext cx="65742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머신러닝의</a:t>
            </a:r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학습 방법</a:t>
            </a:r>
            <a:endParaRPr lang="ko-KR" altLang="en-US" sz="4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416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1B7E30-A6DB-13C2-DB5D-7A37AA462348}"/>
              </a:ext>
            </a:extLst>
          </p:cNvPr>
          <p:cNvSpPr txBox="1"/>
          <p:nvPr/>
        </p:nvSpPr>
        <p:spPr>
          <a:xfrm>
            <a:off x="251788" y="1720840"/>
            <a:ext cx="9158912" cy="3251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600" b="1" i="0" dirty="0">
                <a:solidFill>
                  <a:srgbClr val="2A2A2A"/>
                </a:solidFill>
                <a:effectLst/>
                <a:latin typeface="+mn-ea"/>
              </a:rPr>
              <a:t>1️⃣ </a:t>
            </a:r>
            <a:r>
              <a:rPr lang="ko-KR" altLang="en-US" sz="3600" b="1" i="0" dirty="0">
                <a:solidFill>
                  <a:srgbClr val="2A2A2A"/>
                </a:solidFill>
                <a:effectLst/>
                <a:latin typeface="+mn-ea"/>
              </a:rPr>
              <a:t>지도 학습</a:t>
            </a:r>
            <a:r>
              <a:rPr lang="en-US" altLang="ko-KR" sz="3600" b="1" dirty="0">
                <a:solidFill>
                  <a:srgbClr val="2A2A2A"/>
                </a:solidFill>
                <a:latin typeface="+mn-ea"/>
              </a:rPr>
              <a:t>(Supervised Learning)</a:t>
            </a:r>
          </a:p>
          <a:p>
            <a:pPr>
              <a:lnSpc>
                <a:spcPct val="200000"/>
              </a:lnSpc>
            </a:pPr>
            <a:r>
              <a:rPr lang="en-US" altLang="ko-KR" sz="3600" b="1" dirty="0">
                <a:solidFill>
                  <a:srgbClr val="2A2A2A"/>
                </a:solidFill>
                <a:latin typeface="+mn-ea"/>
              </a:rPr>
              <a:t>2️⃣ </a:t>
            </a:r>
            <a:r>
              <a:rPr lang="ko-KR" altLang="en-US" sz="3600" b="1" dirty="0">
                <a:solidFill>
                  <a:srgbClr val="2A2A2A"/>
                </a:solidFill>
                <a:latin typeface="+mn-ea"/>
              </a:rPr>
              <a:t>비지도 학습</a:t>
            </a:r>
            <a:r>
              <a:rPr lang="en-US" altLang="ko-KR" sz="3600" b="1" dirty="0">
                <a:solidFill>
                  <a:srgbClr val="2A2A2A"/>
                </a:solidFill>
                <a:latin typeface="+mn-ea"/>
              </a:rPr>
              <a:t>(Unsupervised Learning)</a:t>
            </a:r>
          </a:p>
          <a:p>
            <a:pPr>
              <a:lnSpc>
                <a:spcPct val="200000"/>
              </a:lnSpc>
            </a:pPr>
            <a:r>
              <a:rPr lang="en-US" altLang="ko-KR" sz="3600" b="1" dirty="0">
                <a:solidFill>
                  <a:srgbClr val="2A2A2A"/>
                </a:solidFill>
                <a:latin typeface="+mn-ea"/>
              </a:rPr>
              <a:t>3️⃣ </a:t>
            </a:r>
            <a:r>
              <a:rPr lang="ko-KR" altLang="en-US" sz="3600" b="1" dirty="0">
                <a:solidFill>
                  <a:srgbClr val="2A2A2A"/>
                </a:solidFill>
                <a:latin typeface="+mn-ea"/>
              </a:rPr>
              <a:t>강화 학습</a:t>
            </a:r>
            <a:r>
              <a:rPr lang="en-US" altLang="ko-KR" sz="3600" b="1" dirty="0">
                <a:latin typeface="+mn-ea"/>
              </a:rPr>
              <a:t>(Reinforcement Learning)</a:t>
            </a:r>
            <a:endParaRPr lang="en-US" altLang="ko-KR" sz="3600" b="1" dirty="0">
              <a:solidFill>
                <a:srgbClr val="2A2A2A"/>
              </a:solidFill>
              <a:latin typeface="+mn-ea"/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8053DEA6-6266-1DB3-D73E-22DE21BE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머신 러닝의 학습 방법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2810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1BE9DA-253B-8E8E-CC61-E56F6780B5D2}"/>
              </a:ext>
            </a:extLst>
          </p:cNvPr>
          <p:cNvSpPr txBox="1"/>
          <p:nvPr/>
        </p:nvSpPr>
        <p:spPr>
          <a:xfrm>
            <a:off x="238991" y="1145407"/>
            <a:ext cx="11790881" cy="2336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💡 </a:t>
            </a:r>
            <a:r>
              <a:rPr lang="ko-KR" altLang="en-US" sz="2800" dirty="0"/>
              <a:t>입력 데이터와 이에 해당하는 정답</a:t>
            </a:r>
            <a:r>
              <a:rPr lang="en-US" altLang="ko-KR" sz="2800" dirty="0"/>
              <a:t>(</a:t>
            </a:r>
            <a:r>
              <a:rPr lang="ko-KR" altLang="en-US" sz="2800" dirty="0"/>
              <a:t>라벨</a:t>
            </a:r>
            <a:r>
              <a:rPr lang="en-US" altLang="ko-KR" sz="2800" dirty="0"/>
              <a:t>)</a:t>
            </a:r>
            <a:r>
              <a:rPr lang="ko-KR" altLang="en-US" sz="2800" dirty="0"/>
              <a:t>이 있는 데이터를 사용해 학습하는 방식</a:t>
            </a:r>
            <a:endParaRPr lang="en-US" altLang="ko-KR" sz="2800" dirty="0"/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입력과 출력 간의 관계를 학습하여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새로운 데이터가 주어졌을 때 적절한 결과를 예측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분석모형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알고리즘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회귀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활용 예시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이메일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스팸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분류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질병 진단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가격 예측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7BA643A0-41EE-E774-7C6F-BB6323167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지도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4711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4299ECE-02A4-728F-BBDE-7D1DE6D25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94" y="1145407"/>
            <a:ext cx="11714018" cy="514937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</a:rPr>
              <a:t>✅ 회귀</a:t>
            </a:r>
            <a:r>
              <a:rPr lang="en-US" altLang="ko-KR" dirty="0">
                <a:latin typeface="+mn-ea"/>
                <a:ea typeface="+mn-ea"/>
              </a:rPr>
              <a:t>(Regression)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/>
              <a:t> </a:t>
            </a:r>
            <a:r>
              <a:rPr lang="ko-KR" altLang="en-US" dirty="0"/>
              <a:t>입력 데이터와 출력 값 간의 관계를 학습하여 </a:t>
            </a:r>
            <a:r>
              <a:rPr lang="ko-KR" altLang="en-US" b="1" dirty="0">
                <a:highlight>
                  <a:srgbClr val="FFFF00"/>
                </a:highlight>
              </a:rPr>
              <a:t>연속적인 숫자 값</a:t>
            </a:r>
            <a:r>
              <a:rPr lang="ko-KR" altLang="en-US" dirty="0">
                <a:highlight>
                  <a:srgbClr val="FFFF00"/>
                </a:highlight>
              </a:rPr>
              <a:t>을 </a:t>
            </a:r>
            <a:r>
              <a:rPr lang="ko-KR" altLang="en-US" dirty="0"/>
              <a:t>예측하는 분석 모형</a:t>
            </a:r>
            <a:r>
              <a:rPr lang="en-US" altLang="ko-KR" dirty="0"/>
              <a:t>.</a:t>
            </a:r>
            <a:endParaRPr lang="en-US" altLang="ko-KR" b="1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/>
              <a:t> 목적</a:t>
            </a:r>
            <a:r>
              <a:rPr lang="en-US" altLang="ko-KR" dirty="0"/>
              <a:t>: </a:t>
            </a:r>
            <a:r>
              <a:rPr lang="ko-KR" altLang="en-US" dirty="0"/>
              <a:t>특정 입력 값에 대해 숫자 결과</a:t>
            </a:r>
            <a:r>
              <a:rPr lang="en-US" altLang="ko-KR" dirty="0"/>
              <a:t>(</a:t>
            </a:r>
            <a:r>
              <a:rPr lang="ko-KR" altLang="en-US" dirty="0"/>
              <a:t>연속된 값</a:t>
            </a:r>
            <a:r>
              <a:rPr lang="en-US" altLang="ko-KR" dirty="0"/>
              <a:t>)</a:t>
            </a:r>
            <a:r>
              <a:rPr lang="ko-KR" altLang="en-US" dirty="0"/>
              <a:t>를 예측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주택 가격</a:t>
            </a:r>
            <a:r>
              <a:rPr lang="en-US" altLang="ko-KR" dirty="0"/>
              <a:t>, </a:t>
            </a:r>
            <a:r>
              <a:rPr lang="ko-KR" altLang="en-US" dirty="0"/>
              <a:t>날씨 온도</a:t>
            </a:r>
            <a:r>
              <a:rPr lang="en-US" altLang="ko-KR" dirty="0"/>
              <a:t>, </a:t>
            </a:r>
            <a:r>
              <a:rPr lang="ko-KR" altLang="en-US" dirty="0"/>
              <a:t>주식 가격 예측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/>
              <a:t> 특징</a:t>
            </a:r>
            <a:r>
              <a:rPr lang="en-US" altLang="ko-KR" dirty="0"/>
              <a:t>: </a:t>
            </a:r>
            <a:r>
              <a:rPr lang="ko-KR" altLang="en-US" dirty="0"/>
              <a:t>출력 값이 </a:t>
            </a:r>
            <a:r>
              <a:rPr lang="ko-KR" altLang="en-US" b="1" dirty="0"/>
              <a:t>연속적인 숫자</a:t>
            </a:r>
            <a:r>
              <a:rPr lang="ko-KR" altLang="en-US" dirty="0"/>
              <a:t>로 나타남</a:t>
            </a:r>
            <a:r>
              <a:rPr lang="en-US" altLang="ko-KR" dirty="0"/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"</a:t>
            </a:r>
            <a:r>
              <a:rPr lang="ko-KR" altLang="en-US" dirty="0"/>
              <a:t>이 집의 예상 가격은 </a:t>
            </a:r>
            <a:r>
              <a:rPr lang="en-US" altLang="ko-KR" dirty="0"/>
              <a:t>1</a:t>
            </a:r>
            <a:r>
              <a:rPr lang="ko-KR" altLang="en-US" dirty="0"/>
              <a:t>억 원이다</a:t>
            </a:r>
            <a:r>
              <a:rPr lang="en-US" altLang="ko-KR" dirty="0"/>
              <a:t>."</a:t>
            </a:r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15C9A8CC-7830-6422-0CE8-6D488E837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지도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0777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4299ECE-02A4-728F-BBDE-7D1DE6D25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482724" cy="448961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</a:rPr>
              <a:t>✅ 분류</a:t>
            </a:r>
            <a:r>
              <a:rPr lang="en-US" altLang="ko-KR" dirty="0">
                <a:latin typeface="+mn-ea"/>
                <a:ea typeface="+mn-ea"/>
              </a:rPr>
              <a:t>(Classification)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/>
              <a:t>정의</a:t>
            </a:r>
            <a:r>
              <a:rPr lang="en-US" altLang="ko-KR" dirty="0"/>
              <a:t>: </a:t>
            </a:r>
            <a:r>
              <a:rPr lang="ko-KR" altLang="en-US" dirty="0"/>
              <a:t>입력 데이터를 특정 범주</a:t>
            </a:r>
            <a:r>
              <a:rPr lang="en-US" altLang="ko-KR" dirty="0"/>
              <a:t>(</a:t>
            </a:r>
            <a:r>
              <a:rPr lang="ko-KR" altLang="en-US" dirty="0"/>
              <a:t>클래스</a:t>
            </a:r>
            <a:r>
              <a:rPr lang="en-US" altLang="ko-KR" dirty="0"/>
              <a:t>)</a:t>
            </a:r>
            <a:r>
              <a:rPr lang="ko-KR" altLang="en-US" dirty="0"/>
              <a:t>로 나누는 분석 모형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/>
              <a:t>목적</a:t>
            </a:r>
            <a:r>
              <a:rPr lang="en-US" altLang="ko-KR" dirty="0"/>
              <a:t>: </a:t>
            </a:r>
            <a:r>
              <a:rPr lang="ko-KR" altLang="en-US" dirty="0"/>
              <a:t>주어진 입력 데이터를 </a:t>
            </a:r>
            <a:r>
              <a:rPr lang="ko-KR" altLang="en-US" dirty="0">
                <a:highlight>
                  <a:srgbClr val="FFFF00"/>
                </a:highlight>
              </a:rPr>
              <a:t>범주에 따라 분류</a:t>
            </a:r>
            <a:r>
              <a:rPr lang="en-US" altLang="ko-KR" dirty="0"/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 err="1"/>
              <a:t>스팸</a:t>
            </a:r>
            <a:r>
              <a:rPr lang="en-US" altLang="ko-KR" dirty="0"/>
              <a:t>/</a:t>
            </a:r>
            <a:r>
              <a:rPr lang="ko-KR" altLang="en-US" dirty="0"/>
              <a:t>정상 </a:t>
            </a:r>
            <a:r>
              <a:rPr lang="ko-KR" altLang="en-US" dirty="0" err="1"/>
              <a:t>이메일</a:t>
            </a:r>
            <a:r>
              <a:rPr lang="ko-KR" altLang="en-US" dirty="0"/>
              <a:t> 분류</a:t>
            </a:r>
            <a:r>
              <a:rPr lang="en-US" altLang="ko-KR" dirty="0"/>
              <a:t>, </a:t>
            </a:r>
            <a:r>
              <a:rPr lang="ko-KR" altLang="en-US" dirty="0"/>
              <a:t>질병 진단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/>
              <a:t>특징</a:t>
            </a:r>
            <a:r>
              <a:rPr lang="en-US" altLang="ko-KR" dirty="0"/>
              <a:t>: </a:t>
            </a:r>
            <a:r>
              <a:rPr lang="ko-KR" altLang="en-US" dirty="0"/>
              <a:t>출력 값이 범주형 데이터로 나타남</a:t>
            </a:r>
            <a:r>
              <a:rPr lang="en-US" altLang="ko-KR" dirty="0"/>
              <a:t>.</a:t>
            </a:r>
          </a:p>
          <a:p>
            <a:pPr marL="1257300" lvl="2" indent="-342900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"</a:t>
            </a:r>
            <a:r>
              <a:rPr lang="ko-KR" altLang="en-US" dirty="0"/>
              <a:t>이 메일은 </a:t>
            </a:r>
            <a:r>
              <a:rPr lang="ko-KR" altLang="en-US" dirty="0" err="1"/>
              <a:t>스팸이다</a:t>
            </a:r>
            <a:r>
              <a:rPr lang="en-US" altLang="ko-KR" dirty="0"/>
              <a:t>" </a:t>
            </a:r>
            <a:r>
              <a:rPr lang="ko-KR" altLang="en-US" dirty="0"/>
              <a:t>또는 </a:t>
            </a:r>
            <a:r>
              <a:rPr lang="en-US" altLang="ko-KR" dirty="0"/>
              <a:t>"</a:t>
            </a:r>
            <a:r>
              <a:rPr lang="ko-KR" altLang="en-US" dirty="0"/>
              <a:t>이 이미지는 강아지다</a:t>
            </a:r>
            <a:r>
              <a:rPr lang="en-US" altLang="ko-KR" dirty="0"/>
              <a:t>."</a:t>
            </a:r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0F6817E8-ADC9-C15B-930D-C37059470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지도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8231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EF87C9-A857-3FE0-67CE-C474D83D9562}"/>
              </a:ext>
            </a:extLst>
          </p:cNvPr>
          <p:cNvSpPr txBox="1"/>
          <p:nvPr/>
        </p:nvSpPr>
        <p:spPr>
          <a:xfrm>
            <a:off x="232738" y="1145407"/>
            <a:ext cx="11590962" cy="2336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💡 정답</a:t>
            </a:r>
            <a:r>
              <a:rPr lang="en-US" altLang="ko-KR" sz="28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8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라벨</a:t>
            </a:r>
            <a:r>
              <a:rPr lang="en-US" altLang="ko-KR" sz="28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없이 입력 데이터만 가지고 학습하는 방식</a:t>
            </a:r>
            <a:r>
              <a:rPr lang="en-US" altLang="ko-KR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안의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패턴이나 구조를 발견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하거나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비슷한 데이터끼리 그룹화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하는 데 사용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분석모형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알고리즘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군집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 축소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활용 예시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고객 세분화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시각화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추천 시스템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8771865E-F6D6-62F0-3E40-4022E1183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비지도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9264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38991" y="1145407"/>
            <a:ext cx="11289175" cy="3352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군집화</a:t>
            </a:r>
            <a:r>
              <a:rPr lang="en-US" altLang="ko-KR" sz="2800" dirty="0"/>
              <a:t>(Clustering)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데이터 내에서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비슷한 데이터끼리 그룹화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하는 분석 모형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목적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데이터의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패턴이나 유사성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기반으로 그룹을 형성하여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새로운 </a:t>
            </a:r>
            <a:r>
              <a:rPr lang="ko-KR" altLang="en-US" sz="24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인사이트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발견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1371600" lvl="2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고객 세분화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문서 분류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데이터만 사용하며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정답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없음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1371600" lvl="2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활용 분야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마케팅 고객 군집화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유전자 데이터 분석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2BF5FD6A-5766-6070-417A-96026924E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비지도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71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38991" y="1145407"/>
            <a:ext cx="11701221" cy="327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차원 축소 </a:t>
            </a:r>
            <a:r>
              <a:rPr lang="en-US" altLang="ko-KR" sz="2800" dirty="0"/>
              <a:t>(Dimensionality Reduction)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데이터를 구성하는 여러 변수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요약하여 적은 차원으로 변환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하는 분석 모형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목적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데이터의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핵심 특징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만 추출하여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효율적 분석 및 시각화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가능하게 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1257300" lvl="2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고차원 데이터를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2D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또는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축소해 시각화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데이터의 정보 손실을 최소화하면서 차원을 줄임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1257300" lvl="2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활용 분야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압축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시각화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노이즈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제거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A67E26FF-F346-0247-BD27-03CB7C74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비지도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1120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279F83A-A0EC-AAD7-DF37-89FED6EBBDDA}"/>
              </a:ext>
            </a:extLst>
          </p:cNvPr>
          <p:cNvSpPr/>
          <p:nvPr/>
        </p:nvSpPr>
        <p:spPr>
          <a:xfrm>
            <a:off x="1935683" y="3142757"/>
            <a:ext cx="1814347" cy="9474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ysClr val="windowText" lastClr="000000"/>
                </a:solidFill>
                <a:latin typeface="+mj-ea"/>
                <a:ea typeface="+mj-ea"/>
              </a:rPr>
              <a:t>데이터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CEB8245-06B1-667F-FAC1-5F5ECC17C144}"/>
              </a:ext>
            </a:extLst>
          </p:cNvPr>
          <p:cNvSpPr/>
          <p:nvPr/>
        </p:nvSpPr>
        <p:spPr>
          <a:xfrm>
            <a:off x="4949951" y="2510161"/>
            <a:ext cx="2292098" cy="221264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+mj-ea"/>
                <a:ea typeface="+mj-ea"/>
              </a:rPr>
              <a:t>일반 프로그래밍</a:t>
            </a:r>
            <a:endParaRPr lang="en-US" altLang="ko-KR" sz="24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endParaRPr lang="en-US" altLang="ko-KR" sz="24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for </a:t>
            </a:r>
            <a:r>
              <a:rPr lang="en-US" altLang="ko-KR" dirty="0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 in range(10):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if I % 2 == 0: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…..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CEABC16-F32E-9ABE-4CBD-C27D15C28F11}"/>
              </a:ext>
            </a:extLst>
          </p:cNvPr>
          <p:cNvSpPr/>
          <p:nvPr/>
        </p:nvSpPr>
        <p:spPr>
          <a:xfrm>
            <a:off x="4068601" y="3396146"/>
            <a:ext cx="638979" cy="4406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1944B8A5-F8BD-8DE9-3620-DCB7487CA26C}"/>
              </a:ext>
            </a:extLst>
          </p:cNvPr>
          <p:cNvSpPr/>
          <p:nvPr/>
        </p:nvSpPr>
        <p:spPr>
          <a:xfrm>
            <a:off x="7484420" y="3389479"/>
            <a:ext cx="672947" cy="4600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5" name="사각형: 둥근 모서리 9">
            <a:extLst>
              <a:ext uri="{FF2B5EF4-FFF2-40B4-BE49-F238E27FC236}">
                <a16:creationId xmlns:a16="http://schemas.microsoft.com/office/drawing/2014/main" id="{1455270F-C5B9-53A0-6C41-71D3D26B78A8}"/>
              </a:ext>
            </a:extLst>
          </p:cNvPr>
          <p:cNvSpPr/>
          <p:nvPr/>
        </p:nvSpPr>
        <p:spPr>
          <a:xfrm>
            <a:off x="8441970" y="3075956"/>
            <a:ext cx="1814347" cy="94745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+mj-ea"/>
                <a:ea typeface="+mj-ea"/>
              </a:rPr>
              <a:t>답</a:t>
            </a:r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085DE2A6-353D-D702-1202-4A64FC5D6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일반 프로그래밍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2592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279F83A-A0EC-AAD7-DF37-89FED6EBBDDA}"/>
              </a:ext>
            </a:extLst>
          </p:cNvPr>
          <p:cNvSpPr/>
          <p:nvPr/>
        </p:nvSpPr>
        <p:spPr>
          <a:xfrm>
            <a:off x="2007587" y="2519561"/>
            <a:ext cx="1814347" cy="9474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ysClr val="windowText" lastClr="000000"/>
                </a:solidFill>
                <a:latin typeface="+mj-ea"/>
                <a:ea typeface="+mj-ea"/>
              </a:rPr>
              <a:t>데이터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455270F-C5B9-53A0-6C41-71D3D26B78A8}"/>
              </a:ext>
            </a:extLst>
          </p:cNvPr>
          <p:cNvSpPr/>
          <p:nvPr/>
        </p:nvSpPr>
        <p:spPr>
          <a:xfrm>
            <a:off x="2012294" y="3784752"/>
            <a:ext cx="1814347" cy="94745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+mj-ea"/>
                <a:ea typeface="+mj-ea"/>
              </a:rPr>
              <a:t>답</a:t>
            </a:r>
            <a:r>
              <a:rPr lang="en-US" altLang="ko-KR" sz="2400" dirty="0">
                <a:latin typeface="+mj-ea"/>
                <a:ea typeface="+mj-ea"/>
              </a:rPr>
              <a:t>(</a:t>
            </a:r>
            <a:r>
              <a:rPr lang="ko-KR" altLang="en-US" sz="2400" dirty="0">
                <a:latin typeface="+mj-ea"/>
                <a:ea typeface="+mj-ea"/>
              </a:rPr>
              <a:t>레이블</a:t>
            </a:r>
            <a:r>
              <a:rPr lang="en-US" altLang="ko-KR" sz="2400" dirty="0">
                <a:latin typeface="+mj-ea"/>
                <a:ea typeface="+mj-ea"/>
              </a:rPr>
              <a:t>)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CEB8245-06B1-667F-FAC1-5F5ECC17C144}"/>
              </a:ext>
            </a:extLst>
          </p:cNvPr>
          <p:cNvSpPr/>
          <p:nvPr/>
        </p:nvSpPr>
        <p:spPr>
          <a:xfrm>
            <a:off x="5021855" y="2519561"/>
            <a:ext cx="2148289" cy="221264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+mj-ea"/>
                <a:ea typeface="+mj-ea"/>
              </a:rPr>
              <a:t>머신 러닝</a:t>
            </a:r>
            <a:endParaRPr lang="en-US" altLang="ko-KR" sz="28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280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2800" dirty="0">
                <a:solidFill>
                  <a:schemeClr val="bg1"/>
                </a:solidFill>
                <a:latin typeface="+mj-ea"/>
                <a:ea typeface="+mj-ea"/>
              </a:rPr>
              <a:t>패턴</a:t>
            </a:r>
            <a:r>
              <a:rPr lang="en-US" altLang="ko-KR" sz="2800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2800" dirty="0">
                <a:solidFill>
                  <a:schemeClr val="bg1"/>
                </a:solidFill>
                <a:latin typeface="+mj-ea"/>
                <a:ea typeface="+mj-ea"/>
              </a:rPr>
              <a:t>규칙</a:t>
            </a:r>
            <a:r>
              <a:rPr lang="en-US" altLang="ko-KR" sz="28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2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CEABC16-F32E-9ABE-4CBD-C27D15C28F11}"/>
              </a:ext>
            </a:extLst>
          </p:cNvPr>
          <p:cNvSpPr/>
          <p:nvPr/>
        </p:nvSpPr>
        <p:spPr>
          <a:xfrm>
            <a:off x="4119389" y="3405544"/>
            <a:ext cx="638979" cy="4406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1944B8A5-F8BD-8DE9-3620-DCB7487CA26C}"/>
              </a:ext>
            </a:extLst>
          </p:cNvPr>
          <p:cNvSpPr/>
          <p:nvPr/>
        </p:nvSpPr>
        <p:spPr>
          <a:xfrm>
            <a:off x="7433631" y="3395860"/>
            <a:ext cx="672947" cy="4600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1B99F15-564A-9ED9-19B2-10743B13DB11}"/>
              </a:ext>
            </a:extLst>
          </p:cNvPr>
          <p:cNvSpPr/>
          <p:nvPr/>
        </p:nvSpPr>
        <p:spPr>
          <a:xfrm>
            <a:off x="8370065" y="3056644"/>
            <a:ext cx="1672574" cy="113809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ysClr val="windowText" lastClr="000000"/>
                </a:solidFill>
                <a:latin typeface="+mj-ea"/>
                <a:ea typeface="+mj-ea"/>
              </a:rPr>
              <a:t>예측</a:t>
            </a:r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FC827D1B-40DB-4C5F-32D2-232B40B7E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지도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6878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279F83A-A0EC-AAD7-DF37-89FED6EBBDDA}"/>
              </a:ext>
            </a:extLst>
          </p:cNvPr>
          <p:cNvSpPr/>
          <p:nvPr/>
        </p:nvSpPr>
        <p:spPr>
          <a:xfrm>
            <a:off x="2041555" y="3149662"/>
            <a:ext cx="1814347" cy="9474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ysClr val="windowText" lastClr="000000"/>
                </a:solidFill>
                <a:latin typeface="+mj-ea"/>
                <a:ea typeface="+mj-ea"/>
              </a:rPr>
              <a:t>데이터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CEB8245-06B1-667F-FAC1-5F5ECC17C144}"/>
              </a:ext>
            </a:extLst>
          </p:cNvPr>
          <p:cNvSpPr/>
          <p:nvPr/>
        </p:nvSpPr>
        <p:spPr>
          <a:xfrm>
            <a:off x="5021855" y="2506861"/>
            <a:ext cx="2148289" cy="2212642"/>
          </a:xfrm>
          <a:prstGeom prst="rect">
            <a:avLst/>
          </a:prstGeom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+mj-ea"/>
                <a:ea typeface="+mj-ea"/>
              </a:rPr>
              <a:t>머신 러닝</a:t>
            </a:r>
            <a:endParaRPr lang="en-US" altLang="ko-KR" sz="28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280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2800" dirty="0">
                <a:solidFill>
                  <a:schemeClr val="bg1"/>
                </a:solidFill>
                <a:latin typeface="+mj-ea"/>
                <a:ea typeface="+mj-ea"/>
              </a:rPr>
              <a:t>패턴</a:t>
            </a:r>
            <a:r>
              <a:rPr lang="en-US" altLang="ko-KR" sz="2800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2800" dirty="0">
                <a:solidFill>
                  <a:schemeClr val="bg1"/>
                </a:solidFill>
                <a:latin typeface="+mj-ea"/>
                <a:ea typeface="+mj-ea"/>
              </a:rPr>
              <a:t>규칙</a:t>
            </a:r>
            <a:r>
              <a:rPr lang="en-US" altLang="ko-KR" sz="28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2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CEABC16-F32E-9ABE-4CBD-C27D15C28F11}"/>
              </a:ext>
            </a:extLst>
          </p:cNvPr>
          <p:cNvSpPr/>
          <p:nvPr/>
        </p:nvSpPr>
        <p:spPr>
          <a:xfrm>
            <a:off x="4119389" y="3399162"/>
            <a:ext cx="638979" cy="4406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1944B8A5-F8BD-8DE9-3620-DCB7487CA26C}"/>
              </a:ext>
            </a:extLst>
          </p:cNvPr>
          <p:cNvSpPr/>
          <p:nvPr/>
        </p:nvSpPr>
        <p:spPr>
          <a:xfrm>
            <a:off x="7433631" y="3383160"/>
            <a:ext cx="672947" cy="4600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1B99F15-564A-9ED9-19B2-10743B13DB11}"/>
              </a:ext>
            </a:extLst>
          </p:cNvPr>
          <p:cNvSpPr/>
          <p:nvPr/>
        </p:nvSpPr>
        <p:spPr>
          <a:xfrm>
            <a:off x="8370065" y="3149662"/>
            <a:ext cx="1583674" cy="9474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ysClr val="windowText" lastClr="000000"/>
                </a:solidFill>
                <a:latin typeface="+mj-ea"/>
                <a:ea typeface="+mj-ea"/>
              </a:rPr>
              <a:t>예측</a:t>
            </a:r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638C4260-D26A-B7A9-4802-B3CB61E39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비지도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06290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910AB-D917-1D60-0DD5-1E0522E53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FCFD28-ED31-39BB-B17E-7227D6763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8898BE-332B-A3C1-B0F9-88C6127B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092527"/>
              </p:ext>
            </p:extLst>
          </p:nvPr>
        </p:nvGraphicFramePr>
        <p:xfrm>
          <a:off x="437185" y="1466608"/>
          <a:ext cx="11317629" cy="4363653"/>
        </p:xfrm>
        <a:graphic>
          <a:graphicData uri="http://schemas.openxmlformats.org/drawingml/2006/table">
            <a:tbl>
              <a:tblPr/>
              <a:tblGrid>
                <a:gridCol w="1403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6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6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779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항목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지도 학습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비지도 학습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1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정의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라벨 데이터로 학습하여 결과를 예측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라벨 없이 데이터를 분석해 패턴 발견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1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특징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입력과 출력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정답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이 주어진 상태에서 학습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입력 데이터만으로 학습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1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장점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높은 정확도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명확한 목표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라벨링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없이도 학습 가능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1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단점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라벨 데이터 준비가 어렵고 비용이 큼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결과 해석이 어렵고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명확한 예측 불가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31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분석모형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회귀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분류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군집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차원축소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제목 5">
            <a:extLst>
              <a:ext uri="{FF2B5EF4-FFF2-40B4-BE49-F238E27FC236}">
                <a16:creationId xmlns:a16="http://schemas.microsoft.com/office/drawing/2014/main" id="{CDD81601-709C-A6C4-DAE5-25C57AEFA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지도 학습 비지도 학습 비교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4162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294159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  <a:ea typeface="+mn-ea"/>
              </a:rPr>
              <a:t>💡 </a:t>
            </a:r>
            <a:r>
              <a:rPr lang="ko-KR" altLang="en-US" dirty="0">
                <a:latin typeface="+mn-ea"/>
                <a:ea typeface="+mn-ea"/>
              </a:rPr>
              <a:t>보상과 벌칙을 기반으로 </a:t>
            </a:r>
            <a:r>
              <a:rPr lang="en-US" altLang="ko-KR" dirty="0">
                <a:latin typeface="+mn-ea"/>
                <a:ea typeface="+mn-ea"/>
              </a:rPr>
              <a:t>AI</a:t>
            </a:r>
            <a:r>
              <a:rPr lang="ko-KR" altLang="en-US" dirty="0">
                <a:latin typeface="+mn-ea"/>
                <a:ea typeface="+mn-ea"/>
              </a:rPr>
              <a:t>가 환경과 상호작용하며 최적의 전략을 학습하는 것</a:t>
            </a:r>
            <a:r>
              <a:rPr lang="en-US" altLang="ko-KR" dirty="0">
                <a:latin typeface="+mn-ea"/>
                <a:ea typeface="+mn-ea"/>
              </a:rPr>
              <a:t>.</a:t>
            </a:r>
          </a:p>
          <a:p>
            <a:pPr marL="914400" lvl="1" indent="-457200">
              <a:lnSpc>
                <a:spcPct val="150000"/>
              </a:lnSpc>
            </a:pPr>
            <a:r>
              <a:rPr lang="ko-KR" altLang="en-US" b="1" dirty="0"/>
              <a:t>특징</a:t>
            </a:r>
            <a:r>
              <a:rPr lang="en-US" altLang="ko-KR" dirty="0"/>
              <a:t>: </a:t>
            </a:r>
            <a:r>
              <a:rPr lang="ko-KR" altLang="en-US" dirty="0"/>
              <a:t>보상 중심으로</a:t>
            </a:r>
            <a:r>
              <a:rPr lang="en-US" altLang="ko-KR" dirty="0"/>
              <a:t>, </a:t>
            </a:r>
            <a:r>
              <a:rPr lang="ko-KR" altLang="en-US" dirty="0"/>
              <a:t>순차적 의사결정을 통해 탐험과 활용의 균형을 맞추며</a:t>
            </a:r>
            <a:r>
              <a:rPr lang="en-US" altLang="ko-KR" dirty="0"/>
              <a:t>, </a:t>
            </a:r>
            <a:r>
              <a:rPr lang="ko-KR" altLang="en-US" dirty="0"/>
              <a:t>라벨 데이터 없이 환경과 상호작용하면서 학습함</a:t>
            </a:r>
            <a:endParaRPr lang="en-US" altLang="ko-KR" dirty="0"/>
          </a:p>
          <a:p>
            <a:pPr marL="914400" lvl="1" indent="-457200">
              <a:lnSpc>
                <a:spcPct val="150000"/>
              </a:lnSpc>
            </a:pPr>
            <a:r>
              <a:rPr lang="ko-KR" altLang="en-US" b="1" dirty="0"/>
              <a:t>활용 예시</a:t>
            </a:r>
            <a:r>
              <a:rPr lang="en-US" altLang="ko-KR" dirty="0"/>
              <a:t>: </a:t>
            </a:r>
            <a:r>
              <a:rPr lang="ko-KR" altLang="en-US" dirty="0"/>
              <a:t>바둑</a:t>
            </a:r>
            <a:r>
              <a:rPr lang="en-US" altLang="ko-KR" dirty="0"/>
              <a:t>(AI </a:t>
            </a:r>
            <a:r>
              <a:rPr lang="en-US" altLang="ko-KR" dirty="0" err="1"/>
              <a:t>AlphaGo</a:t>
            </a:r>
            <a:r>
              <a:rPr lang="en-US" altLang="ko-KR" dirty="0"/>
              <a:t>), </a:t>
            </a:r>
            <a:r>
              <a:rPr lang="ko-KR" altLang="en-US" dirty="0"/>
              <a:t>자율주행</a:t>
            </a:r>
            <a:r>
              <a:rPr lang="en-US" altLang="ko-KR" dirty="0"/>
              <a:t>, </a:t>
            </a:r>
            <a:r>
              <a:rPr lang="ko-KR" altLang="en-US" dirty="0"/>
              <a:t>로봇 제어 등 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D5131958-C863-7AD8-8DCD-67861B88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강화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3918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085936" y="2470814"/>
            <a:ext cx="815319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인공신경망</a:t>
            </a:r>
            <a:endParaRPr lang="en-US" altLang="ko-KR" sz="5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4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Artificial Neural Network</a:t>
            </a:r>
            <a:endParaRPr lang="ko-KR" altLang="en-US" sz="4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1963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인공신경 </a:t>
            </a:r>
            <a:r>
              <a:rPr lang="en-US" altLang="ko-KR" b="1" dirty="0">
                <a:latin typeface="+mj-ea"/>
              </a:rPr>
              <a:t>– </a:t>
            </a:r>
            <a:r>
              <a:rPr lang="ko-KR" altLang="en-US" b="1" dirty="0">
                <a:latin typeface="+mj-ea"/>
              </a:rPr>
              <a:t>노드</a:t>
            </a:r>
            <a:r>
              <a:rPr lang="en-US" altLang="ko-KR" b="1" dirty="0">
                <a:latin typeface="+mj-ea"/>
              </a:rPr>
              <a:t>(Node)</a:t>
            </a:r>
            <a:endParaRPr lang="ko-KR" altLang="en-US" b="1" dirty="0">
              <a:latin typeface="+mj-ea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E1C3A15-2B48-7D43-A981-A9D20D40C9C3}"/>
              </a:ext>
            </a:extLst>
          </p:cNvPr>
          <p:cNvGrpSpPr/>
          <p:nvPr/>
        </p:nvGrpSpPr>
        <p:grpSpPr>
          <a:xfrm>
            <a:off x="1010856" y="1890620"/>
            <a:ext cx="10170288" cy="4358696"/>
            <a:chOff x="1010856" y="1890620"/>
            <a:chExt cx="10170288" cy="4358696"/>
          </a:xfrm>
        </p:grpSpPr>
        <p:pic>
          <p:nvPicPr>
            <p:cNvPr id="2" name="Picture 2" descr="Activation functions in Artifical neural network | by Lathakh25 | Medium">
              <a:extLst>
                <a:ext uri="{FF2B5EF4-FFF2-40B4-BE49-F238E27FC236}">
                  <a16:creationId xmlns:a16="http://schemas.microsoft.com/office/drawing/2014/main" id="{2EF67638-BA30-6654-9422-F362AD0C6F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0856" y="1890620"/>
              <a:ext cx="10170288" cy="43586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99E8651B-006D-65E2-75EA-3274947762CA}"/>
                </a:ext>
              </a:extLst>
            </p:cNvPr>
            <p:cNvSpPr/>
            <p:nvPr/>
          </p:nvSpPr>
          <p:spPr>
            <a:xfrm>
              <a:off x="2642886" y="6003095"/>
              <a:ext cx="690622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[</a:t>
              </a:r>
              <a:r>
                <a:rPr lang="ko-KR" altLang="en-US" sz="1000" dirty="0"/>
                <a:t>출처</a:t>
              </a:r>
              <a:r>
                <a:rPr lang="en-US" altLang="ko-KR" sz="1000" dirty="0"/>
                <a:t>] https://medium.com/@lathakh25july/activation-functions-in-artifical-neural-network-d44a7d81fdf4</a:t>
              </a:r>
              <a:endParaRPr lang="ko-KR" altLang="en-US" sz="1000" dirty="0"/>
            </a:p>
          </p:txBody>
        </p:sp>
      </p:grp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B7AAFA5-DF67-EDFB-D50E-040F9E393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32" y="1101324"/>
            <a:ext cx="11477987" cy="111609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💡 인공 신경은 인공신경망을 이루는 작은 단위로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입력값을</a:t>
            </a:r>
            <a:r>
              <a:rPr lang="ko-KR" altLang="en-US" sz="2000" dirty="0"/>
              <a:t> 받아서 간단한 계산을 하고 결과를 내보내는 역할을 함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마치 뇌 속의 뉴런이 신호를 받아 다른 뉴런으로 보내는 것과 비슷함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9379508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D0958-2148-1E77-3ACF-A993E25AE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A73101-63CD-AEEE-BE2E-9016440F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0994E6-CBEF-DC3E-2B67-335A8329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64AA368-20D7-6EE5-9887-C996D1863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073" y="1603829"/>
            <a:ext cx="9203854" cy="4085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79038AE4-2792-945C-FF83-EFC7F94A0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인공신경 </a:t>
            </a:r>
            <a:r>
              <a:rPr lang="en-US" altLang="ko-KR" b="1" dirty="0">
                <a:latin typeface="+mj-ea"/>
              </a:rPr>
              <a:t>– </a:t>
            </a:r>
            <a:r>
              <a:rPr lang="ko-KR" altLang="en-US" b="1" dirty="0">
                <a:latin typeface="+mj-ea"/>
              </a:rPr>
              <a:t>노드</a:t>
            </a:r>
            <a:r>
              <a:rPr lang="en-US" altLang="ko-KR" b="1" dirty="0">
                <a:latin typeface="+mj-ea"/>
              </a:rPr>
              <a:t>(Node)</a:t>
            </a:r>
            <a:endParaRPr lang="ko-KR" altLang="en-US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757267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Multilayer Perceptron Explained with a Real-Life Example and Python Code:  Sentiment Analysis | by Carolina Bento | Towards Data Scien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876705"/>
            <a:ext cx="7512050" cy="4919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인공신경망</a:t>
            </a:r>
            <a:r>
              <a:rPr lang="en-US" altLang="ko-KR" b="1" dirty="0">
                <a:latin typeface="+mj-ea"/>
              </a:rPr>
              <a:t>(ANN)</a:t>
            </a:r>
            <a:endParaRPr lang="ko-KR" altLang="en-US" b="1" dirty="0">
              <a:latin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048000" y="5888698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출처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] https://towardsdatascience.com/multilayer-perceptron-explained-with-a-real-life-example-and-python-code-sentiment-analysis-cb408ee93141</a:t>
            </a:r>
            <a:endParaRPr lang="ko-KR" alt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115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Perceptron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FC9589-3618-8FAD-3C4C-267838350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944678"/>
            <a:ext cx="7114212" cy="296864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Perception </a:t>
            </a:r>
            <a:r>
              <a:rPr lang="ko-KR" altLang="en-US" dirty="0"/>
              <a:t>과 </a:t>
            </a:r>
            <a:r>
              <a:rPr lang="en-US" altLang="ko-KR" dirty="0"/>
              <a:t>Neuron</a:t>
            </a:r>
            <a:r>
              <a:rPr lang="ko-KR" altLang="en-US" dirty="0"/>
              <a:t>의 합성어</a:t>
            </a:r>
            <a:r>
              <a:rPr lang="en-US" altLang="ko-KR" dirty="0"/>
              <a:t>(</a:t>
            </a:r>
            <a:r>
              <a:rPr lang="ko-KR" altLang="en-US" dirty="0" err="1"/>
              <a:t>인공뉴런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인공 신경망의 기본 단위로</a:t>
            </a:r>
            <a:r>
              <a:rPr lang="en-US" altLang="ko-KR" dirty="0"/>
              <a:t>, </a:t>
            </a:r>
            <a:r>
              <a:rPr lang="ko-KR" altLang="en-US" dirty="0"/>
              <a:t>입력 데이터에 가중치를 곱하고 편향</a:t>
            </a:r>
            <a:r>
              <a:rPr lang="en-US" altLang="ko-KR" dirty="0"/>
              <a:t>(bias)</a:t>
            </a:r>
            <a:r>
              <a:rPr lang="ko-KR" altLang="en-US" dirty="0"/>
              <a:t>을 더한 뒤 활성화 함수를 적용하여 결과를 출력하는 선형 분류 모델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단일 </a:t>
            </a:r>
            <a:r>
              <a:rPr lang="ko-KR" altLang="en-US" dirty="0" err="1"/>
              <a:t>계산층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1CA5C40-E96B-2127-375A-1789E9615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803" y="2517986"/>
            <a:ext cx="4104409" cy="1822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3264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MLP(Multi Layer Perceptron)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FC9589-3618-8FAD-3C4C-267838350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4" y="1778348"/>
            <a:ext cx="6511768" cy="364767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다층 </a:t>
            </a:r>
            <a:r>
              <a:rPr lang="ko-KR" altLang="en-US" dirty="0" err="1"/>
              <a:t>퍼셉트론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입력층과 </a:t>
            </a:r>
            <a:r>
              <a:rPr lang="ko-KR" altLang="en-US" dirty="0" err="1"/>
              <a:t>출력층</a:t>
            </a:r>
            <a:r>
              <a:rPr lang="ko-KR" altLang="en-US" dirty="0"/>
              <a:t> 사이에 각각 전체 결합하는 은닉층을 넣은 </a:t>
            </a:r>
            <a:r>
              <a:rPr lang="ko-KR" altLang="en-US" dirty="0" err="1"/>
              <a:t>뉴럴</a:t>
            </a:r>
            <a:r>
              <a:rPr lang="ko-KR" altLang="en-US" dirty="0"/>
              <a:t> 네트워크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인접한 두 층의 </a:t>
            </a:r>
            <a:r>
              <a:rPr lang="ko-KR" altLang="en-US" dirty="0" err="1"/>
              <a:t>뉴런간에는</a:t>
            </a:r>
            <a:r>
              <a:rPr lang="ko-KR" altLang="en-US" dirty="0"/>
              <a:t> </a:t>
            </a:r>
            <a:r>
              <a:rPr lang="ko-KR" altLang="en-US" b="1" dirty="0"/>
              <a:t>완전 연결</a:t>
            </a:r>
            <a:r>
              <a:rPr lang="en-US" altLang="ko-KR" dirty="0"/>
              <a:t>(fully connected)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은닉계층은 하나 이상으로 구성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7015161" y="1876827"/>
            <a:ext cx="4867275" cy="3549194"/>
            <a:chOff x="7015162" y="1876827"/>
            <a:chExt cx="4867275" cy="3549194"/>
          </a:xfrm>
        </p:grpSpPr>
        <p:pic>
          <p:nvPicPr>
            <p:cNvPr id="8194" name="Picture 2">
              <a:extLst>
                <a:ext uri="{FF2B5EF4-FFF2-40B4-BE49-F238E27FC236}">
                  <a16:creationId xmlns:a16="http://schemas.microsoft.com/office/drawing/2014/main" id="{13AE6A3E-01E8-8A57-3175-85BC30F1E4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5162" y="1876827"/>
              <a:ext cx="4867275" cy="3333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3EA43F-F4A5-30E2-5D4F-7D1D5260B3C6}"/>
                </a:ext>
              </a:extLst>
            </p:cNvPr>
            <p:cNvSpPr txBox="1"/>
            <p:nvPr/>
          </p:nvSpPr>
          <p:spPr>
            <a:xfrm>
              <a:off x="7186802" y="5210577"/>
              <a:ext cx="452399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bg2">
                      <a:lumMod val="75000"/>
                    </a:schemeClr>
                  </a:solidFill>
                  <a:latin typeface="+mn-ea"/>
                </a:rPr>
                <a:t>출처</a:t>
              </a:r>
              <a:r>
                <a:rPr lang="en-US" altLang="ko-KR" sz="800" dirty="0">
                  <a:solidFill>
                    <a:schemeClr val="bg2">
                      <a:lumMod val="75000"/>
                    </a:schemeClr>
                  </a:solidFill>
                  <a:latin typeface="+mn-ea"/>
                </a:rPr>
                <a:t>:</a:t>
              </a:r>
              <a:r>
                <a:rPr lang="en-US" altLang="ko-KR" sz="800" b="0" i="0" dirty="0">
                  <a:solidFill>
                    <a:schemeClr val="bg2">
                      <a:lumMod val="75000"/>
                    </a:schemeClr>
                  </a:solidFill>
                  <a:effectLst/>
                  <a:latin typeface="+mn-ea"/>
                </a:rPr>
                <a:t>https://buomsoo-kim.github.io/</a:t>
              </a:r>
              <a:r>
                <a:rPr lang="en-US" altLang="ko-KR" sz="800" b="0" i="0" dirty="0" err="1">
                  <a:solidFill>
                    <a:schemeClr val="bg2">
                      <a:lumMod val="75000"/>
                    </a:schemeClr>
                  </a:solidFill>
                  <a:effectLst/>
                  <a:latin typeface="+mn-ea"/>
                </a:rPr>
                <a:t>keras</a:t>
              </a:r>
              <a:r>
                <a:rPr lang="en-US" altLang="ko-KR" sz="800" b="0" i="0" dirty="0">
                  <a:solidFill>
                    <a:schemeClr val="bg2">
                      <a:lumMod val="75000"/>
                    </a:schemeClr>
                  </a:solidFill>
                  <a:effectLst/>
                  <a:latin typeface="+mn-ea"/>
                </a:rPr>
                <a:t>/2018/04/21/Easy-deep-learning-with-Keras-2.md/</a:t>
              </a:r>
              <a:endParaRPr lang="ko-KR" altLang="en-US" sz="800" dirty="0">
                <a:solidFill>
                  <a:schemeClr val="bg2">
                    <a:lumMod val="75000"/>
                  </a:schemeClr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97108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활성화 함수</a:t>
            </a:r>
            <a:r>
              <a:rPr lang="en-US" altLang="ko-KR" b="1" dirty="0">
                <a:latin typeface="+mj-ea"/>
              </a:rPr>
              <a:t>(Activation Function)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60413"/>
            <a:ext cx="11494626" cy="6482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+mn-ea"/>
              </a:rPr>
              <a:t>💡 노드에서 계산된 값을 기반으로 어떤 출력 값을 다음 층으로 보낼지 결정하는 함수</a:t>
            </a:r>
            <a:endParaRPr lang="en-US" altLang="ko-KR" sz="2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F5B6EC7-38F8-FC46-B40D-45CBCEAD2BD0}"/>
              </a:ext>
            </a:extLst>
          </p:cNvPr>
          <p:cNvGrpSpPr/>
          <p:nvPr/>
        </p:nvGrpSpPr>
        <p:grpSpPr>
          <a:xfrm>
            <a:off x="397134" y="2387589"/>
            <a:ext cx="11397731" cy="3310200"/>
            <a:chOff x="334701" y="2677887"/>
            <a:chExt cx="11617123" cy="3373917"/>
          </a:xfrm>
        </p:grpSpPr>
        <p:pic>
          <p:nvPicPr>
            <p:cNvPr id="16386" name="Picture 2">
              <a:extLst>
                <a:ext uri="{FF2B5EF4-FFF2-40B4-BE49-F238E27FC236}">
                  <a16:creationId xmlns:a16="http://schemas.microsoft.com/office/drawing/2014/main" id="{23429D37-BC66-FAED-7771-92EE5D5FE1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1553" y="2677887"/>
              <a:ext cx="7870271" cy="33739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내용 개체 틀 22">
              <a:extLst>
                <a:ext uri="{FF2B5EF4-FFF2-40B4-BE49-F238E27FC236}">
                  <a16:creationId xmlns:a16="http://schemas.microsoft.com/office/drawing/2014/main" id="{EE04D668-2104-C083-C697-E02C3A26D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701" y="2771632"/>
              <a:ext cx="3223316" cy="2607692"/>
            </a:xfrm>
            <a:prstGeom prst="rect">
              <a:avLst/>
            </a:prstGeom>
          </p:spPr>
        </p:pic>
        <p:sp>
          <p:nvSpPr>
            <p:cNvPr id="8" name="제목 1">
              <a:extLst>
                <a:ext uri="{FF2B5EF4-FFF2-40B4-BE49-F238E27FC236}">
                  <a16:creationId xmlns:a16="http://schemas.microsoft.com/office/drawing/2014/main" id="{A8D8F1F4-4871-4B45-B08E-F92ACDB80FE6}"/>
                </a:ext>
              </a:extLst>
            </p:cNvPr>
            <p:cNvSpPr txBox="1">
              <a:spLocks/>
            </p:cNvSpPr>
            <p:nvPr/>
          </p:nvSpPr>
          <p:spPr>
            <a:xfrm>
              <a:off x="339329" y="5390899"/>
              <a:ext cx="3218688" cy="4757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5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ko-KR" altLang="en-US" sz="1800" b="1" dirty="0">
                  <a:latin typeface="+mj-ea"/>
                </a:rPr>
                <a:t>계단 함수</a:t>
              </a:r>
              <a:r>
                <a:rPr lang="en-US" altLang="ko-KR" sz="1800" b="1" dirty="0">
                  <a:latin typeface="+mj-ea"/>
                </a:rPr>
                <a:t>(Unit Step Function)</a:t>
              </a:r>
              <a:endParaRPr lang="ko-KR" altLang="en-US" sz="1800" b="1" dirty="0">
                <a:latin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51000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EB855-7558-4B87-9779-B978C39D4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모델과 학습의 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5C1778-5F0F-B296-876E-C5A1F01AB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모델은 입력 → 출력을 만드는 함수</a:t>
            </a:r>
            <a:endParaRPr lang="en-US" altLang="ko-KR" dirty="0"/>
          </a:p>
          <a:p>
            <a:r>
              <a:rPr lang="ko-KR" altLang="en-US" dirty="0"/>
              <a:t>학습은 예측과 실제의 차이를 줄이는 과정</a:t>
            </a:r>
            <a:endParaRPr lang="en-US" altLang="ko-KR" dirty="0"/>
          </a:p>
          <a:p>
            <a:r>
              <a:rPr lang="ko-KR" altLang="en-US" dirty="0"/>
              <a:t>이 차이를 기준으로 모델을 조정함</a:t>
            </a:r>
          </a:p>
        </p:txBody>
      </p:sp>
    </p:spTree>
    <p:extLst>
      <p:ext uri="{BB962C8B-B14F-4D97-AF65-F5344CB8AC3E}">
        <p14:creationId xmlns:p14="http://schemas.microsoft.com/office/powerpoint/2010/main" val="31182368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36D5F-7342-7CB7-683C-BD8BC725F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‘조금씩’ 고쳐야 하는가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110188-75DF-8F80-3553-9EBDB7283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학습은 한 번에 끝나지 않는다</a:t>
            </a:r>
            <a:endParaRPr lang="en-US" altLang="ko-KR" dirty="0"/>
          </a:p>
          <a:p>
            <a:r>
              <a:rPr lang="ko-KR" altLang="en-US" dirty="0"/>
              <a:t>처음 예측은 대부분 틀림</a:t>
            </a:r>
            <a:endParaRPr lang="en-US" altLang="ko-KR" dirty="0"/>
          </a:p>
          <a:p>
            <a:r>
              <a:rPr lang="ko-KR" altLang="en-US" dirty="0"/>
              <a:t>오차를 기준으로 방향을 조정</a:t>
            </a:r>
            <a:r>
              <a:rPr lang="en-US" altLang="ko-KR" dirty="0"/>
              <a:t>, </a:t>
            </a:r>
            <a:r>
              <a:rPr lang="ko-KR" altLang="en-US" dirty="0"/>
              <a:t>이 과정을 반복하며 개선</a:t>
            </a:r>
          </a:p>
        </p:txBody>
      </p:sp>
    </p:spTree>
    <p:extLst>
      <p:ext uri="{BB962C8B-B14F-4D97-AF65-F5344CB8AC3E}">
        <p14:creationId xmlns:p14="http://schemas.microsoft.com/office/powerpoint/2010/main" val="29084671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8353</TotalTime>
  <Words>2060</Words>
  <Application>Microsoft Office PowerPoint</Application>
  <PresentationFormat>와이드스크린</PresentationFormat>
  <Paragraphs>365</Paragraphs>
  <Slides>42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52" baseType="lpstr">
      <vt:lpstr>G마켓 산스 TTF Bold</vt:lpstr>
      <vt:lpstr>Kim jung chul Gothic Regular</vt:lpstr>
      <vt:lpstr>Pretendard Black</vt:lpstr>
      <vt:lpstr>Pretendard Light</vt:lpstr>
      <vt:lpstr>Pretendard Medium</vt:lpstr>
      <vt:lpstr>맑은 고딕</vt:lpstr>
      <vt:lpstr>메이플스토리</vt:lpstr>
      <vt:lpstr>Arial</vt:lpstr>
      <vt:lpstr>Wingdings</vt:lpstr>
      <vt:lpstr>1_Office 테마</vt:lpstr>
      <vt:lpstr>x</vt:lpstr>
      <vt:lpstr>PowerPoint 프레젠테이션</vt:lpstr>
      <vt:lpstr>머신 러닝의 과정</vt:lpstr>
      <vt:lpstr>머신 러닝의 핵심요소</vt:lpstr>
      <vt:lpstr>머신 러닝의 핵심요소</vt:lpstr>
      <vt:lpstr>머신 러닝의 핵심요소</vt:lpstr>
      <vt:lpstr>머신 러닝의 핵심요소</vt:lpstr>
      <vt:lpstr>머신 러닝의 핵심요소</vt:lpstr>
      <vt:lpstr>머신 러닝의 과정</vt:lpstr>
      <vt:lpstr>머신 러닝의 과정</vt:lpstr>
      <vt:lpstr>머신 러닝의 과정</vt:lpstr>
      <vt:lpstr>머신 러닝의 과정</vt:lpstr>
      <vt:lpstr>머신 러닝의 과정</vt:lpstr>
      <vt:lpstr>PowerPoint 프레젠테이션</vt:lpstr>
      <vt:lpstr>데이터 전처리</vt:lpstr>
      <vt:lpstr>데이터 전처리</vt:lpstr>
      <vt:lpstr>데이터 분할</vt:lpstr>
      <vt:lpstr>데이터 분할</vt:lpstr>
      <vt:lpstr>데이터 분할</vt:lpstr>
      <vt:lpstr>PowerPoint 프레젠테이션</vt:lpstr>
      <vt:lpstr>머신 러닝의 학습 방법</vt:lpstr>
      <vt:lpstr>지도 학습</vt:lpstr>
      <vt:lpstr>지도 학습</vt:lpstr>
      <vt:lpstr>지도 학습</vt:lpstr>
      <vt:lpstr>비지도 학습</vt:lpstr>
      <vt:lpstr>비지도 학습</vt:lpstr>
      <vt:lpstr>비지도 학습</vt:lpstr>
      <vt:lpstr>일반 프로그래밍</vt:lpstr>
      <vt:lpstr>지도 학습</vt:lpstr>
      <vt:lpstr>비지도 학습</vt:lpstr>
      <vt:lpstr>지도 학습 비지도 학습 비교</vt:lpstr>
      <vt:lpstr>강화 학습</vt:lpstr>
      <vt:lpstr>PowerPoint 프레젠테이션</vt:lpstr>
      <vt:lpstr>인공신경 – 노드(Node)</vt:lpstr>
      <vt:lpstr>인공신경 – 노드(Node)</vt:lpstr>
      <vt:lpstr>인공신경망(ANN)</vt:lpstr>
      <vt:lpstr>Perceptron</vt:lpstr>
      <vt:lpstr>MLP(Multi Layer Perceptron)</vt:lpstr>
      <vt:lpstr>활성화 함수(Activation Function)</vt:lpstr>
      <vt:lpstr>모델과 학습의 관계</vt:lpstr>
      <vt:lpstr>왜 ‘조금씩’ 고쳐야 하는가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582</cp:revision>
  <dcterms:created xsi:type="dcterms:W3CDTF">2023-01-31T04:26:23Z</dcterms:created>
  <dcterms:modified xsi:type="dcterms:W3CDTF">2026-02-12T08:26:32Z</dcterms:modified>
</cp:coreProperties>
</file>