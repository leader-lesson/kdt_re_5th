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1013" r:id="rId2"/>
    <p:sldId id="601" r:id="rId3"/>
    <p:sldId id="563" r:id="rId4"/>
    <p:sldId id="1005" r:id="rId5"/>
    <p:sldId id="671" r:id="rId6"/>
    <p:sldId id="670" r:id="rId7"/>
    <p:sldId id="602" r:id="rId8"/>
    <p:sldId id="672" r:id="rId9"/>
    <p:sldId id="625" r:id="rId10"/>
    <p:sldId id="644" r:id="rId11"/>
    <p:sldId id="653" r:id="rId12"/>
    <p:sldId id="673" r:id="rId13"/>
    <p:sldId id="654" r:id="rId14"/>
    <p:sldId id="655" r:id="rId15"/>
    <p:sldId id="604" r:id="rId16"/>
    <p:sldId id="603" r:id="rId17"/>
    <p:sldId id="677" r:id="rId18"/>
    <p:sldId id="674" r:id="rId19"/>
    <p:sldId id="605" r:id="rId20"/>
    <p:sldId id="675" r:id="rId21"/>
    <p:sldId id="1006" r:id="rId22"/>
    <p:sldId id="678" r:id="rId23"/>
    <p:sldId id="627" r:id="rId24"/>
    <p:sldId id="606" r:id="rId25"/>
    <p:sldId id="646" r:id="rId26"/>
    <p:sldId id="645" r:id="rId27"/>
    <p:sldId id="679" r:id="rId28"/>
    <p:sldId id="676" r:id="rId29"/>
    <p:sldId id="647" r:id="rId30"/>
    <p:sldId id="608" r:id="rId31"/>
    <p:sldId id="607" r:id="rId32"/>
    <p:sldId id="613" r:id="rId33"/>
    <p:sldId id="648" r:id="rId34"/>
    <p:sldId id="680" r:id="rId35"/>
    <p:sldId id="695" r:id="rId36"/>
    <p:sldId id="1007" r:id="rId37"/>
    <p:sldId id="836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0066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7" d="100"/>
          <a:sy n="97" d="100"/>
        </p:scale>
        <p:origin x="12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8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30.2325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3-12-11T01:09:31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29351 4039 0,'-18'36'94,"-17"69"-63,0-52-16,0 36 1,-1-37 0,19 37-1,-1-36 1,-17 17 0,-18 1-1,18-1 1,-1 1-1,-17-18 1,36 35 0,-54-18-1,18 19 1,-35 16 0,35-52-1,0 0 16,-17-17-15,17 17 0,-18-36-1,1 36 1,-36-18 0,0 18-1,0-17 1,18-1-1,35-18-15,0 1 16,-88 53 0,53-36-1,53-17 1,-1-18 0,-17 17-1,0 1 16,18-1-15,18-17 0,-1 0-1,-17 18 1,17-18 0,-17 0 15,17 0-16,-17 53 329,17-18-328,-17 18 15,35-35-15,0-1-1,18 36 17,17-53-17,-18 36 1,19-19-1,-1-17 1,0 18 0,-17-18-16,17 18 31,18-18 31,-53-36-30,0 19-17,0-36 1,-35 35 0,17-17-1,1 17 1,-19 18-16,19 0 15,-36-35 1,35 35 15,18 53 94,35 17-109,1-34 0,52 34-1,-53-52 1,36-18 46,-54-124-30,-34 36-1,-1 71-16,18-1 1,-35 0 0,17 18-1,0 0 1,-17 0 0,-18 18-1,18 0 1,17-1-1,1-17 1,17 18 47,0 17-32,17-35 141,19 0-157,-19 0 17,19 18-17,-19-1 1,1 1-1,17 0 32,0-1-31,-35 1 0,18 0-1,17 17 1,-17 0-1,-18-17 1,35 35 0,-17-36-1,-1 19 1,1 17 0,0-36 15,-1 1-16,1 17 1,0 18 0,-1-35-1,1 17 1,0 36 0,-18-19-1,17 19 1,1-18-1,-18 0 1,18 17 0,-1 36-1,18-18 1,-17 18 15,-18-71-15,18 36-1,-18 0 1,0 70 0,0-18-1,0-35 1,0 1 0,0-54-1,17 18 1,-17-36-1,18 36 1,-18-35 0,18 17-1,-18-17 17,17 35-1,-17-36-16,0 1 1,0 17 0,18-17-1,-18 35 1,35-35 0,-17 34-1,-18-16 16,0-54 94,-18 0-125</inkml:trace>
  <inkml:trace contextRef="#ctx0" brushRef="#br0" timeOffset="765.32">27834 8061 0,'53'159'32,"-106"-318"-32,141 406 15,-70-212-15,17 36 16,-17-18 0,0-18-1,17-17 1,0 17 15,-17-35-15,35 17-1,-36-17 32,36 0-31,-35-17-1,52-71 1,-17 17 0,-17 1-1,-1-19 1,0 54 0,-35 17-1,0 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입력 변수</a:t>
            </a:r>
            <a:r>
              <a:rPr lang="en-US" altLang="ko-KR" b="1" dirty="0"/>
              <a:t>(</a:t>
            </a:r>
            <a:r>
              <a:rPr lang="ko-KR" altLang="en-US" b="1" dirty="0"/>
              <a:t>특성</a:t>
            </a:r>
            <a:r>
              <a:rPr lang="en-US" altLang="ko-KR" b="1" dirty="0"/>
              <a:t>)</a:t>
            </a:r>
            <a:r>
              <a:rPr lang="ko-KR" altLang="en-US" dirty="0"/>
              <a:t>와 출력 </a:t>
            </a:r>
            <a:r>
              <a:rPr lang="ko-KR" altLang="en-US" b="1" dirty="0"/>
              <a:t>변수</a:t>
            </a:r>
            <a:r>
              <a:rPr lang="en-US" altLang="ko-KR" b="1" dirty="0"/>
              <a:t>(</a:t>
            </a:r>
            <a:r>
              <a:rPr lang="ko-KR" altLang="en-US" b="1" dirty="0"/>
              <a:t>목표 값</a:t>
            </a:r>
            <a:r>
              <a:rPr lang="en-US" altLang="ko-KR" b="1" dirty="0"/>
              <a:t>) </a:t>
            </a:r>
            <a:r>
              <a:rPr lang="ko-KR" altLang="en-US" b="1" dirty="0"/>
              <a:t>사이의 관계를 알아 내서</a:t>
            </a:r>
            <a:r>
              <a:rPr lang="en-US" altLang="ko-KR" b="1" dirty="0"/>
              <a:t>, </a:t>
            </a:r>
            <a:r>
              <a:rPr lang="ko-KR" altLang="en-US" b="1" dirty="0"/>
              <a:t>새로운 입력 데이터에 대해 적절한 출력을 얻어내는 것</a:t>
            </a:r>
            <a:r>
              <a:rPr lang="en-US" altLang="ko-KR" b="1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에 대해 좋은지 나쁜지를 평가할 수 있어야 함</a:t>
            </a:r>
            <a:endParaRPr lang="en-US" altLang="ko-KR" dirty="0">
              <a:latin typeface="+mn-ea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53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40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06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Loss</a:t>
            </a:r>
            <a:r>
              <a:rPr lang="ko-KR" altLang="en-US" dirty="0"/>
              <a:t>를 최소화 하는 </a:t>
            </a:r>
            <a:r>
              <a:rPr lang="en-US" altLang="ko-KR" dirty="0" err="1"/>
              <a:t>a,b</a:t>
            </a:r>
            <a:r>
              <a:rPr lang="ko-KR" altLang="en-US" dirty="0"/>
              <a:t>가 최적의 </a:t>
            </a:r>
            <a:r>
              <a:rPr lang="en-US" altLang="ko-KR" dirty="0" err="1"/>
              <a:t>a,b</a:t>
            </a:r>
            <a:r>
              <a:rPr lang="ko-KR" altLang="en-US" dirty="0"/>
              <a:t>가 되는 것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06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yongho/ss-79607172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optim.html" TargetMode="External"/><Relationship Id="rId2" Type="http://schemas.openxmlformats.org/officeDocument/2006/relationships/hyperlink" Target="https://keras.io/api/optimizers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70593" y="2828835"/>
            <a:ext cx="7850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회귀와 </a:t>
            </a:r>
            <a:r>
              <a:rPr lang="ko-KR" altLang="en-US" sz="72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경사하강법</a:t>
            </a:r>
            <a:endParaRPr lang="ko-KR" altLang="en-US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369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FBD30B2-8E2A-B2B1-139B-0B397DF4DECD}"/>
              </a:ext>
            </a:extLst>
          </p:cNvPr>
          <p:cNvGrpSpPr/>
          <p:nvPr/>
        </p:nvGrpSpPr>
        <p:grpSpPr>
          <a:xfrm>
            <a:off x="1799367" y="2967947"/>
            <a:ext cx="8593265" cy="1514582"/>
            <a:chOff x="1293051" y="2689013"/>
            <a:chExt cx="8593265" cy="1514582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1E164C8-17B5-803E-04C0-1BFF38A233A4}"/>
                </a:ext>
              </a:extLst>
            </p:cNvPr>
            <p:cNvGrpSpPr/>
            <p:nvPr/>
          </p:nvGrpSpPr>
          <p:grpSpPr>
            <a:xfrm>
              <a:off x="6911415" y="2727649"/>
              <a:ext cx="2974901" cy="1475946"/>
              <a:chOff x="7851899" y="1972572"/>
              <a:chExt cx="3527302" cy="175001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EF8B31-22A8-D850-51B9-5CE519E7A617}"/>
                  </a:ext>
                </a:extLst>
              </p:cNvPr>
              <p:cNvSpPr txBox="1"/>
              <p:nvPr/>
            </p:nvSpPr>
            <p:spPr>
              <a:xfrm>
                <a:off x="10160598" y="3460972"/>
                <a:ext cx="121860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/>
                  <a:t>[</a:t>
                </a:r>
                <a:r>
                  <a:rPr lang="ko-KR" altLang="en-US" sz="1100" dirty="0"/>
                  <a:t>출처</a:t>
                </a:r>
                <a:r>
                  <a:rPr lang="en-US" altLang="ko-KR" sz="1100" dirty="0"/>
                  <a:t>] </a:t>
                </a:r>
                <a:r>
                  <a:rPr lang="ko-KR" altLang="en-US" sz="1100" dirty="0"/>
                  <a:t>네이버 사전</a:t>
                </a: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93CFC06F-4352-AA53-B360-E64DFC76F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9026"/>
              <a:stretch/>
            </p:blipFill>
            <p:spPr>
              <a:xfrm>
                <a:off x="7851899" y="1972572"/>
                <a:ext cx="3396672" cy="1426800"/>
              </a:xfrm>
              <a:prstGeom prst="rect">
                <a:avLst/>
              </a:prstGeom>
            </p:spPr>
          </p:pic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A0129AE-2E10-87C6-4FD5-17446C19E4F3}"/>
                </a:ext>
              </a:extLst>
            </p:cNvPr>
            <p:cNvGrpSpPr/>
            <p:nvPr/>
          </p:nvGrpSpPr>
          <p:grpSpPr>
            <a:xfrm>
              <a:off x="1293051" y="2689013"/>
              <a:ext cx="5550488" cy="1514582"/>
              <a:chOff x="828326" y="2179569"/>
              <a:chExt cx="6369742" cy="1738135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075EFF1B-8D11-693D-CBBD-C980D0B25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1525"/>
              <a:stretch/>
            </p:blipFill>
            <p:spPr>
              <a:xfrm>
                <a:off x="828326" y="3467761"/>
                <a:ext cx="5848845" cy="449943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9BF73652-CF46-C482-A362-5397F944A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326" y="2179569"/>
                <a:ext cx="6369742" cy="1325563"/>
              </a:xfrm>
              <a:prstGeom prst="rect">
                <a:avLst/>
              </a:prstGeom>
            </p:spPr>
          </p:pic>
        </p:grp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1" y="2258970"/>
            <a:ext cx="8465977" cy="708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💡회귀</a:t>
            </a:r>
            <a:r>
              <a:rPr lang="en-US" altLang="ko-KR" dirty="0">
                <a:latin typeface="+mn-ea"/>
              </a:rPr>
              <a:t>(Regression)</a:t>
            </a:r>
            <a:r>
              <a:rPr lang="ko-KR" altLang="en-US" dirty="0">
                <a:latin typeface="+mn-ea"/>
              </a:rPr>
              <a:t>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57E4E5D-6089-5510-DBA3-613CBF2B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90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C051-D37F-B013-FF8E-33EDB88F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9A45B-632C-5261-626C-95A93C9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D891E1-2111-7687-B79A-5BB027F9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17F73E-8305-58DC-6C0E-B54BFEE46A0B}"/>
              </a:ext>
            </a:extLst>
          </p:cNvPr>
          <p:cNvSpPr txBox="1"/>
          <p:nvPr/>
        </p:nvSpPr>
        <p:spPr>
          <a:xfrm>
            <a:off x="251788" y="1145407"/>
            <a:ext cx="9954589" cy="2890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📌 회귀</a:t>
            </a:r>
            <a:r>
              <a:rPr lang="en-US" altLang="ko-KR" sz="2800" b="1" dirty="0"/>
              <a:t>(Regression)</a:t>
            </a:r>
            <a:r>
              <a:rPr lang="ko-KR" altLang="en-US" sz="2800" b="1" dirty="0"/>
              <a:t>의 기원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프랜시스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골턴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(Francis Galton)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연구에서 유래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(19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부모의 키가 평균보다 클 경우 자식의 키는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평균에 가까워지는 경향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발견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                                                   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의 형태로 예측을 시도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이를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평균으로의 회귀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(Regression to the mean)"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 명명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C87A591-DE69-ECDC-6245-C507612B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9" t="21473" r="7246" b="18643"/>
          <a:stretch/>
        </p:blipFill>
        <p:spPr>
          <a:xfrm>
            <a:off x="1584506" y="3080810"/>
            <a:ext cx="3893429" cy="328319"/>
          </a:xfrm>
          <a:prstGeom prst="rect">
            <a:avLst/>
          </a:prstGeom>
        </p:spPr>
      </p:pic>
      <p:sp>
        <p:nvSpPr>
          <p:cNvPr id="12" name="제목 7">
            <a:extLst>
              <a:ext uri="{FF2B5EF4-FFF2-40B4-BE49-F238E27FC236}">
                <a16:creationId xmlns:a16="http://schemas.microsoft.com/office/drawing/2014/main" id="{6D416149-8D78-6297-8376-75EC38DB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966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F71C-20CC-A3CB-2F53-0DA54FD7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D3A89A9-88D3-0B6C-D160-9103DBE6DFA7}"/>
              </a:ext>
            </a:extLst>
          </p:cNvPr>
          <p:cNvSpPr/>
          <p:nvPr/>
        </p:nvSpPr>
        <p:spPr>
          <a:xfrm>
            <a:off x="943428" y="2779226"/>
            <a:ext cx="4441372" cy="17713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데이터가 평균으로</a:t>
            </a:r>
            <a:endParaRPr lang="en-US" altLang="ko-KR" sz="2800" dirty="0"/>
          </a:p>
          <a:p>
            <a:pPr algn="ctr"/>
            <a:r>
              <a:rPr lang="ko-KR" altLang="en-US" sz="2800" b="1" dirty="0"/>
              <a:t>돌아가는 경향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회귀</a:t>
            </a:r>
            <a:r>
              <a:rPr lang="en-US" altLang="ko-KR" sz="2800" b="1" dirty="0"/>
              <a:t>)</a:t>
            </a:r>
            <a:endParaRPr lang="ko-KR" altLang="en-US" sz="28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CD1CE-7D1B-3D71-36E1-588EE5E2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6DB1F4-A165-6515-9D60-882B074B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A6BA02A-31C4-5D55-9AEF-111CE7CABBC8}"/>
              </a:ext>
            </a:extLst>
          </p:cNvPr>
          <p:cNvSpPr/>
          <p:nvPr/>
        </p:nvSpPr>
        <p:spPr>
          <a:xfrm>
            <a:off x="5738939" y="3439918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5087590-2939-446B-B804-8B421EE3FAD3}"/>
              </a:ext>
            </a:extLst>
          </p:cNvPr>
          <p:cNvSpPr/>
          <p:nvPr/>
        </p:nvSpPr>
        <p:spPr>
          <a:xfrm>
            <a:off x="6807199" y="2779226"/>
            <a:ext cx="4441372" cy="17713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/>
              <a:t>변수 간의 관계를</a:t>
            </a:r>
            <a:endParaRPr lang="en-US" altLang="ko-KR" sz="2800" dirty="0"/>
          </a:p>
          <a:p>
            <a:pPr algn="ctr"/>
            <a:r>
              <a:rPr lang="ko-KR" altLang="en-US" sz="2800" dirty="0"/>
              <a:t>모델링하여 예측하는 방법</a:t>
            </a:r>
          </a:p>
        </p:txBody>
      </p:sp>
      <p:sp>
        <p:nvSpPr>
          <p:cNvPr id="37" name="내용 개체 틀 2">
            <a:extLst>
              <a:ext uri="{FF2B5EF4-FFF2-40B4-BE49-F238E27FC236}">
                <a16:creationId xmlns:a16="http://schemas.microsoft.com/office/drawing/2014/main" id="{564EC797-1F81-1A47-838C-AB2ABA1192C6}"/>
              </a:ext>
            </a:extLst>
          </p:cNvPr>
          <p:cNvSpPr txBox="1">
            <a:spLocks/>
          </p:cNvSpPr>
          <p:nvPr/>
        </p:nvSpPr>
        <p:spPr>
          <a:xfrm>
            <a:off x="812799" y="2034212"/>
            <a:ext cx="8465977" cy="7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>
                <a:latin typeface="+mn-ea"/>
              </a:rPr>
              <a:t>✅ 의미 변화</a:t>
            </a:r>
          </a:p>
        </p:txBody>
      </p:sp>
      <p:sp>
        <p:nvSpPr>
          <p:cNvPr id="7" name="제목 7">
            <a:extLst>
              <a:ext uri="{FF2B5EF4-FFF2-40B4-BE49-F238E27FC236}">
                <a16:creationId xmlns:a16="http://schemas.microsoft.com/office/drawing/2014/main" id="{1E78DA94-6054-FB08-20C3-3CC275EA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95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6331-59AE-B917-3952-A77F6ED6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DEAFC-00CB-B422-A870-C561AA8D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6031"/>
            <a:ext cx="11547782" cy="36486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연속적인 값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실수형 데이터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을 예측</a:t>
            </a:r>
            <a:r>
              <a:rPr lang="ko-KR" altLang="en-US" sz="2400" dirty="0"/>
              <a:t>하기 위해 사용됨</a:t>
            </a:r>
            <a:r>
              <a:rPr lang="en-US" altLang="ko-KR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</a:t>
            </a:r>
            <a:r>
              <a:rPr lang="ko-KR" altLang="en-US" sz="2000" dirty="0"/>
              <a:t> 주택 가격</a:t>
            </a:r>
            <a:r>
              <a:rPr lang="en-US" altLang="ko-KR" sz="2000" dirty="0"/>
              <a:t>, </a:t>
            </a:r>
            <a:r>
              <a:rPr lang="ko-KR" altLang="en-US" sz="2000" dirty="0"/>
              <a:t>주식 시장의 변동</a:t>
            </a:r>
            <a:r>
              <a:rPr lang="en-US" altLang="ko-KR" sz="2000" dirty="0"/>
              <a:t>, </a:t>
            </a:r>
            <a:r>
              <a:rPr lang="ko-KR" altLang="en-US" sz="2000" dirty="0"/>
              <a:t>날씨 예측 등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주요 목표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입력 변수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특성</a:t>
            </a:r>
            <a:r>
              <a:rPr lang="en-US" altLang="ko-KR" sz="2000" b="1" dirty="0"/>
              <a:t>)</a:t>
            </a:r>
            <a:r>
              <a:rPr lang="ko-KR" altLang="en-US" sz="2000" dirty="0"/>
              <a:t>와 출력 </a:t>
            </a:r>
            <a:r>
              <a:rPr lang="ko-KR" altLang="en-US" sz="2000" b="1" dirty="0"/>
              <a:t>변수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목표 값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사이의 관계를 모델링</a:t>
            </a:r>
            <a:r>
              <a:rPr lang="ko-KR" altLang="en-US" sz="2000" dirty="0"/>
              <a:t>하여</a:t>
            </a:r>
            <a:r>
              <a:rPr lang="en-US" altLang="ko-KR" sz="2000" dirty="0"/>
              <a:t>, </a:t>
            </a:r>
            <a:r>
              <a:rPr lang="ko-KR" altLang="en-US" sz="2000" b="1" dirty="0"/>
              <a:t>새로운 입력 데이터에 대해 정확한 출력을 예측</a:t>
            </a:r>
            <a:r>
              <a:rPr lang="ko-KR" altLang="en-US" sz="2000" dirty="0"/>
              <a:t>하는 것</a:t>
            </a:r>
            <a:r>
              <a:rPr lang="en-US" altLang="ko-KR" sz="2000" dirty="0"/>
              <a:t>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+mn-ea"/>
              </a:rPr>
              <a:t>= </a:t>
            </a:r>
            <a:r>
              <a:rPr lang="ko-KR" altLang="en-US" sz="2000" b="1" dirty="0">
                <a:latin typeface="+mn-ea"/>
              </a:rPr>
              <a:t>최적의 회귀 계수를 찾아내는 것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24022E-F7D4-AC38-F09F-3F2B4F0B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D4C0D4-D4C2-CC80-D997-52F94B16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2118C2-FBCF-B56E-C795-A39AC213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086" y="4848582"/>
            <a:ext cx="7953828" cy="5076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0CE2A5-B0AC-D585-5CBD-D5E575379F0C}"/>
              </a:ext>
            </a:extLst>
          </p:cNvPr>
          <p:cNvGrpSpPr/>
          <p:nvPr/>
        </p:nvGrpSpPr>
        <p:grpSpPr>
          <a:xfrm>
            <a:off x="5045490" y="5407195"/>
            <a:ext cx="2124566" cy="533474"/>
            <a:chOff x="4624577" y="5651318"/>
            <a:chExt cx="2124566" cy="53347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E492DBA-1C8B-16DC-2765-223BF82F5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24577" y="5651318"/>
              <a:ext cx="533474" cy="53347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E2EFA5-16CB-308B-DE4A-75FEACCB62BC}"/>
                </a:ext>
              </a:extLst>
            </p:cNvPr>
            <p:cNvSpPr txBox="1"/>
            <p:nvPr/>
          </p:nvSpPr>
          <p:spPr>
            <a:xfrm>
              <a:off x="5158051" y="5692548"/>
              <a:ext cx="15910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400" dirty="0">
                  <a:latin typeface="+mn-ea"/>
                </a:rPr>
                <a:t>= </a:t>
              </a:r>
              <a:r>
                <a:rPr lang="ko-KR" altLang="en-US" sz="2400" dirty="0">
                  <a:latin typeface="+mn-ea"/>
                </a:rPr>
                <a:t>회귀 계수 </a:t>
              </a:r>
              <a:endParaRPr lang="ko-KR" altLang="en-US" sz="2400" dirty="0"/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5FA8C3AE-ACB6-AE18-DB0D-BE657880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135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477"/>
            <a:ext cx="11509829" cy="5792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✅ 회귀 모델의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45B0C0C-CCE3-E602-326D-B6070A48E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984915"/>
              </p:ext>
            </p:extLst>
          </p:nvPr>
        </p:nvGraphicFramePr>
        <p:xfrm>
          <a:off x="389391" y="1637772"/>
          <a:ext cx="11413218" cy="4574058"/>
        </p:xfrm>
        <a:graphic>
          <a:graphicData uri="http://schemas.openxmlformats.org/drawingml/2006/table">
            <a:tbl>
              <a:tblPr/>
              <a:tblGrid>
                <a:gridCol w="1274989">
                  <a:extLst>
                    <a:ext uri="{9D8B030D-6E8A-4147-A177-3AD203B41FA5}">
                      <a16:colId xmlns:a16="http://schemas.microsoft.com/office/drawing/2014/main" val="3223888947"/>
                    </a:ext>
                  </a:extLst>
                </a:gridCol>
                <a:gridCol w="3396343">
                  <a:extLst>
                    <a:ext uri="{9D8B030D-6E8A-4147-A177-3AD203B41FA5}">
                      <a16:colId xmlns:a16="http://schemas.microsoft.com/office/drawing/2014/main" val="38111115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542552805"/>
                    </a:ext>
                  </a:extLst>
                </a:gridCol>
                <a:gridCol w="2474686">
                  <a:extLst>
                    <a:ext uri="{9D8B030D-6E8A-4147-A177-3AD203B41FA5}">
                      <a16:colId xmlns:a16="http://schemas.microsoft.com/office/drawing/2014/main" val="670279900"/>
                    </a:ext>
                  </a:extLst>
                </a:gridCol>
              </a:tblGrid>
              <a:tr h="2603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카테고리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 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 및 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99018"/>
                  </a:ext>
                </a:extLst>
              </a:tr>
              <a:tr h="5206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선형적 관계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Linear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 간의 관계가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직선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나타나는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방 크기 → 집값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9917"/>
                  </a:ext>
                </a:extLst>
              </a:tr>
              <a:tr h="4987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단일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Simple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공부 시간 → 시험 점수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253964"/>
                  </a:ext>
                </a:extLst>
              </a:tr>
              <a:tr h="444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다중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Multiple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이상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 선형 회귀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공부 시간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수면 시간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→ 시험 점수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078103"/>
                  </a:ext>
                </a:extLst>
              </a:tr>
              <a:tr h="6498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비선형적 관계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비선형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(Nonlinear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변수의 관계가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선형이 아닌 모든 형태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포함하는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자동차 속도와 연비의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곡선적 관계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720965"/>
                  </a:ext>
                </a:extLst>
              </a:tr>
              <a:tr h="551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다항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(Polynomial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독립 변수와 종속 변수 간의 관계를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다항식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모델링하는 비선형 회귀의 한 형태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약물 용량과 효과 간의 관계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43420"/>
                  </a:ext>
                </a:extLst>
              </a:tr>
              <a:tr h="5206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정규화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릿지 회귀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Ridge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과적합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방지를 위해 가중치 값에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패널티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(L2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추가한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고차원 데이터 분석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29778"/>
                  </a:ext>
                </a:extLst>
              </a:tr>
              <a:tr h="6071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라쏘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회귀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Lasso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불필요한 변수를 제거하기 위해 일부 가중치를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만드는 정규화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(L1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규제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를 적용한 선형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불필요한 변수 제거 후 예측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413320"/>
                  </a:ext>
                </a:extLst>
              </a:tr>
              <a:tr h="520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특수 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로지스틱 회귀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Logistic Regression)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종속 변수가*범주형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분류 문제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때 사용되며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결과를 확률로 나타내는 회귀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이메일 스팸 여부 판별</a:t>
                      </a:r>
                    </a:p>
                  </a:txBody>
                  <a:tcPr marL="108000" marR="10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816353"/>
                  </a:ext>
                </a:extLst>
              </a:tr>
            </a:tbl>
          </a:graphicData>
        </a:graphic>
      </p:graphicFrame>
      <p:sp>
        <p:nvSpPr>
          <p:cNvPr id="10" name="제목 7">
            <a:extLst>
              <a:ext uri="{FF2B5EF4-FFF2-40B4-BE49-F238E27FC236}">
                <a16:creationId xmlns:a16="http://schemas.microsoft.com/office/drawing/2014/main" id="{8066BB07-2A06-24CB-FBDD-A52D5DFF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86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CB80-6FA1-848B-296D-9E880FF5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C5E43-FE07-773D-C285-289ADF694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3" y="1146175"/>
            <a:ext cx="11687174" cy="36818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✅ 회귀 모델의 성능 평가 지표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모델이 실제 데이터와 얼마나 잘 맞는지를 측정하는 도구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오차를 측정</a:t>
            </a:r>
            <a:r>
              <a:rPr lang="en-US" altLang="ko-KR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예측값과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실제값</a:t>
            </a:r>
            <a:r>
              <a:rPr lang="ko-KR" altLang="en-US" dirty="0">
                <a:latin typeface="+mn-ea"/>
              </a:rPr>
              <a:t> 간의 차이를 기반으로 계산되며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모델의 정확도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일관성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오차 크기 등을 파악</a:t>
            </a:r>
            <a:r>
              <a:rPr lang="ko-KR" altLang="en-US" dirty="0">
                <a:latin typeface="+mn-ea"/>
              </a:rPr>
              <a:t>하는 데 </a:t>
            </a:r>
            <a:r>
              <a:rPr lang="ko-KR" altLang="en-US" dirty="0" err="1">
                <a:latin typeface="+mn-ea"/>
              </a:rPr>
              <a:t>사용돔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 종류 </a:t>
            </a:r>
            <a:r>
              <a:rPr lang="en-US" altLang="ko-KR" dirty="0">
                <a:latin typeface="+mn-ea"/>
              </a:rPr>
              <a:t>: MAE, MSE, RMSE, R^2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C6B16-96B3-F30C-9E13-2AF0E05F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F87DA2-8D9C-5813-A156-7F6FB73E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EF3EE4C-30C5-32C6-A490-CA1A88FC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ko-KR" altLang="en-US" b="1" dirty="0">
                <a:latin typeface="+mj-ea"/>
              </a:rPr>
              <a:t>회귀</a:t>
            </a:r>
            <a:r>
              <a:rPr lang="en-US" altLang="ko-KR" b="1" dirty="0">
                <a:latin typeface="+mj-ea"/>
              </a:rPr>
              <a:t>(Regression)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20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0" y="1145407"/>
            <a:ext cx="11701221" cy="43857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종속 변수 </a:t>
            </a:r>
            <a:r>
              <a:rPr lang="en-US" altLang="ko-KR" dirty="0">
                <a:latin typeface="+mn-ea"/>
              </a:rPr>
              <a:t>y</a:t>
            </a:r>
            <a:r>
              <a:rPr lang="ko-KR" altLang="en-US" dirty="0">
                <a:latin typeface="+mn-ea"/>
              </a:rPr>
              <a:t>와 하나 이상의 독립 변수 </a:t>
            </a:r>
            <a:r>
              <a:rPr lang="en-US" altLang="ko-KR" dirty="0">
                <a:latin typeface="+mn-ea"/>
              </a:rPr>
              <a:t>x</a:t>
            </a:r>
            <a:r>
              <a:rPr lang="ko-KR" altLang="en-US" dirty="0">
                <a:latin typeface="+mn-ea"/>
              </a:rPr>
              <a:t>와의 선형 상관관계를 모델링하는 기법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속에서 일정한 패턴</a:t>
            </a:r>
            <a:r>
              <a:rPr lang="en-US" altLang="ko-KR" dirty="0"/>
              <a:t>(</a:t>
            </a:r>
            <a:r>
              <a:rPr lang="ko-KR" altLang="en-US" dirty="0"/>
              <a:t>규칙</a:t>
            </a:r>
            <a:r>
              <a:rPr lang="en-US" altLang="ko-KR" dirty="0"/>
              <a:t>)</a:t>
            </a:r>
            <a:r>
              <a:rPr lang="ko-KR" altLang="en-US" dirty="0"/>
              <a:t>을 찾아내고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ko-KR" altLang="en-US" b="1" dirty="0"/>
              <a:t>직선 방정식</a:t>
            </a:r>
            <a:r>
              <a:rPr lang="ko-KR" altLang="en-US" dirty="0"/>
              <a:t>으로 표현하는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W </a:t>
            </a:r>
            <a:r>
              <a:rPr lang="ko-KR" altLang="en-US" dirty="0">
                <a:latin typeface="+mn-ea"/>
              </a:rPr>
              <a:t>를 가중치</a:t>
            </a:r>
            <a:r>
              <a:rPr lang="en-US" altLang="ko-KR" dirty="0">
                <a:latin typeface="+mn-ea"/>
              </a:rPr>
              <a:t>(Weight), b</a:t>
            </a:r>
            <a:r>
              <a:rPr lang="ko-KR" altLang="en-US" dirty="0">
                <a:latin typeface="+mn-ea"/>
              </a:rPr>
              <a:t>를 편향</a:t>
            </a:r>
            <a:r>
              <a:rPr lang="en-US" altLang="ko-KR" dirty="0">
                <a:latin typeface="+mn-ea"/>
              </a:rPr>
              <a:t>(bias)</a:t>
            </a:r>
            <a:r>
              <a:rPr lang="ko-KR" altLang="en-US" dirty="0">
                <a:latin typeface="+mn-ea"/>
              </a:rPr>
              <a:t>라고 부름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✔️ 만약 독립 변수 </a:t>
            </a:r>
            <a:r>
              <a:rPr lang="en-US" altLang="ko-KR" dirty="0">
                <a:latin typeface="+mn-ea"/>
              </a:rPr>
              <a:t>x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개라면 </a:t>
            </a:r>
            <a:r>
              <a:rPr lang="ko-KR" altLang="en-US" b="1" dirty="0">
                <a:latin typeface="+mn-ea"/>
              </a:rPr>
              <a:t>단순 선형 회귀</a:t>
            </a:r>
            <a:r>
              <a:rPr lang="en-US" altLang="ko-KR" dirty="0">
                <a:latin typeface="+mn-ea"/>
              </a:rPr>
              <a:t>, 2</a:t>
            </a:r>
            <a:r>
              <a:rPr lang="ko-KR" altLang="en-US" dirty="0">
                <a:latin typeface="+mn-ea"/>
              </a:rPr>
              <a:t>개 이상이면 </a:t>
            </a:r>
            <a:r>
              <a:rPr lang="ko-KR" altLang="en-US" b="1" dirty="0">
                <a:latin typeface="+mn-ea"/>
              </a:rPr>
              <a:t>다중 선형 회귀</a:t>
            </a:r>
            <a:r>
              <a:rPr lang="ko-KR" altLang="en-US" dirty="0">
                <a:latin typeface="+mn-ea"/>
              </a:rPr>
              <a:t>라고 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775" y="3338293"/>
            <a:ext cx="3916450" cy="72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007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19390" cy="13231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단순 선형 회귀</a:t>
            </a:r>
            <a:endParaRPr lang="en-US" altLang="ko-KR" sz="28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그래프의 형태는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직선</a:t>
            </a:r>
            <a:endParaRPr lang="en-US" altLang="ko-KR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61" y="2597971"/>
            <a:ext cx="2831771" cy="5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2118C2-FBCF-B56E-C795-A39AC213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61" y="5032197"/>
            <a:ext cx="7953828" cy="50769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45844AE-D72A-8B2A-C9EB-DE69538C4A0C}"/>
              </a:ext>
            </a:extLst>
          </p:cNvPr>
          <p:cNvSpPr txBox="1">
            <a:spLocks/>
          </p:cNvSpPr>
          <p:nvPr/>
        </p:nvSpPr>
        <p:spPr>
          <a:xfrm>
            <a:off x="238991" y="3571417"/>
            <a:ext cx="11419390" cy="13231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다중 선형 회귀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만약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개의 독립 변수면 그래프는 평면으로 나타남</a:t>
            </a:r>
          </a:p>
        </p:txBody>
      </p:sp>
    </p:spTree>
    <p:extLst>
      <p:ext uri="{BB962C8B-B14F-4D97-AF65-F5344CB8AC3E}">
        <p14:creationId xmlns:p14="http://schemas.microsoft.com/office/powerpoint/2010/main" val="14621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err="1">
                <a:latin typeface="+mj-ea"/>
              </a:rPr>
              <a:t>가중치와</a:t>
            </a:r>
            <a:r>
              <a:rPr lang="en-US" altLang="ko-KR" sz="4800" b="1" dirty="0">
                <a:latin typeface="+mj-ea"/>
              </a:rPr>
              <a:t> </a:t>
            </a:r>
            <a:r>
              <a:rPr lang="en-US" altLang="ko-KR" sz="4800" b="1" dirty="0" err="1">
                <a:latin typeface="+mj-ea"/>
              </a:rPr>
              <a:t>편향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238" cy="38081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가중치(</a:t>
            </a:r>
            <a:r>
              <a:rPr lang="ko-KR" altLang="en-US" b="1" dirty="0" err="1">
                <a:latin typeface="+mn-ea"/>
              </a:rPr>
              <a:t>Weight</a:t>
            </a:r>
            <a:r>
              <a:rPr lang="ko-KR" altLang="en-US" b="1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입력 변수 </a:t>
            </a:r>
            <a:r>
              <a:rPr lang="en-US" altLang="ko-KR" dirty="0"/>
              <a:t>x</a:t>
            </a:r>
            <a:r>
              <a:rPr lang="ko-KR" altLang="en-US" dirty="0"/>
              <a:t>가 결과값 </a:t>
            </a:r>
            <a:r>
              <a:rPr lang="en-US" altLang="ko-KR" dirty="0"/>
              <a:t>y</a:t>
            </a:r>
            <a:r>
              <a:rPr lang="ko-KR" altLang="en-US" dirty="0"/>
              <a:t>에 얼마나 영향을 미치는지를 나타냄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그래프상 </a:t>
            </a:r>
            <a:r>
              <a:rPr lang="ko-KR" altLang="en-US" dirty="0"/>
              <a:t>직선의 </a:t>
            </a:r>
            <a:r>
              <a:rPr lang="ko-KR" altLang="en-US" b="1" dirty="0"/>
              <a:t>기울기</a:t>
            </a: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편향(</a:t>
            </a:r>
            <a:r>
              <a:rPr lang="ko-KR" altLang="en-US" b="1" dirty="0" err="1">
                <a:latin typeface="+mn-ea"/>
              </a:rPr>
              <a:t>bias</a:t>
            </a:r>
            <a:r>
              <a:rPr lang="ko-KR" altLang="en-US" b="1" dirty="0">
                <a:latin typeface="+mn-ea"/>
              </a:rPr>
              <a:t>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모델이 입력 값과 관계없이 일정한 기본 출력 값을 가지도록 조정하는 역할을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직선이 </a:t>
            </a:r>
            <a:r>
              <a:rPr lang="en-US" altLang="ko-KR" dirty="0"/>
              <a:t>y</a:t>
            </a:r>
            <a:r>
              <a:rPr lang="ko-KR" altLang="en-US" dirty="0"/>
              <a:t>축과 만나는 지점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b="1" dirty="0"/>
              <a:t>y</a:t>
            </a:r>
            <a:r>
              <a:rPr lang="ko-KR" altLang="en-US" b="1" dirty="0"/>
              <a:t>절편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51788" y="5441239"/>
            <a:ext cx="96359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➡️ 가중치와 편향을 조정해서 실제 값과 예측 값 간의 오차를 최소화</a:t>
            </a:r>
          </a:p>
        </p:txBody>
      </p:sp>
    </p:spTree>
    <p:extLst>
      <p:ext uri="{BB962C8B-B14F-4D97-AF65-F5344CB8AC3E}">
        <p14:creationId xmlns:p14="http://schemas.microsoft.com/office/powerpoint/2010/main" val="1647509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err="1">
                <a:latin typeface="+mj-ea"/>
              </a:rPr>
              <a:t>가중치와</a:t>
            </a:r>
            <a:r>
              <a:rPr lang="en-US" altLang="ko-KR" sz="4800" b="1" dirty="0">
                <a:latin typeface="+mj-ea"/>
              </a:rPr>
              <a:t> </a:t>
            </a:r>
            <a:r>
              <a:rPr lang="en-US" altLang="ko-KR" sz="4800" b="1" dirty="0" err="1">
                <a:latin typeface="+mj-ea"/>
              </a:rPr>
              <a:t>편향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>
                <a:latin typeface="+mj-ea"/>
              </a:rPr>
              <a:t>예시</a:t>
            </a:r>
            <a:r>
              <a:rPr lang="en-US" altLang="ko-KR" sz="4800" b="1" dirty="0">
                <a:latin typeface="+mj-ea"/>
              </a:rPr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660236"/>
              </p:ext>
            </p:extLst>
          </p:nvPr>
        </p:nvGraphicFramePr>
        <p:xfrm>
          <a:off x="333944" y="2448487"/>
          <a:ext cx="4908616" cy="2245432"/>
        </p:xfrm>
        <a:graphic>
          <a:graphicData uri="http://schemas.openxmlformats.org/drawingml/2006/table">
            <a:tbl>
              <a:tblPr/>
              <a:tblGrid>
                <a:gridCol w="245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공부 시간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x)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시험 점수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y)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8" y="2595095"/>
            <a:ext cx="2415542" cy="500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626392" y="1907025"/>
            <a:ext cx="2710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latin typeface="+mn-ea"/>
              </a:rPr>
              <a:t>✅ 직선의 방정식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096000" y="3260463"/>
            <a:ext cx="5762056" cy="2152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✔️ 가중치 </a:t>
            </a:r>
            <a:r>
              <a:rPr lang="en-US" altLang="ko-KR" sz="2400" dirty="0"/>
              <a:t>(</a:t>
            </a:r>
            <a:r>
              <a:rPr lang="ko-KR" altLang="en-US" sz="2400" dirty="0"/>
              <a:t>𝑤 </a:t>
            </a:r>
            <a:r>
              <a:rPr lang="en-US" altLang="ko-KR" sz="2400" dirty="0"/>
              <a:t>= 10):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공부 시간이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 늘어나면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증가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✔️ 편향 </a:t>
            </a:r>
            <a:r>
              <a:rPr lang="en-US" altLang="ko-KR" sz="2400" dirty="0"/>
              <a:t>(b = 40):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공부 시간이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시간일 때도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54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 descr="뉴런의 편향(bias)에 대한 또 다른 시각 - DACON">
            <a:extLst>
              <a:ext uri="{FF2B5EF4-FFF2-40B4-BE49-F238E27FC236}">
                <a16:creationId xmlns:a16="http://schemas.microsoft.com/office/drawing/2014/main" id="{05964A17-4EAC-BF13-80F0-8D80729D3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1" t="6851" r="10873" b="15648"/>
          <a:stretch/>
        </p:blipFill>
        <p:spPr>
          <a:xfrm>
            <a:off x="1569720" y="1554480"/>
            <a:ext cx="9052560" cy="4135120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39A1FEE4-020F-2D7E-C3E7-00CB578D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가중치와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편향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예시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42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E7EF4CD-9267-8624-241B-88B2AC3374C6}"/>
              </a:ext>
            </a:extLst>
          </p:cNvPr>
          <p:cNvGrpSpPr/>
          <p:nvPr/>
        </p:nvGrpSpPr>
        <p:grpSpPr>
          <a:xfrm>
            <a:off x="2760520" y="1501984"/>
            <a:ext cx="1162946" cy="1154729"/>
            <a:chOff x="2558457" y="1534717"/>
            <a:chExt cx="871317" cy="86310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4833094-BFB8-9B1A-D412-C731A066A70D}"/>
                </a:ext>
              </a:extLst>
            </p:cNvPr>
            <p:cNvSpPr/>
            <p:nvPr/>
          </p:nvSpPr>
          <p:spPr>
            <a:xfrm>
              <a:off x="2558457" y="1534717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solidFill>
                  <a:srgbClr val="4472C4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DC2F4D-6392-41AD-E024-434951F3734C}"/>
                </a:ext>
              </a:extLst>
            </p:cNvPr>
            <p:cNvSpPr txBox="1"/>
            <p:nvPr/>
          </p:nvSpPr>
          <p:spPr>
            <a:xfrm>
              <a:off x="2717903" y="1798397"/>
              <a:ext cx="621174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>
                  <a:solidFill>
                    <a:schemeClr val="accent1"/>
                  </a:solidFill>
                </a:rPr>
                <a:t>스펙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83ECA52-D398-5EC3-437E-1AE4F61E3D74}"/>
              </a:ext>
            </a:extLst>
          </p:cNvPr>
          <p:cNvGrpSpPr/>
          <p:nvPr/>
        </p:nvGrpSpPr>
        <p:grpSpPr>
          <a:xfrm>
            <a:off x="2760518" y="3054920"/>
            <a:ext cx="1313156" cy="1154729"/>
            <a:chOff x="2558456" y="3087653"/>
            <a:chExt cx="983838" cy="8631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367743C-23D3-7421-B807-984725E8E572}"/>
                </a:ext>
              </a:extLst>
            </p:cNvPr>
            <p:cNvSpPr/>
            <p:nvPr/>
          </p:nvSpPr>
          <p:spPr>
            <a:xfrm>
              <a:off x="2558456" y="3087653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23CD67-CEBF-710B-3DE5-DA6FB0D9BD1A}"/>
                </a:ext>
              </a:extLst>
            </p:cNvPr>
            <p:cNvSpPr txBox="1"/>
            <p:nvPr/>
          </p:nvSpPr>
          <p:spPr>
            <a:xfrm>
              <a:off x="2660691" y="3365492"/>
              <a:ext cx="881603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>
                  <a:solidFill>
                    <a:srgbClr val="C55A11"/>
                  </a:solidFill>
                </a:rPr>
                <a:t>자소서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297F13-B86A-317D-BA66-BA92FDFAC407}"/>
              </a:ext>
            </a:extLst>
          </p:cNvPr>
          <p:cNvGrpSpPr/>
          <p:nvPr/>
        </p:nvGrpSpPr>
        <p:grpSpPr>
          <a:xfrm>
            <a:off x="2788741" y="4605118"/>
            <a:ext cx="1162946" cy="1154729"/>
            <a:chOff x="2558456" y="4910666"/>
            <a:chExt cx="871317" cy="8631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A24F997-8C28-218B-D182-725642FAF4CC}"/>
                </a:ext>
              </a:extLst>
            </p:cNvPr>
            <p:cNvSpPr/>
            <p:nvPr/>
          </p:nvSpPr>
          <p:spPr>
            <a:xfrm>
              <a:off x="2558456" y="4910666"/>
              <a:ext cx="871317" cy="863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5DCD17-538E-B68D-4DEC-628FB61B4033}"/>
                </a:ext>
              </a:extLst>
            </p:cNvPr>
            <p:cNvSpPr txBox="1"/>
            <p:nvPr/>
          </p:nvSpPr>
          <p:spPr>
            <a:xfrm>
              <a:off x="2740453" y="5167411"/>
              <a:ext cx="621174" cy="34507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2400" dirty="0" err="1">
                  <a:solidFill>
                    <a:srgbClr val="538135"/>
                  </a:solidFill>
                </a:rPr>
                <a:t>포폴</a:t>
              </a:r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33E2CC6-087D-87B1-EEEF-45215453B9F1}"/>
              </a:ext>
            </a:extLst>
          </p:cNvPr>
          <p:cNvCxnSpPr/>
          <p:nvPr/>
        </p:nvCxnSpPr>
        <p:spPr>
          <a:xfrm>
            <a:off x="3988654" y="2142987"/>
            <a:ext cx="1521829" cy="134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9BE44EA-7C90-F7E5-2048-A29E25CEE204}"/>
              </a:ext>
            </a:extLst>
          </p:cNvPr>
          <p:cNvCxnSpPr/>
          <p:nvPr/>
        </p:nvCxnSpPr>
        <p:spPr>
          <a:xfrm flipV="1">
            <a:off x="3948025" y="3615021"/>
            <a:ext cx="1579942" cy="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600C152-4CE2-5CCC-6BC5-69A288609D82}"/>
              </a:ext>
            </a:extLst>
          </p:cNvPr>
          <p:cNvCxnSpPr>
            <a:cxnSpLocks/>
          </p:cNvCxnSpPr>
          <p:nvPr/>
        </p:nvCxnSpPr>
        <p:spPr>
          <a:xfrm flipV="1">
            <a:off x="3986608" y="3748629"/>
            <a:ext cx="1512185" cy="137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3882368-F428-9FE6-6081-FE23E8032B6F}"/>
              </a:ext>
            </a:extLst>
          </p:cNvPr>
          <p:cNvSpPr/>
          <p:nvPr/>
        </p:nvSpPr>
        <p:spPr>
          <a:xfrm>
            <a:off x="5867703" y="3022649"/>
            <a:ext cx="1363241" cy="13453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3FC6F3-C399-10A4-3EA6-FF9FC0F3333B}"/>
              </a:ext>
            </a:extLst>
          </p:cNvPr>
          <p:cNvSpPr txBox="1"/>
          <p:nvPr/>
        </p:nvSpPr>
        <p:spPr>
          <a:xfrm>
            <a:off x="8548219" y="3370674"/>
            <a:ext cx="8832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800" dirty="0">
                <a:solidFill>
                  <a:srgbClr val="833C0B"/>
                </a:solidFill>
              </a:rPr>
              <a:t>합격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072867B-0D5A-06AA-8D75-AB61B04BFCAD}"/>
              </a:ext>
            </a:extLst>
          </p:cNvPr>
          <p:cNvCxnSpPr/>
          <p:nvPr/>
        </p:nvCxnSpPr>
        <p:spPr>
          <a:xfrm>
            <a:off x="7389684" y="3658184"/>
            <a:ext cx="1039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EDA8658-D05B-C2EE-46BB-FAD539F555EE}"/>
              </a:ext>
            </a:extLst>
          </p:cNvPr>
          <p:cNvSpPr txBox="1"/>
          <p:nvPr/>
        </p:nvSpPr>
        <p:spPr>
          <a:xfrm>
            <a:off x="4437778" y="2317451"/>
            <a:ext cx="13195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26680-9E4E-CB6A-8555-9E6B6DB11CBA}"/>
              </a:ext>
            </a:extLst>
          </p:cNvPr>
          <p:cNvSpPr txBox="1"/>
          <p:nvPr/>
        </p:nvSpPr>
        <p:spPr>
          <a:xfrm>
            <a:off x="4080891" y="3658184"/>
            <a:ext cx="1180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B4B6C-7C04-45D5-1C54-F6494EC7CC33}"/>
              </a:ext>
            </a:extLst>
          </p:cNvPr>
          <p:cNvSpPr txBox="1"/>
          <p:nvPr/>
        </p:nvSpPr>
        <p:spPr>
          <a:xfrm>
            <a:off x="4437777" y="4892816"/>
            <a:ext cx="1251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/>
              <a:t>중요도 :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DF514-D161-890A-B319-5501A6AF58B6}"/>
              </a:ext>
            </a:extLst>
          </p:cNvPr>
          <p:cNvSpPr txBox="1"/>
          <p:nvPr/>
        </p:nvSpPr>
        <p:spPr>
          <a:xfrm>
            <a:off x="6141315" y="1240374"/>
            <a:ext cx="8160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800" dirty="0">
                <a:solidFill>
                  <a:srgbClr val="FF0000"/>
                </a:solidFill>
              </a:rPr>
              <a:t>적성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1CEA022-12C7-BB4D-3D16-29CE2DABC777}"/>
              </a:ext>
            </a:extLst>
          </p:cNvPr>
          <p:cNvCxnSpPr/>
          <p:nvPr/>
        </p:nvCxnSpPr>
        <p:spPr>
          <a:xfrm flipH="1">
            <a:off x="6547393" y="1795530"/>
            <a:ext cx="1930" cy="10438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5">
            <a:extLst>
              <a:ext uri="{FF2B5EF4-FFF2-40B4-BE49-F238E27FC236}">
                <a16:creationId xmlns:a16="http://schemas.microsoft.com/office/drawing/2014/main" id="{42FF3CCF-94B1-F753-88FA-73AB01BC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가중치와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편향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예시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0564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06" y="1152842"/>
            <a:ext cx="11445074" cy="37442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모델이 예측한 값</a:t>
            </a:r>
            <a:r>
              <a:rPr lang="en-US" altLang="ko-KR" dirty="0"/>
              <a:t>(y^​)</a:t>
            </a:r>
            <a:r>
              <a:rPr lang="ko-KR" altLang="en-US" dirty="0"/>
              <a:t>과 실제 값</a:t>
            </a:r>
            <a:r>
              <a:rPr lang="en-US" altLang="ko-KR" dirty="0"/>
              <a:t>(y)</a:t>
            </a:r>
            <a:r>
              <a:rPr lang="ko-KR" altLang="en-US" dirty="0"/>
              <a:t>의 차이를 나타내는 지표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오차가 </a:t>
            </a:r>
            <a:r>
              <a:rPr lang="en-US" altLang="ko-KR" dirty="0"/>
              <a:t>0</a:t>
            </a:r>
            <a:r>
              <a:rPr lang="ko-KR" altLang="en-US" dirty="0"/>
              <a:t>에 가까울 수록 정확도가 높다고 볼 수 있음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오차는 개별 데이터 포인트마다 다를 수 있기 때문에</a:t>
            </a:r>
            <a:r>
              <a:rPr lang="en-US" altLang="ko-KR" dirty="0"/>
              <a:t>, </a:t>
            </a:r>
            <a:r>
              <a:rPr lang="ko-KR" altLang="en-US" dirty="0"/>
              <a:t>전체 데이터를 종합적으로 평가하기 위해 여러 가지 수식을 사용함</a:t>
            </a:r>
            <a:r>
              <a:rPr lang="en-US" altLang="ko-KR" dirty="0"/>
              <a:t>(</a:t>
            </a:r>
            <a:r>
              <a:rPr lang="ko-KR" altLang="en-US" dirty="0"/>
              <a:t>회귀 모델 성능 평가 지표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40" y="2339341"/>
            <a:ext cx="2153920" cy="49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04ADDAE7-0A17-7371-4F1C-C134B7FB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588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313265"/>
            <a:ext cx="6395720" cy="22314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선형회귀와 오차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선형회귀는 </a:t>
            </a:r>
            <a:r>
              <a:rPr lang="en-US" altLang="ko-KR" sz="2000" dirty="0">
                <a:latin typeface="+mn-ea"/>
              </a:rPr>
              <a:t>y=</a:t>
            </a:r>
            <a:r>
              <a:rPr lang="en-US" altLang="ko-KR" sz="2000" dirty="0" err="1">
                <a:latin typeface="+mn-ea"/>
              </a:rPr>
              <a:t>Wx+b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방정식의 해를 찾는 과정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임의의 </a:t>
            </a:r>
            <a:r>
              <a:rPr lang="en-US" altLang="ko-KR" sz="2000" dirty="0">
                <a:latin typeface="+mn-ea"/>
              </a:rPr>
              <a:t>W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b</a:t>
            </a:r>
            <a:r>
              <a:rPr lang="ko-KR" altLang="en-US" sz="2000" dirty="0">
                <a:latin typeface="+mn-ea"/>
              </a:rPr>
              <a:t>를 설정하고 </a:t>
            </a:r>
            <a:r>
              <a:rPr lang="ko-KR" altLang="en-US" sz="2000" b="1" dirty="0">
                <a:latin typeface="+mn-ea"/>
              </a:rPr>
              <a:t>오차</a:t>
            </a:r>
            <a:r>
              <a:rPr lang="ko-KR" altLang="en-US" sz="2000" dirty="0">
                <a:latin typeface="+mn-ea"/>
              </a:rPr>
              <a:t>를 줄이도록 학습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오차를 최소화</a:t>
            </a:r>
            <a:r>
              <a:rPr lang="ko-KR" altLang="en-US" sz="2000" dirty="0">
                <a:latin typeface="+mn-ea"/>
              </a:rPr>
              <a:t>하는 </a:t>
            </a:r>
            <a:r>
              <a:rPr lang="en-US" altLang="ko-KR" sz="2000" dirty="0">
                <a:latin typeface="+mn-ea"/>
              </a:rPr>
              <a:t>W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b</a:t>
            </a:r>
            <a:r>
              <a:rPr lang="ko-KR" altLang="en-US" sz="2000" dirty="0">
                <a:latin typeface="+mn-ea"/>
              </a:rPr>
              <a:t>를 찾는 것이 목표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26" name="Picture 2" descr="Reg_Line">
            <a:extLst>
              <a:ext uri="{FF2B5EF4-FFF2-40B4-BE49-F238E27FC236}">
                <a16:creationId xmlns:a16="http://schemas.microsoft.com/office/drawing/2014/main" id="{DC627C80-5A79-8A6A-B1E2-565E52A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36" y="1141301"/>
            <a:ext cx="4566264" cy="457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7DDBD66-DE3E-1072-7A55-2588EA5F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061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latin typeface="+mj-ea"/>
              </a:rPr>
              <a:t>선형 회귀</a:t>
            </a:r>
            <a:r>
              <a:rPr lang="en-US" altLang="ko-KR" sz="4800" b="1" dirty="0">
                <a:latin typeface="+mj-ea"/>
              </a:rPr>
              <a:t>(Linear Regression)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2639027" y="1469987"/>
            <a:ext cx="0" cy="43173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2118166" y="5451678"/>
            <a:ext cx="77666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3449257" y="3628665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5442033" y="3900670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964824" y="2272498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7716458" y="2988199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7936377" y="1460341"/>
            <a:ext cx="439838" cy="439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1504709" y="1900179"/>
            <a:ext cx="7963382" cy="332000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111170" y="3510025"/>
            <a:ext cx="8773608" cy="24625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23675" y="5232290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공부시간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17" y="1473055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시험점수</a:t>
            </a:r>
          </a:p>
        </p:txBody>
      </p:sp>
    </p:spTree>
    <p:extLst>
      <p:ext uri="{BB962C8B-B14F-4D97-AF65-F5344CB8AC3E}">
        <p14:creationId xmlns:p14="http://schemas.microsoft.com/office/powerpoint/2010/main" val="157893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64" y="1152925"/>
            <a:ext cx="11445074" cy="5488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✅ 회귀 모델 성능 평가 지표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58548"/>
              </p:ext>
            </p:extLst>
          </p:nvPr>
        </p:nvGraphicFramePr>
        <p:xfrm>
          <a:off x="554990" y="1709319"/>
          <a:ext cx="11082020" cy="4400701"/>
        </p:xfrm>
        <a:graphic>
          <a:graphicData uri="http://schemas.openxmlformats.org/drawingml/2006/table">
            <a:tbl>
              <a:tblPr/>
              <a:tblGrid>
                <a:gridCol w="1540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7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구분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평균 절대 오차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(MAE)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평균 제곱 오차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(MSE)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09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공식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6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 계산 방법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오차의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절댓값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을 평균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오차의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제곱값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을 평균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9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각 오차의 크기를 동일하게 반영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더 강하게 반영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6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해석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예측 값과 실제 값 사이의 평균 차이를 직관적으로 보여줌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오차에 민감해 모델의 성능을 더 엄격히 평가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52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단위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실제 값과 동일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실제 값의 단위가 제곱됨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92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직관적이고 이해하기 쉬움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강조해 모델의 개선 방향을 파악하기 용이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97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오차를 무시할 수 있음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단위 왜곡이 발생하고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상대적으로 계산이 복잡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640" y="2328396"/>
            <a:ext cx="2194560" cy="7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399" y="2328396"/>
            <a:ext cx="2438401" cy="74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629F7BF3-E753-9488-F208-FAEE30E81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오차</a:t>
            </a:r>
            <a:r>
              <a:rPr lang="en-US" altLang="ko-KR" b="1" dirty="0">
                <a:latin typeface="+mj-ea"/>
              </a:rPr>
              <a:t>(error)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017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손실 함수</a:t>
            </a:r>
            <a:r>
              <a:rPr lang="en-US" altLang="ko-KR" sz="4400" b="1" dirty="0">
                <a:latin typeface="+mj-ea"/>
              </a:rPr>
              <a:t>(Loss </a:t>
            </a:r>
            <a:r>
              <a:rPr lang="en-US" altLang="ko-KR" sz="4400" b="1" dirty="0" err="1">
                <a:latin typeface="+mj-ea"/>
              </a:rPr>
              <a:t>Fucntion</a:t>
            </a:r>
            <a:r>
              <a:rPr lang="en-US" altLang="ko-KR" sz="4400" b="1" dirty="0">
                <a:latin typeface="+mj-ea"/>
              </a:rPr>
              <a:t>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384653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머신러닝에서</a:t>
            </a:r>
            <a:r>
              <a:rPr lang="ko-KR" altLang="en-US" dirty="0"/>
              <a:t> 모델의 성능을 측정하고 학습시키는데 사용되는 함수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실제값의</a:t>
            </a:r>
            <a:r>
              <a:rPr lang="ko-KR" altLang="en-US" dirty="0"/>
              <a:t> 차이를 수치적으로 나타낸 것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모델의 훈련 → 손실함수의 값을 최소화 하는데 목적이 있음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손실 함수 </a:t>
            </a:r>
            <a:r>
              <a:rPr lang="en-US" altLang="ko-KR" dirty="0" err="1"/>
              <a:t>vs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평가 지표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/>
              <a:t>손실 함수</a:t>
            </a:r>
            <a:r>
              <a:rPr lang="en-US" altLang="ko-KR" dirty="0"/>
              <a:t>: </a:t>
            </a:r>
            <a:r>
              <a:rPr lang="ko-KR" altLang="en-US" dirty="0"/>
              <a:t>학습 과정에서 모델을 최적화하기 위해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b="1" dirty="0"/>
              <a:t>평가 지표</a:t>
            </a:r>
            <a:r>
              <a:rPr lang="en-US" altLang="ko-KR" dirty="0"/>
              <a:t>: </a:t>
            </a:r>
            <a:r>
              <a:rPr lang="ko-KR" altLang="en-US" dirty="0"/>
              <a:t>학습된 모델의 성능을 평가하기 위해 사용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762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316120" cy="34600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오차를 줄이면서 모델이 더 나은 예측을 할 수 있도록 최적화하는 과정</a:t>
            </a: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2612C3-E8ED-E029-1B38-66D2EC21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150" y="2747981"/>
            <a:ext cx="1582366" cy="13620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74F71C-845E-BB7E-1B1A-487420C0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15" y="1880971"/>
            <a:ext cx="4191585" cy="30960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D1A698B-913C-9C99-724A-A242B8731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238" y="5332530"/>
            <a:ext cx="482032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50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BAA4-E31D-0AEE-2023-5AA09F49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816855F-FBB7-8D41-F5A7-5FE7096F693E}"/>
              </a:ext>
            </a:extLst>
          </p:cNvPr>
          <p:cNvGrpSpPr/>
          <p:nvPr/>
        </p:nvGrpSpPr>
        <p:grpSpPr>
          <a:xfrm>
            <a:off x="6339040" y="1356645"/>
            <a:ext cx="5613969" cy="4144709"/>
            <a:chOff x="6326243" y="1245465"/>
            <a:chExt cx="5613969" cy="4144709"/>
          </a:xfrm>
        </p:grpSpPr>
        <p:pic>
          <p:nvPicPr>
            <p:cNvPr id="7" name="Picture 4" descr="Gradient Descent Explained Simply with Examples - Data Analytics">
              <a:extLst>
                <a:ext uri="{FF2B5EF4-FFF2-40B4-BE49-F238E27FC236}">
                  <a16:creationId xmlns:a16="http://schemas.microsoft.com/office/drawing/2014/main" id="{E8F71760-ED43-0138-BF84-6AD1A70691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6243" y="1245465"/>
              <a:ext cx="5613969" cy="3857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AD6902-00A8-0E32-9EE7-8C5A2AEBCD29}"/>
                </a:ext>
              </a:extLst>
            </p:cNvPr>
            <p:cNvSpPr txBox="1"/>
            <p:nvPr/>
          </p:nvSpPr>
          <p:spPr>
            <a:xfrm>
              <a:off x="6664223" y="5143953"/>
              <a:ext cx="47676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75000"/>
                    </a:schemeClr>
                  </a:solidFill>
                </a:rPr>
                <a:t>출처 </a:t>
              </a:r>
              <a:r>
                <a:rPr lang="en-US" altLang="ko-KR" sz="1000" dirty="0">
                  <a:solidFill>
                    <a:schemeClr val="bg2">
                      <a:lumMod val="75000"/>
                    </a:schemeClr>
                  </a:solidFill>
                </a:rPr>
                <a:t>: https://vitalflux.com/gradient-descent-explained-simply-with-examples/</a:t>
              </a:r>
              <a:endParaRPr lang="ko-KR" altLang="en-US" sz="10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2789349-8093-200B-0854-2E205E73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CF41F-A1A2-5B07-52EA-4CD487D86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98954"/>
            <a:ext cx="6895727" cy="34600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</a:t>
            </a:r>
            <a:r>
              <a:rPr lang="ko-KR" altLang="en-US" dirty="0" err="1">
                <a:latin typeface="+mn-ea"/>
              </a:rPr>
              <a:t>경사하강법</a:t>
            </a:r>
            <a:r>
              <a:rPr lang="ko-KR" altLang="en-US" dirty="0">
                <a:latin typeface="+mn-ea"/>
              </a:rPr>
              <a:t> 구하는 과정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손실 함수 정의 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도함수를 통해 기울기 계산</a:t>
            </a:r>
            <a:endParaRPr lang="en-US" altLang="ko-KR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</a:t>
            </a:r>
            <a:r>
              <a:rPr lang="ko-KR" altLang="en-US" dirty="0"/>
              <a:t>기울기의 반대 방향으로 이동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매개변수 업데이트</a:t>
            </a:r>
            <a:r>
              <a:rPr lang="en-US" altLang="ko-KR" dirty="0">
                <a:latin typeface="+mn-ea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→ 기울기가 최소화 되는 지점 도출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3822B-A000-5929-3484-FC13AE39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0091BD-90B3-291B-F795-13674AB4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0ECF914-B8D8-CB6E-4E59-3C0212CD52CE}"/>
              </a:ext>
            </a:extLst>
          </p:cNvPr>
          <p:cNvSpPr/>
          <p:nvPr/>
        </p:nvSpPr>
        <p:spPr>
          <a:xfrm>
            <a:off x="9912350" y="2809875"/>
            <a:ext cx="571500" cy="571500"/>
          </a:xfrm>
          <a:prstGeom prst="ellipse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75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</a:t>
            </a:r>
            <a:r>
              <a:rPr lang="ko-KR" altLang="en-US" sz="4400" b="1" dirty="0" err="1">
                <a:latin typeface="+mj-ea"/>
              </a:rPr>
              <a:t>하강법</a:t>
            </a:r>
            <a:r>
              <a:rPr lang="en-US" altLang="ko-KR" sz="4400" b="1" dirty="0">
                <a:latin typeface="+mj-ea"/>
              </a:rPr>
              <a:t>(Gradient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Descent)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2050" name="Picture 2" descr="스케이트 보드 사진, 무료 다운로드 이미지 - photoA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161" y="1052282"/>
            <a:ext cx="7574628" cy="503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98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err="1">
                <a:latin typeface="+mj-ea"/>
              </a:rPr>
              <a:t>볼록함수</a:t>
            </a:r>
            <a:r>
              <a:rPr lang="en-US" altLang="ko-KR" sz="4800" b="1" dirty="0">
                <a:latin typeface="+mj-ea"/>
              </a:rPr>
              <a:t>(convex function)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30835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아래로 볼록한 함수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 위의 임의의 두 점을 연결하는 선을 그래프에 </a:t>
            </a:r>
            <a:r>
              <a:rPr lang="ko-KR" altLang="en-US" sz="2000" dirty="0" err="1"/>
              <a:t>그었을때</a:t>
            </a:r>
            <a:r>
              <a:rPr lang="en-US" altLang="ko-KR" sz="2000" dirty="0"/>
              <a:t>, </a:t>
            </a:r>
            <a:r>
              <a:rPr lang="ko-KR" altLang="en-US" sz="2000" dirty="0"/>
              <a:t>그 선이 그래프의 위쪽만을 지나감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반대는 </a:t>
            </a:r>
            <a:r>
              <a:rPr lang="en-US" altLang="ko-KR" sz="2000" dirty="0"/>
              <a:t>Non-Convex function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/>
              <a:t>→ </a:t>
            </a:r>
            <a:r>
              <a:rPr lang="ko-KR" altLang="en-US" sz="2000" b="1" dirty="0" err="1"/>
              <a:t>경사하강법은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Convex function </a:t>
            </a:r>
            <a:r>
              <a:rPr lang="ko-KR" altLang="en-US" sz="2000" b="1" dirty="0"/>
              <a:t>에서 잘 작동함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170" name="Picture 2" descr="Navigating the Terrain: Convex vs. Non-Convex Functions in Optimization |  by Ajay Verma | Artificial Intelligence in Plain Engli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240" y="3606949"/>
            <a:ext cx="7843520" cy="276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23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55400" cy="52614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배치 경사 </a:t>
            </a:r>
            <a:r>
              <a:rPr lang="ko-KR" altLang="en-US" sz="2400" b="1" dirty="0" err="1">
                <a:latin typeface="+mn-ea"/>
              </a:rPr>
              <a:t>하강법</a:t>
            </a:r>
            <a:r>
              <a:rPr lang="en-US" altLang="ko-KR" sz="2400" b="1" dirty="0">
                <a:latin typeface="+mn-ea"/>
              </a:rPr>
              <a:t>(Batch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Gradient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Descent,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BGD)</a:t>
            </a:r>
          </a:p>
          <a:p>
            <a:pPr lvl="1">
              <a:buFont typeface="Wingdings" pitchFamily="2" charset="2"/>
              <a:buChar char="§"/>
            </a:pPr>
            <a:r>
              <a:rPr lang="ko-KR" altLang="en-US" sz="2000" b="1" dirty="0">
                <a:latin typeface="+mn-ea"/>
              </a:rPr>
              <a:t>설명</a:t>
            </a:r>
            <a:endParaRPr lang="en-US" altLang="ko-KR" sz="2000" b="1" dirty="0">
              <a:latin typeface="+mn-ea"/>
            </a:endParaRPr>
          </a:p>
          <a:p>
            <a:pPr lvl="2"/>
            <a:r>
              <a:rPr lang="ko-KR" altLang="en-US" sz="1600" b="1" dirty="0">
                <a:latin typeface="+mn-ea"/>
              </a:rPr>
              <a:t>전체 데이터 셋</a:t>
            </a:r>
            <a:r>
              <a:rPr lang="ko-KR" altLang="en-US" sz="1600" dirty="0">
                <a:latin typeface="+mn-ea"/>
              </a:rPr>
              <a:t>에 대한 에러를 구한 뒤 기울기를 한번만 계산하여 모델을 업데이트</a:t>
            </a:r>
            <a:endParaRPr lang="en-US" altLang="ko-KR" sz="1600" dirty="0">
              <a:latin typeface="+mn-ea"/>
            </a:endParaRPr>
          </a:p>
          <a:p>
            <a:pPr lvl="2"/>
            <a:r>
              <a:rPr lang="ko-KR" altLang="en-US" sz="1600" dirty="0"/>
              <a:t>한 번의 업데이트에서 모든 데이터를 사용하므로 </a:t>
            </a:r>
            <a:r>
              <a:rPr lang="ko-KR" altLang="en-US" sz="1600" dirty="0" err="1"/>
              <a:t>계산량이</a:t>
            </a:r>
            <a:r>
              <a:rPr lang="ko-KR" altLang="en-US" sz="1600" dirty="0"/>
              <a:t> 큼 </a:t>
            </a:r>
            <a:endParaRPr lang="en-US" altLang="ko-KR" sz="1600" dirty="0"/>
          </a:p>
          <a:p>
            <a:pPr lvl="1"/>
            <a:r>
              <a:rPr lang="ko-KR" altLang="en-US" sz="2000" b="1" dirty="0"/>
              <a:t>장점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매번 동일한 기울기로 업데이트되므로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학습 경로가 </a:t>
            </a:r>
            <a:r>
              <a:rPr lang="ko-KR" altLang="en-US" sz="1600" b="1" dirty="0"/>
              <a:t>안정적</a:t>
            </a:r>
            <a:r>
              <a:rPr lang="ko-KR" altLang="en-US" sz="1600" dirty="0"/>
              <a:t>임</a:t>
            </a:r>
            <a:endParaRPr lang="en-US" altLang="ko-KR" sz="1600" dirty="0"/>
          </a:p>
          <a:p>
            <a:pPr lvl="2"/>
            <a:r>
              <a:rPr lang="ko-KR" altLang="en-US" sz="1600" dirty="0"/>
              <a:t>전역 최솟값에 수렴하기 쉬움</a:t>
            </a:r>
            <a:r>
              <a:rPr lang="en-US" altLang="ko-KR" sz="1600" dirty="0"/>
              <a:t>(Convex Function</a:t>
            </a:r>
            <a:r>
              <a:rPr lang="ko-KR" altLang="en-US" sz="1600" dirty="0"/>
              <a:t>인 경우</a:t>
            </a:r>
            <a:r>
              <a:rPr lang="en-US" altLang="ko-KR" sz="1600" dirty="0"/>
              <a:t>).</a:t>
            </a:r>
          </a:p>
          <a:p>
            <a:pPr lvl="1"/>
            <a:r>
              <a:rPr lang="ko-KR" altLang="en-US" sz="2000" b="1" dirty="0"/>
              <a:t>단점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데이터가 많아질수록 계산 비용이 매우 커지며</a:t>
            </a:r>
            <a:r>
              <a:rPr lang="en-US" altLang="ko-KR" sz="1600" dirty="0"/>
              <a:t>,</a:t>
            </a:r>
            <a:r>
              <a:rPr lang="ko-KR" altLang="en-US" sz="1600" dirty="0"/>
              <a:t> 메모리와 시간 문제가 발생할 수 있음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상대적으로 </a:t>
            </a:r>
            <a:r>
              <a:rPr lang="en-US" altLang="ko-KR" sz="1600" dirty="0"/>
              <a:t>Local minimum</a:t>
            </a:r>
            <a:r>
              <a:rPr lang="ko-KR" altLang="en-US" sz="1600" dirty="0"/>
              <a:t>에 빠질 확률이 높음</a:t>
            </a:r>
            <a:endParaRPr lang="en-US" altLang="ko-KR" sz="1600" dirty="0"/>
          </a:p>
          <a:p>
            <a:pPr lvl="1"/>
            <a:r>
              <a:rPr lang="ko-KR" altLang="en-US" sz="2000" b="1" dirty="0"/>
              <a:t>사용 상황</a:t>
            </a:r>
            <a:r>
              <a:rPr lang="en-US" altLang="ko-KR" sz="2000" b="1" dirty="0"/>
              <a:t>:</a:t>
            </a:r>
          </a:p>
          <a:p>
            <a:pPr lvl="2"/>
            <a:r>
              <a:rPr lang="ko-KR" altLang="en-US" sz="1600" dirty="0"/>
              <a:t>작은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계산 자원이 충분한 경우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06A3AE4C-EE96-5FB3-A3E6-A34EB6F8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616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32540" cy="51666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/>
              <a:t>✅ 확률적 경사 </a:t>
            </a:r>
            <a:r>
              <a:rPr lang="ko-KR" altLang="en-US" sz="2400" b="1" dirty="0" err="1"/>
              <a:t>하강법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(Stochastic Gradient Descent, SGD)</a:t>
            </a:r>
          </a:p>
          <a:p>
            <a:pPr lvl="1"/>
            <a:r>
              <a:rPr lang="ko-KR" altLang="en-US" sz="2000" b="1" dirty="0"/>
              <a:t>설명</a:t>
            </a:r>
            <a:endParaRPr lang="en-US" altLang="ko-KR" sz="1800" b="1" dirty="0"/>
          </a:p>
          <a:p>
            <a:pPr lvl="2"/>
            <a:r>
              <a:rPr lang="ko-KR" altLang="en-US" sz="1600" b="1" dirty="0"/>
              <a:t>단일 데이터 포인트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샘플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를 사용</a:t>
            </a:r>
            <a:r>
              <a:rPr lang="ko-KR" altLang="en-US" sz="1600" dirty="0"/>
              <a:t>하여 손실 함수의 기울기를 계산하고 매개변수를 업데이트함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각 업데이트가 빠르게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기울기 계산이 효율적임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장점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계산 속도가 빠르고</a:t>
            </a:r>
            <a:r>
              <a:rPr lang="en-US" altLang="ko-KR" sz="1600" dirty="0"/>
              <a:t>, </a:t>
            </a:r>
            <a:r>
              <a:rPr lang="ko-KR" altLang="en-US" sz="1600" dirty="0"/>
              <a:t>큰 </a:t>
            </a:r>
            <a:r>
              <a:rPr lang="ko-KR" altLang="en-US" sz="1600" dirty="0" err="1"/>
              <a:t>데이터셋에서도</a:t>
            </a:r>
            <a:r>
              <a:rPr lang="ko-KR" altLang="en-US" sz="1600" dirty="0"/>
              <a:t> 메모리를 효율적으로 사용 가능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 err="1"/>
              <a:t>노이즈가</a:t>
            </a:r>
            <a:r>
              <a:rPr lang="ko-KR" altLang="en-US" sz="1600" dirty="0"/>
              <a:t> 포함된 학습 경로가 </a:t>
            </a:r>
            <a:r>
              <a:rPr lang="ko-KR" altLang="en-US" sz="1600" dirty="0" err="1"/>
              <a:t>안장점</a:t>
            </a:r>
            <a:r>
              <a:rPr lang="en-US" altLang="ko-KR" sz="1600" dirty="0"/>
              <a:t>(Saddle Point)</a:t>
            </a:r>
            <a:r>
              <a:rPr lang="ko-KR" altLang="en-US" sz="1600" dirty="0"/>
              <a:t>이나 지역 최솟값</a:t>
            </a:r>
            <a:r>
              <a:rPr lang="en-US" altLang="ko-KR" sz="1600" dirty="0"/>
              <a:t>(Local Minimum)</a:t>
            </a:r>
            <a:r>
              <a:rPr lang="ko-KR" altLang="en-US" sz="1600" dirty="0"/>
              <a:t>에서 </a:t>
            </a:r>
            <a:r>
              <a:rPr lang="ko-KR" altLang="en-US" sz="1600" dirty="0" err="1"/>
              <a:t>빠져나오는</a:t>
            </a:r>
            <a:r>
              <a:rPr lang="ko-KR" altLang="en-US" sz="1600" dirty="0"/>
              <a:t> 데 도움을 줄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단점</a:t>
            </a:r>
            <a:r>
              <a:rPr lang="en-US" altLang="ko-KR" sz="2000" dirty="0"/>
              <a:t>:</a:t>
            </a:r>
          </a:p>
          <a:p>
            <a:pPr lvl="2"/>
            <a:r>
              <a:rPr lang="ko-KR" altLang="en-US" sz="1600" dirty="0"/>
              <a:t>학습 경로가 </a:t>
            </a:r>
            <a:r>
              <a:rPr lang="ko-KR" altLang="en-US" sz="1600" b="1" dirty="0"/>
              <a:t>불안정</a:t>
            </a:r>
            <a:r>
              <a:rPr lang="ko-KR" altLang="en-US" sz="1600" dirty="0"/>
              <a:t>하고 진동이 발생할 수 있음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전역 최솟값 대신</a:t>
            </a:r>
            <a:r>
              <a:rPr lang="en-US" altLang="ko-KR" sz="1600" dirty="0"/>
              <a:t>, </a:t>
            </a:r>
            <a:r>
              <a:rPr lang="ko-KR" altLang="en-US" sz="1600" dirty="0"/>
              <a:t>근사값에 머물 가능성이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2000" b="1" dirty="0"/>
              <a:t>사용 상황</a:t>
            </a:r>
            <a:r>
              <a:rPr lang="en-US" altLang="ko-KR" sz="2000" b="1" dirty="0"/>
              <a:t>:</a:t>
            </a:r>
          </a:p>
          <a:p>
            <a:pPr lvl="2"/>
            <a:r>
              <a:rPr lang="ko-KR" altLang="en-US" sz="1600" dirty="0"/>
              <a:t>매우 큰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실시간 업데이트가 필요한 경우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1105543-3F06-C01A-85CC-9BEE7BBE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8058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6200" cy="5024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미니 배치 경사 </a:t>
            </a:r>
            <a:r>
              <a:rPr lang="ko-KR" altLang="en-US" sz="2400" b="1" dirty="0" err="1">
                <a:latin typeface="+mn-ea"/>
              </a:rPr>
              <a:t>하강법</a:t>
            </a:r>
            <a:r>
              <a:rPr lang="en-US" altLang="ko-KR" sz="2400" b="1" dirty="0">
                <a:latin typeface="+mn-ea"/>
              </a:rPr>
              <a:t>(Mini-batch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Gradient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Descent, MGD)</a:t>
            </a:r>
          </a:p>
          <a:p>
            <a:pPr lvl="1"/>
            <a:r>
              <a:rPr lang="ko-KR" altLang="en-US" sz="1800" b="1" dirty="0"/>
              <a:t>설명</a:t>
            </a:r>
            <a:r>
              <a:rPr lang="en-US" altLang="ko-KR" sz="1800" b="1" dirty="0"/>
              <a:t>:</a:t>
            </a:r>
          </a:p>
          <a:p>
            <a:pPr lvl="2"/>
            <a:r>
              <a:rPr lang="ko-KR" altLang="en-US" sz="1600" dirty="0"/>
              <a:t>전체 </a:t>
            </a:r>
            <a:r>
              <a:rPr lang="ko-KR" altLang="en-US" sz="1600" dirty="0" err="1"/>
              <a:t>데이터셋을</a:t>
            </a:r>
            <a:r>
              <a:rPr lang="ko-KR" altLang="en-US" sz="1600" dirty="0"/>
              <a:t> 여러 개의 </a:t>
            </a:r>
            <a:r>
              <a:rPr lang="ko-KR" altLang="en-US" sz="1600" b="1" dirty="0"/>
              <a:t>작은 배치</a:t>
            </a:r>
            <a:r>
              <a:rPr lang="ko-KR" altLang="en-US" sz="1600" dirty="0"/>
              <a:t>로 나눈 뒤</a:t>
            </a:r>
            <a:r>
              <a:rPr lang="en-US" altLang="ko-KR" sz="1600" dirty="0"/>
              <a:t>, </a:t>
            </a:r>
            <a:r>
              <a:rPr lang="ko-KR" altLang="en-US" sz="1600" dirty="0"/>
              <a:t>각 배치에서 손실 함수의 기울기를 계산하고 매개변수를 업데이트합니다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배치 크기</a:t>
            </a:r>
            <a:r>
              <a:rPr lang="en-US" altLang="ko-KR" sz="1600" dirty="0"/>
              <a:t>(</a:t>
            </a:r>
            <a:r>
              <a:rPr lang="ko-KR" altLang="en-US" sz="1600" dirty="0"/>
              <a:t>보통 </a:t>
            </a:r>
            <a:r>
              <a:rPr lang="en-US" altLang="ko-KR" sz="1600" dirty="0"/>
              <a:t>32~256</a:t>
            </a:r>
            <a:r>
              <a:rPr lang="ko-KR" altLang="en-US" sz="1600" dirty="0"/>
              <a:t>개 데이터</a:t>
            </a:r>
            <a:r>
              <a:rPr lang="en-US" altLang="ko-KR" sz="1600" dirty="0"/>
              <a:t>)</a:t>
            </a:r>
            <a:r>
              <a:rPr lang="ko-KR" altLang="en-US" sz="1600" dirty="0"/>
              <a:t>는 학습 속도와 안정성을 조절하는 중요한 요소입니다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장점</a:t>
            </a:r>
            <a:r>
              <a:rPr lang="en-US" altLang="ko-KR" sz="1800" dirty="0"/>
              <a:t>:</a:t>
            </a:r>
          </a:p>
          <a:p>
            <a:pPr lvl="2"/>
            <a:r>
              <a:rPr lang="ko-KR" altLang="en-US" sz="1600" dirty="0"/>
              <a:t>배치 경사 하강법의 안정성과 확률적 경사 하강법의 속도 간의 균형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병렬 처리로 계산 효율성을 높일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단점</a:t>
            </a:r>
            <a:r>
              <a:rPr lang="en-US" altLang="ko-KR" sz="1800" dirty="0"/>
              <a:t>:</a:t>
            </a:r>
          </a:p>
          <a:p>
            <a:pPr lvl="2"/>
            <a:r>
              <a:rPr lang="ko-KR" altLang="en-US" sz="1600" dirty="0"/>
              <a:t>배치 크기에 따라 성능이 달라질 수 있음</a:t>
            </a:r>
            <a:r>
              <a:rPr lang="en-US" altLang="ko-KR" sz="1600" dirty="0"/>
              <a:t>(</a:t>
            </a:r>
            <a:r>
              <a:rPr lang="ko-KR" altLang="en-US" sz="1600" dirty="0"/>
              <a:t>배치 크기 설정이 중요</a:t>
            </a:r>
            <a:r>
              <a:rPr lang="en-US" altLang="ko-KR" sz="1600" dirty="0"/>
              <a:t>).</a:t>
            </a:r>
          </a:p>
          <a:p>
            <a:pPr lvl="2"/>
            <a:r>
              <a:rPr lang="ko-KR" altLang="en-US" sz="1600" dirty="0"/>
              <a:t>작은 배치에서는 </a:t>
            </a:r>
            <a:r>
              <a:rPr lang="en-US" altLang="ko-KR" sz="1600" dirty="0"/>
              <a:t>SGD</a:t>
            </a:r>
            <a:r>
              <a:rPr lang="ko-KR" altLang="en-US" sz="1600" dirty="0"/>
              <a:t>와 비슷한 진동이 발생할 수 있음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800" b="1" dirty="0"/>
              <a:t>사용 상황</a:t>
            </a:r>
            <a:r>
              <a:rPr lang="en-US" altLang="ko-KR" sz="1800" b="1" dirty="0"/>
              <a:t>:</a:t>
            </a:r>
          </a:p>
          <a:p>
            <a:pPr lvl="2"/>
            <a:r>
              <a:rPr lang="ko-KR" altLang="en-US" sz="1600" dirty="0" err="1"/>
              <a:t>딥러닝에서</a:t>
            </a:r>
            <a:r>
              <a:rPr lang="ko-KR" altLang="en-US" sz="1600" dirty="0"/>
              <a:t> 가장 널리 사용되는 방식</a:t>
            </a:r>
            <a:r>
              <a:rPr lang="en-US" altLang="ko-KR" sz="1600" dirty="0"/>
              <a:t>.</a:t>
            </a:r>
          </a:p>
          <a:p>
            <a:pPr lvl="2"/>
            <a:r>
              <a:rPr lang="ko-KR" altLang="en-US" sz="1600" dirty="0"/>
              <a:t>효율성과 안정성이 필요한 중간 규모 이상의 </a:t>
            </a:r>
            <a:r>
              <a:rPr lang="ko-KR" altLang="en-US" sz="1600" dirty="0" err="1"/>
              <a:t>데이터셋에서</a:t>
            </a:r>
            <a:r>
              <a:rPr lang="ko-KR" altLang="en-US" sz="1600" dirty="0"/>
              <a:t> 적합</a:t>
            </a:r>
            <a:r>
              <a:rPr lang="en-US" altLang="ko-KR" sz="16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4A49084-85AE-7E14-B594-686AE5C5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j-ea"/>
              </a:rPr>
              <a:t>경사 하강법의 종류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844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하강법의 종류</a:t>
            </a:r>
          </a:p>
        </p:txBody>
      </p:sp>
      <p:pic>
        <p:nvPicPr>
          <p:cNvPr id="3076" name="Picture 4" descr="The Evolution of Gradient Descent Optimizers | by LM Po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95"/>
          <a:stretch/>
        </p:blipFill>
        <p:spPr bwMode="auto">
          <a:xfrm>
            <a:off x="209268" y="2157995"/>
            <a:ext cx="11754414" cy="254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2114428" y="5130610"/>
            <a:ext cx="79440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출처</a:t>
            </a:r>
            <a:r>
              <a:rPr lang="en-US" altLang="ko-KR" sz="1000" dirty="0"/>
              <a:t>] https://medium.com/@lmpo/exploring-deepseek-version-3-a-technical-deep-dive-0b3d2c78b777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271589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경사 하강법의 종류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950119"/>
              </p:ext>
            </p:extLst>
          </p:nvPr>
        </p:nvGraphicFramePr>
        <p:xfrm>
          <a:off x="434340" y="1275874"/>
          <a:ext cx="11402060" cy="4840446"/>
        </p:xfrm>
        <a:graphic>
          <a:graphicData uri="http://schemas.openxmlformats.org/drawingml/2006/table">
            <a:tbl>
              <a:tblPr/>
              <a:tblGrid>
                <a:gridCol w="228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7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6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14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경사 </a:t>
                      </a:r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유형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업데이트 기준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적합한 상황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2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전체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데이터셋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안정적이고 수렴이 정확함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계산량이 큼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데이터셋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29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확률적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en-US" altLang="ko-KR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한 개의 데이터 샘플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계산 속도가 빠르고 메모리 효율적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경로가 불안정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큰 데이터셋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실시간 학습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7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미니배치 경사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하강법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데이터 배치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효율성과 안정성의 균형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병렬 처리 가능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크기 설정 중요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딥러닝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및 중간 규모 데이터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307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경사 하강법의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472118"/>
            <a:ext cx="6960905" cy="39137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Local minimum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전역 최소값이 있지만 지역 최솟값에 안착하는 문제</a:t>
            </a:r>
            <a:endParaRPr lang="en-US" altLang="ko-KR" sz="20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ko-KR" altLang="en-US" sz="2400" b="1" dirty="0" err="1">
                <a:latin typeface="+mn-ea"/>
              </a:rPr>
              <a:t>비등방성</a:t>
            </a:r>
            <a:r>
              <a:rPr lang="ko-KR" altLang="en-US" sz="2400" b="1" dirty="0">
                <a:latin typeface="+mn-ea"/>
              </a:rPr>
              <a:t> 함수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축 방향마다 변화율이 크게 다른 함수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기울기가 가리키는 지점이 하나가 아니라 여러가지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지그재그 형태가 발생해 </a:t>
            </a:r>
            <a:r>
              <a:rPr lang="ko-KR" altLang="en-US" sz="2000" dirty="0" err="1">
                <a:latin typeface="+mn-ea"/>
              </a:rPr>
              <a:t>학습률의</a:t>
            </a:r>
            <a:r>
              <a:rPr lang="ko-KR" altLang="en-US" sz="2000" dirty="0">
                <a:latin typeface="+mn-ea"/>
              </a:rPr>
              <a:t> 성장이 낮아짐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B1946A7-3286-7790-D824-35C44522E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250" y="1373460"/>
            <a:ext cx="2553138" cy="219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749ED4D-F4A5-A59B-4919-EE799EF95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819" y="4203833"/>
            <a:ext cx="38100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12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23229"/>
            <a:ext cx="7491964" cy="400843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Saddle point(</a:t>
            </a:r>
            <a:r>
              <a:rPr lang="ko-KR" altLang="en-US" sz="2400" b="1" dirty="0" err="1">
                <a:latin typeface="+mn-ea"/>
              </a:rPr>
              <a:t>안장점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최댓값인지 최솟값인지 구분할 수 없음</a:t>
            </a:r>
            <a:endParaRPr lang="en-US" altLang="ko-KR" sz="20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Overshooting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학습률이</a:t>
            </a:r>
            <a:r>
              <a:rPr lang="ko-KR" altLang="en-US" sz="2000" dirty="0"/>
              <a:t> 너무 커서 매개변수가 최솟값을 지나쳐버리는 현상</a:t>
            </a:r>
            <a:r>
              <a:rPr lang="en-US" altLang="ko-KR" sz="2000" dirty="0"/>
              <a:t>.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매개변수 값이 진동</a:t>
            </a:r>
            <a:r>
              <a:rPr lang="en-US" altLang="ko-KR" sz="2000" dirty="0"/>
              <a:t>/</a:t>
            </a:r>
            <a:r>
              <a:rPr lang="ko-KR" altLang="en-US" sz="2000" dirty="0"/>
              <a:t>발산해서</a:t>
            </a:r>
            <a:r>
              <a:rPr lang="en-US" altLang="ko-KR" sz="2000" dirty="0"/>
              <a:t>, </a:t>
            </a:r>
            <a:r>
              <a:rPr lang="ko-KR" altLang="en-US" sz="2000" dirty="0"/>
              <a:t>학습에 실패하게 됨</a:t>
            </a:r>
            <a:r>
              <a:rPr lang="en-US" altLang="ko-KR" sz="2000" dirty="0"/>
              <a:t>.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396D47C3-F265-C8AF-4AED-08B68167D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768" y="1104336"/>
            <a:ext cx="2864316" cy="207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0C89AB-71DB-6B49-DD18-EDEA17B4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379" y="3451267"/>
            <a:ext cx="2724530" cy="25721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84636BC-18A8-DDA3-F9FF-DF65865F9521}"/>
                  </a:ext>
                </a:extLst>
              </p14:cNvPr>
              <p14:cNvContentPartPr/>
              <p14:nvPr/>
            </p14:nvContentPartPr>
            <p14:xfrm>
              <a:off x="9709147" y="1325563"/>
              <a:ext cx="787680" cy="16322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84636BC-18A8-DDA3-F9FF-DF65865F95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9787" y="1316203"/>
                <a:ext cx="806400" cy="16509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제목 6">
            <a:extLst>
              <a:ext uri="{FF2B5EF4-FFF2-40B4-BE49-F238E27FC236}">
                <a16:creationId xmlns:a16="http://schemas.microsoft.com/office/drawing/2014/main" id="{1EE30D88-C106-216E-66C3-DB3EC450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경사 하강법의 문제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515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73214"/>
            <a:ext cx="11521440" cy="468095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💡 </a:t>
            </a:r>
            <a:r>
              <a:rPr lang="ko-KR" altLang="en-US" b="1" dirty="0" err="1">
                <a:latin typeface="+mn-ea"/>
              </a:rPr>
              <a:t>학습률</a:t>
            </a:r>
            <a:r>
              <a:rPr lang="en-US" altLang="ko-KR" b="1" dirty="0">
                <a:latin typeface="+mn-ea"/>
              </a:rPr>
              <a:t>(Learning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rate)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매개변수를 업데이트할 </a:t>
            </a:r>
            <a:r>
              <a:rPr lang="ko-KR" altLang="en-US" dirty="0">
                <a:latin typeface="+mn-ea"/>
              </a:rPr>
              <a:t>때 </a:t>
            </a:r>
            <a:r>
              <a:rPr lang="ko-KR" altLang="en-US" dirty="0"/>
              <a:t>한 번의 업데이트가 이루어지는 크기를 결정하는 </a:t>
            </a:r>
            <a:r>
              <a:rPr lang="ko-KR" altLang="en-US" dirty="0" err="1"/>
              <a:t>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손실 함수의 기울기를 따라 이동하는 속도를 제어함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Step size</a:t>
            </a:r>
            <a:r>
              <a:rPr lang="ko-KR" altLang="en-US" dirty="0">
                <a:latin typeface="+mn-ea"/>
              </a:rPr>
              <a:t>라고도 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너무 작으면 시간이 오래 걸리고 너무 크면 학습이 제대로 이루어지지 않음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284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9A25452-6416-18AD-6D5F-C0213AC9C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191" y="2911568"/>
            <a:ext cx="6196332" cy="300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9AB5B1-78E1-09EB-AE05-AD476080E919}"/>
              </a:ext>
            </a:extLst>
          </p:cNvPr>
          <p:cNvSpPr txBox="1"/>
          <p:nvPr/>
        </p:nvSpPr>
        <p:spPr>
          <a:xfrm>
            <a:off x="4427113" y="6101192"/>
            <a:ext cx="3337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출처</a:t>
            </a:r>
            <a:r>
              <a:rPr lang="en-US" altLang="ko-KR" sz="1000" dirty="0">
                <a:latin typeface="+mn-ea"/>
              </a:rPr>
              <a:t>:</a:t>
            </a:r>
            <a:r>
              <a:rPr lang="en-US" altLang="ko-KR" sz="1000" b="0" i="0" u="none" strike="noStrike" dirty="0">
                <a:solidFill>
                  <a:srgbClr val="404040"/>
                </a:solidFill>
                <a:effectLst/>
                <a:latin typeface="+mn-ea"/>
                <a:hlinkClick r:id="rId3"/>
              </a:rPr>
              <a:t>https://www.slideshare.net/yongho/ss-79607172</a:t>
            </a:r>
            <a:endParaRPr lang="ko-KR" altLang="en-US" sz="10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1788" y="940433"/>
            <a:ext cx="11688424" cy="1782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</a:t>
            </a:r>
            <a:r>
              <a:rPr lang="en-US" altLang="ko-KR" sz="2800" dirty="0"/>
              <a:t>Optimizer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모델의 학습 과정을 제어하여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손실 함수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(Loss Function)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최소화하기 위해 사용되는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알고리즘 또는 방법론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008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6809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✅ </a:t>
            </a:r>
            <a:r>
              <a:rPr lang="ko-KR" altLang="en-US" dirty="0" err="1">
                <a:latin typeface="+mn-ea"/>
              </a:rPr>
              <a:t>학습률</a:t>
            </a:r>
            <a:r>
              <a:rPr lang="en-US" altLang="ko-KR" dirty="0">
                <a:latin typeface="+mn-ea"/>
              </a:rPr>
              <a:t>(Learning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rate) </a:t>
            </a:r>
            <a:r>
              <a:rPr lang="ko-KR" altLang="en-US" dirty="0">
                <a:latin typeface="+mn-ea"/>
              </a:rPr>
              <a:t>최적화 기법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learning rate decay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212529"/>
                </a:solidFill>
                <a:latin typeface="+mn-ea"/>
              </a:rPr>
              <a:t>초반에는 큰 폭으로 이동하여 빠르게 내려가고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점차 </a:t>
            </a:r>
            <a:r>
              <a:rPr lang="ko-KR" altLang="en-US" dirty="0" err="1">
                <a:solidFill>
                  <a:srgbClr val="212529"/>
                </a:solidFill>
                <a:latin typeface="+mn-ea"/>
              </a:rPr>
              <a:t>학습률을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 줄여서 조심스럽게 내려가는 방법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Adaptive learning rate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212529"/>
                </a:solidFill>
                <a:latin typeface="+mn-ea"/>
              </a:rPr>
              <a:t>경사가 가파르면 조금 이동하고 완만하면 크게 이동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212529"/>
                </a:solidFill>
                <a:latin typeface="+mn-ea"/>
              </a:rPr>
              <a:t>Momentum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기울기</a:t>
            </a:r>
            <a:r>
              <a:rPr lang="en-US" altLang="ko-KR" dirty="0"/>
              <a:t>(gradient) </a:t>
            </a:r>
            <a:r>
              <a:rPr lang="ko-KR" altLang="en-US" dirty="0"/>
              <a:t>업데이트에 </a:t>
            </a:r>
            <a:r>
              <a:rPr lang="ko-KR" altLang="en-US" b="1" dirty="0"/>
              <a:t>이전 업데이트 방향의 관성을 추가</a:t>
            </a:r>
            <a:r>
              <a:rPr lang="ko-KR" altLang="en-US" dirty="0"/>
              <a:t>하여 더 빠르고 안정적으로 </a:t>
            </a:r>
            <a:r>
              <a:rPr lang="ko-KR" altLang="en-US" dirty="0" err="1"/>
              <a:t>최적값에</a:t>
            </a:r>
            <a:r>
              <a:rPr lang="ko-KR" altLang="en-US" dirty="0"/>
              <a:t> 도달하도록 돕는 방법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62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SGD</a:t>
            </a:r>
            <a:r>
              <a:rPr lang="ko-KR" altLang="en-US" b="1" dirty="0">
                <a:latin typeface="+mj-ea"/>
              </a:rPr>
              <a:t>의 단점을 개선</a:t>
            </a:r>
            <a:r>
              <a:rPr lang="en-US" altLang="ko-KR" b="1" dirty="0">
                <a:latin typeface="+mj-ea"/>
              </a:rPr>
              <a:t>(optimizer)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4098" name="Picture 2" descr="Accelerating privacy-preserving momentum federated learning for industrial  cyber-physical systems | Complex &amp; Intelligent Syste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47" y="1946514"/>
            <a:ext cx="10315656" cy="341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145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7F97D-DAA6-05B8-8DBE-13E9DCB5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87F9AC-63A1-F987-9209-BA6204B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766D135C-0D25-33A0-2315-2E253AC7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300" y="589024"/>
            <a:ext cx="6883400" cy="5329084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A7AE0F9-3DF1-7D7A-FB66-E93A71B33C82}"/>
              </a:ext>
            </a:extLst>
          </p:cNvPr>
          <p:cNvSpPr txBox="1">
            <a:spLocks/>
          </p:cNvSpPr>
          <p:nvPr/>
        </p:nvSpPr>
        <p:spPr>
          <a:xfrm>
            <a:off x="124690" y="139308"/>
            <a:ext cx="4142509" cy="812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latin typeface="+mn-ea"/>
                <a:ea typeface="+mn-ea"/>
              </a:rPr>
              <a:t>✅ </a:t>
            </a:r>
            <a:r>
              <a:rPr lang="ko-KR" altLang="en-US" sz="2800" dirty="0" err="1">
                <a:latin typeface="+mn-ea"/>
                <a:ea typeface="+mn-ea"/>
              </a:rPr>
              <a:t>안장점</a:t>
            </a:r>
            <a:r>
              <a:rPr lang="ko-KR" altLang="en-US" sz="2800" dirty="0">
                <a:latin typeface="+mn-ea"/>
                <a:ea typeface="+mn-ea"/>
              </a:rPr>
              <a:t> 탈출 시뮬레이션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8D091-BAFA-0CA6-B64B-006F1F5E77FA}"/>
              </a:ext>
            </a:extLst>
          </p:cNvPr>
          <p:cNvSpPr txBox="1"/>
          <p:nvPr/>
        </p:nvSpPr>
        <p:spPr>
          <a:xfrm>
            <a:off x="4056062" y="5961500"/>
            <a:ext cx="4079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출처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]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https://imgur.com/a/visualizing-optimization-algos-Hqolp</a:t>
            </a:r>
          </a:p>
        </p:txBody>
      </p:sp>
    </p:spTree>
    <p:extLst>
      <p:ext uri="{BB962C8B-B14F-4D97-AF65-F5344CB8AC3E}">
        <p14:creationId xmlns:p14="http://schemas.microsoft.com/office/powerpoint/2010/main" val="2199310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4ED0-C41D-C278-E1B0-39C11A42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D1DC8-9245-4828-7C0D-89F35C0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latin typeface="+mj-ea"/>
              </a:rPr>
              <a:t>Optimizer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5BA029-FDF4-BE01-B012-3E27F3E4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8E11-7ADE-CB64-8077-C1EE630C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B772F-CA46-1F40-75E5-509D790159A5}"/>
              </a:ext>
            </a:extLst>
          </p:cNvPr>
          <p:cNvSpPr txBox="1"/>
          <p:nvPr/>
        </p:nvSpPr>
        <p:spPr>
          <a:xfrm>
            <a:off x="251788" y="1145407"/>
            <a:ext cx="6898312" cy="178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</a:rPr>
              <a:t>🔗 참고 링크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  <a:hlinkClick r:id="rId2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2"/>
              </a:rPr>
              <a:t>https://keras.io/api/optimizers/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https://pytorch.org/docs/stable/optim.html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334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8166</TotalTime>
  <Words>1801</Words>
  <Application>Microsoft Office PowerPoint</Application>
  <PresentationFormat>와이드스크린</PresentationFormat>
  <Paragraphs>357</Paragraphs>
  <Slides>37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회귀(Regression)</vt:lpstr>
      <vt:lpstr>회귀(Regression)</vt:lpstr>
      <vt:lpstr>회귀(Regression)</vt:lpstr>
      <vt:lpstr>회귀(Regression)</vt:lpstr>
      <vt:lpstr>회귀(Regression)</vt:lpstr>
      <vt:lpstr>회귀(Regression)</vt:lpstr>
      <vt:lpstr>선형 회귀(Linear Regression)</vt:lpstr>
      <vt:lpstr>선형 회귀(Linear Regression)</vt:lpstr>
      <vt:lpstr>가중치와 편향</vt:lpstr>
      <vt:lpstr>가중치와 편향(예시)</vt:lpstr>
      <vt:lpstr>가중치와 편향(예시)</vt:lpstr>
      <vt:lpstr>가중치와 편향(예시)</vt:lpstr>
      <vt:lpstr>오차(error)</vt:lpstr>
      <vt:lpstr>오차(error)</vt:lpstr>
      <vt:lpstr>선형 회귀(Linear Regression)</vt:lpstr>
      <vt:lpstr>오차(error)</vt:lpstr>
      <vt:lpstr>손실 함수(Loss Fucntion)</vt:lpstr>
      <vt:lpstr>경사 하강법(Gradient Descent)</vt:lpstr>
      <vt:lpstr>경사 하강법(Gradient Descent)</vt:lpstr>
      <vt:lpstr>경사 하강법(Gradient Descent)</vt:lpstr>
      <vt:lpstr>볼록함수(convex function)</vt:lpstr>
      <vt:lpstr>경사 하강법의 종류</vt:lpstr>
      <vt:lpstr>경사 하강법의 종류</vt:lpstr>
      <vt:lpstr>경사 하강법의 종류</vt:lpstr>
      <vt:lpstr>경사 하강법의 종류</vt:lpstr>
      <vt:lpstr>경사 하강법의 종류</vt:lpstr>
      <vt:lpstr>경사 하강법의 문제</vt:lpstr>
      <vt:lpstr>경사 하강법의 문제</vt:lpstr>
      <vt:lpstr>SGD의 단점을 개선(optimizer)</vt:lpstr>
      <vt:lpstr>SGD의 단점을 개선(optimizer)</vt:lpstr>
      <vt:lpstr>SGD의 단점을 개선(optimizer)</vt:lpstr>
      <vt:lpstr>SGD의 단점을 개선(optimizer)</vt:lpstr>
      <vt:lpstr>PowerPoint 프레젠테이션</vt:lpstr>
      <vt:lpstr>Optimizer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581</cp:revision>
  <dcterms:created xsi:type="dcterms:W3CDTF">2023-01-31T04:26:23Z</dcterms:created>
  <dcterms:modified xsi:type="dcterms:W3CDTF">2026-02-10T10:54:04Z</dcterms:modified>
</cp:coreProperties>
</file>