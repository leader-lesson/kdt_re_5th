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15"/>
  </p:notesMasterIdLst>
  <p:sldIdLst>
    <p:sldId id="1004" r:id="rId2"/>
    <p:sldId id="677" r:id="rId3"/>
    <p:sldId id="1015" r:id="rId4"/>
    <p:sldId id="563" r:id="rId5"/>
    <p:sldId id="1016" r:id="rId6"/>
    <p:sldId id="1013" r:id="rId7"/>
    <p:sldId id="679" r:id="rId8"/>
    <p:sldId id="680" r:id="rId9"/>
    <p:sldId id="681" r:id="rId10"/>
    <p:sldId id="682" r:id="rId11"/>
    <p:sldId id="692" r:id="rId12"/>
    <p:sldId id="1014" r:id="rId13"/>
    <p:sldId id="836" r:id="rId14"/>
  </p:sldIdLst>
  <p:sldSz cx="12192000" cy="6858000"/>
  <p:notesSz cx="6858000" cy="9144000"/>
  <p:embeddedFontLst>
    <p:embeddedFont>
      <p:font typeface="G마켓 산스 TTF Bold" panose="02000000000000000000" pitchFamily="2" charset="-127"/>
      <p:bold r:id="rId16"/>
    </p:embeddedFont>
    <p:embeddedFont>
      <p:font typeface="Pretendard Black" panose="02000A03000000020004" pitchFamily="50" charset="-127"/>
      <p:bold r:id="rId17"/>
    </p:embeddedFont>
    <p:embeddedFont>
      <p:font typeface="Pretendard Light" panose="02000403000000020004" pitchFamily="50" charset="-127"/>
      <p:regular r:id="rId18"/>
    </p:embeddedFont>
    <p:embeddedFont>
      <p:font typeface="Pretendard Medium" panose="02000603000000020004" pitchFamily="50" charset="-127"/>
      <p:regular r:id="rId19"/>
    </p:embeddedFont>
    <p:embeddedFont>
      <p:font typeface="맑은 고딕" panose="020B0503020000020004" pitchFamily="50" charset="-127"/>
      <p:regular r:id="rId20"/>
      <p:bold r:id="rId21"/>
    </p:embeddedFont>
    <p:embeddedFont>
      <p:font typeface="메이플스토리" panose="02000300000000000000" pitchFamily="2" charset="-127"/>
      <p:regular r:id="rId22"/>
      <p:bold r:id="rId23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00F209"/>
    <a:srgbClr val="F9A130"/>
    <a:srgbClr val="F99F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17" autoAdjust="0"/>
    <p:restoredTop sz="84220" autoAdjust="0"/>
  </p:normalViewPr>
  <p:slideViewPr>
    <p:cSldViewPr snapToGrid="0">
      <p:cViewPr varScale="1">
        <p:scale>
          <a:sx n="93" d="100"/>
          <a:sy n="93" d="100"/>
        </p:scale>
        <p:origin x="1326" y="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702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4" d="100"/>
          <a:sy n="64" d="100"/>
        </p:scale>
        <p:origin x="2226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F3F159-7250-4DD4-91C2-13B35D56E1AF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9E5BFC-1559-42F1-8940-AB342D56BF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459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공식을 외우는 수업이 아니라</a:t>
            </a:r>
            <a:r>
              <a:rPr lang="en-US" altLang="ko-KR" dirty="0"/>
              <a:t>, </a:t>
            </a:r>
            <a:r>
              <a:rPr lang="ko-KR" altLang="en-US" dirty="0"/>
              <a:t>모델이 움직이는 이유를 이해하는 파트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75806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2EE83-52CB-E118-49CB-3EBDD6EF2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F83B01-3943-C359-9322-8EB719FB82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F259CF-8156-0FB2-87BB-C2421F329E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01DD34-5BFE-877A-E657-9B3A6B1B5C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1645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DC021-A0A2-48FA-9844-867A974E57AD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340015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73DC6-58A2-4EA5-A212-0B6ECD61FDC0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73823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ECFA89F-766A-4215-9646-99A19D814B36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511401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CFA89F-766A-4215-9646-99A19D814B36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EF4B503-1034-2554-AF80-67C145D0076E}"/>
              </a:ext>
            </a:extLst>
          </p:cNvPr>
          <p:cNvSpPr/>
          <p:nvPr userDrawn="1"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3216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9E2036-8D3D-3C48-304C-6615D19E4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349" y="3686684"/>
            <a:ext cx="2336503" cy="530087"/>
          </a:xfrm>
        </p:spPr>
        <p:txBody>
          <a:bodyPr wrap="square"/>
          <a:lstStyle/>
          <a:p>
            <a:pPr algn="just"/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재생에너지 </a:t>
            </a:r>
            <a:r>
              <a:rPr lang="en-US" altLang="ko-KR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3</a:t>
            </a:r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AD1B1D-CD7D-EE4E-41B0-87A1CCAA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511" y="3670957"/>
            <a:ext cx="3021223" cy="4562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2839F9-0BFF-23B7-FDC2-F712592DC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13C5469-037B-97B0-6833-41E090EAC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A4C7DD5B-AF47-E169-FE1C-CF22BB1229F5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AI </a:t>
            </a:r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학습을 위한 기초 수학</a:t>
            </a:r>
          </a:p>
        </p:txBody>
      </p:sp>
    </p:spTree>
    <p:extLst>
      <p:ext uri="{BB962C8B-B14F-4D97-AF65-F5344CB8AC3E}">
        <p14:creationId xmlns:p14="http://schemas.microsoft.com/office/powerpoint/2010/main" val="310283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2012FC-F759-9D18-287F-81522E668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왜 </a:t>
            </a:r>
            <a:r>
              <a:rPr lang="en-US" altLang="ko-KR" dirty="0"/>
              <a:t>AI </a:t>
            </a:r>
            <a:r>
              <a:rPr lang="ko-KR" altLang="en-US" dirty="0"/>
              <a:t>모델링에 수학이 필요한가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180C7F-76C6-1CD0-E6E2-A40686C1A1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AI </a:t>
            </a:r>
            <a:r>
              <a:rPr lang="ko-KR" altLang="en-US" dirty="0"/>
              <a:t>모델링은 결국 “숫자를 움직이는 </a:t>
            </a:r>
            <a:r>
              <a:rPr lang="ko-KR" altLang="en-US" dirty="0" err="1"/>
              <a:t>문제”다</a:t>
            </a:r>
            <a:endParaRPr lang="en-US" altLang="ko-KR" dirty="0"/>
          </a:p>
          <a:p>
            <a:r>
              <a:rPr lang="en-US" altLang="ko-KR" dirty="0"/>
              <a:t>AI </a:t>
            </a:r>
            <a:r>
              <a:rPr lang="ko-KR" altLang="en-US" dirty="0"/>
              <a:t>모델 </a:t>
            </a:r>
            <a:r>
              <a:rPr lang="en-US" altLang="ko-KR" dirty="0"/>
              <a:t>= </a:t>
            </a:r>
            <a:r>
              <a:rPr lang="ko-KR" altLang="en-US" dirty="0"/>
              <a:t>수학적 규칙 </a:t>
            </a:r>
            <a:r>
              <a:rPr lang="en-US" altLang="ko-KR" dirty="0"/>
              <a:t>+ </a:t>
            </a:r>
            <a:r>
              <a:rPr lang="ko-KR" altLang="en-US" dirty="0"/>
              <a:t>데이터 로 구성</a:t>
            </a:r>
            <a:endParaRPr lang="en-US" altLang="ko-KR" dirty="0"/>
          </a:p>
          <a:p>
            <a:r>
              <a:rPr lang="ko-KR" altLang="en-US" dirty="0"/>
              <a:t>현실 세계의 문제 </a:t>
            </a:r>
            <a:r>
              <a:rPr lang="en-US" altLang="ko-KR" dirty="0"/>
              <a:t>-&gt; </a:t>
            </a:r>
            <a:r>
              <a:rPr lang="ko-KR" altLang="en-US" dirty="0"/>
              <a:t>숫자 데이터</a:t>
            </a:r>
            <a:endParaRPr lang="en-US" altLang="ko-KR" dirty="0"/>
          </a:p>
          <a:p>
            <a:r>
              <a:rPr lang="ko-KR" altLang="en-US" dirty="0"/>
              <a:t>숫자 데이터를 </a:t>
            </a:r>
            <a:r>
              <a:rPr lang="ko-KR" altLang="en-US" b="1" dirty="0"/>
              <a:t>어떤 규칙으로 예측할지를 </a:t>
            </a:r>
            <a:r>
              <a:rPr lang="ko-KR" altLang="en-US" dirty="0"/>
              <a:t>정하는 것이 모델링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E70AC6-0A81-7529-4458-310E3A20C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7855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>
                <a:latin typeface="+mj-ea"/>
              </a:rPr>
              <a:t>함수</a:t>
            </a:r>
            <a:r>
              <a:rPr lang="en-US" altLang="ko-KR" b="1" dirty="0">
                <a:latin typeface="+mj-ea"/>
              </a:rPr>
              <a:t>(</a:t>
            </a:r>
            <a:r>
              <a:rPr lang="en-US" altLang="ko-KR" b="1" dirty="0" err="1">
                <a:latin typeface="+mj-ea"/>
              </a:rPr>
              <a:t>Fucntion</a:t>
            </a:r>
            <a:r>
              <a:rPr lang="en-US" altLang="ko-KR" b="1" dirty="0">
                <a:latin typeface="+mj-ea"/>
              </a:rPr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B8E923A-8A7B-2704-EE53-E4C0111684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dirty="0"/>
              <a:t>모델 </a:t>
            </a:r>
            <a:r>
              <a:rPr lang="en-US" altLang="ko-KR" dirty="0"/>
              <a:t>= </a:t>
            </a:r>
            <a:r>
              <a:rPr lang="ko-KR" altLang="en-US" dirty="0"/>
              <a:t>입력을 출력으로 바꾸는 함수</a:t>
            </a:r>
            <a:endParaRPr lang="en-US" altLang="ko-KR" dirty="0"/>
          </a:p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dirty="0"/>
              <a:t>함수</a:t>
            </a:r>
            <a:r>
              <a:rPr lang="en-US" altLang="ko-KR" dirty="0"/>
              <a:t>: </a:t>
            </a:r>
            <a:r>
              <a:rPr lang="ko-KR" altLang="en-US" dirty="0"/>
              <a:t>입력과 출력 사이의 관계를 나타내는 규칙</a:t>
            </a:r>
            <a:endParaRPr lang="en-US" altLang="ko-KR" dirty="0"/>
          </a:p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dirty="0"/>
              <a:t>일반적으로                형태로 표현되며</a:t>
            </a:r>
            <a:r>
              <a:rPr lang="en-US" altLang="ko-KR" dirty="0"/>
              <a:t>, </a:t>
            </a:r>
            <a:r>
              <a:rPr lang="ko-KR" altLang="en-US" dirty="0"/>
              <a:t>여기서 </a:t>
            </a:r>
            <a:r>
              <a:rPr lang="en-US" altLang="ko-KR" b="1" dirty="0"/>
              <a:t>x</a:t>
            </a:r>
            <a:r>
              <a:rPr lang="ko-KR" altLang="en-US" b="1" dirty="0"/>
              <a:t>는</a:t>
            </a:r>
            <a:r>
              <a:rPr lang="ko-KR" altLang="en-US" dirty="0"/>
              <a:t> </a:t>
            </a:r>
            <a:r>
              <a:rPr lang="ko-KR" altLang="en-US" b="1" dirty="0"/>
              <a:t>입력 값</a:t>
            </a:r>
            <a:r>
              <a:rPr lang="en-US" altLang="ko-KR" dirty="0"/>
              <a:t>, </a:t>
            </a:r>
            <a:r>
              <a:rPr lang="en-US" altLang="ko-KR" b="1" dirty="0"/>
              <a:t>y</a:t>
            </a:r>
            <a:r>
              <a:rPr lang="ko-KR" altLang="en-US" b="1" dirty="0"/>
              <a:t>는</a:t>
            </a:r>
            <a:r>
              <a:rPr lang="ko-KR" altLang="en-US" dirty="0"/>
              <a:t> </a:t>
            </a:r>
            <a:r>
              <a:rPr lang="ko-KR" altLang="en-US" b="1" dirty="0"/>
              <a:t>출력 값임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1265" y="3216293"/>
            <a:ext cx="1266785" cy="425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15908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1E4F6-B472-3697-452C-07E422456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A5A6D8-9AE5-6382-55E9-39556C859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>
                <a:latin typeface="+mj-ea"/>
              </a:rPr>
              <a:t>함수</a:t>
            </a:r>
            <a:r>
              <a:rPr lang="en-US" altLang="ko-KR" b="1" dirty="0">
                <a:latin typeface="+mj-ea"/>
              </a:rPr>
              <a:t>(</a:t>
            </a:r>
            <a:r>
              <a:rPr lang="en-US" altLang="ko-KR" b="1" dirty="0" err="1">
                <a:latin typeface="+mj-ea"/>
              </a:rPr>
              <a:t>Fucntion</a:t>
            </a:r>
            <a:r>
              <a:rPr lang="en-US" altLang="ko-KR" b="1" dirty="0">
                <a:latin typeface="+mj-ea"/>
              </a:rPr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9A6E11-4A70-0B21-F8C4-50AB158227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dirty="0"/>
              <a:t>데이터 분석에서 함수는 입력 </a:t>
            </a:r>
            <a:r>
              <a:rPr lang="en-US" altLang="ko-KR" dirty="0"/>
              <a:t>x(feature)</a:t>
            </a:r>
            <a:r>
              <a:rPr lang="ko-KR" altLang="en-US" dirty="0"/>
              <a:t>와 출력 </a:t>
            </a:r>
            <a:r>
              <a:rPr lang="en-US" altLang="ko-KR" dirty="0"/>
              <a:t>y(label) </a:t>
            </a:r>
            <a:r>
              <a:rPr lang="ko-KR" altLang="en-US" dirty="0"/>
              <a:t>간의 관계를 설명하는 데 사용됨</a:t>
            </a:r>
            <a:endParaRPr lang="en-US" altLang="ko-KR" dirty="0"/>
          </a:p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dirty="0"/>
              <a:t>함수의 출력에 </a:t>
            </a:r>
            <a:r>
              <a:rPr lang="ko-KR" altLang="en-US" b="1" dirty="0" err="1"/>
              <a:t>예측값</a:t>
            </a:r>
            <a:r>
              <a:rPr lang="ko-KR" altLang="en-US" dirty="0" err="1"/>
              <a:t>을</a:t>
            </a:r>
            <a:r>
              <a:rPr lang="ko-KR" altLang="en-US" dirty="0"/>
              <a:t> 나타낼 때는</a:t>
            </a:r>
            <a:r>
              <a:rPr lang="en-US" altLang="ko-KR" dirty="0"/>
              <a:t>    </a:t>
            </a:r>
            <a:r>
              <a:rPr lang="ko-KR" altLang="en-US" dirty="0"/>
              <a:t>와 같이 </a:t>
            </a:r>
            <a:r>
              <a:rPr lang="ko-KR" altLang="en-US" dirty="0" err="1"/>
              <a:t>햇</a:t>
            </a:r>
            <a:r>
              <a:rPr lang="ko-KR" altLang="en-US" dirty="0"/>
              <a:t> 모양</a:t>
            </a:r>
            <a:r>
              <a:rPr lang="en-US" altLang="ko-KR" dirty="0"/>
              <a:t>(^)</a:t>
            </a:r>
            <a:r>
              <a:rPr lang="ko-KR" altLang="en-US" dirty="0"/>
              <a:t>을 씌워 표현함</a:t>
            </a:r>
            <a:endParaRPr lang="en-US" altLang="ko-KR" dirty="0"/>
          </a:p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dirty="0" err="1"/>
              <a:t>머신러닝</a:t>
            </a:r>
            <a:r>
              <a:rPr lang="ko-KR" altLang="en-US" dirty="0"/>
              <a:t> 모델은 입력 변수</a:t>
            </a:r>
            <a:r>
              <a:rPr lang="en-US" altLang="ko-KR" dirty="0"/>
              <a:t>(feature)</a:t>
            </a:r>
            <a:r>
              <a:rPr lang="ko-KR" altLang="en-US" dirty="0"/>
              <a:t>를 받아 </a:t>
            </a:r>
            <a:r>
              <a:rPr lang="ko-KR" altLang="en-US" dirty="0" err="1"/>
              <a:t>예측값</a:t>
            </a:r>
            <a:r>
              <a:rPr lang="en-US" altLang="ko-KR" dirty="0"/>
              <a:t>(prediction)</a:t>
            </a:r>
            <a:r>
              <a:rPr lang="ko-KR" altLang="en-US" dirty="0"/>
              <a:t>을 만드는 함수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33C558-8605-0333-675C-895D59F88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C69A247-576F-7332-1DF0-5D128C0B7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C0170EA0-6551-14C2-C169-950A779C9F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0108" y="3102304"/>
            <a:ext cx="220539" cy="3780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62596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>
                <a:latin typeface="+mj-ea"/>
              </a:rPr>
              <a:t>1</a:t>
            </a:r>
            <a:r>
              <a:rPr lang="ko-KR" altLang="en-US" b="1" dirty="0">
                <a:latin typeface="+mj-ea"/>
              </a:rPr>
              <a:t>차</a:t>
            </a:r>
            <a:r>
              <a:rPr lang="en-US" altLang="ko-KR" b="1" dirty="0">
                <a:latin typeface="+mj-ea"/>
              </a:rPr>
              <a:t> </a:t>
            </a:r>
            <a:r>
              <a:rPr lang="ko-KR" altLang="en-US" b="1" dirty="0">
                <a:latin typeface="+mj-ea"/>
              </a:rPr>
              <a:t>함수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97D3DC8-54B3-B8EC-041E-B88FA919F546}"/>
              </a:ext>
            </a:extLst>
          </p:cNvPr>
          <p:cNvSpPr txBox="1"/>
          <p:nvPr/>
        </p:nvSpPr>
        <p:spPr>
          <a:xfrm>
            <a:off x="251788" y="1325538"/>
            <a:ext cx="6766562" cy="4542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800" b="1" dirty="0"/>
              <a:t>일차 함수</a:t>
            </a:r>
            <a:r>
              <a:rPr lang="ko-KR" altLang="en-US" sz="2800" dirty="0"/>
              <a:t>는 </a:t>
            </a:r>
            <a:r>
              <a:rPr lang="en-US" altLang="ko-KR" sz="2800" dirty="0"/>
              <a:t>y</a:t>
            </a:r>
            <a:r>
              <a:rPr lang="ko-KR" altLang="en-US" sz="2800" dirty="0"/>
              <a:t>가 </a:t>
            </a:r>
            <a:r>
              <a:rPr lang="en-US" altLang="ko-KR" sz="2800" dirty="0"/>
              <a:t>x</a:t>
            </a:r>
            <a:r>
              <a:rPr lang="ko-KR" altLang="en-US" sz="2800" dirty="0"/>
              <a:t>에 대한 </a:t>
            </a:r>
            <a:r>
              <a:rPr lang="ko-KR" altLang="en-US" sz="2800" dirty="0" err="1"/>
              <a:t>일차식으로</a:t>
            </a:r>
            <a:r>
              <a:rPr lang="ko-KR" altLang="en-US" sz="2800" dirty="0"/>
              <a:t> 표현된 경우를 말합니다</a:t>
            </a:r>
            <a:r>
              <a:rPr lang="en-US" altLang="ko-KR" sz="2800" dirty="0"/>
              <a:t>.</a:t>
            </a:r>
          </a:p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800" dirty="0"/>
              <a:t>일반적인 형태                    </a:t>
            </a:r>
            <a:endParaRPr lang="en-US" altLang="ko-KR" sz="2800" dirty="0"/>
          </a:p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2800" dirty="0"/>
              <a:t>a</a:t>
            </a:r>
            <a:r>
              <a:rPr lang="ko-KR" altLang="en-US" sz="2800" dirty="0"/>
              <a:t>는 </a:t>
            </a:r>
            <a:r>
              <a:rPr lang="ko-KR" altLang="en-US" sz="2800" b="1" dirty="0"/>
              <a:t>기울기</a:t>
            </a:r>
            <a:r>
              <a:rPr lang="ko-KR" altLang="en-US" sz="2800" dirty="0"/>
              <a:t>를 나타내며</a:t>
            </a:r>
            <a:r>
              <a:rPr lang="en-US" altLang="ko-KR" sz="2800" dirty="0"/>
              <a:t>, </a:t>
            </a:r>
            <a:r>
              <a:rPr lang="ko-KR" altLang="en-US" sz="2800" dirty="0"/>
              <a:t>직선이 얼마나 가파른지를 결정</a:t>
            </a:r>
            <a:endParaRPr lang="en-US" altLang="ko-KR" sz="2800" dirty="0"/>
          </a:p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2800" dirty="0"/>
              <a:t>b</a:t>
            </a:r>
            <a:r>
              <a:rPr lang="ko-KR" altLang="en-US" sz="2800" dirty="0"/>
              <a:t>는 </a:t>
            </a:r>
            <a:r>
              <a:rPr lang="ko-KR" altLang="en-US" sz="2800" b="1" dirty="0"/>
              <a:t>절편</a:t>
            </a:r>
            <a:r>
              <a:rPr lang="ko-KR" altLang="en-US" sz="2800" dirty="0"/>
              <a:t>을 의미하며</a:t>
            </a:r>
            <a:r>
              <a:rPr lang="en-US" altLang="ko-KR" sz="2800" dirty="0"/>
              <a:t>, </a:t>
            </a:r>
            <a:r>
              <a:rPr lang="ko-KR" altLang="en-US" sz="2800" dirty="0"/>
              <a:t>그래프가 </a:t>
            </a:r>
            <a:r>
              <a:rPr lang="en-US" altLang="ko-KR" sz="2800" dirty="0"/>
              <a:t>y</a:t>
            </a:r>
            <a:r>
              <a:rPr lang="ko-KR" altLang="en-US" sz="2800" dirty="0"/>
              <a:t>축과 만나는 지점</a:t>
            </a:r>
            <a:endParaRPr lang="en-US" altLang="ko-KR" sz="2800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F8225021-49BE-4093-A852-2F7DA2CB276B}"/>
              </a:ext>
            </a:extLst>
          </p:cNvPr>
          <p:cNvGrpSpPr/>
          <p:nvPr/>
        </p:nvGrpSpPr>
        <p:grpSpPr>
          <a:xfrm>
            <a:off x="3162157" y="2777364"/>
            <a:ext cx="2935763" cy="411798"/>
            <a:chOff x="3386453" y="2806861"/>
            <a:chExt cx="2935763" cy="411798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86453" y="2806861"/>
              <a:ext cx="1833165" cy="4117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052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00819" y="2813856"/>
              <a:ext cx="1021397" cy="3978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2053" name="Picture 5" descr="C:\Users\LMH\Downloads\output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5680" y="1838961"/>
            <a:ext cx="4602572" cy="35153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0742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>
                <a:latin typeface="+mj-ea"/>
              </a:rPr>
              <a:t>이차</a:t>
            </a:r>
            <a:r>
              <a:rPr lang="en-US" altLang="ko-KR" b="1" dirty="0">
                <a:latin typeface="+mj-ea"/>
              </a:rPr>
              <a:t> </a:t>
            </a:r>
            <a:r>
              <a:rPr lang="ko-KR" altLang="en-US" b="1" dirty="0">
                <a:latin typeface="+mj-ea"/>
              </a:rPr>
              <a:t>함수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97D3DC8-54B3-B8EC-041E-B88FA919F546}"/>
              </a:ext>
            </a:extLst>
          </p:cNvPr>
          <p:cNvSpPr txBox="1"/>
          <p:nvPr/>
        </p:nvSpPr>
        <p:spPr>
          <a:xfrm>
            <a:off x="251788" y="1538342"/>
            <a:ext cx="5974082" cy="3895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800" b="1" dirty="0"/>
              <a:t>이차 함수</a:t>
            </a:r>
            <a:r>
              <a:rPr lang="ko-KR" altLang="en-US" sz="2800" dirty="0"/>
              <a:t>는 </a:t>
            </a:r>
            <a:r>
              <a:rPr lang="en-US" altLang="ko-KR" sz="2800" dirty="0"/>
              <a:t>y</a:t>
            </a:r>
            <a:r>
              <a:rPr lang="ko-KR" altLang="en-US" sz="2800" dirty="0"/>
              <a:t>가 </a:t>
            </a:r>
            <a:r>
              <a:rPr lang="en-US" altLang="ko-KR" sz="2800" dirty="0"/>
              <a:t>x</a:t>
            </a:r>
            <a:r>
              <a:rPr lang="ko-KR" altLang="en-US" sz="2800" dirty="0"/>
              <a:t>에 대한 </a:t>
            </a:r>
            <a:r>
              <a:rPr lang="ko-KR" altLang="en-US" sz="2800" b="1" dirty="0" err="1"/>
              <a:t>이차식</a:t>
            </a:r>
            <a:r>
              <a:rPr lang="ko-KR" altLang="en-US" sz="2800" dirty="0" err="1"/>
              <a:t>으로</a:t>
            </a:r>
            <a:r>
              <a:rPr lang="ko-KR" altLang="en-US" sz="2800" dirty="0"/>
              <a:t> 표현된 경우</a:t>
            </a:r>
            <a:endParaRPr lang="en-US" altLang="ko-KR" sz="2800" dirty="0"/>
          </a:p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800" dirty="0"/>
              <a:t>일반적인 형태 </a:t>
            </a:r>
            <a:endParaRPr lang="en-US" altLang="ko-KR" sz="2800" dirty="0"/>
          </a:p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2800" dirty="0"/>
              <a:t>a: </a:t>
            </a:r>
            <a:r>
              <a:rPr lang="ko-KR" altLang="en-US" sz="2800" b="1" dirty="0"/>
              <a:t>그래프의 모양과 방향</a:t>
            </a:r>
            <a:r>
              <a:rPr lang="ko-KR" altLang="en-US" sz="2800" dirty="0"/>
              <a:t>을 결정 </a:t>
            </a:r>
            <a:r>
              <a:rPr lang="en-US" altLang="ko-KR" sz="2800" dirty="0"/>
              <a:t>(</a:t>
            </a:r>
            <a:r>
              <a:rPr lang="ko-KR" altLang="en-US" sz="2800" dirty="0"/>
              <a:t>양수면 아래로 볼록</a:t>
            </a:r>
            <a:r>
              <a:rPr lang="en-US" altLang="ko-KR" sz="2800" dirty="0"/>
              <a:t>, </a:t>
            </a:r>
            <a:r>
              <a:rPr lang="ko-KR" altLang="en-US" sz="2800" dirty="0"/>
              <a:t>음수면 위로 볼록</a:t>
            </a:r>
            <a:r>
              <a:rPr lang="en-US" altLang="ko-KR" sz="2800" dirty="0"/>
              <a:t>)</a:t>
            </a:r>
          </a:p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2800" dirty="0"/>
              <a:t>(</a:t>
            </a:r>
            <a:r>
              <a:rPr lang="en-US" altLang="ko-KR" sz="2800" dirty="0" err="1"/>
              <a:t>p,q</a:t>
            </a:r>
            <a:r>
              <a:rPr lang="en-US" altLang="ko-KR" sz="2800" dirty="0"/>
              <a:t>): </a:t>
            </a:r>
            <a:r>
              <a:rPr lang="ko-KR" altLang="en-US" sz="2800" b="1" dirty="0" err="1"/>
              <a:t>꼭짓점</a:t>
            </a:r>
            <a:r>
              <a:rPr lang="ko-KR" altLang="en-US" sz="2800" dirty="0" err="1"/>
              <a:t>의</a:t>
            </a:r>
            <a:r>
              <a:rPr lang="ko-KR" altLang="en-US" sz="2800" dirty="0"/>
              <a:t> 좌표</a:t>
            </a:r>
            <a:endParaRPr lang="en-US" altLang="ko-KR" sz="2800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1DE78CFA-760E-DD63-98DA-1A799914C26C}"/>
              </a:ext>
            </a:extLst>
          </p:cNvPr>
          <p:cNvGrpSpPr/>
          <p:nvPr/>
        </p:nvGrpSpPr>
        <p:grpSpPr>
          <a:xfrm>
            <a:off x="3067335" y="3010792"/>
            <a:ext cx="3477420" cy="475488"/>
            <a:chOff x="3342639" y="3018080"/>
            <a:chExt cx="3477420" cy="475488"/>
          </a:xfrm>
        </p:grpSpPr>
        <p:pic>
          <p:nvPicPr>
            <p:cNvPr id="3074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2639" y="3018080"/>
              <a:ext cx="2377438" cy="4754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9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98662" y="3056920"/>
              <a:ext cx="1021397" cy="3978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11" name="Picture 3" descr="C:\Users\LMH\Downloads\output (1)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618" y="1625600"/>
            <a:ext cx="4791833" cy="38196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1856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>
                <a:latin typeface="+mj-ea"/>
              </a:rPr>
              <a:t>미분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97D3DC8-54B3-B8EC-041E-B88FA919F546}"/>
              </a:ext>
            </a:extLst>
          </p:cNvPr>
          <p:cNvSpPr txBox="1"/>
          <p:nvPr/>
        </p:nvSpPr>
        <p:spPr>
          <a:xfrm>
            <a:off x="251788" y="1481062"/>
            <a:ext cx="5953761" cy="3895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800" dirty="0"/>
              <a:t>함수                </a:t>
            </a:r>
            <a:r>
              <a:rPr lang="ko-KR" altLang="en-US" sz="2800" dirty="0" err="1"/>
              <a:t>를</a:t>
            </a:r>
            <a:r>
              <a:rPr lang="ko-KR" altLang="en-US" sz="2800" dirty="0"/>
              <a:t> 미분한다는 것은 </a:t>
            </a:r>
            <a:r>
              <a:rPr lang="ko-KR" altLang="en-US" sz="2800" b="1" dirty="0"/>
              <a:t>함수의 순간 변화율</a:t>
            </a:r>
            <a:r>
              <a:rPr lang="ko-KR" altLang="en-US" sz="2800" dirty="0"/>
              <a:t>을 구하는 것</a:t>
            </a:r>
            <a:endParaRPr lang="en-US" altLang="ko-KR" sz="2800" dirty="0"/>
          </a:p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800" dirty="0"/>
              <a:t>즉</a:t>
            </a:r>
            <a:r>
              <a:rPr lang="en-US" altLang="ko-KR" sz="2800" dirty="0"/>
              <a:t>, </a:t>
            </a:r>
            <a:r>
              <a:rPr lang="ko-KR" altLang="en-US" sz="2800" dirty="0"/>
              <a:t>특정 점에서의 </a:t>
            </a:r>
            <a:r>
              <a:rPr lang="ko-KR" altLang="en-US" sz="2800" b="1" dirty="0"/>
              <a:t>기울기</a:t>
            </a:r>
            <a:r>
              <a:rPr lang="ko-KR" altLang="en-US" sz="2800" dirty="0"/>
              <a:t>를 계산하는 과정</a:t>
            </a:r>
            <a:endParaRPr lang="en-US" altLang="ko-KR" sz="2800" dirty="0"/>
          </a:p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800" dirty="0"/>
              <a:t>미분을 통해 최적화나 그래프의 증가</a:t>
            </a:r>
            <a:r>
              <a:rPr lang="en-US" altLang="ko-KR" sz="2800" dirty="0"/>
              <a:t>/</a:t>
            </a:r>
            <a:r>
              <a:rPr lang="ko-KR" altLang="en-US" sz="2800" dirty="0"/>
              <a:t>감소 경향을 분석할 수 있음</a:t>
            </a:r>
            <a:endParaRPr lang="en-US" altLang="ko-KR" sz="2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213" y="1654847"/>
            <a:ext cx="1323774" cy="444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 descr="C:\Users\LMH\Downloads\output (3)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5599" y="1346359"/>
            <a:ext cx="5319407" cy="42010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81133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>
                <a:latin typeface="+mj-ea"/>
              </a:rPr>
              <a:t>순간 변화율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>
                <a:latin typeface="+mj-ea"/>
              </a:rPr>
              <a:t>접선의 기울기</a:t>
            </a:r>
            <a:r>
              <a:rPr lang="en-US" altLang="ko-KR" b="1" dirty="0">
                <a:latin typeface="+mj-ea"/>
              </a:rPr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97D3DC8-54B3-B8EC-041E-B88FA919F546}"/>
              </a:ext>
            </a:extLst>
          </p:cNvPr>
          <p:cNvSpPr txBox="1"/>
          <p:nvPr/>
        </p:nvSpPr>
        <p:spPr>
          <a:xfrm>
            <a:off x="251788" y="2773724"/>
            <a:ext cx="5953761" cy="131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2800" dirty="0"/>
              <a:t>x</a:t>
            </a:r>
            <a:r>
              <a:rPr lang="ko-KR" altLang="en-US" sz="2800" dirty="0"/>
              <a:t>의 값이 미세하게 변화했을 때 </a:t>
            </a:r>
            <a:r>
              <a:rPr lang="en-US" altLang="ko-KR" sz="2800" dirty="0"/>
              <a:t>y</a:t>
            </a:r>
            <a:r>
              <a:rPr lang="ko-KR" altLang="en-US" sz="2800" dirty="0"/>
              <a:t>의 변화율</a:t>
            </a:r>
            <a:endParaRPr lang="en-US" altLang="ko-KR" sz="2800" dirty="0"/>
          </a:p>
        </p:txBody>
      </p:sp>
      <p:pic>
        <p:nvPicPr>
          <p:cNvPr id="5122" name="Picture 2" descr="주말N수학] 우리는 왜 '미분'에 관심이 생겼을까 : 동아사이언스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294"/>
          <a:stretch/>
        </p:blipFill>
        <p:spPr bwMode="auto">
          <a:xfrm>
            <a:off x="6319520" y="1412239"/>
            <a:ext cx="5486400" cy="43148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직사각형 2"/>
          <p:cNvSpPr/>
          <p:nvPr/>
        </p:nvSpPr>
        <p:spPr>
          <a:xfrm>
            <a:off x="7254372" y="5751195"/>
            <a:ext cx="361669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/>
              <a:t>[</a:t>
            </a:r>
            <a:r>
              <a:rPr lang="ko-KR" altLang="en-US" sz="1000" dirty="0"/>
              <a:t>출처</a:t>
            </a:r>
            <a:r>
              <a:rPr lang="en-US" altLang="ko-KR" sz="1000" dirty="0"/>
              <a:t>] https://m.dongascience.com/news.php?idx=61804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5679905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8F1F4-4871-4B45-B08E-F92ACDB80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>
                <a:latin typeface="+mj-ea"/>
              </a:rPr>
              <a:t>함수의 최솟값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0F8720-7C11-4CC8-8215-3F57F085A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6D5960-457B-4CA2-B0B3-F7F0DADA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97D3DC8-54B3-B8EC-041E-B88FA919F546}"/>
              </a:ext>
            </a:extLst>
          </p:cNvPr>
          <p:cNvSpPr txBox="1"/>
          <p:nvPr/>
        </p:nvSpPr>
        <p:spPr>
          <a:xfrm>
            <a:off x="251788" y="2773724"/>
            <a:ext cx="5828565" cy="131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800" dirty="0"/>
              <a:t>함수의 최솟값에서의 </a:t>
            </a:r>
            <a:r>
              <a:rPr lang="ko-KR" altLang="en-US" sz="2800" dirty="0" err="1"/>
              <a:t>미분값은</a:t>
            </a:r>
            <a:r>
              <a:rPr lang="ko-KR" altLang="en-US" sz="2800" dirty="0"/>
              <a:t> 항상 </a:t>
            </a:r>
            <a:r>
              <a:rPr lang="en-US" altLang="ko-KR" sz="2800" dirty="0"/>
              <a:t>0</a:t>
            </a:r>
          </a:p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800" dirty="0"/>
              <a:t>이를 바탕으로 </a:t>
            </a:r>
            <a:r>
              <a:rPr lang="ko-KR" altLang="en-US" sz="2800" dirty="0" err="1"/>
              <a:t>최적값을</a:t>
            </a:r>
            <a:r>
              <a:rPr lang="ko-KR" altLang="en-US" sz="2800" dirty="0"/>
              <a:t> 구할 수 있음</a:t>
            </a:r>
            <a:endParaRPr lang="en-US" altLang="ko-KR" sz="2800" dirty="0"/>
          </a:p>
        </p:txBody>
      </p:sp>
      <p:pic>
        <p:nvPicPr>
          <p:cNvPr id="6146" name="Picture 2" descr="C:\Users\LMH\Downloads\output (4)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8610" y="1294907"/>
            <a:ext cx="5420689" cy="426818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87362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E3B16C-4F84-B1C9-CF41-FA0191834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편미분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E6D308-9585-0E1C-DD8A-2A67C1A6D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0D00DF3-4BD4-55C2-22A8-85DF09AF9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3E7F92-9A54-4795-0205-E320483A1815}"/>
              </a:ext>
            </a:extLst>
          </p:cNvPr>
          <p:cNvSpPr txBox="1"/>
          <p:nvPr/>
        </p:nvSpPr>
        <p:spPr>
          <a:xfrm>
            <a:off x="251788" y="1481062"/>
            <a:ext cx="6099006" cy="3895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800" dirty="0"/>
              <a:t>변수가 여러 개인 </a:t>
            </a:r>
            <a:r>
              <a:rPr lang="ko-KR" altLang="en-US" sz="2800" dirty="0" err="1"/>
              <a:t>다변수</a:t>
            </a:r>
            <a:r>
              <a:rPr lang="ko-KR" altLang="en-US" sz="2800" dirty="0"/>
              <a:t> 함수에 대해</a:t>
            </a:r>
            <a:r>
              <a:rPr lang="en-US" altLang="ko-KR" sz="2800" dirty="0"/>
              <a:t>,</a:t>
            </a:r>
            <a:br>
              <a:rPr lang="en-US" altLang="ko-KR" sz="2800" dirty="0"/>
            </a:br>
            <a:r>
              <a:rPr lang="en-US" altLang="ko-KR" sz="2800" dirty="0"/>
              <a:t>          </a:t>
            </a:r>
            <a:r>
              <a:rPr lang="en-US" altLang="ko-KR" sz="28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ex:</a:t>
            </a:r>
            <a:br>
              <a:rPr lang="en-US" altLang="ko-KR" sz="2800" dirty="0"/>
            </a:br>
            <a:r>
              <a:rPr lang="ko-KR" altLang="en-US" sz="2800" dirty="0"/>
              <a:t>다른 변수들은 고정시키고</a:t>
            </a:r>
            <a:r>
              <a:rPr lang="en-US" altLang="ko-KR" sz="2800" dirty="0"/>
              <a:t>, </a:t>
            </a:r>
            <a:r>
              <a:rPr lang="ko-KR" altLang="en-US" sz="2800" dirty="0"/>
              <a:t>특정 변수에 대해서만 변화율</a:t>
            </a:r>
            <a:r>
              <a:rPr lang="en-US" altLang="ko-KR" sz="2800" dirty="0"/>
              <a:t>(</a:t>
            </a:r>
            <a:r>
              <a:rPr lang="ko-KR" altLang="en-US" sz="2800" dirty="0"/>
              <a:t>기울기</a:t>
            </a:r>
            <a:r>
              <a:rPr lang="en-US" altLang="ko-KR" sz="2800" dirty="0"/>
              <a:t>)</a:t>
            </a:r>
            <a:r>
              <a:rPr lang="ko-KR" altLang="en-US" sz="2800" dirty="0"/>
              <a:t>을 구하는 것</a:t>
            </a:r>
            <a:endParaRPr lang="en-US" altLang="ko-KR" sz="2800" dirty="0"/>
          </a:p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800" dirty="0" err="1"/>
              <a:t>다변수</a:t>
            </a:r>
            <a:r>
              <a:rPr lang="ko-KR" altLang="en-US" sz="2800" dirty="0"/>
              <a:t> 함수는 </a:t>
            </a:r>
            <a:r>
              <a:rPr lang="en-US" altLang="ko-KR" sz="2800" dirty="0"/>
              <a:t>3</a:t>
            </a:r>
            <a:r>
              <a:rPr lang="ko-KR" altLang="en-US" sz="2800" dirty="0"/>
              <a:t>차원 공간에 </a:t>
            </a:r>
            <a:r>
              <a:rPr lang="en-US" altLang="ko-KR" sz="2800" dirty="0"/>
              <a:t>"</a:t>
            </a:r>
            <a:r>
              <a:rPr lang="ko-KR" altLang="en-US" sz="2800" dirty="0"/>
              <a:t>곡면</a:t>
            </a:r>
            <a:r>
              <a:rPr lang="en-US" altLang="ko-KR" sz="2800" dirty="0"/>
              <a:t>"</a:t>
            </a:r>
            <a:r>
              <a:rPr lang="ko-KR" altLang="en-US" sz="2800" dirty="0"/>
              <a:t>으로 나타낼 수 있음</a:t>
            </a:r>
            <a:endParaRPr lang="en-US" altLang="ko-KR" sz="28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52ECD0C-3030-815A-9D05-80EDF2F417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8199" y="2171013"/>
            <a:ext cx="3029373" cy="60968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8C01BCDC-DAC6-8C29-FD7D-35CFB39C90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192" b="37509"/>
          <a:stretch>
            <a:fillRect/>
          </a:stretch>
        </p:blipFill>
        <p:spPr>
          <a:xfrm>
            <a:off x="7845196" y="4318983"/>
            <a:ext cx="3000794" cy="970022"/>
          </a:xfrm>
          <a:prstGeom prst="rect">
            <a:avLst/>
          </a:prstGeom>
        </p:spPr>
      </p:pic>
      <p:pic>
        <p:nvPicPr>
          <p:cNvPr id="1030" name="Picture 6" descr="9장. 편미분( Partial differential) : 네이버 블로그">
            <a:extLst>
              <a:ext uri="{FF2B5EF4-FFF2-40B4-BE49-F238E27FC236}">
                <a16:creationId xmlns:a16="http://schemas.microsoft.com/office/drawing/2014/main" id="{12391890-F85C-7D45-6954-79486B1DA9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2573" y="1000673"/>
            <a:ext cx="3099992" cy="2428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C62755B-53CB-DF57-DCFA-82C9B18E13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1119"/>
          <a:stretch>
            <a:fillRect/>
          </a:stretch>
        </p:blipFill>
        <p:spPr>
          <a:xfrm>
            <a:off x="7788051" y="3648072"/>
            <a:ext cx="3000794" cy="670911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3A16577A-E5CE-B08A-8B54-BD3D086875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4901"/>
          <a:stretch>
            <a:fillRect/>
          </a:stretch>
        </p:blipFill>
        <p:spPr>
          <a:xfrm>
            <a:off x="7845196" y="5191005"/>
            <a:ext cx="3000794" cy="891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3263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FE035-6FD5-3C7F-6779-97799A8F7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B599D2-383C-8944-9C09-8F52B16C5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편미분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FEA1C2-1364-9C45-BD26-995F4DC1E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C5D888D-0E73-C866-9F77-D8AC13C01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A5F055-9ED5-330A-C560-7EF83968AA3F}"/>
              </a:ext>
            </a:extLst>
          </p:cNvPr>
          <p:cNvSpPr txBox="1"/>
          <p:nvPr/>
        </p:nvSpPr>
        <p:spPr>
          <a:xfrm>
            <a:off x="251788" y="2674862"/>
            <a:ext cx="6099006" cy="131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2800" dirty="0" err="1"/>
              <a:t>그라디언트</a:t>
            </a:r>
            <a:r>
              <a:rPr lang="ko-KR" altLang="en-US" sz="2800" dirty="0"/>
              <a:t> </a:t>
            </a:r>
            <a:r>
              <a:rPr lang="en-US" altLang="ko-KR" sz="2800" dirty="0"/>
              <a:t>: </a:t>
            </a:r>
            <a:r>
              <a:rPr lang="ko-KR" altLang="en-US" sz="2800" dirty="0" err="1"/>
              <a:t>다변수</a:t>
            </a:r>
            <a:r>
              <a:rPr lang="ko-KR" altLang="en-US" sz="2800" dirty="0"/>
              <a:t> 함수의 모든 </a:t>
            </a:r>
            <a:r>
              <a:rPr lang="ko-KR" altLang="en-US" sz="2800" dirty="0" err="1"/>
              <a:t>편미분을</a:t>
            </a:r>
            <a:r>
              <a:rPr lang="ko-KR" altLang="en-US" sz="2800" dirty="0"/>
              <a:t> 모아놓은 </a:t>
            </a:r>
            <a:r>
              <a:rPr lang="ko-KR" altLang="en-US" sz="2800" b="1" dirty="0"/>
              <a:t>벡터</a:t>
            </a:r>
            <a:endParaRPr lang="en-US" altLang="ko-KR" sz="28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565E9C7-5C4B-AC94-C39D-404B52DE36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2266" y="1661866"/>
            <a:ext cx="3715268" cy="353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5947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B7171936-481C-71EB-7D96-6C9DFC6F9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00005ED-53E3-BFC8-AFAA-7BAFFA3752AB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4171818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6198</TotalTime>
  <Words>360</Words>
  <Application>Microsoft Office PowerPoint</Application>
  <PresentationFormat>와이드스크린</PresentationFormat>
  <Paragraphs>67</Paragraphs>
  <Slides>13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2" baseType="lpstr">
      <vt:lpstr>메이플스토리</vt:lpstr>
      <vt:lpstr>맑은 고딕</vt:lpstr>
      <vt:lpstr>Wingdings</vt:lpstr>
      <vt:lpstr>G마켓 산스 TTF Bold</vt:lpstr>
      <vt:lpstr>Pretendard Light</vt:lpstr>
      <vt:lpstr>Pretendard Black</vt:lpstr>
      <vt:lpstr>Arial</vt:lpstr>
      <vt:lpstr>Pretendard Medium</vt:lpstr>
      <vt:lpstr>1_Office 테마</vt:lpstr>
      <vt:lpstr>x</vt:lpstr>
      <vt:lpstr>PowerPoint 프레젠테이션</vt:lpstr>
      <vt:lpstr>왜 AI 모델링에 수학이 필요한가?</vt:lpstr>
      <vt:lpstr>함수(Fucntion)</vt:lpstr>
      <vt:lpstr>함수(Fucntion)</vt:lpstr>
      <vt:lpstr>1차 함수</vt:lpstr>
      <vt:lpstr>이차 함수</vt:lpstr>
      <vt:lpstr>미분</vt:lpstr>
      <vt:lpstr>순간 변화율(접선의 기울기)</vt:lpstr>
      <vt:lpstr>함수의 최솟값</vt:lpstr>
      <vt:lpstr>편미분</vt:lpstr>
      <vt:lpstr>편미분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김규리</dc:creator>
  <cp:lastModifiedBy>On Coding</cp:lastModifiedBy>
  <cp:revision>1026</cp:revision>
  <dcterms:created xsi:type="dcterms:W3CDTF">2022-06-26T11:10:22Z</dcterms:created>
  <dcterms:modified xsi:type="dcterms:W3CDTF">2026-01-06T10:59:31Z</dcterms:modified>
</cp:coreProperties>
</file>