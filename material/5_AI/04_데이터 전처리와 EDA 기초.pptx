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1020" r:id="rId2"/>
    <p:sldId id="1016" r:id="rId3"/>
    <p:sldId id="1021" r:id="rId4"/>
    <p:sldId id="829" r:id="rId5"/>
    <p:sldId id="1022" r:id="rId6"/>
    <p:sldId id="797" r:id="rId7"/>
    <p:sldId id="625" r:id="rId8"/>
    <p:sldId id="798" r:id="rId9"/>
    <p:sldId id="1006" r:id="rId10"/>
    <p:sldId id="1023" r:id="rId11"/>
    <p:sldId id="1024" r:id="rId12"/>
    <p:sldId id="1025" r:id="rId13"/>
    <p:sldId id="83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79874" autoAdjust="0"/>
  </p:normalViewPr>
  <p:slideViewPr>
    <p:cSldViewPr snapToGrid="0">
      <p:cViewPr varScale="1">
        <p:scale>
          <a:sx n="85" d="100"/>
          <a:sy n="85" d="100"/>
        </p:scale>
        <p:origin x="169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8BD1-253A-CE1C-A092-24D45DD6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3F2EFA-84A3-281D-9D3D-4CCD0D380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C2D6F-8543-6AF3-B3CF-7B4733788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32B5E-70C9-0B73-0BC5-AEF1A5BC0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1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1.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원 영상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(Original Image)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특징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표준 테스트 이미지인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레나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(Lenna)'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커널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중앙에만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이 있고 나머지는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인 행렬입니다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pPr lvl="1"/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이는 자기 자신의 픽셀 값만 그대로 가져오고 주변 값은 무시한다는 뜻이므로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영상에 아무런 변화를 주지 않는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항등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함수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(Identity)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역할을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2.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박스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블러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(Box Blur)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원리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주변 픽셀들의 평균값을 구해서 현재 픽셀을 바꿉니다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커널 특징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모든 칸이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로 채워져 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전체 합인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9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로 나누어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($1/9$)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평균을 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결과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모든 방향으로 동일한 힘으로 뭉개기 때문에 이미지가 전체적으로 뿌옇게 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시계열 데이터에서 다뤘던 **이동 평균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(Moving Average)**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2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차원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공간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버전이라고 보시면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3.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가우시안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블러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(Gaussian Blur)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원리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중앙 픽셀에 더 높은 가중치를 주고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멀어질수록 가중치를 적게 주어 평균을 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커널 특징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중앙값이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4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로 가장 크고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주변으로 갈수록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2, 1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로 작아집니다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 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전체 합인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16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으로 나누어 평균화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결과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박스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블러보다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훨씬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자연스럽고 부드럽게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흐려집니다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실제 렌즈의 초점이 맞지 않았을 때 발생하는 흐림 현상과 가장 유사하여 이미지 노이즈 제거에 가장 많이 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br>
              <a:rPr lang="ko-KR" altLang="en-US" dirty="0"/>
            </a:br>
            <a:endParaRPr lang="ko-KR" altLang="en-US" dirty="0"/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💡 요약하자면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이 슬라이드는 **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이미지를 흐리게 만드는 것은 결국 주변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픽셀값들을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섞어서 평균을 내는 과정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"**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임을 보여줍니다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65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주황색 선 </a:t>
            </a:r>
            <a:r>
              <a:rPr lang="en-US" altLang="ko-KR" b="1" dirty="0"/>
              <a:t>(Original Series):</a:t>
            </a:r>
            <a:r>
              <a:rPr lang="ko-KR" altLang="en-US" dirty="0"/>
              <a:t> 데이터가 위아래로 매우 심하게 요동칩니다</a:t>
            </a:r>
            <a:r>
              <a:rPr lang="en-US" altLang="ko-KR" dirty="0"/>
              <a:t>. </a:t>
            </a:r>
            <a:r>
              <a:rPr lang="ko-KR" altLang="en-US" dirty="0"/>
              <a:t>이것이 바로 </a:t>
            </a:r>
            <a:r>
              <a:rPr lang="ko-KR" altLang="en-US" b="1" dirty="0"/>
              <a:t>노이즈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너무 지그재그로 움직여서 전체적인 방향을 한눈에 알기 어렵습니다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빨간색 선 </a:t>
            </a:r>
            <a:r>
              <a:rPr lang="en-US" altLang="ko-KR" b="1" dirty="0"/>
              <a:t>(Moving Average):</a:t>
            </a:r>
            <a:r>
              <a:rPr lang="ko-KR" altLang="en-US" dirty="0"/>
              <a:t> 주황색 선의 일정 구간</a:t>
            </a:r>
            <a:r>
              <a:rPr lang="en-US" altLang="ko-KR" dirty="0"/>
              <a:t>(Window)</a:t>
            </a:r>
            <a:r>
              <a:rPr lang="ko-KR" altLang="en-US" dirty="0"/>
              <a:t>을 평균 내어 이은 선입니다</a:t>
            </a:r>
            <a:r>
              <a:rPr lang="en-US" altLang="ko-KR" dirty="0"/>
              <a:t>. </a:t>
            </a:r>
            <a:r>
              <a:rPr lang="ko-KR" altLang="en-US" dirty="0"/>
              <a:t>뾰족하게 튀던 값들이 평균에 의해 </a:t>
            </a:r>
            <a:r>
              <a:rPr lang="ko-KR" altLang="en-US" dirty="0" err="1"/>
              <a:t>깎여나가면서</a:t>
            </a:r>
            <a:r>
              <a:rPr lang="ko-KR" altLang="en-US" dirty="0"/>
              <a:t> </a:t>
            </a:r>
            <a:r>
              <a:rPr lang="ko-KR" altLang="en-US" b="1" dirty="0"/>
              <a:t>부드러운 곡선</a:t>
            </a:r>
            <a:r>
              <a:rPr lang="ko-KR" altLang="en-US" dirty="0"/>
              <a:t>이 되었습니다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빨간색 선을 통해 데이터가 결국 **</a:t>
            </a:r>
            <a:r>
              <a:rPr lang="ko-KR" altLang="en-US" dirty="0" err="1"/>
              <a:t>우상향</a:t>
            </a:r>
            <a:r>
              <a:rPr lang="en-US" altLang="ko-KR" dirty="0"/>
              <a:t>(Trend)**</a:t>
            </a:r>
            <a:r>
              <a:rPr lang="ko-KR" altLang="en-US" dirty="0"/>
              <a:t>하고 있다는 것을 훨씬 쉽게 파악할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655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A1D1-4A89-FE0A-9BD4-252BF1B1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916F58-B650-142C-4A1F-6C32545F4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25254-4C5B-B141-CC28-3D271997A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899637-42B5-7A0A-92BB-85EC22985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01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err="1"/>
              <a:t>산점도</a:t>
            </a:r>
            <a:r>
              <a:rPr lang="ko-KR" altLang="en-US" b="1" dirty="0"/>
              <a:t> </a:t>
            </a:r>
            <a:r>
              <a:rPr lang="en-US" altLang="ko-KR" b="1" dirty="0"/>
              <a:t>(Irradiance vs Power):</a:t>
            </a:r>
            <a:r>
              <a:rPr lang="ko-KR" altLang="en-US" dirty="0"/>
              <a:t> 일사량과 발전량은 강한 양의 상관관계를 가져야 합니다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b="1" dirty="0"/>
              <a:t>빨간색 점</a:t>
            </a:r>
            <a:r>
              <a:rPr lang="ko-KR" altLang="en-US" dirty="0"/>
              <a:t>처럼 일사량은 높은데 발전량이 급락한 경우</a:t>
            </a:r>
            <a:r>
              <a:rPr lang="en-US" altLang="ko-KR" dirty="0"/>
              <a:t>(</a:t>
            </a:r>
            <a:r>
              <a:rPr lang="ko-KR" altLang="en-US" dirty="0"/>
              <a:t>인버터 고장 등</a:t>
            </a:r>
            <a:r>
              <a:rPr lang="en-US" altLang="ko-KR" dirty="0"/>
              <a:t>)</a:t>
            </a:r>
            <a:r>
              <a:rPr lang="ko-KR" altLang="en-US" dirty="0"/>
              <a:t>나</a:t>
            </a:r>
            <a:r>
              <a:rPr lang="en-US" altLang="ko-KR" dirty="0"/>
              <a:t>, </a:t>
            </a:r>
            <a:r>
              <a:rPr lang="ko-KR" altLang="en-US" dirty="0"/>
              <a:t>반대로 비정상적으로 높게 측정된 경우</a:t>
            </a:r>
            <a:r>
              <a:rPr lang="en-US" altLang="ko-KR" dirty="0"/>
              <a:t>(</a:t>
            </a:r>
            <a:r>
              <a:rPr lang="ko-KR" altLang="en-US" dirty="0"/>
              <a:t>센서 오류</a:t>
            </a:r>
            <a:r>
              <a:rPr lang="en-US" altLang="ko-KR" dirty="0"/>
              <a:t>)</a:t>
            </a:r>
            <a:r>
              <a:rPr lang="ko-KR" altLang="en-US" dirty="0"/>
              <a:t>를 이상치로 판단합니다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시계열 프로필 </a:t>
            </a:r>
            <a:r>
              <a:rPr lang="en-US" altLang="ko-KR" b="1" dirty="0"/>
              <a:t>(Daily Power Profile):</a:t>
            </a:r>
            <a:r>
              <a:rPr lang="ko-KR" altLang="en-US" dirty="0"/>
              <a:t> 하루 발전 흐름에서 갑자기 </a:t>
            </a:r>
            <a:r>
              <a:rPr lang="en-US" altLang="ko-KR" dirty="0"/>
              <a:t>0</a:t>
            </a:r>
            <a:r>
              <a:rPr lang="ko-KR" altLang="en-US" dirty="0"/>
              <a:t>에 가깝게 떨어지거나 위로 튀는 값은 기상 변화가 아닌 장치 오류일 가능성이 높습니다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박스 플롯 </a:t>
            </a:r>
            <a:r>
              <a:rPr lang="en-US" altLang="ko-KR" b="1" dirty="0"/>
              <a:t>(Box Plot):</a:t>
            </a:r>
            <a:r>
              <a:rPr lang="ko-KR" altLang="en-US" dirty="0"/>
              <a:t> 통계적으로 전체 데이터의 분포</a:t>
            </a:r>
            <a:r>
              <a:rPr lang="en-US" altLang="ko-KR" dirty="0"/>
              <a:t>(</a:t>
            </a:r>
            <a:r>
              <a:rPr lang="ko-KR" altLang="en-US" dirty="0"/>
              <a:t>사분위수</a:t>
            </a:r>
            <a:r>
              <a:rPr lang="en-US" altLang="ko-KR" dirty="0"/>
              <a:t>)</a:t>
            </a:r>
            <a:r>
              <a:rPr lang="ko-KR" altLang="en-US" dirty="0"/>
              <a:t>를 벗어나는 값들을 한눈에 보여줍니다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020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36B21-4C59-5A88-37D9-B5B38376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0795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A25496-F3F2-E088-321D-06D66F84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45542-35EE-2EA8-C80C-66A9D746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79F9B5-BCEE-FABF-C276-2A167787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41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8ADA-C44D-EF62-7840-AD8CF347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8DF94-D8BD-770A-2753-3F1B95C627C2}"/>
              </a:ext>
            </a:extLst>
          </p:cNvPr>
          <p:cNvSpPr txBox="1">
            <a:spLocks/>
          </p:cNvSpPr>
          <p:nvPr/>
        </p:nvSpPr>
        <p:spPr>
          <a:xfrm>
            <a:off x="1524000" y="2577919"/>
            <a:ext cx="9144000" cy="1702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노이즈 제거</a:t>
            </a:r>
            <a:endParaRPr lang="en-US" altLang="ko-KR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sz="48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48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블러</a:t>
            </a:r>
            <a:r>
              <a:rPr lang="ko-KR" altLang="en-US" sz="48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개념의 확장</a:t>
            </a:r>
            <a:r>
              <a:rPr lang="en-US" altLang="ko-KR" sz="48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48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802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31C7C-4A4E-9869-14D8-A957A29E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Noise</a:t>
            </a:r>
            <a:r>
              <a:rPr lang="ko-KR" altLang="en-US" dirty="0"/>
              <a:t>란 무엇인가</a:t>
            </a:r>
            <a:r>
              <a:rPr lang="en-US" altLang="ko-KR" dirty="0"/>
              <a:t>? (</a:t>
            </a:r>
            <a:r>
              <a:rPr lang="ko-KR" altLang="en-US" dirty="0"/>
              <a:t>이미지 </a:t>
            </a:r>
            <a:r>
              <a:rPr lang="en-US" altLang="ko-KR" dirty="0"/>
              <a:t>vs 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243EED-00B9-8C09-2020-DB19AF048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 데이터에는 측정 오차</a:t>
            </a:r>
            <a:r>
              <a:rPr lang="en-US" altLang="ko-KR" dirty="0"/>
              <a:t>, </a:t>
            </a:r>
            <a:r>
              <a:rPr lang="ko-KR" altLang="en-US" dirty="0"/>
              <a:t>환경 요인 등으로 인해</a:t>
            </a:r>
            <a:br>
              <a:rPr lang="ko-KR" altLang="en-US" dirty="0"/>
            </a:br>
            <a:r>
              <a:rPr lang="ko-KR" altLang="en-US" b="1" dirty="0"/>
              <a:t>단기적인 노이즈</a:t>
            </a:r>
            <a:r>
              <a:rPr lang="en-US" altLang="ko-KR" b="1" dirty="0"/>
              <a:t>(noise)</a:t>
            </a:r>
            <a:r>
              <a:rPr lang="ko-KR" altLang="en-US" dirty="0"/>
              <a:t> 가 포함된다</a:t>
            </a:r>
            <a:endParaRPr lang="en-US" altLang="ko-KR" dirty="0"/>
          </a:p>
          <a:p>
            <a:r>
              <a:rPr lang="ko-KR" altLang="en-US" dirty="0"/>
              <a:t>노이즈 </a:t>
            </a:r>
            <a:r>
              <a:rPr lang="en-US" altLang="ko-KR" dirty="0"/>
              <a:t>O -&gt; </a:t>
            </a:r>
            <a:r>
              <a:rPr lang="ko-KR" altLang="en-US" dirty="0"/>
              <a:t>데이터의 전체적인 흐름 파악하는데 방해 요소</a:t>
            </a:r>
            <a:endParaRPr lang="en-US" altLang="ko-KR" dirty="0"/>
          </a:p>
          <a:p>
            <a:r>
              <a:rPr lang="ko-KR" altLang="en-US" dirty="0"/>
              <a:t>이동 평균은 시계열 데이터의 노이즈를 완화하여 추세를 파악하기 위해 사용됨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chemeClr val="accent1"/>
                </a:solidFill>
              </a:rPr>
              <a:t>이미지에서의 </a:t>
            </a:r>
            <a:r>
              <a:rPr lang="en-US" altLang="ko-KR" dirty="0">
                <a:solidFill>
                  <a:schemeClr val="accent1"/>
                </a:solidFill>
              </a:rPr>
              <a:t>Blur</a:t>
            </a:r>
            <a:r>
              <a:rPr lang="ko-KR" altLang="en-US" dirty="0">
                <a:solidFill>
                  <a:schemeClr val="accent1"/>
                </a:solidFill>
              </a:rPr>
              <a:t>는 시계열 데이터에서 이동 평균과 같은 역할을 한다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03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99AE-F7FC-BEE3-8A27-BE6CB8AF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DFFBB-7590-ED47-C7AA-69E62760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021127-6240-B5D2-E319-C5EEF30B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69156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Blur </a:t>
            </a:r>
            <a:r>
              <a:rPr lang="ko-KR" altLang="en-US" sz="4800" dirty="0">
                <a:latin typeface="+mj-ea"/>
                <a:ea typeface="+mj-ea"/>
              </a:rPr>
              <a:t>개념의 확장</a:t>
            </a:r>
            <a:r>
              <a:rPr lang="en-US" altLang="ko-KR" sz="4800" dirty="0">
                <a:latin typeface="+mj-ea"/>
                <a:ea typeface="+mj-ea"/>
              </a:rPr>
              <a:t>: </a:t>
            </a:r>
            <a:r>
              <a:rPr lang="ko-KR" altLang="en-US" sz="4800" dirty="0">
                <a:latin typeface="+mj-ea"/>
                <a:ea typeface="+mj-ea"/>
              </a:rPr>
              <a:t>이동 평균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6F3895-2FDA-DCD5-C8DA-2EBD5C1FFF65}"/>
              </a:ext>
            </a:extLst>
          </p:cNvPr>
          <p:cNvGrpSpPr/>
          <p:nvPr/>
        </p:nvGrpSpPr>
        <p:grpSpPr>
          <a:xfrm>
            <a:off x="955762" y="1740573"/>
            <a:ext cx="10280475" cy="3195494"/>
            <a:chOff x="861095" y="1300306"/>
            <a:chExt cx="7783893" cy="2419478"/>
          </a:xfrm>
        </p:grpSpPr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251D1277-AD80-419C-A309-709583DB4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95" y="1302792"/>
              <a:ext cx="2194560" cy="2194560"/>
            </a:xfrm>
            <a:prstGeom prst="rect">
              <a:avLst/>
            </a:prstGeom>
          </p:spPr>
        </p:pic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DCE4BB3B-D117-449C-B7D1-91FA35E49FD6}"/>
                </a:ext>
              </a:extLst>
            </p:cNvPr>
            <p:cNvGrpSpPr/>
            <p:nvPr/>
          </p:nvGrpSpPr>
          <p:grpSpPr>
            <a:xfrm>
              <a:off x="862716" y="1301859"/>
              <a:ext cx="493980" cy="497038"/>
              <a:chOff x="5847974" y="2091970"/>
              <a:chExt cx="493980" cy="497038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76122F18-FC34-4717-9B03-851D79BAD861}"/>
                  </a:ext>
                </a:extLst>
              </p:cNvPr>
              <p:cNvSpPr/>
              <p:nvPr/>
            </p:nvSpPr>
            <p:spPr>
              <a:xfrm>
                <a:off x="5847974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50F25A79-1723-4E8A-8B94-FF09963FF3D3}"/>
                  </a:ext>
                </a:extLst>
              </p:cNvPr>
              <p:cNvSpPr/>
              <p:nvPr/>
            </p:nvSpPr>
            <p:spPr>
              <a:xfrm>
                <a:off x="5847974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B79CB532-F790-4AC4-8994-F5D5FD011E38}"/>
                  </a:ext>
                </a:extLst>
              </p:cNvPr>
              <p:cNvSpPr/>
              <p:nvPr/>
            </p:nvSpPr>
            <p:spPr>
              <a:xfrm>
                <a:off x="5847974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38D337ED-E237-443E-94BB-7CD26084321B}"/>
                  </a:ext>
                </a:extLst>
              </p:cNvPr>
              <p:cNvSpPr/>
              <p:nvPr/>
            </p:nvSpPr>
            <p:spPr>
              <a:xfrm>
                <a:off x="6012555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CAA1A439-C68D-4795-BF28-1371552DAC3F}"/>
                  </a:ext>
                </a:extLst>
              </p:cNvPr>
              <p:cNvSpPr/>
              <p:nvPr/>
            </p:nvSpPr>
            <p:spPr>
              <a:xfrm>
                <a:off x="6012555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B0BC0A20-577A-4A94-A84E-0CCEF897D4C0}"/>
                  </a:ext>
                </a:extLst>
              </p:cNvPr>
              <p:cNvSpPr/>
              <p:nvPr/>
            </p:nvSpPr>
            <p:spPr>
              <a:xfrm>
                <a:off x="6012555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E41F1074-516B-4236-BDB1-3B0951E9CA62}"/>
                  </a:ext>
                </a:extLst>
              </p:cNvPr>
              <p:cNvSpPr/>
              <p:nvPr/>
            </p:nvSpPr>
            <p:spPr>
              <a:xfrm>
                <a:off x="6177136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50057671-BDBA-4A3A-B1D2-81DF7F903375}"/>
                  </a:ext>
                </a:extLst>
              </p:cNvPr>
              <p:cNvSpPr/>
              <p:nvPr/>
            </p:nvSpPr>
            <p:spPr>
              <a:xfrm>
                <a:off x="6177136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C5A1CF27-9FC3-485F-B1D5-8C56B8640064}"/>
                  </a:ext>
                </a:extLst>
              </p:cNvPr>
              <p:cNvSpPr/>
              <p:nvPr/>
            </p:nvSpPr>
            <p:spPr>
              <a:xfrm>
                <a:off x="6177136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44A1AE70-21F0-4DE0-B30E-835295711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0428" y="1301859"/>
              <a:ext cx="2194560" cy="2194560"/>
            </a:xfrm>
            <a:prstGeom prst="rect">
              <a:avLst/>
            </a:prstGeom>
          </p:spPr>
        </p:pic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4ED981E4-86C8-43B0-AB35-6F4BFC4D5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3177" y="1301859"/>
              <a:ext cx="2194560" cy="2194560"/>
            </a:xfrm>
            <a:prstGeom prst="rect">
              <a:avLst/>
            </a:prstGeom>
          </p:spPr>
        </p:pic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D54C631-82E3-4F11-9525-096BC4F8951C}"/>
                </a:ext>
              </a:extLst>
            </p:cNvPr>
            <p:cNvSpPr txBox="1"/>
            <p:nvPr/>
          </p:nvSpPr>
          <p:spPr>
            <a:xfrm>
              <a:off x="7001631" y="3501327"/>
              <a:ext cx="109215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Gaussian blur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486E606-252A-4322-9D25-46DAEFA3A61E}"/>
                </a:ext>
              </a:extLst>
            </p:cNvPr>
            <p:cNvSpPr txBox="1"/>
            <p:nvPr/>
          </p:nvSpPr>
          <p:spPr>
            <a:xfrm>
              <a:off x="4492641" y="3494431"/>
              <a:ext cx="66005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Box blur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25823C67-2E35-4BAA-B045-80F03F6624B6}"/>
                </a:ext>
              </a:extLst>
            </p:cNvPr>
            <p:cNvSpPr txBox="1"/>
            <p:nvPr/>
          </p:nvSpPr>
          <p:spPr>
            <a:xfrm>
              <a:off x="1728205" y="3504340"/>
              <a:ext cx="52257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400" dirty="0">
                  <a:latin typeface="+mj-ea"/>
                  <a:ea typeface="+mj-ea"/>
                </a:rPr>
                <a:t>원</a:t>
              </a:r>
              <a:r>
                <a:rPr lang="en-US" altLang="ko-KR" sz="1400" dirty="0">
                  <a:latin typeface="+mj-ea"/>
                  <a:ea typeface="+mj-ea"/>
                </a:rPr>
                <a:t> </a:t>
              </a:r>
              <a:r>
                <a:rPr lang="ko-KR" altLang="en-US" sz="1400" dirty="0">
                  <a:latin typeface="+mj-ea"/>
                  <a:ea typeface="+mj-ea"/>
                </a:rPr>
                <a:t>영상</a:t>
              </a:r>
            </a:p>
          </p:txBody>
        </p: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D86775D7-4236-4CBB-9A95-186C7C147A40}"/>
                </a:ext>
              </a:extLst>
            </p:cNvPr>
            <p:cNvGrpSpPr/>
            <p:nvPr/>
          </p:nvGrpSpPr>
          <p:grpSpPr>
            <a:xfrm>
              <a:off x="3713773" y="1300306"/>
              <a:ext cx="493980" cy="497038"/>
              <a:chOff x="5847974" y="2091970"/>
              <a:chExt cx="493980" cy="497038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705ACF99-D8B1-4DB0-9153-446C615AB6AE}"/>
                  </a:ext>
                </a:extLst>
              </p:cNvPr>
              <p:cNvSpPr/>
              <p:nvPr/>
            </p:nvSpPr>
            <p:spPr>
              <a:xfrm>
                <a:off x="5847974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53B3CC59-32A3-4459-BEED-5D321C12770A}"/>
                  </a:ext>
                </a:extLst>
              </p:cNvPr>
              <p:cNvSpPr/>
              <p:nvPr/>
            </p:nvSpPr>
            <p:spPr>
              <a:xfrm>
                <a:off x="5847974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3" name="직사각형 272">
                <a:extLst>
                  <a:ext uri="{FF2B5EF4-FFF2-40B4-BE49-F238E27FC236}">
                    <a16:creationId xmlns:a16="http://schemas.microsoft.com/office/drawing/2014/main" id="{4DFFFAB3-C975-4173-8BD7-F7EB48F41D34}"/>
                  </a:ext>
                </a:extLst>
              </p:cNvPr>
              <p:cNvSpPr/>
              <p:nvPr/>
            </p:nvSpPr>
            <p:spPr>
              <a:xfrm>
                <a:off x="5847974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4" name="직사각형 273">
                <a:extLst>
                  <a:ext uri="{FF2B5EF4-FFF2-40B4-BE49-F238E27FC236}">
                    <a16:creationId xmlns:a16="http://schemas.microsoft.com/office/drawing/2014/main" id="{058AAEAC-7225-4ABC-A456-2B29FE754CBF}"/>
                  </a:ext>
                </a:extLst>
              </p:cNvPr>
              <p:cNvSpPr/>
              <p:nvPr/>
            </p:nvSpPr>
            <p:spPr>
              <a:xfrm>
                <a:off x="6012555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5" name="직사각형 274">
                <a:extLst>
                  <a:ext uri="{FF2B5EF4-FFF2-40B4-BE49-F238E27FC236}">
                    <a16:creationId xmlns:a16="http://schemas.microsoft.com/office/drawing/2014/main" id="{89802677-314D-4F84-8301-9213C7F8B72F}"/>
                  </a:ext>
                </a:extLst>
              </p:cNvPr>
              <p:cNvSpPr/>
              <p:nvPr/>
            </p:nvSpPr>
            <p:spPr>
              <a:xfrm>
                <a:off x="6012555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D67555CF-DDE2-4771-822D-59266A9D0A20}"/>
                  </a:ext>
                </a:extLst>
              </p:cNvPr>
              <p:cNvSpPr/>
              <p:nvPr/>
            </p:nvSpPr>
            <p:spPr>
              <a:xfrm>
                <a:off x="6012555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E264C85F-B964-487C-A54A-77C55F8F1B56}"/>
                  </a:ext>
                </a:extLst>
              </p:cNvPr>
              <p:cNvSpPr/>
              <p:nvPr/>
            </p:nvSpPr>
            <p:spPr>
              <a:xfrm>
                <a:off x="6177136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17CE4A9A-CED8-45F4-95FF-75B764232707}"/>
                  </a:ext>
                </a:extLst>
              </p:cNvPr>
              <p:cNvSpPr/>
              <p:nvPr/>
            </p:nvSpPr>
            <p:spPr>
              <a:xfrm>
                <a:off x="6177136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6FD05008-7F4D-41BD-B1BF-F4A20063F833}"/>
                  </a:ext>
                </a:extLst>
              </p:cNvPr>
              <p:cNvSpPr/>
              <p:nvPr/>
            </p:nvSpPr>
            <p:spPr>
              <a:xfrm>
                <a:off x="6177136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ACC7586C-756D-431F-9B85-60B96DEBA1D3}"/>
                </a:ext>
              </a:extLst>
            </p:cNvPr>
            <p:cNvGrpSpPr/>
            <p:nvPr/>
          </p:nvGrpSpPr>
          <p:grpSpPr>
            <a:xfrm>
              <a:off x="6450428" y="1300306"/>
              <a:ext cx="493980" cy="497038"/>
              <a:chOff x="5847974" y="2091970"/>
              <a:chExt cx="493980" cy="497038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281" name="직사각형 280">
                <a:extLst>
                  <a:ext uri="{FF2B5EF4-FFF2-40B4-BE49-F238E27FC236}">
                    <a16:creationId xmlns:a16="http://schemas.microsoft.com/office/drawing/2014/main" id="{C9238E27-AA4C-48AC-9F31-3054C037571A}"/>
                  </a:ext>
                </a:extLst>
              </p:cNvPr>
              <p:cNvSpPr/>
              <p:nvPr/>
            </p:nvSpPr>
            <p:spPr>
              <a:xfrm>
                <a:off x="5847974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2" name="직사각형 281">
                <a:extLst>
                  <a:ext uri="{FF2B5EF4-FFF2-40B4-BE49-F238E27FC236}">
                    <a16:creationId xmlns:a16="http://schemas.microsoft.com/office/drawing/2014/main" id="{7726E360-18EE-47A7-862A-0B38B771159B}"/>
                  </a:ext>
                </a:extLst>
              </p:cNvPr>
              <p:cNvSpPr/>
              <p:nvPr/>
            </p:nvSpPr>
            <p:spPr>
              <a:xfrm>
                <a:off x="5847974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7CFC9ECA-99CA-4615-9842-25C80236D47D}"/>
                  </a:ext>
                </a:extLst>
              </p:cNvPr>
              <p:cNvSpPr/>
              <p:nvPr/>
            </p:nvSpPr>
            <p:spPr>
              <a:xfrm>
                <a:off x="5847974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4" name="직사각형 283">
                <a:extLst>
                  <a:ext uri="{FF2B5EF4-FFF2-40B4-BE49-F238E27FC236}">
                    <a16:creationId xmlns:a16="http://schemas.microsoft.com/office/drawing/2014/main" id="{988995EF-4F1A-4BB4-9184-FFDD9254BEE7}"/>
                  </a:ext>
                </a:extLst>
              </p:cNvPr>
              <p:cNvSpPr/>
              <p:nvPr/>
            </p:nvSpPr>
            <p:spPr>
              <a:xfrm>
                <a:off x="6012555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5" name="직사각형 284">
                <a:extLst>
                  <a:ext uri="{FF2B5EF4-FFF2-40B4-BE49-F238E27FC236}">
                    <a16:creationId xmlns:a16="http://schemas.microsoft.com/office/drawing/2014/main" id="{68EDEA79-9296-4A17-99DB-127C965F3B5A}"/>
                  </a:ext>
                </a:extLst>
              </p:cNvPr>
              <p:cNvSpPr/>
              <p:nvPr/>
            </p:nvSpPr>
            <p:spPr>
              <a:xfrm>
                <a:off x="6012555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4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6" name="직사각형 285">
                <a:extLst>
                  <a:ext uri="{FF2B5EF4-FFF2-40B4-BE49-F238E27FC236}">
                    <a16:creationId xmlns:a16="http://schemas.microsoft.com/office/drawing/2014/main" id="{71C1842B-5D05-4BE0-8A41-4A02CFDFA8DB}"/>
                  </a:ext>
                </a:extLst>
              </p:cNvPr>
              <p:cNvSpPr/>
              <p:nvPr/>
            </p:nvSpPr>
            <p:spPr>
              <a:xfrm>
                <a:off x="6012555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F3272646-9296-4ACB-BA7D-C574B6B2E524}"/>
                  </a:ext>
                </a:extLst>
              </p:cNvPr>
              <p:cNvSpPr/>
              <p:nvPr/>
            </p:nvSpPr>
            <p:spPr>
              <a:xfrm>
                <a:off x="6177136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8" name="직사각형 287">
                <a:extLst>
                  <a:ext uri="{FF2B5EF4-FFF2-40B4-BE49-F238E27FC236}">
                    <a16:creationId xmlns:a16="http://schemas.microsoft.com/office/drawing/2014/main" id="{8CDEF82B-4C94-4920-B12D-D0A1512FC376}"/>
                  </a:ext>
                </a:extLst>
              </p:cNvPr>
              <p:cNvSpPr/>
              <p:nvPr/>
            </p:nvSpPr>
            <p:spPr>
              <a:xfrm>
                <a:off x="6177136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91948136-CC63-40EE-8684-4E17EF75C811}"/>
                  </a:ext>
                </a:extLst>
              </p:cNvPr>
              <p:cNvSpPr/>
              <p:nvPr/>
            </p:nvSpPr>
            <p:spPr>
              <a:xfrm>
                <a:off x="6177136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D643581A-A359-47DF-AE76-1D638A797655}"/>
                    </a:ext>
                  </a:extLst>
                </p:cNvPr>
                <p:cNvSpPr txBox="1"/>
                <p:nvPr/>
              </p:nvSpPr>
              <p:spPr>
                <a:xfrm>
                  <a:off x="4249514" y="1320205"/>
                  <a:ext cx="159709" cy="4047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ko-KR" altLang="en-US" sz="1400" dirty="0">
                    <a:latin typeface="+mj-ea"/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D643581A-A359-47DF-AE76-1D638A797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9514" y="1320205"/>
                  <a:ext cx="159709" cy="404726"/>
                </a:xfrm>
                <a:prstGeom prst="rect">
                  <a:avLst/>
                </a:prstGeom>
                <a:blipFill>
                  <a:blip r:embed="rId6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9CB42A11-35AC-48D9-B9E9-F51F4BD5B159}"/>
                    </a:ext>
                  </a:extLst>
                </p:cNvPr>
                <p:cNvSpPr txBox="1"/>
                <p:nvPr/>
              </p:nvSpPr>
              <p:spPr>
                <a:xfrm>
                  <a:off x="6968608" y="1320205"/>
                  <a:ext cx="159709" cy="4047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  <a:endParaRPr lang="ko-KR" altLang="en-US" sz="1400" dirty="0">
                    <a:latin typeface="+mj-ea"/>
                    <a:ea typeface="+mj-ea"/>
                  </a:endParaRPr>
                </a:p>
              </p:txBody>
            </p:sp>
          </mc:Choice>
          <mc:Fallback xmlns=""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9CB42A11-35AC-48D9-B9E9-F51F4BD5B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8608" y="1320205"/>
                  <a:ext cx="159709" cy="404726"/>
                </a:xfrm>
                <a:prstGeom prst="rect">
                  <a:avLst/>
                </a:prstGeom>
                <a:blipFill>
                  <a:blip r:embed="rId7"/>
                  <a:stretch>
                    <a:fillRect l="-25714" r="-22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2333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4EBDF-129D-3060-D508-C3980631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그래프 </a:t>
            </a:r>
            <a:r>
              <a:rPr lang="en-US" altLang="ko-KR" dirty="0"/>
              <a:t>– </a:t>
            </a:r>
            <a:r>
              <a:rPr lang="ko-KR" altLang="en-US" dirty="0"/>
              <a:t>이동 평균</a:t>
            </a:r>
          </a:p>
        </p:txBody>
      </p:sp>
      <p:pic>
        <p:nvPicPr>
          <p:cNvPr id="5" name="내용 개체 틀 4" descr="라인, 그래프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C18CA1-F7D2-E80A-F7C2-A39523712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6136" y="1629605"/>
            <a:ext cx="7419727" cy="359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2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BD24-3EDB-F8E4-F3D4-D2F04E79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1183DCC-F3CC-A50B-F848-0EBA73206CEF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이상치 기준</a:t>
            </a:r>
          </a:p>
        </p:txBody>
      </p:sp>
    </p:spTree>
    <p:extLst>
      <p:ext uri="{BB962C8B-B14F-4D97-AF65-F5344CB8AC3E}">
        <p14:creationId xmlns:p14="http://schemas.microsoft.com/office/powerpoint/2010/main" val="305896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525250" cy="175421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이진화</a:t>
            </a:r>
            <a:r>
              <a:rPr lang="en-US" altLang="ko-KR" sz="2400" b="1" dirty="0">
                <a:latin typeface="+mn-ea"/>
              </a:rPr>
              <a:t>(Binarization)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정의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특정 값을 기준으로 </a:t>
            </a:r>
            <a:r>
              <a:rPr lang="ko-KR" altLang="en-US" sz="2000" dirty="0"/>
              <a:t>픽셀 값을 </a:t>
            </a:r>
            <a:r>
              <a:rPr lang="en-US" altLang="ko-KR" sz="2000" dirty="0"/>
              <a:t>0(</a:t>
            </a:r>
            <a:r>
              <a:rPr lang="ko-KR" altLang="en-US" sz="2000" dirty="0"/>
              <a:t>검정</a:t>
            </a:r>
            <a:r>
              <a:rPr lang="en-US" altLang="ko-KR" sz="2000" dirty="0"/>
              <a:t>) </a:t>
            </a:r>
            <a:r>
              <a:rPr lang="ko-KR" altLang="en-US" sz="2000" dirty="0"/>
              <a:t>또는 </a:t>
            </a:r>
            <a:r>
              <a:rPr lang="en-US" altLang="ko-KR" sz="2000" dirty="0"/>
              <a:t>255(</a:t>
            </a:r>
            <a:r>
              <a:rPr lang="ko-KR" altLang="en-US" sz="2000" dirty="0"/>
              <a:t>흰색</a:t>
            </a:r>
            <a:r>
              <a:rPr lang="en-US" altLang="ko-KR" sz="2000" dirty="0"/>
              <a:t>)</a:t>
            </a:r>
            <a:r>
              <a:rPr lang="ko-KR" altLang="en-US" sz="2000" dirty="0"/>
              <a:t>로 나누는 것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목적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이미지에서 </a:t>
            </a:r>
            <a:r>
              <a:rPr lang="ko-KR" altLang="en-US" sz="2000" b="1" dirty="0">
                <a:latin typeface="+mn-ea"/>
              </a:rPr>
              <a:t>특정 관심 영역을 분리</a:t>
            </a:r>
            <a:r>
              <a:rPr lang="ko-KR" altLang="en-US" sz="2000" dirty="0">
                <a:latin typeface="+mn-ea"/>
              </a:rPr>
              <a:t>하거나 </a:t>
            </a:r>
            <a:r>
              <a:rPr lang="ko-KR" altLang="en-US" sz="2000" b="1" dirty="0">
                <a:latin typeface="+mn-ea"/>
              </a:rPr>
              <a:t>분석을 간소화</a:t>
            </a:r>
            <a:r>
              <a:rPr lang="ko-KR" altLang="en-US" sz="2000" dirty="0">
                <a:latin typeface="+mn-ea"/>
              </a:rPr>
              <a:t>하기 위해 사용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5239C-430C-8C2D-AAD0-88BC7F559CB6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이진화</a:t>
            </a:r>
          </a:p>
        </p:txBody>
      </p:sp>
    </p:spTree>
    <p:extLst>
      <p:ext uri="{BB962C8B-B14F-4D97-AF65-F5344CB8AC3E}">
        <p14:creationId xmlns:p14="http://schemas.microsoft.com/office/powerpoint/2010/main" val="369798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4210-0FCF-0519-0199-6DE16CB0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220B9B-DFC5-B524-3769-28273871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101E53-997C-C720-1947-13151A10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1EC865-3F10-1A8E-16ED-07FE1B5F3054}"/>
              </a:ext>
            </a:extLst>
          </p:cNvPr>
          <p:cNvSpPr txBox="1"/>
          <p:nvPr/>
        </p:nvSpPr>
        <p:spPr>
          <a:xfrm>
            <a:off x="200677" y="110919"/>
            <a:ext cx="6444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기본 이진화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threshold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D41BE3B-4289-8B93-2AF2-10704289D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296650" cy="50617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Threshold : </a:t>
            </a:r>
            <a:r>
              <a:rPr lang="ko-KR" altLang="en-US" sz="2400" b="1" dirty="0" err="1">
                <a:latin typeface="+mn-ea"/>
              </a:rPr>
              <a:t>임계값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 err="1">
                <a:latin typeface="+mn-ea"/>
              </a:rPr>
              <a:t>문턱값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이진화는 </a:t>
            </a:r>
            <a:r>
              <a:rPr lang="en-US" altLang="ko-KR" sz="2000" dirty="0"/>
              <a:t>threshold(</a:t>
            </a:r>
            <a:r>
              <a:rPr lang="ko-KR" altLang="en-US" sz="2000" dirty="0" err="1"/>
              <a:t>임계값</a:t>
            </a:r>
            <a:r>
              <a:rPr lang="en-US" altLang="ko-KR" sz="2000" dirty="0"/>
              <a:t>)</a:t>
            </a:r>
            <a:r>
              <a:rPr lang="ko-KR" altLang="en-US" sz="2000" dirty="0"/>
              <a:t>을 기준으로 픽셀 값을 변환하는 과정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밝기 값을 기준으로 픽셀 값을 변환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ko-KR" altLang="en-US" sz="2400" b="1" dirty="0" err="1"/>
              <a:t>임계값의</a:t>
            </a:r>
            <a:r>
              <a:rPr lang="ko-KR" altLang="en-US" sz="2400" b="1" dirty="0"/>
              <a:t> 데이터 분석적 의미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분석에서는 특정 </a:t>
            </a:r>
            <a:r>
              <a:rPr lang="ko-KR" altLang="en-US" sz="2000" dirty="0" err="1"/>
              <a:t>기준값</a:t>
            </a:r>
            <a:r>
              <a:rPr lang="en-US" altLang="ko-KR" sz="2000" dirty="0"/>
              <a:t>(threshold)</a:t>
            </a:r>
            <a:r>
              <a:rPr lang="ko-KR" altLang="en-US" sz="2000" dirty="0"/>
              <a:t>을 기준으로 데이터를 정상 </a:t>
            </a:r>
            <a:r>
              <a:rPr lang="en-US" altLang="ko-KR" sz="2000" dirty="0"/>
              <a:t>/ </a:t>
            </a:r>
            <a:r>
              <a:rPr lang="ko-KR" altLang="en-US" sz="2000" dirty="0"/>
              <a:t>비정상으로 구분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재생에너지 데이터에서는 물리적으로 불가능한 발전량이나</a:t>
            </a:r>
            <a:r>
              <a:rPr lang="en-US" altLang="ko-KR" sz="2000" dirty="0"/>
              <a:t>, </a:t>
            </a:r>
            <a:r>
              <a:rPr lang="ko-KR" altLang="en-US" sz="2000" dirty="0"/>
              <a:t>비정상적인 급락 구간을 탐지하는데 활용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8012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F1E0-B7D3-5221-B8DD-FDD3B1ED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B07DD60-9A4E-53BC-62D1-8023010479A5}"/>
              </a:ext>
            </a:extLst>
          </p:cNvPr>
          <p:cNvSpPr txBox="1"/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800" b="1" kern="1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이상치 예시</a:t>
            </a:r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6F7489-54D4-8017-44A2-50F77CD8A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7" y="1898736"/>
            <a:ext cx="11701221" cy="3890656"/>
          </a:xfrm>
          <a:prstGeom prst="rect">
            <a:avLst/>
          </a:prstGeom>
          <a:noFill/>
        </p:spPr>
      </p:pic>
      <p:sp>
        <p:nvSpPr>
          <p:cNvPr id="4" name="날짜 개체 틀 3" hidden="1">
            <a:extLst>
              <a:ext uri="{FF2B5EF4-FFF2-40B4-BE49-F238E27FC236}">
                <a16:creationId xmlns:a16="http://schemas.microsoft.com/office/drawing/2014/main" id="{84E4BCD8-0177-D30B-8FE1-BD63386B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F78D9C4-20C1-4B15-A116-16DC77AD9A1E}" type="datetime1">
              <a:rPr lang="ko-KR" altLang="en-US" smtClean="0"/>
              <a:pPr>
                <a:spcAft>
                  <a:spcPts val="600"/>
                </a:spcAft>
              </a:pPr>
              <a:t>2026-01-14</a:t>
            </a:fld>
            <a:endParaRPr lang="ko-KR" altLang="en-US"/>
          </a:p>
        </p:txBody>
      </p:sp>
      <p:sp>
        <p:nvSpPr>
          <p:cNvPr id="5" name="슬라이드 번호 개체 틀 4" hidden="1">
            <a:extLst>
              <a:ext uri="{FF2B5EF4-FFF2-40B4-BE49-F238E27FC236}">
                <a16:creationId xmlns:a16="http://schemas.microsoft.com/office/drawing/2014/main" id="{AA92F40E-623D-ED53-C385-B85A3FAA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83A2CE0-18CD-4102-B738-4ACFF9E68BA4}" type="slidenum">
              <a:rPr lang="ko-KR" altLang="en-US" smtClean="0"/>
              <a:pPr>
                <a:spcAft>
                  <a:spcPts val="600"/>
                </a:spcAft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566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C025154-427F-BB4D-34AD-041C1B38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분포</a:t>
            </a:r>
          </a:p>
        </p:txBody>
      </p:sp>
    </p:spTree>
    <p:extLst>
      <p:ext uri="{BB962C8B-B14F-4D97-AF65-F5344CB8AC3E}">
        <p14:creationId xmlns:p14="http://schemas.microsoft.com/office/powerpoint/2010/main" val="325700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7F129-9BE7-ACB4-4D0D-620B3705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분포를 본다는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C54B31-C47C-C4A5-5D73-4CA66EACB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분석에서 분포</a:t>
            </a:r>
            <a:r>
              <a:rPr lang="en-US" altLang="ko-KR" dirty="0"/>
              <a:t>(distribution)</a:t>
            </a:r>
            <a:r>
              <a:rPr lang="ko-KR" altLang="en-US" dirty="0"/>
              <a:t>는 데이터의 성격을 가장 직관적으로 보여줌</a:t>
            </a:r>
            <a:endParaRPr lang="en-US" altLang="ko-KR" dirty="0"/>
          </a:p>
          <a:p>
            <a:r>
              <a:rPr lang="ko-KR" altLang="en-US" dirty="0"/>
              <a:t>평균이나 중앙값만으로는 데이터의 전체 특성 설명할 수 없음</a:t>
            </a:r>
            <a:endParaRPr lang="en-US" altLang="ko-KR" dirty="0"/>
          </a:p>
          <a:p>
            <a:r>
              <a:rPr lang="ko-KR" altLang="en-US" dirty="0"/>
              <a:t>분포를 통해 값의 집중 구간</a:t>
            </a:r>
            <a:r>
              <a:rPr lang="en-US" altLang="ko-KR" dirty="0"/>
              <a:t>, </a:t>
            </a:r>
            <a:r>
              <a:rPr lang="ko-KR" altLang="en-US" dirty="0"/>
              <a:t>왜곡</a:t>
            </a:r>
            <a:r>
              <a:rPr lang="en-US" altLang="ko-KR" dirty="0"/>
              <a:t>, </a:t>
            </a:r>
            <a:r>
              <a:rPr lang="ko-KR" altLang="en-US" dirty="0"/>
              <a:t>이상치 존재 여부를 확인할 수 있다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sz="2400" i="1" dirty="0"/>
              <a:t>분포를 보지 않고 모델을 만드는 것 </a:t>
            </a:r>
            <a:r>
              <a:rPr lang="en-US" altLang="ko-KR" sz="2400" i="1" dirty="0"/>
              <a:t>-&gt; </a:t>
            </a:r>
            <a:r>
              <a:rPr lang="ko-KR" altLang="en-US" sz="2400" i="1" dirty="0"/>
              <a:t>지도를 보지 않고 길을 가는 것</a:t>
            </a:r>
          </a:p>
        </p:txBody>
      </p:sp>
    </p:spTree>
    <p:extLst>
      <p:ext uri="{BB962C8B-B14F-4D97-AF65-F5344CB8AC3E}">
        <p14:creationId xmlns:p14="http://schemas.microsoft.com/office/powerpoint/2010/main" val="191190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3B5B0-6B49-7113-4295-59A62162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데이터의 분포 특성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A1EB8-A84F-184D-F383-40AADB51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발전량 데이터는 특정 구간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0 </a:t>
            </a:r>
            <a:r>
              <a:rPr lang="ko-KR" altLang="en-US" dirty="0"/>
              <a:t>또는 낮은 값</a:t>
            </a:r>
            <a:r>
              <a:rPr lang="en-US" altLang="ko-KR" dirty="0"/>
              <a:t>)</a:t>
            </a:r>
            <a:r>
              <a:rPr lang="ko-KR" altLang="en-US" dirty="0"/>
              <a:t>에 값이 집중되는 경향이 있다</a:t>
            </a:r>
            <a:endParaRPr lang="en-US" altLang="ko-KR" dirty="0"/>
          </a:p>
          <a:p>
            <a:r>
              <a:rPr lang="ko-KR" altLang="en-US" dirty="0"/>
              <a:t>야간</a:t>
            </a:r>
            <a:r>
              <a:rPr lang="en-US" altLang="ko-KR" dirty="0"/>
              <a:t>, </a:t>
            </a:r>
            <a:r>
              <a:rPr lang="ko-KR" altLang="en-US" dirty="0" err="1"/>
              <a:t>비가동</a:t>
            </a:r>
            <a:r>
              <a:rPr lang="ko-KR" altLang="en-US" dirty="0"/>
              <a:t> 시간</a:t>
            </a:r>
            <a:r>
              <a:rPr lang="en-US" altLang="ko-KR" dirty="0"/>
              <a:t>, </a:t>
            </a:r>
            <a:r>
              <a:rPr lang="ko-KR" altLang="en-US" dirty="0"/>
              <a:t>환경 조건과 밀접한 관련이 있다</a:t>
            </a:r>
            <a:endParaRPr lang="en-US" altLang="ko-KR" dirty="0"/>
          </a:p>
          <a:p>
            <a:r>
              <a:rPr lang="ko-KR" altLang="en-US" dirty="0"/>
              <a:t>분포의 형태 </a:t>
            </a:r>
            <a:r>
              <a:rPr lang="en-US" altLang="ko-KR" dirty="0"/>
              <a:t>-&gt; </a:t>
            </a:r>
            <a:r>
              <a:rPr lang="ko-KR" altLang="en-US" dirty="0"/>
              <a:t>모델 선택과 성능 해석에 직접적인 영향을 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18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8398</TotalTime>
  <Words>709</Words>
  <Application>Microsoft Office PowerPoint</Application>
  <PresentationFormat>와이드스크린</PresentationFormat>
  <Paragraphs>105</Paragraphs>
  <Slides>13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Noise란 무엇인가? (이미지 vs 데이터)</vt:lpstr>
      <vt:lpstr>PowerPoint 프레젠테이션</vt:lpstr>
      <vt:lpstr>시계열 그래프 – 이동 평균</vt:lpstr>
      <vt:lpstr>PowerPoint 프레젠테이션</vt:lpstr>
      <vt:lpstr>PowerPoint 프레젠테이션</vt:lpstr>
      <vt:lpstr>PowerPoint 프레젠테이션</vt:lpstr>
      <vt:lpstr>PowerPoint 프레젠테이션</vt:lpstr>
      <vt:lpstr>데이터 분포</vt:lpstr>
      <vt:lpstr>데이터 분포를 본다는 것</vt:lpstr>
      <vt:lpstr>재생에너지 데이터의 분포 특성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547</cp:revision>
  <dcterms:created xsi:type="dcterms:W3CDTF">2023-01-31T04:26:23Z</dcterms:created>
  <dcterms:modified xsi:type="dcterms:W3CDTF">2026-01-14T09:08:37Z</dcterms:modified>
</cp:coreProperties>
</file>