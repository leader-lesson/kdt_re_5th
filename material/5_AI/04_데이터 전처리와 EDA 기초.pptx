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0"/>
  </p:notesMasterIdLst>
  <p:sldIdLst>
    <p:sldId id="1004" r:id="rId2"/>
    <p:sldId id="719" r:id="rId3"/>
    <p:sldId id="704" r:id="rId4"/>
    <p:sldId id="799" r:id="rId5"/>
    <p:sldId id="800" r:id="rId6"/>
    <p:sldId id="801" r:id="rId7"/>
    <p:sldId id="803" r:id="rId8"/>
    <p:sldId id="802" r:id="rId9"/>
    <p:sldId id="804" r:id="rId10"/>
    <p:sldId id="805" r:id="rId11"/>
    <p:sldId id="791" r:id="rId12"/>
    <p:sldId id="1005" r:id="rId13"/>
    <p:sldId id="806" r:id="rId14"/>
    <p:sldId id="807" r:id="rId15"/>
    <p:sldId id="794" r:id="rId16"/>
    <p:sldId id="808" r:id="rId17"/>
    <p:sldId id="809" r:id="rId18"/>
    <p:sldId id="810" r:id="rId19"/>
    <p:sldId id="811" r:id="rId20"/>
    <p:sldId id="812" r:id="rId21"/>
    <p:sldId id="796" r:id="rId22"/>
    <p:sldId id="764" r:id="rId23"/>
    <p:sldId id="814" r:id="rId24"/>
    <p:sldId id="815" r:id="rId25"/>
    <p:sldId id="816" r:id="rId26"/>
    <p:sldId id="1016" r:id="rId27"/>
    <p:sldId id="826" r:id="rId28"/>
    <p:sldId id="829" r:id="rId29"/>
    <p:sldId id="1018" r:id="rId30"/>
    <p:sldId id="830" r:id="rId31"/>
    <p:sldId id="797" r:id="rId32"/>
    <p:sldId id="625" r:id="rId33"/>
    <p:sldId id="798" r:id="rId34"/>
    <p:sldId id="1019" r:id="rId35"/>
    <p:sldId id="1006" r:id="rId36"/>
    <p:sldId id="627" r:id="rId37"/>
    <p:sldId id="1007" r:id="rId38"/>
    <p:sldId id="628" r:id="rId39"/>
    <p:sldId id="638" r:id="rId40"/>
    <p:sldId id="1008" r:id="rId41"/>
    <p:sldId id="1009" r:id="rId42"/>
    <p:sldId id="1010" r:id="rId43"/>
    <p:sldId id="1011" r:id="rId44"/>
    <p:sldId id="1012" r:id="rId45"/>
    <p:sldId id="1013" r:id="rId46"/>
    <p:sldId id="1014" r:id="rId47"/>
    <p:sldId id="1015" r:id="rId48"/>
    <p:sldId id="836" r:id="rId4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66"/>
    <a:srgbClr val="FF5050"/>
    <a:srgbClr val="00FF99"/>
    <a:srgbClr val="FF7C80"/>
    <a:srgbClr val="2B2B2B"/>
    <a:srgbClr val="00B050"/>
    <a:srgbClr val="ED7D31"/>
    <a:srgbClr val="0059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56" autoAdjust="0"/>
    <p:restoredTop sz="91676" autoAdjust="0"/>
  </p:normalViewPr>
  <p:slideViewPr>
    <p:cSldViewPr snapToGrid="0">
      <p:cViewPr varScale="1">
        <p:scale>
          <a:sx n="73" d="100"/>
          <a:sy n="73" d="100"/>
        </p:scale>
        <p:origin x="796" y="5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240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A13A867C-D490-40C2-AB8D-A60FA70A9BF5}" type="datetimeFigureOut">
              <a:rPr lang="ko-KR" altLang="en-US" smtClean="0"/>
              <a:pPr/>
              <a:t>2026-01-13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3E35EA20-6519-4513-9EDC-C89C5369BAEC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4166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17906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85728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8A1F3-E0E6-1786-4001-406A5773A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A39E7F-D79E-087E-CF20-2D7F6AA6CE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348DCD-E338-1B3B-1F88-BCBD5F4D6F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31A520-C616-6009-76B1-C04BF06F08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6870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8391F4-A1A3-ACEF-69FC-0EA520CC7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D2936D0-1CC4-D521-F53E-960CBA867F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7023B4C-927F-A52C-DAD4-832C6FD078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581279-2DBE-E6F9-C852-0C8E5805C3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43199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D109F-B8F4-246B-9A27-EF8233ADE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74A86E1-F829-94FC-1FF6-E5A309EA74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6CCC98-8D87-7237-4DE9-3578C41DF0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DF62AD-6CA1-EC08-EEFA-D78F2453D2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55800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FF7F2-CB2E-F270-7293-08096F822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D3361D-5946-E5DE-E0AC-75A8BECE88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0C9230-F88C-FC1F-B4E9-F39EA3D36F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D2EE1B-6E67-D820-5540-9C60B33BBB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83260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5FE6B-0821-4976-45B2-E3B44E3A1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619A7AC-F980-273A-302F-A148A136E0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1F6861A-3FF9-90F0-258E-C20CF40DF8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663B91-C7C5-9C7D-0CFB-C037C15867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30733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8A1F3-E0E6-1786-4001-406A5773A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A39E7F-D79E-087E-CF20-2D7F6AA6CE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348DCD-E338-1B3B-1F88-BCBD5F4D6F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31A520-C616-6009-76B1-C04BF06F08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6870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8A1F3-E0E6-1786-4001-406A5773A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A39E7F-D79E-087E-CF20-2D7F6AA6CE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348DCD-E338-1B3B-1F88-BCBD5F4D6F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31A520-C616-6009-76B1-C04BF06F08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68705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8A1F3-E0E6-1786-4001-406A5773A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A39E7F-D79E-087E-CF20-2D7F6AA6CE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348DCD-E338-1B3B-1F88-BCBD5F4D6F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31A520-C616-6009-76B1-C04BF06F08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6870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8A1F3-E0E6-1786-4001-406A5773A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A39E7F-D79E-087E-CF20-2D7F6AA6CE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348DCD-E338-1B3B-1F88-BCBD5F4D6F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31A520-C616-6009-76B1-C04BF06F08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68705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8A1F3-E0E6-1786-4001-406A5773A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A39E7F-D79E-087E-CF20-2D7F6AA6CE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348DCD-E338-1B3B-1F88-BCBD5F4D6F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31A520-C616-6009-76B1-C04BF06F08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6870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8A1F3-E0E6-1786-4001-406A5773A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A39E7F-D79E-087E-CF20-2D7F6AA6CE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348DCD-E338-1B3B-1F88-BCBD5F4D6F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31A520-C616-6009-76B1-C04BF06F08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68705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8A1F3-E0E6-1786-4001-406A5773A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A39E7F-D79E-087E-CF20-2D7F6AA6CE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348DCD-E338-1B3B-1F88-BCBD5F4D6F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31A520-C616-6009-76B1-C04BF06F08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68705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8A1F3-E0E6-1786-4001-406A5773A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A39E7F-D79E-087E-CF20-2D7F6AA6CE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348DCD-E338-1B3B-1F88-BCBD5F4D6F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31A520-C616-6009-76B1-C04BF06F08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6870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9A940-5F58-1276-940A-D666BF862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DEB782-D6F5-4FC0-557C-A0E2ED0119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384F84A-4088-4CA1-B30A-C6656DA7BE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10C304-2B61-3EBD-1B03-331CAB17AE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295124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B9649-F9D0-3E62-ACFB-F1DEC7B0E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64E6A5F-927E-AD9E-52A2-E57AE992F7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A471033-3C58-0804-CEC5-AB4EE16279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295131-1FDD-B26F-13CB-72902E47B3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571164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08BD1-253A-CE1C-A092-24D45DD6E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73F2EFA-84A3-281D-9D3D-4CCD0D380F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73C2D6F-8543-6AF3-B3CF-7B47337887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232B5E-70C9-0B73-0BC5-AEF1A5BC0F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011472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26542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26542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9F430-BC4D-3334-8F3B-1727A0AA0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04B9024-B79A-525B-A4A7-11D2FBF315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9542E6D-8360-1C5D-C905-A2896EEF63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D4082D-E7A5-2E1B-F3A9-3C2516D5B1B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47501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26542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DA1D1-4A89-FE0A-9BD4-252BF1B13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2916F58-B650-142C-4A1F-6C32545F46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D25254-4C5B-B141-CC28-3D271997A0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899637-42B5-7A0A-92BB-85EC229852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07014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E0BB2-9337-BE6D-12F2-57841ED6B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D4E58CE-386D-3726-5E82-BAF340C87C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527B40B-1DF6-4953-E29F-49915C63AF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7F9FEA-AFC5-5032-A7CE-343D1BF1F2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652759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66AF8-7370-0275-61AC-69EC1352D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91DE8F5-AC9B-7374-FFAB-D0801B33DE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CA68845-ABC4-5CC4-D421-F057CE0C98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CDBAAB-080D-F816-5BC0-B4215889A9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589792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2EE83-52CB-E118-49CB-3EBDD6EF2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F83B01-3943-C359-9322-8EB719FB82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F259CF-8156-0FB2-87BB-C2421F329E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01DD34-5BFE-877A-E657-9B3A6B1B5C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16455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1500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0402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267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A8C49-CED7-4A86-9B4A-621D7F62EE92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07447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148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jpg"/><Relationship Id="rId4" Type="http://schemas.openxmlformats.org/officeDocument/2006/relationships/image" Target="../media/image18.jp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FE122-E831-904C-0AAE-87F481BD3A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00561" y="2541087"/>
            <a:ext cx="853440" cy="935038"/>
          </a:xfrm>
        </p:spPr>
        <p:txBody>
          <a:bodyPr/>
          <a:lstStyle/>
          <a:p>
            <a:r>
              <a:rPr lang="en-US" altLang="ko-KR" b="1" dirty="0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F9E2036-8D3D-3C48-304C-6615D19E47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75349" y="3686684"/>
            <a:ext cx="2336503" cy="530087"/>
          </a:xfrm>
        </p:spPr>
        <p:txBody>
          <a:bodyPr wrap="square"/>
          <a:lstStyle/>
          <a:p>
            <a:pPr algn="just"/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재생에너지 </a:t>
            </a:r>
            <a:r>
              <a:rPr lang="en-US" altLang="ko-KR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3</a:t>
            </a:r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기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3AD1B1D-CD7D-EE4E-41B0-87A1CCAAD4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9511" y="3670957"/>
            <a:ext cx="3021223" cy="456225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FC9A9E68-1C40-179C-9126-E3D84DE20A0A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E78D3EA-D15D-AC23-FCDE-3921C42927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0" name="그림 9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A611E206-8734-8C1B-C7A0-99730D8C0F0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95912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33469" y="2258457"/>
            <a:ext cx="10925061" cy="1435656"/>
          </a:xfrm>
        </p:spPr>
        <p:txBody>
          <a:bodyPr>
            <a:noAutofit/>
          </a:bodyPr>
          <a:lstStyle/>
          <a:p>
            <a:r>
              <a:rPr lang="ko-KR" altLang="en-US" b="1" dirty="0">
                <a:solidFill>
                  <a:schemeClr val="accent2"/>
                </a:solidFill>
                <a:latin typeface="G마켓 산스 TTF Bold" pitchFamily="2" charset="-127"/>
                <a:ea typeface="G마켓 산스 TTF Bold" pitchFamily="2" charset="-127"/>
              </a:rPr>
              <a:t>영상처리 기초</a:t>
            </a:r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25014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2555530"/>
            <a:ext cx="9144000" cy="1116107"/>
          </a:xfrm>
        </p:spPr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도형 그리기</a:t>
            </a:r>
          </a:p>
        </p:txBody>
      </p:sp>
    </p:spTree>
    <p:extLst>
      <p:ext uri="{BB962C8B-B14F-4D97-AF65-F5344CB8AC3E}">
        <p14:creationId xmlns:p14="http://schemas.microsoft.com/office/powerpoint/2010/main" val="6642457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9E51D-B0A9-E39A-D6DE-B0CFA80D3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DB973A-6997-4274-DC45-0F6D164D7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1D68977-46D4-EF72-89FA-BD831D616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244810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선 그리기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61FFC3-8BEA-AC73-9D6A-091B86ECA0D0}"/>
              </a:ext>
            </a:extLst>
          </p:cNvPr>
          <p:cNvSpPr txBox="1"/>
          <p:nvPr/>
        </p:nvSpPr>
        <p:spPr>
          <a:xfrm>
            <a:off x="200677" y="1034249"/>
            <a:ext cx="9772227" cy="336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b="1" dirty="0"/>
              <a:t>💡 </a:t>
            </a:r>
            <a:r>
              <a:rPr lang="en-US" altLang="ko-KR" sz="2400" b="1" dirty="0"/>
              <a:t>cv2.line</a:t>
            </a:r>
            <a:r>
              <a:rPr lang="en-US" altLang="ko-KR" sz="2400" dirty="0"/>
              <a:t>(</a:t>
            </a:r>
            <a:r>
              <a:rPr lang="en-US" altLang="ko-KR" sz="2400" dirty="0" err="1"/>
              <a:t>img</a:t>
            </a:r>
            <a:r>
              <a:rPr lang="en-US" altLang="ko-KR" sz="2400" dirty="0"/>
              <a:t>, pt1, pt2, color[, thickness[, </a:t>
            </a:r>
            <a:r>
              <a:rPr lang="en-US" altLang="ko-KR" sz="2400" dirty="0" err="1"/>
              <a:t>lineType</a:t>
            </a:r>
            <a:r>
              <a:rPr lang="en-US" altLang="ko-KR" sz="2400" dirty="0"/>
              <a:t>[, shift]]]) -&gt; </a:t>
            </a:r>
            <a:r>
              <a:rPr lang="en-US" altLang="ko-KR" sz="2400" dirty="0" err="1"/>
              <a:t>img</a:t>
            </a:r>
            <a:endParaRPr lang="en-US" altLang="ko-KR" sz="2400" dirty="0"/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img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이미지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pt1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선의 첫 번째 지점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시작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endParaRPr lang="ko-KR" altLang="en-US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pt2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선의 두 번째 지점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끝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endParaRPr lang="ko-KR" altLang="en-US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color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선의 색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thickness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선의 굵기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lineType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라인의 타입</a:t>
            </a:r>
          </a:p>
        </p:txBody>
      </p:sp>
    </p:spTree>
    <p:extLst>
      <p:ext uri="{BB962C8B-B14F-4D97-AF65-F5344CB8AC3E}">
        <p14:creationId xmlns:p14="http://schemas.microsoft.com/office/powerpoint/2010/main" val="29913148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6CF42-F3D4-62F3-31FD-14E028703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52FE97B-467E-4792-90BE-F86830AE77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0FC0F6D-4B08-AC46-A81C-1F9B11DE3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B6973E-F3F0-3D19-D48A-4C29401FF35C}"/>
              </a:ext>
            </a:extLst>
          </p:cNvPr>
          <p:cNvSpPr txBox="1"/>
          <p:nvPr/>
        </p:nvSpPr>
        <p:spPr>
          <a:xfrm>
            <a:off x="200677" y="110919"/>
            <a:ext cx="52790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선 그리기 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–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 라인 타입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89073D4-1A4D-DE3A-ECDB-88F9395FDB56}"/>
              </a:ext>
            </a:extLst>
          </p:cNvPr>
          <p:cNvSpPr txBox="1"/>
          <p:nvPr/>
        </p:nvSpPr>
        <p:spPr>
          <a:xfrm>
            <a:off x="238991" y="1034249"/>
            <a:ext cx="10506402" cy="49328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b="1" dirty="0"/>
              <a:t>✔️ </a:t>
            </a:r>
            <a:r>
              <a:rPr lang="en-US" altLang="ko-KR" sz="2400" b="1" dirty="0"/>
              <a:t>cv2.LINE_4 : </a:t>
            </a:r>
            <a:r>
              <a:rPr lang="ko-KR" altLang="en-US" sz="2400" b="1" dirty="0"/>
              <a:t>상하좌우 </a:t>
            </a:r>
            <a:r>
              <a:rPr lang="en-US" altLang="ko-KR" sz="2400" b="1" dirty="0"/>
              <a:t>4</a:t>
            </a:r>
            <a:r>
              <a:rPr lang="ko-KR" altLang="en-US" sz="2400" b="1" dirty="0"/>
              <a:t>방향으로 연결된 선</a:t>
            </a:r>
            <a:endParaRPr lang="en-US" altLang="ko-KR" sz="2400" b="1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점을 중심으로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4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픽셀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400" b="1" dirty="0"/>
              <a:t>✔️ </a:t>
            </a:r>
            <a:r>
              <a:rPr lang="en-US" altLang="ko-KR" sz="2400" b="1" dirty="0"/>
              <a:t>cv2.LINE_8 : </a:t>
            </a:r>
            <a:r>
              <a:rPr lang="ko-KR" altLang="en-US" sz="2400" b="1" dirty="0"/>
              <a:t>대각선을 포함한 </a:t>
            </a:r>
            <a:r>
              <a:rPr lang="en-US" altLang="ko-KR" sz="2400" b="1" dirty="0"/>
              <a:t>8 </a:t>
            </a:r>
            <a:r>
              <a:rPr lang="ko-KR" altLang="en-US" sz="2400" b="1" dirty="0"/>
              <a:t>방향 연결된 선 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기본값</a:t>
            </a:r>
            <a:r>
              <a:rPr lang="en-US" altLang="ko-KR" sz="2400" b="1" dirty="0"/>
              <a:t>) 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점을 중심으로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8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픽셀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400" b="1" dirty="0"/>
              <a:t>✔️ </a:t>
            </a:r>
            <a:r>
              <a:rPr lang="en-US" altLang="ko-KR" sz="2400" b="1" dirty="0"/>
              <a:t>cv2.LINE_AA : </a:t>
            </a:r>
            <a:r>
              <a:rPr lang="ko-KR" altLang="en-US" sz="2400" b="1" dirty="0"/>
              <a:t>부드러운 선</a:t>
            </a:r>
            <a:r>
              <a:rPr lang="en-US" altLang="ko-KR" sz="2400" b="1" dirty="0"/>
              <a:t>(anti-aliasing </a:t>
            </a:r>
            <a:r>
              <a:rPr lang="ko-KR" altLang="en-US" sz="2400" b="1" dirty="0"/>
              <a:t>적용</a:t>
            </a:r>
            <a:r>
              <a:rPr lang="en-US" altLang="ko-KR" sz="2400" b="1" dirty="0"/>
              <a:t>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AA : Anti-Alias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🔎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Anti-aliasing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이미지나 그래픽에서 계단 현상을 줄이기 위해 경계선을 부드럽게 처리하는 기법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	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➡️ 픽셀 경계에서 원래 색과 배경색을 섞어 중간 색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흔히 회색 계열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을 채워 넣음</a:t>
            </a:r>
          </a:p>
        </p:txBody>
      </p:sp>
    </p:spTree>
    <p:extLst>
      <p:ext uri="{BB962C8B-B14F-4D97-AF65-F5344CB8AC3E}">
        <p14:creationId xmlns:p14="http://schemas.microsoft.com/office/powerpoint/2010/main" val="40723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583F1-2900-A6ED-2664-4B1636B84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AA52351-C5E6-5993-F39E-58C38CB12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3546F73-8999-9CDA-D923-4B1547298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0EE0D1-AEF5-1ED3-E7CB-9B456F5EB98A}"/>
              </a:ext>
            </a:extLst>
          </p:cNvPr>
          <p:cNvSpPr txBox="1"/>
          <p:nvPr/>
        </p:nvSpPr>
        <p:spPr>
          <a:xfrm>
            <a:off x="200677" y="110919"/>
            <a:ext cx="52790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선 그리기 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–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 라인 타입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94E678-44E6-D012-C9DA-134D8E291C82}"/>
              </a:ext>
            </a:extLst>
          </p:cNvPr>
          <p:cNvSpPr txBox="1"/>
          <p:nvPr/>
        </p:nvSpPr>
        <p:spPr>
          <a:xfrm>
            <a:off x="4561151" y="5588587"/>
            <a:ext cx="274947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이미지 출처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: https://diyver.tistory.com/94</a:t>
            </a:r>
            <a:endParaRPr lang="ko-KR" altLang="en-US"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2056" name="Picture 8">
            <a:extLst>
              <a:ext uri="{FF2B5EF4-FFF2-40B4-BE49-F238E27FC236}">
                <a16:creationId xmlns:a16="http://schemas.microsoft.com/office/drawing/2014/main" id="{8BA4F17C-F902-A05A-AA51-2FF10E27D9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1" t="5512" r="3666" b="15297"/>
          <a:stretch/>
        </p:blipFill>
        <p:spPr bwMode="auto">
          <a:xfrm>
            <a:off x="1332593" y="1615023"/>
            <a:ext cx="9526814" cy="3627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154283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AA85D-1316-3038-AB55-724940B35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9B0619F-C288-0531-A308-E4A591441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EF140FD-82CB-6346-0702-145675A5A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53B6BE-62D4-C7D4-B71D-A8B3E2342321}"/>
              </a:ext>
            </a:extLst>
          </p:cNvPr>
          <p:cNvSpPr txBox="1"/>
          <p:nvPr/>
        </p:nvSpPr>
        <p:spPr>
          <a:xfrm>
            <a:off x="200677" y="110919"/>
            <a:ext cx="52790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선 그리기 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–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 라인 타입</a:t>
            </a:r>
          </a:p>
        </p:txBody>
      </p:sp>
      <p:pic>
        <p:nvPicPr>
          <p:cNvPr id="9" name="그림 8" descr="스크린샷, 블랙, 라인이(가) 표시된 사진&#10;&#10;자동 생성된 설명">
            <a:extLst>
              <a:ext uri="{FF2B5EF4-FFF2-40B4-BE49-F238E27FC236}">
                <a16:creationId xmlns:a16="http://schemas.microsoft.com/office/drawing/2014/main" id="{A8AB5922-0BBC-852D-16BE-C52805DFEF0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77" y="1549592"/>
            <a:ext cx="11799940" cy="4089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286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2A42F-2B5F-9ACD-7F0F-648890663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3B990F77-A02C-6BBC-F020-DAF827B235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685" y="488469"/>
            <a:ext cx="10798630" cy="6360210"/>
          </a:xfrm>
          <a:prstGeom prst="rect">
            <a:avLst/>
          </a:prstGeo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A0C5C9-F6DA-770A-C227-88BFA2C28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DE6715F-6820-62EA-83BA-6EBC58FA2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0E2D91-911A-78D5-E438-489E7A51CF0C}"/>
              </a:ext>
            </a:extLst>
          </p:cNvPr>
          <p:cNvSpPr txBox="1"/>
          <p:nvPr/>
        </p:nvSpPr>
        <p:spPr>
          <a:xfrm>
            <a:off x="200677" y="110919"/>
            <a:ext cx="244810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선 그리기</a:t>
            </a:r>
          </a:p>
        </p:txBody>
      </p:sp>
    </p:spTree>
    <p:extLst>
      <p:ext uri="{BB962C8B-B14F-4D97-AF65-F5344CB8AC3E}">
        <p14:creationId xmlns:p14="http://schemas.microsoft.com/office/powerpoint/2010/main" val="42721021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9E51D-B0A9-E39A-D6DE-B0CFA80D3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DB973A-6997-4274-DC45-0F6D164D7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1D68977-46D4-EF72-89FA-BD831D616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244810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원 그리기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61FFC3-8BEA-AC73-9D6A-091B86ECA0D0}"/>
              </a:ext>
            </a:extLst>
          </p:cNvPr>
          <p:cNvSpPr txBox="1"/>
          <p:nvPr/>
        </p:nvSpPr>
        <p:spPr>
          <a:xfrm>
            <a:off x="238991" y="1034249"/>
            <a:ext cx="11603202" cy="336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b="1" dirty="0"/>
              <a:t>💡 </a:t>
            </a:r>
            <a:r>
              <a:rPr lang="en-US" altLang="ko-KR" sz="2400" b="1" dirty="0"/>
              <a:t>cv2.circle</a:t>
            </a:r>
            <a:r>
              <a:rPr lang="en-US" altLang="ko-KR" sz="2400" dirty="0"/>
              <a:t>(</a:t>
            </a:r>
            <a:r>
              <a:rPr lang="en-US" altLang="ko-KR" sz="2400" dirty="0" err="1"/>
              <a:t>img</a:t>
            </a:r>
            <a:r>
              <a:rPr lang="en-US" altLang="ko-KR" sz="2400" dirty="0"/>
              <a:t>, center, radius, color[, thickness[, </a:t>
            </a:r>
            <a:r>
              <a:rPr lang="en-US" altLang="ko-KR" sz="2400" dirty="0" err="1"/>
              <a:t>lineType</a:t>
            </a:r>
            <a:r>
              <a:rPr lang="en-US" altLang="ko-KR" sz="2400" dirty="0"/>
              <a:t>[, shift]]]) -&gt; </a:t>
            </a:r>
            <a:r>
              <a:rPr lang="en-US" altLang="ko-KR" sz="2400" dirty="0" err="1"/>
              <a:t>img</a:t>
            </a:r>
            <a:endParaRPr lang="en-US" altLang="ko-KR" sz="2400" dirty="0"/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img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이미지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center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원의 중심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radius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원의 반지름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color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색상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thickness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선의 두께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cv2.FILLED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로 채우기 가능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lineType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라인의 타입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61FFC3-8BEA-AC73-9D6A-091B86ECA0D0}"/>
              </a:ext>
            </a:extLst>
          </p:cNvPr>
          <p:cNvSpPr txBox="1"/>
          <p:nvPr/>
        </p:nvSpPr>
        <p:spPr>
          <a:xfrm>
            <a:off x="238991" y="4768910"/>
            <a:ext cx="11603202" cy="10548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b="1" dirty="0"/>
              <a:t>✅ </a:t>
            </a:r>
            <a:r>
              <a:rPr lang="en-US" altLang="ko-KR" sz="2400" b="1" dirty="0"/>
              <a:t>cv2.FILLED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두께 설정을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FILLED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로 하면 도형의 속을 채워줌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818117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9E51D-B0A9-E39A-D6DE-B0CFA80D3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C:\Users\LMH\Desktop\4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" y="322960"/>
            <a:ext cx="10728960" cy="6535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DB973A-6997-4274-DC45-0F6D164D7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1D68977-46D4-EF72-89FA-BD831D616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244810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원 그리기</a:t>
            </a:r>
          </a:p>
        </p:txBody>
      </p:sp>
    </p:spTree>
    <p:extLst>
      <p:ext uri="{BB962C8B-B14F-4D97-AF65-F5344CB8AC3E}">
        <p14:creationId xmlns:p14="http://schemas.microsoft.com/office/powerpoint/2010/main" val="37201750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5DBC77-BF92-BB79-EB55-5938CA4AE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FFE75A-C4AD-8EF4-7053-875CF58D22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2675" y="1034250"/>
            <a:ext cx="11660334" cy="4597294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cv2.ellipse</a:t>
            </a:r>
            <a:r>
              <a:rPr lang="en-US" altLang="ko-KR" sz="2400" dirty="0">
                <a:latin typeface="+mn-ea"/>
              </a:rPr>
              <a:t>(</a:t>
            </a:r>
            <a:r>
              <a:rPr lang="en-US" altLang="ko-KR" sz="2400" dirty="0" err="1">
                <a:latin typeface="+mn-ea"/>
              </a:rPr>
              <a:t>img</a:t>
            </a:r>
            <a:r>
              <a:rPr lang="en-US" altLang="ko-KR" sz="2400" dirty="0">
                <a:latin typeface="+mn-ea"/>
              </a:rPr>
              <a:t>, center, axes, angle, </a:t>
            </a:r>
            <a:r>
              <a:rPr lang="en-US" altLang="ko-KR" sz="2400" dirty="0" err="1">
                <a:latin typeface="+mn-ea"/>
              </a:rPr>
              <a:t>startAngle</a:t>
            </a:r>
            <a:r>
              <a:rPr lang="en-US" altLang="ko-KR" sz="2400" dirty="0">
                <a:latin typeface="+mn-ea"/>
              </a:rPr>
              <a:t>, </a:t>
            </a:r>
            <a:r>
              <a:rPr lang="en-US" altLang="ko-KR" sz="2400" dirty="0" err="1">
                <a:latin typeface="+mn-ea"/>
              </a:rPr>
              <a:t>endAngle</a:t>
            </a:r>
            <a:r>
              <a:rPr lang="en-US" altLang="ko-KR" sz="2400" dirty="0">
                <a:latin typeface="+mn-ea"/>
              </a:rPr>
              <a:t>, color[, thickness=1[,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>
                <a:latin typeface="+mn-ea"/>
              </a:rPr>
              <a:t>                            </a:t>
            </a:r>
            <a:r>
              <a:rPr lang="en-US" altLang="ko-KR" sz="2400" dirty="0" err="1">
                <a:latin typeface="+mn-ea"/>
              </a:rPr>
              <a:t>lineType</a:t>
            </a:r>
            <a:r>
              <a:rPr lang="en-US" altLang="ko-KR" sz="2400" dirty="0">
                <a:latin typeface="+mn-ea"/>
              </a:rPr>
              <a:t>=LINE_8[, shift=0]]]) </a:t>
            </a:r>
            <a:r>
              <a:rPr lang="ko-KR" altLang="en-US" sz="2400" dirty="0">
                <a:latin typeface="+mn-ea"/>
              </a:rPr>
              <a:t>→ </a:t>
            </a:r>
            <a:r>
              <a:rPr lang="en-US" altLang="ko-KR" sz="2400" dirty="0" err="1">
                <a:latin typeface="+mn-ea"/>
              </a:rPr>
              <a:t>img</a:t>
            </a:r>
            <a:endParaRPr lang="en-US" altLang="ko-KR" sz="24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/>
              <a:t>Center: </a:t>
            </a:r>
            <a:r>
              <a:rPr lang="ko-KR" altLang="en-US" sz="2000" dirty="0"/>
              <a:t>타원의 중심</a:t>
            </a:r>
            <a:endParaRPr lang="en-US" altLang="ko-KR" sz="20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solidFill>
                  <a:srgbClr val="000000"/>
                </a:solidFill>
              </a:rPr>
              <a:t>axes : </a:t>
            </a:r>
            <a:r>
              <a:rPr lang="ko-KR" altLang="en-US" sz="2000" dirty="0">
                <a:solidFill>
                  <a:srgbClr val="000000"/>
                </a:solidFill>
              </a:rPr>
              <a:t>타원의 반경 크기 설정</a:t>
            </a:r>
            <a:endParaRPr lang="en-US" altLang="ko-KR" sz="2000" dirty="0">
              <a:solidFill>
                <a:srgbClr val="000000"/>
              </a:solidFill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solidFill>
                  <a:srgbClr val="000000"/>
                </a:solidFill>
              </a:rPr>
              <a:t>angle : </a:t>
            </a:r>
            <a:r>
              <a:rPr lang="ko-KR" altLang="en-US" sz="2000" dirty="0">
                <a:solidFill>
                  <a:srgbClr val="000000"/>
                </a:solidFill>
              </a:rPr>
              <a:t>타원 회전 각도</a:t>
            </a:r>
            <a:endParaRPr lang="en-US" altLang="ko-KR" sz="2000" dirty="0">
              <a:solidFill>
                <a:srgbClr val="000000"/>
              </a:solidFill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solidFill>
                  <a:srgbClr val="000000"/>
                </a:solidFill>
              </a:rPr>
              <a:t>startAngle</a:t>
            </a:r>
            <a:r>
              <a:rPr lang="en-US" altLang="ko-KR" sz="2000" dirty="0">
                <a:solidFill>
                  <a:srgbClr val="000000"/>
                </a:solidFill>
              </a:rPr>
              <a:t> : </a:t>
            </a:r>
            <a:r>
              <a:rPr lang="ko-KR" altLang="en-US" sz="2000" dirty="0">
                <a:solidFill>
                  <a:srgbClr val="000000"/>
                </a:solidFill>
              </a:rPr>
              <a:t>타원 호의 시작 각도</a:t>
            </a:r>
            <a:endParaRPr lang="en-US" altLang="ko-KR" sz="2000" dirty="0">
              <a:solidFill>
                <a:srgbClr val="000000"/>
              </a:solidFill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solidFill>
                  <a:srgbClr val="000000"/>
                </a:solidFill>
              </a:rPr>
              <a:t>endAngle</a:t>
            </a:r>
            <a:r>
              <a:rPr lang="en-US" altLang="ko-KR" sz="2000" dirty="0">
                <a:solidFill>
                  <a:srgbClr val="000000"/>
                </a:solidFill>
              </a:rPr>
              <a:t> : </a:t>
            </a:r>
            <a:r>
              <a:rPr lang="ko-KR" altLang="en-US" sz="2000" dirty="0">
                <a:solidFill>
                  <a:srgbClr val="000000"/>
                </a:solidFill>
              </a:rPr>
              <a:t>타원 호의 끝 각도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endParaRPr lang="ko-KR" altLang="en-US" sz="2400" dirty="0">
              <a:latin typeface="+mn-ea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88DECBD-76E9-8788-4D12-F150C19CEA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233" y="2345640"/>
            <a:ext cx="5840112" cy="3285904"/>
          </a:xfrm>
          <a:prstGeom prst="rect">
            <a:avLst/>
          </a:prstGeo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9C40548-CAB6-FE34-AE0D-3C674D1C1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78CC497-F227-C3B7-41EB-0ADB25737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2980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타원 그리기</a:t>
            </a:r>
          </a:p>
        </p:txBody>
      </p:sp>
    </p:spTree>
    <p:extLst>
      <p:ext uri="{BB962C8B-B14F-4D97-AF65-F5344CB8AC3E}">
        <p14:creationId xmlns:p14="http://schemas.microsoft.com/office/powerpoint/2010/main" val="10451781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6238D-7AA5-A2B4-CF87-B0AD33677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5A615C-54DF-24BD-F62C-93E8465F5E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D8AB81B-D458-3939-58BB-E24D45F92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51AA2A-D12A-E6FF-0BF8-34F57DA2FF8D}"/>
              </a:ext>
            </a:extLst>
          </p:cNvPr>
          <p:cNvSpPr txBox="1"/>
          <p:nvPr/>
        </p:nvSpPr>
        <p:spPr>
          <a:xfrm>
            <a:off x="200677" y="110919"/>
            <a:ext cx="2980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타원 그리기</a:t>
            </a:r>
          </a:p>
        </p:txBody>
      </p:sp>
      <p:pic>
        <p:nvPicPr>
          <p:cNvPr id="10" name="그림 9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65ABACB-34E8-6A62-C9F6-FA93F3F8CE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685" y="572584"/>
            <a:ext cx="10798630" cy="6103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73307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9E51D-B0A9-E39A-D6DE-B0CFA80D3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DB973A-6997-4274-DC45-0F6D164D7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1D68977-46D4-EF72-89FA-BD831D616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35125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사각형 그리기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61FFC3-8BEA-AC73-9D6A-091B86ECA0D0}"/>
              </a:ext>
            </a:extLst>
          </p:cNvPr>
          <p:cNvSpPr txBox="1"/>
          <p:nvPr/>
        </p:nvSpPr>
        <p:spPr>
          <a:xfrm>
            <a:off x="200677" y="1034249"/>
            <a:ext cx="11603202" cy="336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b="1" dirty="0"/>
              <a:t>💡</a:t>
            </a:r>
            <a:r>
              <a:rPr lang="en-US" altLang="ko-KR" sz="2400" b="1" dirty="0"/>
              <a:t>cv2.rectangle</a:t>
            </a:r>
            <a:r>
              <a:rPr lang="en-US" altLang="ko-KR" sz="2400" dirty="0"/>
              <a:t>(</a:t>
            </a:r>
            <a:r>
              <a:rPr lang="en-US" altLang="ko-KR" sz="2400" dirty="0" err="1"/>
              <a:t>img</a:t>
            </a:r>
            <a:r>
              <a:rPr lang="en-US" altLang="ko-KR" sz="2400" dirty="0"/>
              <a:t>, pt1, pt2, color[, thickness[, </a:t>
            </a:r>
            <a:r>
              <a:rPr lang="en-US" altLang="ko-KR" sz="2400" dirty="0" err="1"/>
              <a:t>lineType</a:t>
            </a:r>
            <a:r>
              <a:rPr lang="en-US" altLang="ko-KR" sz="2400" dirty="0"/>
              <a:t>[, shift]]]) </a:t>
            </a:r>
            <a:r>
              <a:rPr lang="ko-KR" altLang="en-US" sz="2400" dirty="0"/>
              <a:t>→</a:t>
            </a:r>
            <a:r>
              <a:rPr lang="en-US" altLang="ko-KR" sz="2400" dirty="0"/>
              <a:t> </a:t>
            </a:r>
            <a:r>
              <a:rPr lang="en-US" altLang="ko-KR" sz="2400" dirty="0" err="1"/>
              <a:t>img</a:t>
            </a:r>
            <a:endParaRPr lang="en-US" altLang="ko-KR" sz="2000" dirty="0"/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Img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이미지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Pt1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사각형 첫 번째 지점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pt2 : pt1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의 반대편 꼭지점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color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선의 색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thickness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선의 두께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cv2.FILLED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로 채우기 가능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lineType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라인의 타입</a:t>
            </a:r>
          </a:p>
        </p:txBody>
      </p:sp>
    </p:spTree>
    <p:extLst>
      <p:ext uri="{BB962C8B-B14F-4D97-AF65-F5344CB8AC3E}">
        <p14:creationId xmlns:p14="http://schemas.microsoft.com/office/powerpoint/2010/main" val="39861603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9E51D-B0A9-E39A-D6DE-B0CFA80D3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C:\Users\LMH\Desktop\5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766" y="379294"/>
            <a:ext cx="10636468" cy="6478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DB973A-6997-4274-DC45-0F6D164D7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1D68977-46D4-EF72-89FA-BD831D616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35125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사각형 그리기</a:t>
            </a:r>
          </a:p>
        </p:txBody>
      </p:sp>
    </p:spTree>
    <p:extLst>
      <p:ext uri="{BB962C8B-B14F-4D97-AF65-F5344CB8AC3E}">
        <p14:creationId xmlns:p14="http://schemas.microsoft.com/office/powerpoint/2010/main" val="12889739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75834-4D74-A076-0D26-C8EBAED40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2C65C64-CA80-A0E0-CE93-C5C72E1C73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1034249"/>
            <a:ext cx="11457542" cy="3565926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</a:t>
            </a:r>
            <a:r>
              <a:rPr lang="en-US" altLang="ko-KR" sz="2400" b="1" dirty="0">
                <a:latin typeface="+mn-ea"/>
              </a:rPr>
              <a:t>cv2.clipLine</a:t>
            </a:r>
            <a:r>
              <a:rPr lang="en-US" altLang="ko-KR" sz="2400" dirty="0">
                <a:latin typeface="+mn-ea"/>
              </a:rPr>
              <a:t>(</a:t>
            </a:r>
            <a:r>
              <a:rPr lang="en-US" altLang="ko-KR" sz="2400" dirty="0" err="1">
                <a:latin typeface="+mn-ea"/>
              </a:rPr>
              <a:t>imgRect</a:t>
            </a:r>
            <a:r>
              <a:rPr lang="en-US" altLang="ko-KR" sz="2400" dirty="0">
                <a:latin typeface="+mn-ea"/>
              </a:rPr>
              <a:t>, pt1, pt2) </a:t>
            </a:r>
            <a:r>
              <a:rPr lang="ko-KR" altLang="en-US" sz="2400" dirty="0">
                <a:latin typeface="+mn-ea"/>
              </a:rPr>
              <a:t>→</a:t>
            </a:r>
            <a:r>
              <a:rPr lang="en-US" altLang="ko-KR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retval</a:t>
            </a:r>
            <a:r>
              <a:rPr lang="en-US" altLang="ko-KR" sz="2400" dirty="0">
                <a:latin typeface="+mn-ea"/>
              </a:rPr>
              <a:t>, pt1, pt2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solidFill>
                  <a:srgbClr val="000000"/>
                </a:solidFill>
              </a:rPr>
              <a:t>imgRect</a:t>
            </a:r>
            <a:r>
              <a:rPr lang="en-US" altLang="ko-KR" sz="2000" dirty="0">
                <a:solidFill>
                  <a:srgbClr val="000000"/>
                </a:solidFill>
              </a:rPr>
              <a:t> : </a:t>
            </a:r>
            <a:r>
              <a:rPr lang="ko-KR" altLang="en-US" sz="2000" dirty="0">
                <a:solidFill>
                  <a:srgbClr val="000000"/>
                </a:solidFill>
              </a:rPr>
              <a:t>이미지 사각형</a:t>
            </a:r>
            <a:endParaRPr lang="en-US" altLang="ko-KR" sz="2000" dirty="0">
              <a:solidFill>
                <a:srgbClr val="000000"/>
              </a:solidFill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solidFill>
                  <a:srgbClr val="000000"/>
                </a:solidFill>
              </a:rPr>
              <a:t>pt1 : </a:t>
            </a:r>
            <a:r>
              <a:rPr lang="ko-KR" altLang="en-US" sz="2000" dirty="0">
                <a:solidFill>
                  <a:srgbClr val="000000"/>
                </a:solidFill>
              </a:rPr>
              <a:t>선의 시작 위치</a:t>
            </a:r>
            <a:endParaRPr lang="en-US" altLang="ko-KR" sz="2000" dirty="0">
              <a:solidFill>
                <a:srgbClr val="000000"/>
              </a:solidFill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/>
              <a:t>pt2 : </a:t>
            </a:r>
            <a:r>
              <a:rPr lang="ko-KR" altLang="en-US" sz="2000" dirty="0"/>
              <a:t>선의 종료 위치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B05CE0-26DD-2D42-2D9F-FD8BB4403E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15352BB-84F1-2B7A-E6BC-9C05C3A5D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64427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사각형과 직선이 만나는 점</a:t>
            </a:r>
          </a:p>
        </p:txBody>
      </p:sp>
    </p:spTree>
    <p:extLst>
      <p:ext uri="{BB962C8B-B14F-4D97-AF65-F5344CB8AC3E}">
        <p14:creationId xmlns:p14="http://schemas.microsoft.com/office/powerpoint/2010/main" val="30035863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9E51D-B0A9-E39A-D6DE-B0CFA80D3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DB973A-6997-4274-DC45-0F6D164D7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1D68977-46D4-EF72-89FA-BD831D616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456407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다각형 그리기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(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선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)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61FFC3-8BEA-AC73-9D6A-091B86ECA0D0}"/>
              </a:ext>
            </a:extLst>
          </p:cNvPr>
          <p:cNvSpPr txBox="1"/>
          <p:nvPr/>
        </p:nvSpPr>
        <p:spPr>
          <a:xfrm>
            <a:off x="200677" y="1034249"/>
            <a:ext cx="11603202" cy="25321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b="1" dirty="0"/>
              <a:t>💡</a:t>
            </a:r>
            <a:r>
              <a:rPr lang="en-US" altLang="ko-KR" sz="2400" b="1" dirty="0"/>
              <a:t>cv2.polylines</a:t>
            </a:r>
            <a:r>
              <a:rPr lang="en-US" altLang="ko-KR" sz="2400" dirty="0"/>
              <a:t>(</a:t>
            </a:r>
            <a:r>
              <a:rPr lang="en-US" altLang="ko-KR" sz="2400" dirty="0" err="1"/>
              <a:t>img</a:t>
            </a:r>
            <a:r>
              <a:rPr lang="en-US" altLang="ko-KR" sz="2400" dirty="0"/>
              <a:t>, pts, </a:t>
            </a:r>
            <a:r>
              <a:rPr lang="en-US" altLang="ko-KR" sz="2400" dirty="0" err="1"/>
              <a:t>isClosed</a:t>
            </a:r>
            <a:r>
              <a:rPr lang="en-US" altLang="ko-KR" sz="2400" dirty="0"/>
              <a:t>, color[, thickness[, </a:t>
            </a:r>
          </a:p>
          <a:p>
            <a:pPr>
              <a:lnSpc>
                <a:spcPct val="150000"/>
              </a:lnSpc>
            </a:pPr>
            <a:r>
              <a:rPr lang="en-US" altLang="ko-KR" sz="2400" dirty="0"/>
              <a:t>                                </a:t>
            </a:r>
            <a:r>
              <a:rPr lang="en-US" altLang="ko-KR" sz="2400" dirty="0" err="1"/>
              <a:t>lineType</a:t>
            </a:r>
            <a:r>
              <a:rPr lang="en-US" altLang="ko-KR" sz="2400" dirty="0"/>
              <a:t>=LINE_8[, shift=0]]]) </a:t>
            </a:r>
            <a:r>
              <a:rPr lang="ko-KR" altLang="en-US" sz="2400" dirty="0"/>
              <a:t>→</a:t>
            </a:r>
            <a:r>
              <a:rPr lang="en-US" altLang="ko-KR" sz="2400" dirty="0"/>
              <a:t> </a:t>
            </a:r>
            <a:r>
              <a:rPr lang="en-US" altLang="ko-KR" sz="2400" dirty="0" err="1"/>
              <a:t>img</a:t>
            </a:r>
            <a:endParaRPr lang="en-US" altLang="ko-KR" sz="2400" dirty="0"/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다각형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pts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다각형 선분들의 배열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isClosed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닫힌 도형인지 아닌지 여부</a:t>
            </a:r>
          </a:p>
        </p:txBody>
      </p:sp>
    </p:spTree>
    <p:extLst>
      <p:ext uri="{BB962C8B-B14F-4D97-AF65-F5344CB8AC3E}">
        <p14:creationId xmlns:p14="http://schemas.microsoft.com/office/powerpoint/2010/main" val="30425676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9E51D-B0A9-E39A-D6DE-B0CFA80D3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DB973A-6997-4274-DC45-0F6D164D7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1D68977-46D4-EF72-89FA-BD831D616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456407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다각형 그리기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(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선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)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  <p:pic>
        <p:nvPicPr>
          <p:cNvPr id="4101" name="Picture 5" descr="C:\Users\LMH\Desktop\6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677" y="298808"/>
            <a:ext cx="11834648" cy="6606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69462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9E51D-B0A9-E39A-D6DE-B0CFA80D3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DB973A-6997-4274-DC45-0F6D164D7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1D68977-46D4-EF72-89FA-BD831D616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562846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다각형 그리기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(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채우기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)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61FFC3-8BEA-AC73-9D6A-091B86ECA0D0}"/>
              </a:ext>
            </a:extLst>
          </p:cNvPr>
          <p:cNvSpPr txBox="1"/>
          <p:nvPr/>
        </p:nvSpPr>
        <p:spPr>
          <a:xfrm>
            <a:off x="200677" y="1034249"/>
            <a:ext cx="11603202" cy="10548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b="1" dirty="0"/>
              <a:t>💡</a:t>
            </a:r>
            <a:r>
              <a:rPr lang="en-US" altLang="ko-KR" sz="2400" b="1" dirty="0" err="1"/>
              <a:t>cv.fillPoly</a:t>
            </a:r>
            <a:r>
              <a:rPr lang="en-US" altLang="ko-KR" sz="2400" dirty="0"/>
              <a:t>(</a:t>
            </a:r>
            <a:r>
              <a:rPr lang="en-US" altLang="ko-KR" sz="2400" dirty="0" err="1"/>
              <a:t>img</a:t>
            </a:r>
            <a:r>
              <a:rPr lang="en-US" altLang="ko-KR" sz="2400" dirty="0"/>
              <a:t>, pts, color[, </a:t>
            </a:r>
            <a:r>
              <a:rPr lang="en-US" altLang="ko-KR" sz="2400" dirty="0" err="1"/>
              <a:t>lineType</a:t>
            </a:r>
            <a:r>
              <a:rPr lang="en-US" altLang="ko-KR" sz="2400" dirty="0"/>
              <a:t>[, shift[, offset]]]) </a:t>
            </a:r>
            <a:r>
              <a:rPr lang="ko-KR" altLang="en-US" sz="2400" dirty="0"/>
              <a:t>→ </a:t>
            </a:r>
            <a:r>
              <a:rPr lang="en-US" altLang="ko-KR" sz="2400" dirty="0" err="1"/>
              <a:t>img</a:t>
            </a:r>
            <a:endParaRPr lang="en-US" altLang="ko-KR" sz="2400" dirty="0"/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pts</a:t>
            </a:r>
            <a:r>
              <a:rPr lang="en-US" altLang="ko-KR" sz="2000" dirty="0"/>
              <a:t> : </a:t>
            </a:r>
            <a:r>
              <a:rPr lang="ko-KR" altLang="en-US" sz="2000" dirty="0"/>
              <a:t>다각형 선분들의 배열</a:t>
            </a:r>
          </a:p>
        </p:txBody>
      </p:sp>
    </p:spTree>
    <p:extLst>
      <p:ext uri="{BB962C8B-B14F-4D97-AF65-F5344CB8AC3E}">
        <p14:creationId xmlns:p14="http://schemas.microsoft.com/office/powerpoint/2010/main" val="37192623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9E51D-B0A9-E39A-D6DE-B0CFA80D3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C:\Users\LMH\Desktop\7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3628" y="339346"/>
            <a:ext cx="11424744" cy="6668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DB973A-6997-4274-DC45-0F6D164D7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1D68977-46D4-EF72-89FA-BD831D616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562846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다각형 그리기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(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채우기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)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693384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E806D-4CEC-D247-C2BF-8D6EA32AA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B462CC-18A3-AE36-42AA-896A55B7C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chemeClr val="accent2"/>
                </a:solidFill>
              </a:rPr>
              <a:t>실습</a:t>
            </a:r>
            <a:r>
              <a:rPr lang="en-US" altLang="ko-KR" b="1" dirty="0">
                <a:solidFill>
                  <a:schemeClr val="accent2"/>
                </a:solidFill>
              </a:rPr>
              <a:t>1. </a:t>
            </a:r>
            <a:r>
              <a:rPr lang="ko-KR" altLang="en-US" b="1" dirty="0">
                <a:solidFill>
                  <a:schemeClr val="accent2"/>
                </a:solidFill>
              </a:rPr>
              <a:t>도형 그려보기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B41B36-9EDA-C6C3-1845-54C509B089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999" y="1356043"/>
            <a:ext cx="11475721" cy="2255837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altLang="ko-KR" sz="3200" dirty="0"/>
              <a:t>640 x 480 </a:t>
            </a:r>
            <a:r>
              <a:rPr lang="ko-KR" altLang="en-US" sz="3200" dirty="0"/>
              <a:t>사이즈의 빈 화면에 </a:t>
            </a:r>
            <a:endParaRPr lang="en-US" altLang="ko-KR" sz="3200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sz="3200" dirty="0"/>
              <a:t>선</a:t>
            </a:r>
            <a:r>
              <a:rPr lang="en-US" altLang="ko-KR" sz="3200" dirty="0"/>
              <a:t>, </a:t>
            </a:r>
            <a:r>
              <a:rPr lang="ko-KR" altLang="en-US" sz="3200" dirty="0"/>
              <a:t>원</a:t>
            </a:r>
            <a:r>
              <a:rPr lang="en-US" altLang="ko-KR" sz="3200" dirty="0"/>
              <a:t>, </a:t>
            </a:r>
            <a:r>
              <a:rPr lang="ko-KR" altLang="en-US" sz="3200" dirty="0"/>
              <a:t>타원</a:t>
            </a:r>
            <a:r>
              <a:rPr lang="en-US" altLang="ko-KR" sz="3200" dirty="0"/>
              <a:t>, </a:t>
            </a:r>
            <a:r>
              <a:rPr lang="ko-KR" altLang="en-US" sz="3200" dirty="0"/>
              <a:t>사각형</a:t>
            </a:r>
            <a:r>
              <a:rPr lang="en-US" altLang="ko-KR" sz="3200" dirty="0"/>
              <a:t>, </a:t>
            </a:r>
            <a:r>
              <a:rPr lang="ko-KR" altLang="en-US" sz="3200" dirty="0"/>
              <a:t>다각형 </a:t>
            </a:r>
            <a:r>
              <a:rPr lang="en-US" altLang="ko-KR" sz="3200" dirty="0"/>
              <a:t>(</a:t>
            </a:r>
            <a:r>
              <a:rPr lang="ko-KR" altLang="en-US" sz="3200" dirty="0"/>
              <a:t>선</a:t>
            </a:r>
            <a:r>
              <a:rPr lang="en-US" altLang="ko-KR" sz="3200" dirty="0"/>
              <a:t>/</a:t>
            </a:r>
            <a:r>
              <a:rPr lang="ko-KR" altLang="en-US" sz="3200" dirty="0"/>
              <a:t>채우기 각각</a:t>
            </a:r>
            <a:r>
              <a:rPr lang="en-US" altLang="ko-KR" sz="3200" dirty="0"/>
              <a:t>) </a:t>
            </a:r>
            <a:r>
              <a:rPr lang="ko-KR" altLang="en-US" sz="3200" dirty="0"/>
              <a:t>화면에 그려보기</a:t>
            </a:r>
            <a:endParaRPr lang="en-US" altLang="ko-KR" sz="3200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sz="3200" dirty="0"/>
              <a:t>도형의 색상을 각각 다르게 설정하기</a:t>
            </a:r>
            <a:endParaRPr lang="en-US" altLang="ko-KR" sz="32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DAD43D-39B7-74F3-5ED4-40A129EB6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817EF70-41E3-97C7-6DDB-2D3BD0F53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27869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0E92A-04E1-792F-DF49-CF1F4D0AB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/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텍스트</a:t>
            </a:r>
          </a:p>
        </p:txBody>
      </p:sp>
    </p:spTree>
    <p:extLst>
      <p:ext uri="{BB962C8B-B14F-4D97-AF65-F5344CB8AC3E}">
        <p14:creationId xmlns:p14="http://schemas.microsoft.com/office/powerpoint/2010/main" val="18429074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F2472-DD06-5EAD-58C2-82C278A81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A0C8BB6-CD6F-F072-0C7A-B3DB53C1E6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1034249"/>
            <a:ext cx="11414234" cy="5086507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</a:t>
            </a:r>
            <a:r>
              <a:rPr lang="en-US" altLang="ko-KR" sz="2400" b="1" dirty="0">
                <a:latin typeface="+mn-ea"/>
              </a:rPr>
              <a:t>cv2.putText</a:t>
            </a:r>
            <a:r>
              <a:rPr lang="en-US" altLang="ko-KR" sz="2400" dirty="0">
                <a:latin typeface="+mn-ea"/>
              </a:rPr>
              <a:t>(</a:t>
            </a:r>
            <a:r>
              <a:rPr lang="en-US" altLang="ko-KR" sz="2400" dirty="0" err="1">
                <a:latin typeface="+mn-ea"/>
              </a:rPr>
              <a:t>img</a:t>
            </a:r>
            <a:r>
              <a:rPr lang="en-US" altLang="ko-KR" sz="2400" dirty="0">
                <a:latin typeface="+mn-ea"/>
              </a:rPr>
              <a:t>, text, org, </a:t>
            </a:r>
            <a:r>
              <a:rPr lang="en-US" altLang="ko-KR" sz="2400" dirty="0" err="1">
                <a:latin typeface="+mn-ea"/>
              </a:rPr>
              <a:t>fontFace</a:t>
            </a:r>
            <a:r>
              <a:rPr lang="en-US" altLang="ko-KR" sz="2400" dirty="0">
                <a:latin typeface="+mn-ea"/>
              </a:rPr>
              <a:t>, </a:t>
            </a:r>
            <a:r>
              <a:rPr lang="en-US" altLang="ko-KR" sz="2400" dirty="0" err="1">
                <a:latin typeface="+mn-ea"/>
              </a:rPr>
              <a:t>fontScale</a:t>
            </a:r>
            <a:r>
              <a:rPr lang="en-US" altLang="ko-KR" sz="2400" dirty="0">
                <a:latin typeface="+mn-ea"/>
              </a:rPr>
              <a:t>, color[, thickness[, </a:t>
            </a:r>
            <a:r>
              <a:rPr lang="en-US" altLang="ko-KR" sz="2400" dirty="0" err="1">
                <a:latin typeface="+mn-ea"/>
              </a:rPr>
              <a:t>lineType</a:t>
            </a:r>
            <a:r>
              <a:rPr lang="en-US" altLang="ko-KR" sz="2400" dirty="0">
                <a:latin typeface="+mn-ea"/>
              </a:rPr>
              <a:t>[,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>
                <a:latin typeface="+mn-ea"/>
              </a:rPr>
              <a:t>                             </a:t>
            </a:r>
            <a:r>
              <a:rPr lang="en-US" altLang="ko-KR" sz="2400" dirty="0" err="1">
                <a:latin typeface="+mn-ea"/>
              </a:rPr>
              <a:t>bottomLeftOrigin</a:t>
            </a:r>
            <a:r>
              <a:rPr lang="en-US" altLang="ko-KR" sz="2400" dirty="0">
                <a:latin typeface="+mn-ea"/>
              </a:rPr>
              <a:t>]]]) </a:t>
            </a:r>
            <a:r>
              <a:rPr lang="ko-KR" altLang="en-US" sz="2400" dirty="0">
                <a:latin typeface="+mn-ea"/>
              </a:rPr>
              <a:t>→</a:t>
            </a:r>
            <a:r>
              <a:rPr lang="en-US" altLang="ko-KR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img</a:t>
            </a:r>
            <a:endParaRPr lang="en-US" altLang="ko-KR" sz="24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img</a:t>
            </a:r>
            <a:r>
              <a:rPr lang="en-US" altLang="ko-KR" sz="2000" dirty="0"/>
              <a:t> : </a:t>
            </a:r>
            <a:r>
              <a:rPr lang="ko-KR" altLang="en-US" sz="2000" dirty="0"/>
              <a:t>도형을 그릴 이미지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/>
              <a:t>text : </a:t>
            </a:r>
            <a:r>
              <a:rPr lang="ko-KR" altLang="en-US" sz="2000" dirty="0"/>
              <a:t>그려질 글자 배열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/>
              <a:t>org : </a:t>
            </a:r>
            <a:r>
              <a:rPr lang="ko-KR" altLang="en-US" sz="2000" dirty="0"/>
              <a:t>글자의 </a:t>
            </a:r>
            <a:r>
              <a:rPr lang="ko-KR" altLang="en-US" sz="2000" dirty="0" err="1"/>
              <a:t>좌하단</a:t>
            </a:r>
            <a:r>
              <a:rPr lang="ko-KR" altLang="en-US" sz="2000" dirty="0"/>
              <a:t> 구석 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fontFace</a:t>
            </a:r>
            <a:r>
              <a:rPr lang="en-US" altLang="ko-KR" sz="2000" dirty="0"/>
              <a:t> : </a:t>
            </a:r>
            <a:r>
              <a:rPr lang="ko-KR" altLang="en-US" sz="2000" dirty="0"/>
              <a:t>글자 폰트</a:t>
            </a:r>
            <a:endParaRPr lang="en-US" altLang="ko-KR" sz="20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fontSacle</a:t>
            </a:r>
            <a:r>
              <a:rPr lang="en-US" altLang="ko-KR" sz="2000" dirty="0"/>
              <a:t> : </a:t>
            </a:r>
            <a:r>
              <a:rPr lang="ko-KR" altLang="en-US" sz="2000" dirty="0"/>
              <a:t>글자 크기</a:t>
            </a:r>
            <a:endParaRPr lang="en-US" altLang="ko-KR" sz="20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/>
              <a:t>color : </a:t>
            </a:r>
            <a:r>
              <a:rPr lang="ko-KR" altLang="en-US" sz="2000" dirty="0"/>
              <a:t>글자 색깔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bottomLeftOrigin</a:t>
            </a:r>
            <a:r>
              <a:rPr lang="en-US" altLang="ko-KR" sz="2000" dirty="0"/>
              <a:t> : true </a:t>
            </a:r>
            <a:r>
              <a:rPr lang="ko-KR" altLang="en-US" sz="2000" dirty="0"/>
              <a:t>→</a:t>
            </a:r>
            <a:r>
              <a:rPr lang="en-US" altLang="ko-KR" sz="2000" dirty="0"/>
              <a:t> origin </a:t>
            </a:r>
            <a:r>
              <a:rPr lang="ko-KR" altLang="en-US" sz="2000" dirty="0"/>
              <a:t>은 이미지의 좌 하단</a:t>
            </a:r>
            <a:r>
              <a:rPr lang="en-US" altLang="ko-KR" sz="2000" dirty="0"/>
              <a:t>, false </a:t>
            </a:r>
            <a:r>
              <a:rPr lang="ko-KR" altLang="en-US" sz="2000" dirty="0"/>
              <a:t>→</a:t>
            </a:r>
            <a:r>
              <a:rPr lang="en-US" altLang="ko-KR" sz="2000" dirty="0"/>
              <a:t> </a:t>
            </a:r>
            <a:r>
              <a:rPr lang="ko-KR" altLang="en-US" sz="2000" dirty="0"/>
              <a:t>좌 상단</a:t>
            </a:r>
            <a:endParaRPr lang="en-US" altLang="ko-KR" sz="20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AE096B-6430-F45A-FEC7-172B3540A1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4D1821C-10D4-E906-6956-777DDC70F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50962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텍스트 그리기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(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영문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)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015519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F2472-DD06-5EAD-58C2-82C278A81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C:\Users\LMH\Desktop\8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380" y="572584"/>
            <a:ext cx="11445240" cy="609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AE096B-6430-F45A-FEC7-172B3540A1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4D1821C-10D4-E906-6956-777DDC70F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50962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텍스트 그리기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(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영문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)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56350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F2472-DD06-5EAD-58C2-82C278A81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A0C8BB6-CD6F-F072-0C7A-B3DB53C1E6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5471" y="1942490"/>
            <a:ext cx="7023913" cy="1312792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⚠️</a:t>
            </a:r>
            <a:r>
              <a:rPr lang="ko-KR" altLang="en-US" sz="2400" b="1" dirty="0">
                <a:latin typeface="+mn-ea"/>
              </a:rPr>
              <a:t> </a:t>
            </a:r>
            <a:r>
              <a:rPr lang="en-US" altLang="ko-KR" sz="2400" b="1" dirty="0">
                <a:latin typeface="+mn-ea"/>
              </a:rPr>
              <a:t>OpenCV</a:t>
            </a:r>
            <a:r>
              <a:rPr lang="ko-KR" altLang="en-US" sz="2400" b="1" dirty="0">
                <a:latin typeface="+mn-ea"/>
              </a:rPr>
              <a:t>에서 한글 그리기 지원이 </a:t>
            </a:r>
            <a:r>
              <a:rPr lang="en-US" altLang="ko-KR" sz="2400" b="1" dirty="0">
                <a:latin typeface="+mn-ea"/>
              </a:rPr>
              <a:t>X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>
                <a:latin typeface="+mn-ea"/>
              </a:rPr>
              <a:t>➡️ </a:t>
            </a:r>
            <a:r>
              <a:rPr lang="en-US" altLang="ko-KR" sz="2000" dirty="0">
                <a:latin typeface="+mn-ea"/>
              </a:rPr>
              <a:t>Pillow </a:t>
            </a:r>
            <a:r>
              <a:rPr lang="ko-KR" altLang="en-US" sz="2000" dirty="0">
                <a:latin typeface="+mn-ea"/>
              </a:rPr>
              <a:t>라이브러리를 이용하여 우회적인 방법을 사용해야 함</a:t>
            </a:r>
            <a:endParaRPr lang="en-US" altLang="ko-KR" sz="2000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AE096B-6430-F45A-FEC7-172B3540A1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4D1821C-10D4-E906-6956-777DDC70F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50962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텍스트 그리기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(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한글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)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  <p:pic>
        <p:nvPicPr>
          <p:cNvPr id="8194" name="Picture 2" descr="C:\Users\LMH\Desktop\10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8050" y="2892425"/>
            <a:ext cx="10375900" cy="2400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09699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F2472-DD06-5EAD-58C2-82C278A81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AE096B-6430-F45A-FEC7-172B3540A1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4D1821C-10D4-E906-6956-777DDC70F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50962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텍스트 그리기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(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한글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)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  <p:pic>
        <p:nvPicPr>
          <p:cNvPr id="7170" name="Picture 2" descr="C:\Users\LMH\Desktop\9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7820" y="572681"/>
            <a:ext cx="8976360" cy="6042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464891BA-223C-4282-2184-C13629AE2ACB}"/>
              </a:ext>
            </a:extLst>
          </p:cNvPr>
          <p:cNvSpPr/>
          <p:nvPr/>
        </p:nvSpPr>
        <p:spPr>
          <a:xfrm>
            <a:off x="2599793" y="2091140"/>
            <a:ext cx="4475262" cy="1261660"/>
          </a:xfrm>
          <a:prstGeom prst="rect">
            <a:avLst/>
          </a:prstGeom>
          <a:noFill/>
          <a:ln w="25400">
            <a:solidFill>
              <a:srgbClr val="FF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936C5A6-14F3-252B-EFB1-1DFF668A3BA5}"/>
              </a:ext>
            </a:extLst>
          </p:cNvPr>
          <p:cNvSpPr/>
          <p:nvPr/>
        </p:nvSpPr>
        <p:spPr>
          <a:xfrm>
            <a:off x="2599792" y="4746595"/>
            <a:ext cx="5103335" cy="365125"/>
          </a:xfrm>
          <a:prstGeom prst="rect">
            <a:avLst/>
          </a:prstGeom>
          <a:noFill/>
          <a:ln w="25400">
            <a:solidFill>
              <a:srgbClr val="FF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5558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F8ADA-C44D-EF62-7840-AD8CF347B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1BE8DF94-D8BD-770A-2753-3F1B95C627C2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 err="1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블러와</a:t>
            </a:r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노이즈 제거</a:t>
            </a:r>
          </a:p>
        </p:txBody>
      </p:sp>
    </p:spTree>
    <p:extLst>
      <p:ext uri="{BB962C8B-B14F-4D97-AF65-F5344CB8AC3E}">
        <p14:creationId xmlns:p14="http://schemas.microsoft.com/office/powerpoint/2010/main" val="15880230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B99AE-F7FC-BEE3-8A27-BE6CB8AFB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5F06AAD-F7B0-DD1D-AD7F-F6A213051C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1034249"/>
            <a:ext cx="11049000" cy="3951286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</a:t>
            </a:r>
            <a:r>
              <a:rPr lang="en-US" altLang="ko-KR" sz="2400" b="1" dirty="0">
                <a:latin typeface="+mn-ea"/>
              </a:rPr>
              <a:t>cv2.GaussianBlur</a:t>
            </a:r>
            <a:r>
              <a:rPr lang="en-US" altLang="ko-KR" sz="2400" dirty="0">
                <a:latin typeface="+mn-ea"/>
              </a:rPr>
              <a:t>(</a:t>
            </a:r>
            <a:r>
              <a:rPr lang="en-US" altLang="ko-KR" sz="2400" dirty="0" err="1">
                <a:latin typeface="+mn-ea"/>
              </a:rPr>
              <a:t>src</a:t>
            </a:r>
            <a:r>
              <a:rPr lang="en-US" altLang="ko-KR" sz="2400" dirty="0">
                <a:latin typeface="+mn-ea"/>
              </a:rPr>
              <a:t>, </a:t>
            </a:r>
            <a:r>
              <a:rPr lang="en-US" altLang="ko-KR" sz="2400" dirty="0" err="1">
                <a:latin typeface="+mn-ea"/>
              </a:rPr>
              <a:t>ksize</a:t>
            </a:r>
            <a:r>
              <a:rPr lang="en-US" altLang="ko-KR" sz="2400" dirty="0">
                <a:latin typeface="+mn-ea"/>
              </a:rPr>
              <a:t>, </a:t>
            </a:r>
            <a:r>
              <a:rPr lang="en-US" altLang="ko-KR" sz="2400" dirty="0" err="1">
                <a:latin typeface="+mn-ea"/>
              </a:rPr>
              <a:t>sigmaX</a:t>
            </a:r>
            <a:r>
              <a:rPr lang="en-US" altLang="ko-KR" sz="2400" dirty="0">
                <a:latin typeface="+mn-ea"/>
              </a:rPr>
              <a:t>[, </a:t>
            </a:r>
            <a:r>
              <a:rPr lang="en-US" altLang="ko-KR" sz="2400" dirty="0" err="1">
                <a:latin typeface="+mn-ea"/>
              </a:rPr>
              <a:t>dst</a:t>
            </a:r>
            <a:r>
              <a:rPr lang="en-US" altLang="ko-KR" sz="2400" dirty="0">
                <a:latin typeface="+mn-ea"/>
              </a:rPr>
              <a:t>[, </a:t>
            </a:r>
            <a:r>
              <a:rPr lang="en-US" altLang="ko-KR" sz="2400" dirty="0" err="1">
                <a:latin typeface="+mn-ea"/>
              </a:rPr>
              <a:t>sigmaY</a:t>
            </a:r>
            <a:r>
              <a:rPr lang="en-US" altLang="ko-KR" sz="2400" dirty="0">
                <a:latin typeface="+mn-ea"/>
              </a:rPr>
              <a:t>[,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>
                <a:latin typeface="+mn-ea"/>
              </a:rPr>
              <a:t>			   </a:t>
            </a:r>
            <a:r>
              <a:rPr lang="en-US" altLang="ko-KR" sz="2400" dirty="0" err="1">
                <a:latin typeface="+mn-ea"/>
              </a:rPr>
              <a:t>borderType</a:t>
            </a:r>
            <a:r>
              <a:rPr lang="en-US" altLang="ko-KR" sz="2400" dirty="0">
                <a:latin typeface="+mn-ea"/>
              </a:rPr>
              <a:t>[, hint]]]]) </a:t>
            </a:r>
            <a:r>
              <a:rPr lang="ko-KR" altLang="en-US" sz="2400" dirty="0">
                <a:latin typeface="+mn-ea"/>
              </a:rPr>
              <a:t>→</a:t>
            </a:r>
            <a:r>
              <a:rPr lang="en-US" altLang="ko-KR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dst</a:t>
            </a:r>
            <a:endParaRPr lang="en-US" altLang="ko-KR" sz="24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solidFill>
                  <a:srgbClr val="000000"/>
                </a:solidFill>
              </a:rPr>
              <a:t>src</a:t>
            </a:r>
            <a:r>
              <a:rPr lang="en-US" altLang="ko-KR" sz="2000" dirty="0">
                <a:solidFill>
                  <a:srgbClr val="000000"/>
                </a:solidFill>
              </a:rPr>
              <a:t> : </a:t>
            </a:r>
            <a:r>
              <a:rPr lang="ko-KR" altLang="en-US" sz="2000" dirty="0">
                <a:solidFill>
                  <a:srgbClr val="000000"/>
                </a:solidFill>
              </a:rPr>
              <a:t>입력 이미지</a:t>
            </a:r>
            <a:endParaRPr lang="en-US" altLang="ko-KR" sz="2000" dirty="0">
              <a:solidFill>
                <a:srgbClr val="000000"/>
              </a:solidFill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solidFill>
                  <a:srgbClr val="000000"/>
                </a:solidFill>
              </a:rPr>
              <a:t>dst</a:t>
            </a:r>
            <a:r>
              <a:rPr lang="en-US" altLang="ko-KR" sz="2000" dirty="0">
                <a:solidFill>
                  <a:srgbClr val="000000"/>
                </a:solidFill>
              </a:rPr>
              <a:t> : </a:t>
            </a:r>
            <a:r>
              <a:rPr lang="ko-KR" altLang="en-US" sz="2000" dirty="0">
                <a:solidFill>
                  <a:srgbClr val="000000"/>
                </a:solidFill>
              </a:rPr>
              <a:t>출력 이미지</a:t>
            </a:r>
            <a:endParaRPr lang="en-US" altLang="ko-KR" sz="2000" dirty="0">
              <a:solidFill>
                <a:srgbClr val="000000"/>
              </a:solidFill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solidFill>
                  <a:srgbClr val="000000"/>
                </a:solidFill>
              </a:rPr>
              <a:t>ksize</a:t>
            </a:r>
            <a:r>
              <a:rPr lang="en-US" altLang="ko-KR" sz="2000" dirty="0">
                <a:solidFill>
                  <a:srgbClr val="000000"/>
                </a:solidFill>
              </a:rPr>
              <a:t> : </a:t>
            </a:r>
            <a:r>
              <a:rPr lang="ko-KR" altLang="en-US" sz="2000" dirty="0" err="1">
                <a:solidFill>
                  <a:srgbClr val="000000"/>
                </a:solidFill>
              </a:rPr>
              <a:t>커널</a:t>
            </a:r>
            <a:r>
              <a:rPr lang="ko-KR" altLang="en-US" sz="2000" dirty="0">
                <a:solidFill>
                  <a:srgbClr val="000000"/>
                </a:solidFill>
              </a:rPr>
              <a:t> 크기</a:t>
            </a:r>
            <a:endParaRPr lang="en-US" altLang="ko-KR" sz="2000" dirty="0">
              <a:solidFill>
                <a:srgbClr val="000000"/>
              </a:solidFill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sigmaX</a:t>
            </a:r>
            <a:r>
              <a:rPr lang="en-US" altLang="ko-KR" sz="2000" dirty="0"/>
              <a:t> : x</a:t>
            </a:r>
            <a:r>
              <a:rPr lang="ko-KR" altLang="en-US" sz="2000" dirty="0"/>
              <a:t>축 방향의 표준편차</a:t>
            </a:r>
            <a:endParaRPr lang="en-US" altLang="ko-KR" sz="20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solidFill>
                  <a:srgbClr val="000000"/>
                </a:solidFill>
              </a:rPr>
              <a:t>borderType</a:t>
            </a:r>
            <a:r>
              <a:rPr lang="en-US" altLang="ko-KR" sz="2000" dirty="0">
                <a:solidFill>
                  <a:srgbClr val="000000"/>
                </a:solidFill>
              </a:rPr>
              <a:t> : border mode</a:t>
            </a:r>
            <a:endParaRPr lang="en-US" altLang="ko-KR" dirty="0">
              <a:latin typeface="+mn-ea"/>
            </a:endParaRPr>
          </a:p>
          <a:p>
            <a:pPr>
              <a:lnSpc>
                <a:spcPct val="150000"/>
              </a:lnSpc>
            </a:pPr>
            <a:endParaRPr lang="en-US" altLang="ko-KR" dirty="0">
              <a:latin typeface="+mn-ea"/>
            </a:endParaRPr>
          </a:p>
          <a:p>
            <a:pPr>
              <a:lnSpc>
                <a:spcPct val="150000"/>
              </a:lnSpc>
            </a:pPr>
            <a:endParaRPr lang="ko-KR" altLang="en-US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8DFFBB-7590-ED47-C7AA-69E62760A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8021127-6240-B5D2-E319-C5EEF30BB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35125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흐리기</a:t>
            </a:r>
          </a:p>
        </p:txBody>
      </p:sp>
    </p:spTree>
    <p:extLst>
      <p:ext uri="{BB962C8B-B14F-4D97-AF65-F5344CB8AC3E}">
        <p14:creationId xmlns:p14="http://schemas.microsoft.com/office/powerpoint/2010/main" val="21261947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B99AE-F7FC-BEE3-8A27-BE6CB8AFB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8DFFBB-7590-ED47-C7AA-69E62760A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8021127-6240-B5D2-E319-C5EEF30BB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35125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흐리기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006F3895-2FDA-DCD5-C8DA-2EBD5C1FFF65}"/>
              </a:ext>
            </a:extLst>
          </p:cNvPr>
          <p:cNvGrpSpPr/>
          <p:nvPr/>
        </p:nvGrpSpPr>
        <p:grpSpPr>
          <a:xfrm>
            <a:off x="955762" y="1740573"/>
            <a:ext cx="10280475" cy="3195494"/>
            <a:chOff x="861095" y="1300306"/>
            <a:chExt cx="7783893" cy="2419478"/>
          </a:xfrm>
        </p:grpSpPr>
        <p:pic>
          <p:nvPicPr>
            <p:cNvPr id="150" name="그림 149">
              <a:extLst>
                <a:ext uri="{FF2B5EF4-FFF2-40B4-BE49-F238E27FC236}">
                  <a16:creationId xmlns:a16="http://schemas.microsoft.com/office/drawing/2014/main" id="{251D1277-AD80-419C-A309-709583DB4A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1095" y="1302792"/>
              <a:ext cx="2194560" cy="2194560"/>
            </a:xfrm>
            <a:prstGeom prst="rect">
              <a:avLst/>
            </a:prstGeom>
          </p:spPr>
        </p:pic>
        <p:grpSp>
          <p:nvGrpSpPr>
            <p:cNvPr id="156" name="그룹 155">
              <a:extLst>
                <a:ext uri="{FF2B5EF4-FFF2-40B4-BE49-F238E27FC236}">
                  <a16:creationId xmlns:a16="http://schemas.microsoft.com/office/drawing/2014/main" id="{DCE4BB3B-D117-449C-B7D1-91FA35E49FD6}"/>
                </a:ext>
              </a:extLst>
            </p:cNvPr>
            <p:cNvGrpSpPr/>
            <p:nvPr/>
          </p:nvGrpSpPr>
          <p:grpSpPr>
            <a:xfrm>
              <a:off x="862716" y="1301859"/>
              <a:ext cx="493980" cy="497038"/>
              <a:chOff x="5847974" y="2091970"/>
              <a:chExt cx="493980" cy="497038"/>
            </a:xfrm>
            <a:solidFill>
              <a:schemeClr val="accent5">
                <a:lumMod val="60000"/>
                <a:lumOff val="40000"/>
              </a:schemeClr>
            </a:solidFill>
          </p:grpSpPr>
          <p:sp>
            <p:nvSpPr>
              <p:cNvPr id="157" name="직사각형 156">
                <a:extLst>
                  <a:ext uri="{FF2B5EF4-FFF2-40B4-BE49-F238E27FC236}">
                    <a16:creationId xmlns:a16="http://schemas.microsoft.com/office/drawing/2014/main" id="{76122F18-FC34-4717-9B03-851D79BAD861}"/>
                  </a:ext>
                </a:extLst>
              </p:cNvPr>
              <p:cNvSpPr/>
              <p:nvPr/>
            </p:nvSpPr>
            <p:spPr>
              <a:xfrm>
                <a:off x="5847974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0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58" name="직사각형 157">
                <a:extLst>
                  <a:ext uri="{FF2B5EF4-FFF2-40B4-BE49-F238E27FC236}">
                    <a16:creationId xmlns:a16="http://schemas.microsoft.com/office/drawing/2014/main" id="{50F25A79-1723-4E8A-8B94-FF09963FF3D3}"/>
                  </a:ext>
                </a:extLst>
              </p:cNvPr>
              <p:cNvSpPr/>
              <p:nvPr/>
            </p:nvSpPr>
            <p:spPr>
              <a:xfrm>
                <a:off x="5847974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0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59" name="직사각형 158">
                <a:extLst>
                  <a:ext uri="{FF2B5EF4-FFF2-40B4-BE49-F238E27FC236}">
                    <a16:creationId xmlns:a16="http://schemas.microsoft.com/office/drawing/2014/main" id="{B79CB532-F790-4AC4-8994-F5D5FD011E38}"/>
                  </a:ext>
                </a:extLst>
              </p:cNvPr>
              <p:cNvSpPr/>
              <p:nvPr/>
            </p:nvSpPr>
            <p:spPr>
              <a:xfrm>
                <a:off x="5847974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0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60" name="직사각형 159">
                <a:extLst>
                  <a:ext uri="{FF2B5EF4-FFF2-40B4-BE49-F238E27FC236}">
                    <a16:creationId xmlns:a16="http://schemas.microsoft.com/office/drawing/2014/main" id="{38D337ED-E237-443E-94BB-7CD26084321B}"/>
                  </a:ext>
                </a:extLst>
              </p:cNvPr>
              <p:cNvSpPr/>
              <p:nvPr/>
            </p:nvSpPr>
            <p:spPr>
              <a:xfrm>
                <a:off x="6012555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0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61" name="직사각형 160">
                <a:extLst>
                  <a:ext uri="{FF2B5EF4-FFF2-40B4-BE49-F238E27FC236}">
                    <a16:creationId xmlns:a16="http://schemas.microsoft.com/office/drawing/2014/main" id="{CAA1A439-C68D-4795-BF28-1371552DAC3F}"/>
                  </a:ext>
                </a:extLst>
              </p:cNvPr>
              <p:cNvSpPr/>
              <p:nvPr/>
            </p:nvSpPr>
            <p:spPr>
              <a:xfrm>
                <a:off x="6012555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62" name="직사각형 161">
                <a:extLst>
                  <a:ext uri="{FF2B5EF4-FFF2-40B4-BE49-F238E27FC236}">
                    <a16:creationId xmlns:a16="http://schemas.microsoft.com/office/drawing/2014/main" id="{B0BC0A20-577A-4A94-A84E-0CCEF897D4C0}"/>
                  </a:ext>
                </a:extLst>
              </p:cNvPr>
              <p:cNvSpPr/>
              <p:nvPr/>
            </p:nvSpPr>
            <p:spPr>
              <a:xfrm>
                <a:off x="6012555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0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63" name="직사각형 162">
                <a:extLst>
                  <a:ext uri="{FF2B5EF4-FFF2-40B4-BE49-F238E27FC236}">
                    <a16:creationId xmlns:a16="http://schemas.microsoft.com/office/drawing/2014/main" id="{E41F1074-516B-4236-BDB1-3B0951E9CA62}"/>
                  </a:ext>
                </a:extLst>
              </p:cNvPr>
              <p:cNvSpPr/>
              <p:nvPr/>
            </p:nvSpPr>
            <p:spPr>
              <a:xfrm>
                <a:off x="6177136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0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64" name="직사각형 163">
                <a:extLst>
                  <a:ext uri="{FF2B5EF4-FFF2-40B4-BE49-F238E27FC236}">
                    <a16:creationId xmlns:a16="http://schemas.microsoft.com/office/drawing/2014/main" id="{50057671-BDBA-4A3A-B1D2-81DF7F903375}"/>
                  </a:ext>
                </a:extLst>
              </p:cNvPr>
              <p:cNvSpPr/>
              <p:nvPr/>
            </p:nvSpPr>
            <p:spPr>
              <a:xfrm>
                <a:off x="6177136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0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65" name="직사각형 164">
                <a:extLst>
                  <a:ext uri="{FF2B5EF4-FFF2-40B4-BE49-F238E27FC236}">
                    <a16:creationId xmlns:a16="http://schemas.microsoft.com/office/drawing/2014/main" id="{C5A1CF27-9FC3-485F-B1D5-8C56B8640064}"/>
                  </a:ext>
                </a:extLst>
              </p:cNvPr>
              <p:cNvSpPr/>
              <p:nvPr/>
            </p:nvSpPr>
            <p:spPr>
              <a:xfrm>
                <a:off x="6177136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0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</p:grpSp>
        <p:pic>
          <p:nvPicPr>
            <p:cNvPr id="254" name="그림 253">
              <a:extLst>
                <a:ext uri="{FF2B5EF4-FFF2-40B4-BE49-F238E27FC236}">
                  <a16:creationId xmlns:a16="http://schemas.microsoft.com/office/drawing/2014/main" id="{44A1AE70-21F0-4DE0-B30E-8352957116C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50428" y="1301859"/>
              <a:ext cx="2194560" cy="2194560"/>
            </a:xfrm>
            <a:prstGeom prst="rect">
              <a:avLst/>
            </a:prstGeom>
          </p:spPr>
        </p:pic>
        <p:pic>
          <p:nvPicPr>
            <p:cNvPr id="255" name="그림 254">
              <a:extLst>
                <a:ext uri="{FF2B5EF4-FFF2-40B4-BE49-F238E27FC236}">
                  <a16:creationId xmlns:a16="http://schemas.microsoft.com/office/drawing/2014/main" id="{4ED981E4-86C8-43B0-AB35-6F4BFC4D5B2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3177" y="1301859"/>
              <a:ext cx="2194560" cy="2194560"/>
            </a:xfrm>
            <a:prstGeom prst="rect">
              <a:avLst/>
            </a:prstGeom>
          </p:spPr>
        </p:pic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8D54C631-82E3-4F11-9525-096BC4F8951C}"/>
                </a:ext>
              </a:extLst>
            </p:cNvPr>
            <p:cNvSpPr txBox="1"/>
            <p:nvPr/>
          </p:nvSpPr>
          <p:spPr>
            <a:xfrm>
              <a:off x="7001631" y="3501327"/>
              <a:ext cx="1092157" cy="21544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altLang="ko-KR" sz="1400" dirty="0">
                  <a:latin typeface="+mj-ea"/>
                  <a:ea typeface="+mj-ea"/>
                </a:rPr>
                <a:t>Gaussian blur</a:t>
              </a:r>
              <a:endParaRPr lang="ko-KR" altLang="en-US" sz="1400" dirty="0">
                <a:latin typeface="+mj-ea"/>
                <a:ea typeface="+mj-ea"/>
              </a:endParaRPr>
            </a:p>
          </p:txBody>
        </p:sp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9486E606-252A-4322-9D25-46DAEFA3A61E}"/>
                </a:ext>
              </a:extLst>
            </p:cNvPr>
            <p:cNvSpPr txBox="1"/>
            <p:nvPr/>
          </p:nvSpPr>
          <p:spPr>
            <a:xfrm>
              <a:off x="4492641" y="3494431"/>
              <a:ext cx="660052" cy="21544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altLang="ko-KR" sz="1400" dirty="0">
                  <a:latin typeface="+mj-ea"/>
                  <a:ea typeface="+mj-ea"/>
                </a:rPr>
                <a:t>Box blur</a:t>
              </a:r>
              <a:endParaRPr lang="ko-KR" altLang="en-US" sz="1400" dirty="0">
                <a:latin typeface="+mj-ea"/>
                <a:ea typeface="+mj-ea"/>
              </a:endParaRPr>
            </a:p>
          </p:txBody>
        </p:sp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25823C67-2E35-4BAA-B045-80F03F6624B6}"/>
                </a:ext>
              </a:extLst>
            </p:cNvPr>
            <p:cNvSpPr txBox="1"/>
            <p:nvPr/>
          </p:nvSpPr>
          <p:spPr>
            <a:xfrm>
              <a:off x="1728205" y="3504340"/>
              <a:ext cx="522579" cy="21544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ko-KR" altLang="en-US" sz="1400" dirty="0">
                  <a:latin typeface="+mj-ea"/>
                  <a:ea typeface="+mj-ea"/>
                </a:rPr>
                <a:t>원</a:t>
              </a:r>
              <a:r>
                <a:rPr lang="en-US" altLang="ko-KR" sz="1400" dirty="0">
                  <a:latin typeface="+mj-ea"/>
                  <a:ea typeface="+mj-ea"/>
                </a:rPr>
                <a:t> </a:t>
              </a:r>
              <a:r>
                <a:rPr lang="ko-KR" altLang="en-US" sz="1400" dirty="0">
                  <a:latin typeface="+mj-ea"/>
                  <a:ea typeface="+mj-ea"/>
                </a:rPr>
                <a:t>영상</a:t>
              </a:r>
            </a:p>
          </p:txBody>
        </p:sp>
        <p:grpSp>
          <p:nvGrpSpPr>
            <p:cNvPr id="270" name="그룹 269">
              <a:extLst>
                <a:ext uri="{FF2B5EF4-FFF2-40B4-BE49-F238E27FC236}">
                  <a16:creationId xmlns:a16="http://schemas.microsoft.com/office/drawing/2014/main" id="{D86775D7-4236-4CBB-9A95-186C7C147A40}"/>
                </a:ext>
              </a:extLst>
            </p:cNvPr>
            <p:cNvGrpSpPr/>
            <p:nvPr/>
          </p:nvGrpSpPr>
          <p:grpSpPr>
            <a:xfrm>
              <a:off x="3713773" y="1300306"/>
              <a:ext cx="493980" cy="497038"/>
              <a:chOff x="5847974" y="2091970"/>
              <a:chExt cx="493980" cy="497038"/>
            </a:xfrm>
            <a:solidFill>
              <a:schemeClr val="accent5">
                <a:lumMod val="60000"/>
                <a:lumOff val="40000"/>
              </a:schemeClr>
            </a:solidFill>
          </p:grpSpPr>
          <p:sp>
            <p:nvSpPr>
              <p:cNvPr id="271" name="직사각형 270">
                <a:extLst>
                  <a:ext uri="{FF2B5EF4-FFF2-40B4-BE49-F238E27FC236}">
                    <a16:creationId xmlns:a16="http://schemas.microsoft.com/office/drawing/2014/main" id="{705ACF99-D8B1-4DB0-9153-446C615AB6AE}"/>
                  </a:ext>
                </a:extLst>
              </p:cNvPr>
              <p:cNvSpPr/>
              <p:nvPr/>
            </p:nvSpPr>
            <p:spPr>
              <a:xfrm>
                <a:off x="5847974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72" name="직사각형 271">
                <a:extLst>
                  <a:ext uri="{FF2B5EF4-FFF2-40B4-BE49-F238E27FC236}">
                    <a16:creationId xmlns:a16="http://schemas.microsoft.com/office/drawing/2014/main" id="{53B3CC59-32A3-4459-BEED-5D321C12770A}"/>
                  </a:ext>
                </a:extLst>
              </p:cNvPr>
              <p:cNvSpPr/>
              <p:nvPr/>
            </p:nvSpPr>
            <p:spPr>
              <a:xfrm>
                <a:off x="5847974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73" name="직사각형 272">
                <a:extLst>
                  <a:ext uri="{FF2B5EF4-FFF2-40B4-BE49-F238E27FC236}">
                    <a16:creationId xmlns:a16="http://schemas.microsoft.com/office/drawing/2014/main" id="{4DFFFAB3-C975-4173-8BD7-F7EB48F41D34}"/>
                  </a:ext>
                </a:extLst>
              </p:cNvPr>
              <p:cNvSpPr/>
              <p:nvPr/>
            </p:nvSpPr>
            <p:spPr>
              <a:xfrm>
                <a:off x="5847974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74" name="직사각형 273">
                <a:extLst>
                  <a:ext uri="{FF2B5EF4-FFF2-40B4-BE49-F238E27FC236}">
                    <a16:creationId xmlns:a16="http://schemas.microsoft.com/office/drawing/2014/main" id="{058AAEAC-7225-4ABC-A456-2B29FE754CBF}"/>
                  </a:ext>
                </a:extLst>
              </p:cNvPr>
              <p:cNvSpPr/>
              <p:nvPr/>
            </p:nvSpPr>
            <p:spPr>
              <a:xfrm>
                <a:off x="6012555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75" name="직사각형 274">
                <a:extLst>
                  <a:ext uri="{FF2B5EF4-FFF2-40B4-BE49-F238E27FC236}">
                    <a16:creationId xmlns:a16="http://schemas.microsoft.com/office/drawing/2014/main" id="{89802677-314D-4F84-8301-9213C7F8B72F}"/>
                  </a:ext>
                </a:extLst>
              </p:cNvPr>
              <p:cNvSpPr/>
              <p:nvPr/>
            </p:nvSpPr>
            <p:spPr>
              <a:xfrm>
                <a:off x="6012555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76" name="직사각형 275">
                <a:extLst>
                  <a:ext uri="{FF2B5EF4-FFF2-40B4-BE49-F238E27FC236}">
                    <a16:creationId xmlns:a16="http://schemas.microsoft.com/office/drawing/2014/main" id="{D67555CF-DDE2-4771-822D-59266A9D0A20}"/>
                  </a:ext>
                </a:extLst>
              </p:cNvPr>
              <p:cNvSpPr/>
              <p:nvPr/>
            </p:nvSpPr>
            <p:spPr>
              <a:xfrm>
                <a:off x="6012555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77" name="직사각형 276">
                <a:extLst>
                  <a:ext uri="{FF2B5EF4-FFF2-40B4-BE49-F238E27FC236}">
                    <a16:creationId xmlns:a16="http://schemas.microsoft.com/office/drawing/2014/main" id="{E264C85F-B964-487C-A54A-77C55F8F1B56}"/>
                  </a:ext>
                </a:extLst>
              </p:cNvPr>
              <p:cNvSpPr/>
              <p:nvPr/>
            </p:nvSpPr>
            <p:spPr>
              <a:xfrm>
                <a:off x="6177136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78" name="직사각형 277">
                <a:extLst>
                  <a:ext uri="{FF2B5EF4-FFF2-40B4-BE49-F238E27FC236}">
                    <a16:creationId xmlns:a16="http://schemas.microsoft.com/office/drawing/2014/main" id="{17CE4A9A-CED8-45F4-95FF-75B764232707}"/>
                  </a:ext>
                </a:extLst>
              </p:cNvPr>
              <p:cNvSpPr/>
              <p:nvPr/>
            </p:nvSpPr>
            <p:spPr>
              <a:xfrm>
                <a:off x="6177136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79" name="직사각형 278">
                <a:extLst>
                  <a:ext uri="{FF2B5EF4-FFF2-40B4-BE49-F238E27FC236}">
                    <a16:creationId xmlns:a16="http://schemas.microsoft.com/office/drawing/2014/main" id="{6FD05008-7F4D-41BD-B1BF-F4A20063F833}"/>
                  </a:ext>
                </a:extLst>
              </p:cNvPr>
              <p:cNvSpPr/>
              <p:nvPr/>
            </p:nvSpPr>
            <p:spPr>
              <a:xfrm>
                <a:off x="6177136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</p:grpSp>
        <p:grpSp>
          <p:nvGrpSpPr>
            <p:cNvPr id="280" name="그룹 279">
              <a:extLst>
                <a:ext uri="{FF2B5EF4-FFF2-40B4-BE49-F238E27FC236}">
                  <a16:creationId xmlns:a16="http://schemas.microsoft.com/office/drawing/2014/main" id="{ACC7586C-756D-431F-9B85-60B96DEBA1D3}"/>
                </a:ext>
              </a:extLst>
            </p:cNvPr>
            <p:cNvGrpSpPr/>
            <p:nvPr/>
          </p:nvGrpSpPr>
          <p:grpSpPr>
            <a:xfrm>
              <a:off x="6450428" y="1300306"/>
              <a:ext cx="493980" cy="497038"/>
              <a:chOff x="5847974" y="2091970"/>
              <a:chExt cx="493980" cy="497038"/>
            </a:xfrm>
            <a:solidFill>
              <a:schemeClr val="accent5">
                <a:lumMod val="60000"/>
                <a:lumOff val="40000"/>
              </a:schemeClr>
            </a:solidFill>
          </p:grpSpPr>
          <p:sp>
            <p:nvSpPr>
              <p:cNvPr id="281" name="직사각형 280">
                <a:extLst>
                  <a:ext uri="{FF2B5EF4-FFF2-40B4-BE49-F238E27FC236}">
                    <a16:creationId xmlns:a16="http://schemas.microsoft.com/office/drawing/2014/main" id="{C9238E27-AA4C-48AC-9F31-3054C037571A}"/>
                  </a:ext>
                </a:extLst>
              </p:cNvPr>
              <p:cNvSpPr/>
              <p:nvPr/>
            </p:nvSpPr>
            <p:spPr>
              <a:xfrm>
                <a:off x="5847974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82" name="직사각형 281">
                <a:extLst>
                  <a:ext uri="{FF2B5EF4-FFF2-40B4-BE49-F238E27FC236}">
                    <a16:creationId xmlns:a16="http://schemas.microsoft.com/office/drawing/2014/main" id="{7726E360-18EE-47A7-862A-0B38B771159B}"/>
                  </a:ext>
                </a:extLst>
              </p:cNvPr>
              <p:cNvSpPr/>
              <p:nvPr/>
            </p:nvSpPr>
            <p:spPr>
              <a:xfrm>
                <a:off x="5847974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2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83" name="직사각형 282">
                <a:extLst>
                  <a:ext uri="{FF2B5EF4-FFF2-40B4-BE49-F238E27FC236}">
                    <a16:creationId xmlns:a16="http://schemas.microsoft.com/office/drawing/2014/main" id="{7CFC9ECA-99CA-4615-9842-25C80236D47D}"/>
                  </a:ext>
                </a:extLst>
              </p:cNvPr>
              <p:cNvSpPr/>
              <p:nvPr/>
            </p:nvSpPr>
            <p:spPr>
              <a:xfrm>
                <a:off x="5847974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84" name="직사각형 283">
                <a:extLst>
                  <a:ext uri="{FF2B5EF4-FFF2-40B4-BE49-F238E27FC236}">
                    <a16:creationId xmlns:a16="http://schemas.microsoft.com/office/drawing/2014/main" id="{988995EF-4F1A-4BB4-9184-FFDD9254BEE7}"/>
                  </a:ext>
                </a:extLst>
              </p:cNvPr>
              <p:cNvSpPr/>
              <p:nvPr/>
            </p:nvSpPr>
            <p:spPr>
              <a:xfrm>
                <a:off x="6012555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2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85" name="직사각형 284">
                <a:extLst>
                  <a:ext uri="{FF2B5EF4-FFF2-40B4-BE49-F238E27FC236}">
                    <a16:creationId xmlns:a16="http://schemas.microsoft.com/office/drawing/2014/main" id="{68EDEA79-9296-4A17-99DB-127C965F3B5A}"/>
                  </a:ext>
                </a:extLst>
              </p:cNvPr>
              <p:cNvSpPr/>
              <p:nvPr/>
            </p:nvSpPr>
            <p:spPr>
              <a:xfrm>
                <a:off x="6012555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4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86" name="직사각형 285">
                <a:extLst>
                  <a:ext uri="{FF2B5EF4-FFF2-40B4-BE49-F238E27FC236}">
                    <a16:creationId xmlns:a16="http://schemas.microsoft.com/office/drawing/2014/main" id="{71C1842B-5D05-4BE0-8A41-4A02CFDFA8DB}"/>
                  </a:ext>
                </a:extLst>
              </p:cNvPr>
              <p:cNvSpPr/>
              <p:nvPr/>
            </p:nvSpPr>
            <p:spPr>
              <a:xfrm>
                <a:off x="6012555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2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87" name="직사각형 286">
                <a:extLst>
                  <a:ext uri="{FF2B5EF4-FFF2-40B4-BE49-F238E27FC236}">
                    <a16:creationId xmlns:a16="http://schemas.microsoft.com/office/drawing/2014/main" id="{F3272646-9296-4ACB-BA7D-C574B6B2E524}"/>
                  </a:ext>
                </a:extLst>
              </p:cNvPr>
              <p:cNvSpPr/>
              <p:nvPr/>
            </p:nvSpPr>
            <p:spPr>
              <a:xfrm>
                <a:off x="6177136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88" name="직사각형 287">
                <a:extLst>
                  <a:ext uri="{FF2B5EF4-FFF2-40B4-BE49-F238E27FC236}">
                    <a16:creationId xmlns:a16="http://schemas.microsoft.com/office/drawing/2014/main" id="{8CDEF82B-4C94-4920-B12D-D0A1512FC376}"/>
                  </a:ext>
                </a:extLst>
              </p:cNvPr>
              <p:cNvSpPr/>
              <p:nvPr/>
            </p:nvSpPr>
            <p:spPr>
              <a:xfrm>
                <a:off x="6177136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2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89" name="직사각형 288">
                <a:extLst>
                  <a:ext uri="{FF2B5EF4-FFF2-40B4-BE49-F238E27FC236}">
                    <a16:creationId xmlns:a16="http://schemas.microsoft.com/office/drawing/2014/main" id="{91948136-CC63-40EE-8684-4E17EF75C811}"/>
                  </a:ext>
                </a:extLst>
              </p:cNvPr>
              <p:cNvSpPr/>
              <p:nvPr/>
            </p:nvSpPr>
            <p:spPr>
              <a:xfrm>
                <a:off x="6177136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0" name="TextBox 289">
                  <a:extLst>
                    <a:ext uri="{FF2B5EF4-FFF2-40B4-BE49-F238E27FC236}">
                      <a16:creationId xmlns:a16="http://schemas.microsoft.com/office/drawing/2014/main" id="{D643581A-A359-47DF-AE76-1D638A797655}"/>
                    </a:ext>
                  </a:extLst>
                </p:cNvPr>
                <p:cNvSpPr txBox="1"/>
                <p:nvPr/>
              </p:nvSpPr>
              <p:spPr>
                <a:xfrm>
                  <a:off x="4249514" y="1320205"/>
                  <a:ext cx="159709" cy="40472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ko-KR" sz="1400" i="1">
                                <a:latin typeface="Cambria Math" panose="02040503050406030204" pitchFamily="18" charset="0"/>
                                <a:ea typeface="+mj-ea"/>
                              </a:rPr>
                            </m:ctrlPr>
                          </m:fPr>
                          <m:num>
                            <m:r>
                              <a:rPr lang="en-US" altLang="ko-KR" sz="1400" i="1">
                                <a:latin typeface="Cambria Math" panose="02040503050406030204" pitchFamily="18" charset="0"/>
                                <a:ea typeface="+mj-ea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400" i="1">
                                <a:latin typeface="Cambria Math" panose="02040503050406030204" pitchFamily="18" charset="0"/>
                                <a:ea typeface="+mj-ea"/>
                              </a:rPr>
                              <m:t>9</m:t>
                            </m:r>
                          </m:den>
                        </m:f>
                      </m:oMath>
                    </m:oMathPara>
                  </a14:m>
                  <a:endParaRPr lang="ko-KR" altLang="en-US" sz="1400" dirty="0">
                    <a:latin typeface="+mj-ea"/>
                    <a:ea typeface="+mj-ea"/>
                  </a:endParaRPr>
                </a:p>
              </p:txBody>
            </p:sp>
          </mc:Choice>
          <mc:Fallback xmlns="">
            <p:sp>
              <p:nvSpPr>
                <p:cNvPr id="290" name="TextBox 289">
                  <a:extLst>
                    <a:ext uri="{FF2B5EF4-FFF2-40B4-BE49-F238E27FC236}">
                      <a16:creationId xmlns:a16="http://schemas.microsoft.com/office/drawing/2014/main" id="{D643581A-A359-47DF-AE76-1D638A7976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9514" y="1320205"/>
                  <a:ext cx="159709" cy="404726"/>
                </a:xfrm>
                <a:prstGeom prst="rect">
                  <a:avLst/>
                </a:prstGeom>
                <a:blipFill>
                  <a:blip r:embed="rId6"/>
                  <a:stretch>
                    <a:fillRect l="-285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1" name="TextBox 290">
                  <a:extLst>
                    <a:ext uri="{FF2B5EF4-FFF2-40B4-BE49-F238E27FC236}">
                      <a16:creationId xmlns:a16="http://schemas.microsoft.com/office/drawing/2014/main" id="{9CB42A11-35AC-48D9-B9E9-F51F4BD5B159}"/>
                    </a:ext>
                  </a:extLst>
                </p:cNvPr>
                <p:cNvSpPr txBox="1"/>
                <p:nvPr/>
              </p:nvSpPr>
              <p:spPr>
                <a:xfrm>
                  <a:off x="6968608" y="1320205"/>
                  <a:ext cx="159709" cy="40472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ko-KR" sz="1400" i="1">
                                <a:latin typeface="Cambria Math" panose="02040503050406030204" pitchFamily="18" charset="0"/>
                                <a:ea typeface="+mj-ea"/>
                              </a:rPr>
                            </m:ctrlPr>
                          </m:fPr>
                          <m:num>
                            <m:r>
                              <a:rPr lang="en-US" altLang="ko-KR" sz="1400" i="1">
                                <a:latin typeface="Cambria Math" panose="02040503050406030204" pitchFamily="18" charset="0"/>
                                <a:ea typeface="+mj-ea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400" i="1">
                                <a:latin typeface="Cambria Math" panose="02040503050406030204" pitchFamily="18" charset="0"/>
                                <a:ea typeface="+mj-ea"/>
                              </a:rPr>
                              <m:t>16</m:t>
                            </m:r>
                          </m:den>
                        </m:f>
                      </m:oMath>
                    </m:oMathPara>
                  </a14:m>
                  <a:endParaRPr lang="ko-KR" altLang="en-US" sz="1400" dirty="0">
                    <a:latin typeface="+mj-ea"/>
                    <a:ea typeface="+mj-ea"/>
                  </a:endParaRPr>
                </a:p>
              </p:txBody>
            </p:sp>
          </mc:Choice>
          <mc:Fallback xmlns="">
            <p:sp>
              <p:nvSpPr>
                <p:cNvPr id="291" name="TextBox 290">
                  <a:extLst>
                    <a:ext uri="{FF2B5EF4-FFF2-40B4-BE49-F238E27FC236}">
                      <a16:creationId xmlns:a16="http://schemas.microsoft.com/office/drawing/2014/main" id="{9CB42A11-35AC-48D9-B9E9-F51F4BD5B1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8608" y="1320205"/>
                  <a:ext cx="159709" cy="404726"/>
                </a:xfrm>
                <a:prstGeom prst="rect">
                  <a:avLst/>
                </a:prstGeom>
                <a:blipFill>
                  <a:blip r:embed="rId7"/>
                  <a:stretch>
                    <a:fillRect l="-25714" r="-2285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0233343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A7E50-A1F2-1E20-6A50-0969F38AE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C:\Users\LMH\Desktop\18.png">
            <a:extLst>
              <a:ext uri="{FF2B5EF4-FFF2-40B4-BE49-F238E27FC236}">
                <a16:creationId xmlns:a16="http://schemas.microsoft.com/office/drawing/2014/main" id="{D65447DC-07FA-C112-116F-6AC3E92EF7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9655" y="928800"/>
            <a:ext cx="10352690" cy="58468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65344AE-51D9-1F9C-E8AF-5A5E7F8C9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F7737B5-2A94-92D6-927A-3AE572687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A8398F-7A23-1CB4-67C4-24A4167E3F80}"/>
              </a:ext>
            </a:extLst>
          </p:cNvPr>
          <p:cNvSpPr txBox="1"/>
          <p:nvPr/>
        </p:nvSpPr>
        <p:spPr>
          <a:xfrm>
            <a:off x="200677" y="110919"/>
            <a:ext cx="35125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흐리기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4FC467-0B08-E525-4930-F6881585C6EC}"/>
              </a:ext>
            </a:extLst>
          </p:cNvPr>
          <p:cNvSpPr txBox="1"/>
          <p:nvPr/>
        </p:nvSpPr>
        <p:spPr>
          <a:xfrm>
            <a:off x="1393775" y="1103667"/>
            <a:ext cx="49878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/>
              <a:t>✅ 커널 사이즈 변화에 따른 조정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295E9B0-9776-77F0-DD54-14448F632091}"/>
              </a:ext>
            </a:extLst>
          </p:cNvPr>
          <p:cNvSpPr/>
          <p:nvPr/>
        </p:nvSpPr>
        <p:spPr>
          <a:xfrm>
            <a:off x="5254624" y="3012292"/>
            <a:ext cx="922340" cy="835807"/>
          </a:xfrm>
          <a:prstGeom prst="rect">
            <a:avLst/>
          </a:prstGeom>
          <a:noFill/>
          <a:ln w="25400">
            <a:solidFill>
              <a:srgbClr val="FF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431363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B99AE-F7FC-BEE3-8A27-BE6CB8AFB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 descr="C:\Users\LMH\Desktop\19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0904" y="918699"/>
            <a:ext cx="10790192" cy="5828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8DFFBB-7590-ED47-C7AA-69E62760A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8021127-6240-B5D2-E319-C5EEF30BB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35125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흐리기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94327" y="1113830"/>
            <a:ext cx="5510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/>
              <a:t>✅ 표준편차</a:t>
            </a:r>
            <a:r>
              <a:rPr lang="en-US" altLang="ko-KR" sz="2400" dirty="0"/>
              <a:t>(</a:t>
            </a:r>
            <a:r>
              <a:rPr lang="ko-KR" altLang="en-US" sz="2400" dirty="0"/>
              <a:t>시그마</a:t>
            </a:r>
            <a:r>
              <a:rPr lang="en-US" altLang="ko-KR" sz="2400" dirty="0"/>
              <a:t>)</a:t>
            </a:r>
            <a:r>
              <a:rPr lang="ko-KR" altLang="en-US" sz="2400" dirty="0"/>
              <a:t> 변화에 따른 조정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CC3665F-4BF0-7A23-C6DD-0045012297FE}"/>
              </a:ext>
            </a:extLst>
          </p:cNvPr>
          <p:cNvSpPr/>
          <p:nvPr/>
        </p:nvSpPr>
        <p:spPr>
          <a:xfrm>
            <a:off x="5135562" y="2853934"/>
            <a:ext cx="922340" cy="835807"/>
          </a:xfrm>
          <a:prstGeom prst="rect">
            <a:avLst/>
          </a:prstGeom>
          <a:noFill/>
          <a:ln w="25400">
            <a:solidFill>
              <a:srgbClr val="FF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73341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EBD24-3EDB-F8E4-F3D4-D2F04E79D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81183DCC-F3CC-A50B-F848-0EBA73206CEF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이진화</a:t>
            </a:r>
          </a:p>
        </p:txBody>
      </p:sp>
    </p:spTree>
    <p:extLst>
      <p:ext uri="{BB962C8B-B14F-4D97-AF65-F5344CB8AC3E}">
        <p14:creationId xmlns:p14="http://schemas.microsoft.com/office/powerpoint/2010/main" val="305896293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C931B4-5069-4FA2-8002-208CA004C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1034249"/>
            <a:ext cx="11525250" cy="175421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 이진화</a:t>
            </a:r>
            <a:r>
              <a:rPr lang="en-US" altLang="ko-KR" sz="2400" b="1" dirty="0">
                <a:latin typeface="+mn-ea"/>
              </a:rPr>
              <a:t>(Binarization)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정의 </a:t>
            </a:r>
            <a:r>
              <a:rPr lang="en-US" altLang="ko-KR" sz="2000" dirty="0">
                <a:latin typeface="+mn-ea"/>
              </a:rPr>
              <a:t>: </a:t>
            </a:r>
            <a:r>
              <a:rPr lang="ko-KR" altLang="en-US" sz="2000" dirty="0">
                <a:latin typeface="+mn-ea"/>
              </a:rPr>
              <a:t>특정 값을 기준으로 </a:t>
            </a:r>
            <a:r>
              <a:rPr lang="ko-KR" altLang="en-US" sz="2000" dirty="0"/>
              <a:t>픽셀 값을 </a:t>
            </a:r>
            <a:r>
              <a:rPr lang="en-US" altLang="ko-KR" sz="2000" dirty="0"/>
              <a:t>0(</a:t>
            </a:r>
            <a:r>
              <a:rPr lang="ko-KR" altLang="en-US" sz="2000" dirty="0"/>
              <a:t>검정</a:t>
            </a:r>
            <a:r>
              <a:rPr lang="en-US" altLang="ko-KR" sz="2000" dirty="0"/>
              <a:t>) </a:t>
            </a:r>
            <a:r>
              <a:rPr lang="ko-KR" altLang="en-US" sz="2000" dirty="0"/>
              <a:t>또는 </a:t>
            </a:r>
            <a:r>
              <a:rPr lang="en-US" altLang="ko-KR" sz="2000" dirty="0"/>
              <a:t>255(</a:t>
            </a:r>
            <a:r>
              <a:rPr lang="ko-KR" altLang="en-US" sz="2000" dirty="0"/>
              <a:t>흰색</a:t>
            </a:r>
            <a:r>
              <a:rPr lang="en-US" altLang="ko-KR" sz="2000" dirty="0"/>
              <a:t>)</a:t>
            </a:r>
            <a:r>
              <a:rPr lang="ko-KR" altLang="en-US" sz="2000" dirty="0"/>
              <a:t>로 나누는 것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목적 </a:t>
            </a:r>
            <a:r>
              <a:rPr lang="en-US" altLang="ko-KR" sz="2000" dirty="0">
                <a:latin typeface="+mn-ea"/>
              </a:rPr>
              <a:t>: </a:t>
            </a:r>
            <a:r>
              <a:rPr lang="ko-KR" altLang="en-US" sz="2000" dirty="0">
                <a:latin typeface="+mn-ea"/>
              </a:rPr>
              <a:t>이미지에서 </a:t>
            </a:r>
            <a:r>
              <a:rPr lang="ko-KR" altLang="en-US" sz="2000" b="1" dirty="0">
                <a:latin typeface="+mn-ea"/>
              </a:rPr>
              <a:t>특정 관심 영역을 분리</a:t>
            </a:r>
            <a:r>
              <a:rPr lang="ko-KR" altLang="en-US" sz="2000" dirty="0">
                <a:latin typeface="+mn-ea"/>
              </a:rPr>
              <a:t>하거나 </a:t>
            </a:r>
            <a:r>
              <a:rPr lang="ko-KR" altLang="en-US" sz="2000" b="1" dirty="0">
                <a:latin typeface="+mn-ea"/>
              </a:rPr>
              <a:t>분석을 간소화</a:t>
            </a:r>
            <a:r>
              <a:rPr lang="ko-KR" altLang="en-US" sz="2000" dirty="0">
                <a:latin typeface="+mn-ea"/>
              </a:rPr>
              <a:t>하기 위해 사용</a:t>
            </a:r>
            <a:endParaRPr lang="en-US" altLang="ko-KR" sz="2000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05AF72C-B533-4FF9-A130-F648316E1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390D65E-6BBD-40AD-9C36-8D87CA26A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35239C-430C-8C2D-AAD0-88BC7F559CB6}"/>
              </a:ext>
            </a:extLst>
          </p:cNvPr>
          <p:cNvSpPr txBox="1"/>
          <p:nvPr/>
        </p:nvSpPr>
        <p:spPr>
          <a:xfrm>
            <a:off x="200677" y="110919"/>
            <a:ext cx="17812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이진화</a:t>
            </a:r>
          </a:p>
        </p:txBody>
      </p:sp>
    </p:spTree>
    <p:extLst>
      <p:ext uri="{BB962C8B-B14F-4D97-AF65-F5344CB8AC3E}">
        <p14:creationId xmlns:p14="http://schemas.microsoft.com/office/powerpoint/2010/main" val="36979876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84210-0FCF-0519-0199-6DE16CB0C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9220B9B-DFC5-B524-3769-282738713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F101E53-997C-C720-1947-13151A108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1EC865-3F10-1A8E-16ED-07FE1B5F3054}"/>
              </a:ext>
            </a:extLst>
          </p:cNvPr>
          <p:cNvSpPr txBox="1"/>
          <p:nvPr/>
        </p:nvSpPr>
        <p:spPr>
          <a:xfrm>
            <a:off x="200677" y="110919"/>
            <a:ext cx="64443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기본 이진화 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- threshold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0D41BE3B-4289-8B93-2AF2-10704289D2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1034249"/>
            <a:ext cx="11296650" cy="506175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Threshold : </a:t>
            </a:r>
            <a:r>
              <a:rPr lang="ko-KR" altLang="en-US" sz="2400" b="1" dirty="0" err="1">
                <a:latin typeface="+mn-ea"/>
              </a:rPr>
              <a:t>임계값</a:t>
            </a:r>
            <a:r>
              <a:rPr lang="en-US" altLang="ko-KR" sz="2400" b="1" dirty="0">
                <a:latin typeface="+mn-ea"/>
              </a:rPr>
              <a:t>, </a:t>
            </a:r>
            <a:r>
              <a:rPr lang="ko-KR" altLang="en-US" sz="2400" b="1" dirty="0" err="1">
                <a:latin typeface="+mn-ea"/>
              </a:rPr>
              <a:t>문턱값</a:t>
            </a:r>
            <a:endParaRPr lang="en-US" altLang="ko-KR" sz="2400" b="1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/>
              <a:t>이진화는 </a:t>
            </a:r>
            <a:r>
              <a:rPr lang="en-US" altLang="ko-KR" sz="2000" dirty="0"/>
              <a:t>threshold(</a:t>
            </a:r>
            <a:r>
              <a:rPr lang="ko-KR" altLang="en-US" sz="2000" dirty="0" err="1"/>
              <a:t>임계값</a:t>
            </a:r>
            <a:r>
              <a:rPr lang="en-US" altLang="ko-KR" sz="2000" dirty="0"/>
              <a:t>)</a:t>
            </a:r>
            <a:r>
              <a:rPr lang="ko-KR" altLang="en-US" sz="2000" dirty="0"/>
              <a:t>을 기준으로 픽셀 값을 변환하는 과정</a:t>
            </a:r>
            <a:endParaRPr lang="en-US" altLang="ko-KR" sz="20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+mn-ea"/>
              </a:rPr>
              <a:t>밝기 값을 기준으로 픽셀 값을 변환</a:t>
            </a:r>
            <a:endParaRPr lang="en-US" altLang="ko-KR" sz="2000" dirty="0">
              <a:latin typeface="+mn-ea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cv2.threshold</a:t>
            </a:r>
            <a:r>
              <a:rPr lang="en-US" altLang="ko-KR" sz="2400" dirty="0">
                <a:latin typeface="+mn-ea"/>
              </a:rPr>
              <a:t>(</a:t>
            </a:r>
            <a:r>
              <a:rPr lang="en-US" altLang="ko-KR" sz="2400" dirty="0" err="1">
                <a:latin typeface="+mn-ea"/>
              </a:rPr>
              <a:t>src</a:t>
            </a:r>
            <a:r>
              <a:rPr lang="en-US" altLang="ko-KR" sz="2400" dirty="0">
                <a:latin typeface="+mn-ea"/>
              </a:rPr>
              <a:t>, thresh, </a:t>
            </a:r>
            <a:r>
              <a:rPr lang="en-US" altLang="ko-KR" sz="2400" dirty="0" err="1">
                <a:latin typeface="+mn-ea"/>
              </a:rPr>
              <a:t>maxval</a:t>
            </a:r>
            <a:r>
              <a:rPr lang="en-US" altLang="ko-KR" sz="2400" dirty="0">
                <a:latin typeface="+mn-ea"/>
              </a:rPr>
              <a:t>, type) </a:t>
            </a:r>
            <a:r>
              <a:rPr lang="ko-KR" altLang="en-US" sz="2400" dirty="0">
                <a:latin typeface="+mn-ea"/>
              </a:rPr>
              <a:t>→</a:t>
            </a:r>
            <a:r>
              <a:rPr lang="en-US" altLang="ko-KR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retval</a:t>
            </a:r>
            <a:r>
              <a:rPr lang="en-US" altLang="ko-KR" sz="2400" dirty="0">
                <a:latin typeface="+mn-ea"/>
              </a:rPr>
              <a:t>, </a:t>
            </a:r>
            <a:r>
              <a:rPr lang="en-US" altLang="ko-KR" sz="2400" dirty="0" err="1">
                <a:latin typeface="+mn-ea"/>
              </a:rPr>
              <a:t>dst</a:t>
            </a:r>
            <a:endParaRPr lang="en-US" altLang="ko-KR" sz="24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src</a:t>
            </a:r>
            <a:r>
              <a:rPr lang="ko-KR" altLang="en-US" sz="2000" dirty="0"/>
              <a:t> </a:t>
            </a:r>
            <a:r>
              <a:rPr lang="en-US" altLang="ko-KR" sz="2000" dirty="0"/>
              <a:t>:</a:t>
            </a:r>
            <a:r>
              <a:rPr lang="ko-KR" altLang="en-US" sz="2000" dirty="0"/>
              <a:t> 입력 배열</a:t>
            </a:r>
            <a:endParaRPr lang="en-US" altLang="ko-KR" sz="20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dst</a:t>
            </a:r>
            <a:r>
              <a:rPr lang="en-US" altLang="ko-KR" sz="2000" dirty="0"/>
              <a:t> : </a:t>
            </a:r>
            <a:r>
              <a:rPr lang="ko-KR" altLang="en-US" sz="2000" dirty="0"/>
              <a:t>출력 배열</a:t>
            </a:r>
            <a:endParaRPr lang="en-US" altLang="ko-KR" sz="20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/>
              <a:t>thresh : threshold </a:t>
            </a:r>
            <a:r>
              <a:rPr lang="ko-KR" altLang="en-US" sz="2000" dirty="0"/>
              <a:t>값</a:t>
            </a:r>
            <a:endParaRPr lang="en-US" altLang="ko-KR" sz="20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maxval</a:t>
            </a:r>
            <a:r>
              <a:rPr lang="ko-KR" altLang="en-US" sz="2000" dirty="0"/>
              <a:t> </a:t>
            </a:r>
            <a:r>
              <a:rPr lang="en-US" altLang="ko-KR" sz="2000" dirty="0"/>
              <a:t>: threshold </a:t>
            </a:r>
            <a:r>
              <a:rPr lang="ko-KR" altLang="en-US" sz="2000" dirty="0" err="1"/>
              <a:t>타입에서에</a:t>
            </a:r>
            <a:r>
              <a:rPr lang="ko-KR" altLang="en-US" sz="2000" dirty="0"/>
              <a:t> 최대값</a:t>
            </a:r>
            <a:endParaRPr lang="en-US" altLang="ko-KR" sz="20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/>
              <a:t>type : thresholding type</a:t>
            </a:r>
          </a:p>
        </p:txBody>
      </p:sp>
    </p:spTree>
    <p:extLst>
      <p:ext uri="{BB962C8B-B14F-4D97-AF65-F5344CB8AC3E}">
        <p14:creationId xmlns:p14="http://schemas.microsoft.com/office/powerpoint/2010/main" val="308012979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3A940B-7F9A-0C1D-6FA8-12749EABD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9CD94D71-3562-926D-07F0-F9D49715D1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14312" y="2070157"/>
            <a:ext cx="5563376" cy="2972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3710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C8F1E0-B7D3-5221-B8DD-FDD3B1ED4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E4BCD8-0177-D30B-8FE1-BD63386BE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A92F40E-623D-ED53-C385-B85A3FAA4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07DD60-9A4E-53BC-62D1-8023010479A5}"/>
              </a:ext>
            </a:extLst>
          </p:cNvPr>
          <p:cNvSpPr txBox="1"/>
          <p:nvPr/>
        </p:nvSpPr>
        <p:spPr>
          <a:xfrm>
            <a:off x="200677" y="110919"/>
            <a:ext cx="64443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기본 이진화 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- threshold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  <p:pic>
        <p:nvPicPr>
          <p:cNvPr id="11" name="그림 10" descr="텍스트, 스크린샷, 소프트웨어, 멀티미디어 소프트웨어이(가) 표시된 사진&#10;&#10;자동 생성된 설명">
            <a:extLst>
              <a:ext uri="{FF2B5EF4-FFF2-40B4-BE49-F238E27FC236}">
                <a16:creationId xmlns:a16="http://schemas.microsoft.com/office/drawing/2014/main" id="{042E6A4B-4834-7675-DD34-162DDA4323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38180"/>
            <a:ext cx="12192000" cy="4543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056662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05AF72C-B533-4FF9-A130-F648316E1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390D65E-6BBD-40AD-9C36-8D87CA26A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65780A-4099-6FBA-BA8D-E05677ECB723}"/>
              </a:ext>
            </a:extLst>
          </p:cNvPr>
          <p:cNvSpPr txBox="1"/>
          <p:nvPr/>
        </p:nvSpPr>
        <p:spPr>
          <a:xfrm>
            <a:off x="200677" y="110919"/>
            <a:ext cx="17812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트랙바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  <p:pic>
        <p:nvPicPr>
          <p:cNvPr id="3074" name="Picture 2" descr="Python과 OpenCV – 5 : Trackbar UI – GIS Developer">
            <a:extLst>
              <a:ext uri="{FF2B5EF4-FFF2-40B4-BE49-F238E27FC236}">
                <a16:creationId xmlns:a16="http://schemas.microsoft.com/office/drawing/2014/main" id="{28696DA2-F990-E749-F3A3-A9CF414BD9A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53252"/>
          <a:stretch/>
        </p:blipFill>
        <p:spPr bwMode="auto">
          <a:xfrm>
            <a:off x="1904999" y="1271799"/>
            <a:ext cx="8382002" cy="431440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436086D-44CE-BE06-E6E7-86C85F337533}"/>
              </a:ext>
            </a:extLst>
          </p:cNvPr>
          <p:cNvSpPr txBox="1"/>
          <p:nvPr/>
        </p:nvSpPr>
        <p:spPr>
          <a:xfrm>
            <a:off x="4463982" y="5823751"/>
            <a:ext cx="326403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[</a:t>
            </a:r>
            <a:r>
              <a:rPr lang="ko-KR" altLang="en-U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이미지 출처</a:t>
            </a:r>
            <a:r>
              <a:rPr lang="en-US" altLang="ko-KR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] http://www.gisdeveloper.co.kr/?p=6369</a:t>
            </a:r>
          </a:p>
        </p:txBody>
      </p:sp>
    </p:spTree>
    <p:extLst>
      <p:ext uri="{BB962C8B-B14F-4D97-AF65-F5344CB8AC3E}">
        <p14:creationId xmlns:p14="http://schemas.microsoft.com/office/powerpoint/2010/main" val="38061065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BB40A-6EB9-5E01-6C89-B4567D611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C5E4495-AD12-786A-2FA8-121A2AD628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034249"/>
            <a:ext cx="11590152" cy="485855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cv2.createTrackbar</a:t>
            </a:r>
            <a:r>
              <a:rPr lang="en-US" altLang="ko-KR" sz="2400" dirty="0">
                <a:latin typeface="+mn-ea"/>
              </a:rPr>
              <a:t>(</a:t>
            </a:r>
            <a:r>
              <a:rPr lang="en-US" altLang="ko-KR" sz="2400" dirty="0" err="1">
                <a:latin typeface="+mn-ea"/>
              </a:rPr>
              <a:t>trackbarname</a:t>
            </a:r>
            <a:r>
              <a:rPr lang="en-US" altLang="ko-KR" sz="2400" dirty="0">
                <a:latin typeface="+mn-ea"/>
              </a:rPr>
              <a:t>, </a:t>
            </a:r>
            <a:r>
              <a:rPr lang="en-US" altLang="ko-KR" sz="2400" dirty="0" err="1">
                <a:latin typeface="+mn-ea"/>
              </a:rPr>
              <a:t>winname</a:t>
            </a:r>
            <a:r>
              <a:rPr lang="en-US" altLang="ko-KR" sz="2400" dirty="0">
                <a:latin typeface="+mn-ea"/>
              </a:rPr>
              <a:t>, value, count, </a:t>
            </a:r>
            <a:r>
              <a:rPr lang="en-US" altLang="ko-KR" sz="2400" dirty="0" err="1">
                <a:latin typeface="+mn-ea"/>
              </a:rPr>
              <a:t>onChange</a:t>
            </a:r>
            <a:r>
              <a:rPr lang="en-US" altLang="ko-KR" sz="2400" dirty="0">
                <a:latin typeface="+mn-ea"/>
              </a:rPr>
              <a:t>=0,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>
                <a:latin typeface="+mn-ea"/>
              </a:rPr>
              <a:t>                                             </a:t>
            </a:r>
            <a:r>
              <a:rPr lang="en-US" altLang="ko-KR" sz="2400" dirty="0" err="1">
                <a:latin typeface="+mn-ea"/>
              </a:rPr>
              <a:t>userdata</a:t>
            </a:r>
            <a:r>
              <a:rPr lang="en-US" altLang="ko-KR" sz="2400" dirty="0">
                <a:latin typeface="+mn-ea"/>
              </a:rPr>
              <a:t>=0)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 err="1"/>
              <a:t>트랙박</a:t>
            </a:r>
            <a:r>
              <a:rPr lang="ko-KR" altLang="en-US" sz="2000" dirty="0"/>
              <a:t> 슬라이더를 생성해서 </a:t>
            </a:r>
            <a:r>
              <a:rPr lang="en-US" altLang="ko-KR" sz="2000" dirty="0"/>
              <a:t>window</a:t>
            </a:r>
            <a:r>
              <a:rPr lang="ko-KR" altLang="en-US" sz="2000" dirty="0"/>
              <a:t>에 </a:t>
            </a:r>
            <a:r>
              <a:rPr lang="ko-KR" altLang="en-US" sz="2000" dirty="0" err="1"/>
              <a:t>붙여줌</a:t>
            </a:r>
            <a:endParaRPr lang="en-US" altLang="ko-KR" sz="20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trackbarname</a:t>
            </a:r>
            <a:r>
              <a:rPr lang="en-US" altLang="ko-KR" sz="2000" dirty="0"/>
              <a:t> : </a:t>
            </a:r>
            <a:r>
              <a:rPr lang="ko-KR" altLang="en-US" sz="2000" dirty="0" err="1"/>
              <a:t>트랙바</a:t>
            </a:r>
            <a:r>
              <a:rPr lang="ko-KR" altLang="en-US" sz="2000" dirty="0"/>
              <a:t> 이름</a:t>
            </a:r>
            <a:endParaRPr lang="en-US" altLang="ko-KR" sz="20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winname</a:t>
            </a:r>
            <a:r>
              <a:rPr lang="en-US" altLang="ko-KR" sz="2000" dirty="0">
                <a:solidFill>
                  <a:srgbClr val="000000"/>
                </a:solidFill>
              </a:rPr>
              <a:t> : </a:t>
            </a:r>
            <a:r>
              <a:rPr lang="ko-KR" altLang="en-US" sz="2000" dirty="0">
                <a:solidFill>
                  <a:srgbClr val="000000"/>
                </a:solidFill>
              </a:rPr>
              <a:t>윈도우 이름</a:t>
            </a:r>
            <a:endParaRPr lang="en-US" altLang="ko-KR" sz="2000" dirty="0">
              <a:solidFill>
                <a:srgbClr val="000000"/>
              </a:solidFill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/>
              <a:t>value :</a:t>
            </a:r>
            <a:r>
              <a:rPr lang="ko-KR" altLang="en-US" sz="2000" dirty="0"/>
              <a:t> </a:t>
            </a:r>
            <a:r>
              <a:rPr lang="en-US" altLang="ko-KR" sz="2000" dirty="0"/>
              <a:t>default </a:t>
            </a:r>
            <a:r>
              <a:rPr lang="ko-KR" altLang="en-US" sz="2000" dirty="0"/>
              <a:t>값</a:t>
            </a:r>
            <a:endParaRPr lang="en-US" altLang="ko-KR" sz="20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/>
              <a:t>count : </a:t>
            </a:r>
            <a:r>
              <a:rPr lang="ko-KR" altLang="en-US" sz="2000" dirty="0"/>
              <a:t>최대 값</a:t>
            </a:r>
            <a:r>
              <a:rPr lang="en-US" altLang="ko-KR" sz="2000" dirty="0"/>
              <a:t>(0~count) 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onChange</a:t>
            </a:r>
            <a:r>
              <a:rPr lang="en-US" altLang="ko-KR" sz="2000" dirty="0"/>
              <a:t> : </a:t>
            </a:r>
            <a:r>
              <a:rPr lang="ko-KR" altLang="en-US" sz="2000" dirty="0"/>
              <a:t>슬라이더의 값이 바뀔 때마다 호출되는 </a:t>
            </a:r>
            <a:r>
              <a:rPr lang="en-US" altLang="ko-KR" sz="2000" dirty="0"/>
              <a:t>callback </a:t>
            </a:r>
            <a:r>
              <a:rPr lang="ko-KR" altLang="en-US" sz="2000" dirty="0"/>
              <a:t>함수</a:t>
            </a:r>
            <a:endParaRPr lang="en-US" altLang="ko-KR" sz="20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userdata</a:t>
            </a:r>
            <a:r>
              <a:rPr lang="en-US" altLang="ko-KR" sz="2000" dirty="0"/>
              <a:t> : callback </a:t>
            </a:r>
            <a:r>
              <a:rPr lang="ko-KR" altLang="en-US" sz="2000" dirty="0"/>
              <a:t>함수에 들어갈 데이터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endParaRPr lang="ko-KR" altLang="en-US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5F0FD1E-8B8A-4523-9406-6FA358294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10C7D44-456A-2023-C346-85F3E330D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D11025-AAEA-4A37-C980-B590FDA61CD9}"/>
              </a:ext>
            </a:extLst>
          </p:cNvPr>
          <p:cNvSpPr txBox="1"/>
          <p:nvPr/>
        </p:nvSpPr>
        <p:spPr>
          <a:xfrm>
            <a:off x="200677" y="110919"/>
            <a:ext cx="17812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트랙바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0961917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C931B4-5069-4FA2-8002-208CA004C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1034249"/>
            <a:ext cx="10515600" cy="4689343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cv2.setTrackbarPos</a:t>
            </a:r>
            <a:r>
              <a:rPr lang="en-US" altLang="ko-KR" sz="2400" dirty="0">
                <a:latin typeface="+mn-ea"/>
              </a:rPr>
              <a:t>(</a:t>
            </a:r>
            <a:r>
              <a:rPr lang="en-US" altLang="ko-KR" sz="2400" dirty="0" err="1">
                <a:latin typeface="+mn-ea"/>
              </a:rPr>
              <a:t>trackbarname</a:t>
            </a:r>
            <a:r>
              <a:rPr lang="en-US" altLang="ko-KR" sz="2400" dirty="0">
                <a:latin typeface="+mn-ea"/>
              </a:rPr>
              <a:t>, </a:t>
            </a:r>
            <a:r>
              <a:rPr lang="en-US" altLang="ko-KR" sz="2400" dirty="0" err="1">
                <a:latin typeface="+mn-ea"/>
              </a:rPr>
              <a:t>winname</a:t>
            </a:r>
            <a:r>
              <a:rPr lang="en-US" altLang="ko-KR" sz="2400" dirty="0">
                <a:latin typeface="+mn-ea"/>
              </a:rPr>
              <a:t>, pos)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/>
              <a:t>슬라이더에 값을 설정</a:t>
            </a:r>
            <a:endParaRPr lang="en-US" altLang="ko-KR" sz="20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trackbarname</a:t>
            </a:r>
            <a:r>
              <a:rPr lang="en-US" altLang="ko-KR" sz="2000" dirty="0"/>
              <a:t> : </a:t>
            </a:r>
            <a:r>
              <a:rPr lang="ko-KR" altLang="en-US" sz="2000" dirty="0" err="1"/>
              <a:t>트랙바</a:t>
            </a:r>
            <a:r>
              <a:rPr lang="ko-KR" altLang="en-US" sz="2000" dirty="0"/>
              <a:t> 이름</a:t>
            </a:r>
            <a:endParaRPr lang="en-US" altLang="ko-KR" sz="20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winname</a:t>
            </a:r>
            <a:r>
              <a:rPr lang="en-US" altLang="ko-KR" sz="2000" dirty="0">
                <a:solidFill>
                  <a:srgbClr val="000000"/>
                </a:solidFill>
              </a:rPr>
              <a:t> : </a:t>
            </a:r>
            <a:r>
              <a:rPr lang="ko-KR" altLang="en-US" sz="2000" dirty="0">
                <a:solidFill>
                  <a:srgbClr val="000000"/>
                </a:solidFill>
              </a:rPr>
              <a:t>윈도우 이름</a:t>
            </a:r>
            <a:endParaRPr lang="en-US" altLang="ko-KR" sz="2000" dirty="0">
              <a:solidFill>
                <a:srgbClr val="000000"/>
              </a:solidFill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/>
              <a:t>pos :</a:t>
            </a:r>
            <a:r>
              <a:rPr lang="ko-KR" altLang="en-US" sz="2000" dirty="0"/>
              <a:t> 설정할</a:t>
            </a:r>
            <a:r>
              <a:rPr lang="en-US" altLang="ko-KR" sz="2000" dirty="0"/>
              <a:t> </a:t>
            </a:r>
            <a:r>
              <a:rPr lang="ko-KR" altLang="en-US" sz="2000" dirty="0"/>
              <a:t>값</a:t>
            </a:r>
            <a:endParaRPr lang="en-US" altLang="ko-KR" sz="20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05AF72C-B533-4FF9-A130-F648316E1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390D65E-6BBD-40AD-9C36-8D87CA26A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5EE2F1-F68A-08B0-EA3F-742D7CC7A00A}"/>
              </a:ext>
            </a:extLst>
          </p:cNvPr>
          <p:cNvSpPr txBox="1"/>
          <p:nvPr/>
        </p:nvSpPr>
        <p:spPr>
          <a:xfrm>
            <a:off x="200677" y="110919"/>
            <a:ext cx="17812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트랙바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236827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C931B4-5069-4FA2-8002-208CA004C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1034249"/>
            <a:ext cx="10515600" cy="4689343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cv2.getTrackbarPos</a:t>
            </a:r>
            <a:r>
              <a:rPr lang="en-US" altLang="ko-KR" sz="2400" dirty="0">
                <a:latin typeface="+mn-ea"/>
              </a:rPr>
              <a:t>(</a:t>
            </a:r>
            <a:r>
              <a:rPr lang="en-US" altLang="ko-KR" sz="2400" dirty="0" err="1">
                <a:latin typeface="+mn-ea"/>
              </a:rPr>
              <a:t>trackbarname</a:t>
            </a:r>
            <a:r>
              <a:rPr lang="en-US" altLang="ko-KR" sz="2400" dirty="0">
                <a:latin typeface="+mn-ea"/>
              </a:rPr>
              <a:t>, </a:t>
            </a:r>
            <a:r>
              <a:rPr lang="en-US" altLang="ko-KR" sz="2400" dirty="0" err="1">
                <a:latin typeface="+mn-ea"/>
              </a:rPr>
              <a:t>winname</a:t>
            </a:r>
            <a:r>
              <a:rPr lang="en-US" altLang="ko-KR" sz="2400" dirty="0">
                <a:latin typeface="+mn-ea"/>
              </a:rPr>
              <a:t>) </a:t>
            </a:r>
            <a:r>
              <a:rPr lang="ko-KR" altLang="en-US" sz="2400" dirty="0">
                <a:latin typeface="+mn-ea"/>
              </a:rPr>
              <a:t>→</a:t>
            </a:r>
            <a:r>
              <a:rPr lang="en-US" altLang="ko-KR" sz="2400" dirty="0">
                <a:latin typeface="+mn-ea"/>
              </a:rPr>
              <a:t> pos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/>
              <a:t>슬라이더의 값을 가져옴</a:t>
            </a:r>
            <a:endParaRPr lang="en-US" altLang="ko-KR" sz="20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trackbarname</a:t>
            </a:r>
            <a:r>
              <a:rPr lang="en-US" altLang="ko-KR" sz="2000" dirty="0"/>
              <a:t> : </a:t>
            </a:r>
            <a:r>
              <a:rPr lang="ko-KR" altLang="en-US" sz="2000" dirty="0" err="1"/>
              <a:t>트랙바</a:t>
            </a:r>
            <a:r>
              <a:rPr lang="ko-KR" altLang="en-US" sz="2000" dirty="0"/>
              <a:t> 이름</a:t>
            </a:r>
            <a:endParaRPr lang="en-US" altLang="ko-KR" sz="20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winname</a:t>
            </a:r>
            <a:r>
              <a:rPr lang="en-US" altLang="ko-KR" sz="2000" dirty="0">
                <a:solidFill>
                  <a:srgbClr val="000000"/>
                </a:solidFill>
              </a:rPr>
              <a:t> : </a:t>
            </a:r>
            <a:r>
              <a:rPr lang="ko-KR" altLang="en-US" sz="2000" dirty="0">
                <a:solidFill>
                  <a:srgbClr val="000000"/>
                </a:solidFill>
              </a:rPr>
              <a:t>윈도우 이름</a:t>
            </a:r>
            <a:endParaRPr lang="en-US" altLang="ko-KR" sz="2000" dirty="0">
              <a:solidFill>
                <a:srgbClr val="000000"/>
              </a:solidFill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/>
              <a:t>pos :</a:t>
            </a:r>
            <a:r>
              <a:rPr lang="ko-KR" altLang="en-US" sz="2000" dirty="0"/>
              <a:t> 설정된</a:t>
            </a:r>
            <a:r>
              <a:rPr lang="en-US" altLang="ko-KR" sz="2000" dirty="0"/>
              <a:t> </a:t>
            </a:r>
            <a:r>
              <a:rPr lang="ko-KR" altLang="en-US" sz="2000" dirty="0"/>
              <a:t>값</a:t>
            </a:r>
            <a:endParaRPr lang="en-US" altLang="ko-KR" sz="20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05AF72C-B533-4FF9-A130-F648316E1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390D65E-6BBD-40AD-9C36-8D87CA26A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80CAF8-362F-2619-366C-105839EC3EF4}"/>
              </a:ext>
            </a:extLst>
          </p:cNvPr>
          <p:cNvSpPr txBox="1"/>
          <p:nvPr/>
        </p:nvSpPr>
        <p:spPr>
          <a:xfrm>
            <a:off x="200677" y="110919"/>
            <a:ext cx="17812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트랙바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3619946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3D3F2-761F-0BE5-E24E-2657C8BB2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 descr="텍스트, 스크린샷, 소프트웨어, 멀티미디어 소프트웨어이(가) 표시된 사진&#10;&#10;자동 생성된 설명">
            <a:extLst>
              <a:ext uri="{FF2B5EF4-FFF2-40B4-BE49-F238E27FC236}">
                <a16:creationId xmlns:a16="http://schemas.microsoft.com/office/drawing/2014/main" id="{FE63542F-27D6-C603-9B65-6232560E11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98002"/>
            <a:ext cx="12192000" cy="564907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81F6F921-90DC-BAB3-AA53-87B456B69E22}"/>
              </a:ext>
            </a:extLst>
          </p:cNvPr>
          <p:cNvSpPr/>
          <p:nvPr/>
        </p:nvSpPr>
        <p:spPr>
          <a:xfrm>
            <a:off x="394190" y="1175937"/>
            <a:ext cx="470994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dirty="0">
                <a:latin typeface="+mn-ea"/>
              </a:rPr>
              <a:t>✅ 트랙바로 이미지 회전 시키기 예제</a:t>
            </a:r>
            <a:endParaRPr lang="ko-KR" altLang="en-US" sz="24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BC14367-95ED-4625-126E-0FDF1F353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A6AEF9B-80DF-6999-94E0-A1EC61641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80C834-B840-F8D2-47E2-247A2192C6D6}"/>
              </a:ext>
            </a:extLst>
          </p:cNvPr>
          <p:cNvSpPr txBox="1"/>
          <p:nvPr/>
        </p:nvSpPr>
        <p:spPr>
          <a:xfrm>
            <a:off x="200677" y="110919"/>
            <a:ext cx="17812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트랙바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8316486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EF6B8-7D1A-F23F-0D80-F397F8B54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D7E75B-903D-BD85-EE4C-75F8C6468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AD6AA7D7-9925-2969-949C-83A0EBEE27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0"/>
            <a:ext cx="10515600" cy="1325563"/>
          </a:xfrm>
        </p:spPr>
        <p:txBody>
          <a:bodyPr>
            <a:normAutofit/>
          </a:bodyPr>
          <a:lstStyle/>
          <a:p>
            <a:r>
              <a:rPr lang="ko-KR" altLang="en-US" sz="5400" b="1" dirty="0">
                <a:solidFill>
                  <a:schemeClr val="accent2"/>
                </a:solidFill>
              </a:rPr>
              <a:t>실습</a:t>
            </a:r>
            <a:r>
              <a:rPr lang="en-US" altLang="ko-KR" sz="5400" b="1" dirty="0">
                <a:solidFill>
                  <a:schemeClr val="accent2"/>
                </a:solidFill>
              </a:rPr>
              <a:t>2-1. Threshold</a:t>
            </a:r>
            <a:r>
              <a:rPr lang="ko-KR" altLang="en-US" sz="5400" b="1" dirty="0">
                <a:solidFill>
                  <a:schemeClr val="accent2"/>
                </a:solidFill>
              </a:rPr>
              <a:t>에 적용</a:t>
            </a:r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F71A7739-BDE3-5961-2960-0AEDB6AE1B94}"/>
              </a:ext>
            </a:extLst>
          </p:cNvPr>
          <p:cNvSpPr txBox="1">
            <a:spLocks/>
          </p:cNvSpPr>
          <p:nvPr/>
        </p:nvSpPr>
        <p:spPr>
          <a:xfrm>
            <a:off x="416826" y="2584523"/>
            <a:ext cx="5883206" cy="168895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ko-KR" altLang="en-US" sz="3200" b="0" dirty="0" err="1"/>
              <a:t>트랙바</a:t>
            </a:r>
            <a:r>
              <a:rPr lang="ko-KR" altLang="en-US" sz="3200" b="0" dirty="0"/>
              <a:t> 실습한 것을 참고해서</a:t>
            </a:r>
            <a:r>
              <a:rPr lang="en-US" altLang="ko-KR" sz="3200" b="0" dirty="0"/>
              <a:t>, threshold</a:t>
            </a:r>
            <a:r>
              <a:rPr lang="ko-KR" altLang="en-US" sz="3200" b="0" dirty="0"/>
              <a:t>에 트랙바를 적용해보기</a:t>
            </a:r>
            <a:endParaRPr lang="en-US" altLang="ko-KR" sz="3200" b="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877CE7F-C62C-6B84-D6FF-14C70AC572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2791" y="1325563"/>
            <a:ext cx="3472018" cy="474187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2269959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9B000-73B7-34F8-15D2-65FE9F831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BEBEE3-F456-732B-C71F-8A7913C4F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D34D50B3-0D84-E6CB-DB4B-4CB29C652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0"/>
            <a:ext cx="10515600" cy="1325563"/>
          </a:xfrm>
        </p:spPr>
        <p:txBody>
          <a:bodyPr>
            <a:normAutofit/>
          </a:bodyPr>
          <a:lstStyle/>
          <a:p>
            <a:r>
              <a:rPr lang="ko-KR" altLang="en-US" sz="5400" b="1" dirty="0">
                <a:solidFill>
                  <a:schemeClr val="accent2"/>
                </a:solidFill>
              </a:rPr>
              <a:t>실습</a:t>
            </a:r>
            <a:r>
              <a:rPr lang="en-US" altLang="ko-KR" sz="5400" b="1" dirty="0">
                <a:solidFill>
                  <a:schemeClr val="accent2"/>
                </a:solidFill>
              </a:rPr>
              <a:t>2-2. </a:t>
            </a:r>
            <a:r>
              <a:rPr lang="ko-KR" altLang="en-US" sz="5400" b="1" dirty="0">
                <a:solidFill>
                  <a:schemeClr val="accent2"/>
                </a:solidFill>
              </a:rPr>
              <a:t>컬러 팔레트 만들기</a:t>
            </a:r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4ECDA975-80C6-6C23-BC37-6104D10BAFDC}"/>
              </a:ext>
            </a:extLst>
          </p:cNvPr>
          <p:cNvSpPr txBox="1">
            <a:spLocks/>
          </p:cNvSpPr>
          <p:nvPr/>
        </p:nvSpPr>
        <p:spPr>
          <a:xfrm>
            <a:off x="377989" y="1829336"/>
            <a:ext cx="5883206" cy="385705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altLang="ko-KR" b="0" dirty="0"/>
              <a:t>RGB</a:t>
            </a:r>
            <a:r>
              <a:rPr lang="ko-KR" altLang="en-US" b="0" dirty="0"/>
              <a:t>값을 변경할 수 있는 트랙바를 만들고</a:t>
            </a:r>
            <a:endParaRPr lang="en-US" altLang="ko-KR" b="0" dirty="0"/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altLang="ko-KR" b="0" dirty="0"/>
              <a:t>RGB</a:t>
            </a:r>
            <a:r>
              <a:rPr lang="ko-KR" altLang="en-US" b="0" dirty="0"/>
              <a:t>값이 바뀜에 따라 배경색이 변하는 화면을 만들어 보자</a:t>
            </a:r>
            <a:r>
              <a:rPr lang="en-US" altLang="ko-KR" b="0" dirty="0"/>
              <a:t>!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ko-KR" altLang="en-US" b="0" dirty="0"/>
              <a:t>기본 색상은 검은색으로 설정</a:t>
            </a:r>
            <a:endParaRPr lang="en-US" altLang="ko-KR" b="0" dirty="0"/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altLang="ko-KR" b="0" dirty="0"/>
              <a:t>1~3</a:t>
            </a:r>
            <a:r>
              <a:rPr lang="ko-KR" altLang="en-US" b="0" dirty="0"/>
              <a:t>이 마무리 되었다면 트랙바의 작동을 제어할 수 있는 </a:t>
            </a:r>
            <a:r>
              <a:rPr lang="en-US" altLang="ko-KR" b="0" dirty="0"/>
              <a:t>on / off </a:t>
            </a:r>
            <a:r>
              <a:rPr lang="ko-KR" altLang="en-US" b="0" dirty="0"/>
              <a:t>스위치도 추가로 구현해본다</a:t>
            </a:r>
            <a:r>
              <a:rPr lang="en-US" altLang="ko-KR" b="0" dirty="0"/>
              <a:t>.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ABD93FEF-3342-9C37-30D5-44BA8711EF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1342" y="1493774"/>
            <a:ext cx="5292669" cy="45281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3006536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AB8DB-EFD3-F54B-20CE-16F34B811C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E089B9-44F0-5282-18A9-77B1C1EE1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AD37D3A-B4D4-879F-3770-044DDABAC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2D4560-9F83-9BA4-B74D-2BDC5F25FEF3}"/>
              </a:ext>
            </a:extLst>
          </p:cNvPr>
          <p:cNvSpPr txBox="1"/>
          <p:nvPr/>
        </p:nvSpPr>
        <p:spPr>
          <a:xfrm>
            <a:off x="200677" y="110919"/>
            <a:ext cx="35125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latin typeface="+mj-ea"/>
                <a:ea typeface="+mj-ea"/>
              </a:rPr>
              <a:t>적응형 이진화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1A0D7444-96C9-6109-3E44-7F3A9BEF5F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2272317"/>
            <a:ext cx="6589422" cy="2313366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</a:t>
            </a:r>
            <a:r>
              <a:rPr lang="en-US" altLang="ko-KR" sz="2400" b="1" dirty="0">
                <a:latin typeface="+mn-ea"/>
              </a:rPr>
              <a:t> Adaptive threshold : </a:t>
            </a:r>
            <a:r>
              <a:rPr lang="ko-KR" altLang="en-US" sz="2400" b="1" dirty="0"/>
              <a:t>적응형 이진화</a:t>
            </a:r>
            <a:endParaRPr lang="en-US" altLang="ko-KR" sz="2400" b="1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/>
              <a:t>이미지 전체에 대해 동일한 </a:t>
            </a:r>
            <a:r>
              <a:rPr lang="ko-KR" altLang="en-US" sz="2000" dirty="0" err="1"/>
              <a:t>임계값을</a:t>
            </a:r>
            <a:r>
              <a:rPr lang="ko-KR" altLang="en-US" sz="2000" dirty="0"/>
              <a:t> 사용하는 대신</a:t>
            </a:r>
            <a:r>
              <a:rPr lang="en-US" altLang="ko-KR" sz="2000" dirty="0"/>
              <a:t>, </a:t>
            </a:r>
            <a:r>
              <a:rPr lang="ko-KR" altLang="en-US" sz="2000" dirty="0"/>
              <a:t>작은 영역별로 서로 다른 </a:t>
            </a:r>
            <a:r>
              <a:rPr lang="ko-KR" altLang="en-US" sz="2000" dirty="0" err="1"/>
              <a:t>임계값을</a:t>
            </a:r>
            <a:r>
              <a:rPr lang="ko-KR" altLang="en-US" sz="2000" dirty="0"/>
              <a:t> 계산하여 적용함</a:t>
            </a:r>
            <a:r>
              <a:rPr lang="en-US" altLang="ko-KR" sz="2000" dirty="0"/>
              <a:t>. 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/>
              <a:t>밝기가 고르지 않은 이미지를 처리할 때 유용함</a:t>
            </a:r>
            <a:r>
              <a:rPr lang="en-US" altLang="ko-KR" sz="2000" dirty="0"/>
              <a:t>.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8CAEC17A-17DA-E1D0-6C81-676AE64C4A8F}"/>
              </a:ext>
            </a:extLst>
          </p:cNvPr>
          <p:cNvGrpSpPr/>
          <p:nvPr/>
        </p:nvGrpSpPr>
        <p:grpSpPr>
          <a:xfrm>
            <a:off x="6988698" y="838922"/>
            <a:ext cx="4847772" cy="5180156"/>
            <a:chOff x="7024912" y="992467"/>
            <a:chExt cx="4847772" cy="5180156"/>
          </a:xfrm>
        </p:grpSpPr>
        <p:pic>
          <p:nvPicPr>
            <p:cNvPr id="7170" name="Picture 2" descr="OpenCV: Image Thresholding">
              <a:extLst>
                <a:ext uri="{FF2B5EF4-FFF2-40B4-BE49-F238E27FC236}">
                  <a16:creationId xmlns:a16="http://schemas.microsoft.com/office/drawing/2014/main" id="{EC7112C9-1F35-C8A9-BA17-861BA79BAAF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54992" y="992467"/>
              <a:ext cx="4587613" cy="4873065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DDD9626B-83FF-22A1-F68C-1B6EAAC0D8C1}"/>
                </a:ext>
              </a:extLst>
            </p:cNvPr>
            <p:cNvSpPr txBox="1"/>
            <p:nvPr/>
          </p:nvSpPr>
          <p:spPr>
            <a:xfrm>
              <a:off x="7024912" y="5918707"/>
              <a:ext cx="4847772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0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[</a:t>
              </a:r>
              <a:r>
                <a:rPr lang="ko-KR" altLang="en-US" sz="10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이미지 출처</a:t>
              </a:r>
              <a:r>
                <a:rPr lang="en-US" altLang="ko-KR" sz="10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] </a:t>
              </a:r>
              <a:r>
                <a:rPr lang="ko-KR" altLang="en-US" sz="10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https://docs.opencv.org/4.x/d7/d4d/tutorial_py_thresholding.html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6683245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533DC-9B4B-1B9B-AED2-DCF7FFAF8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D85FF0B-2312-8447-AA78-44AD87A7D8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E1711D7-3DA7-8EC5-3B31-FC752620C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8A5364-6301-0A34-5508-04A5780E1D74}"/>
              </a:ext>
            </a:extLst>
          </p:cNvPr>
          <p:cNvSpPr txBox="1"/>
          <p:nvPr/>
        </p:nvSpPr>
        <p:spPr>
          <a:xfrm>
            <a:off x="200677" y="110919"/>
            <a:ext cx="35125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latin typeface="+mj-ea"/>
                <a:ea typeface="+mj-ea"/>
              </a:rPr>
              <a:t>적응형 이진화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46157B23-3565-294A-18D3-2C21403DB2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1034249"/>
            <a:ext cx="11551557" cy="441325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cv2.adaptiveThreshold</a:t>
            </a:r>
            <a:r>
              <a:rPr lang="en-US" altLang="ko-KR" sz="2400" dirty="0">
                <a:latin typeface="+mn-ea"/>
              </a:rPr>
              <a:t>(</a:t>
            </a:r>
            <a:r>
              <a:rPr lang="en-US" altLang="ko-KR" sz="2400" dirty="0" err="1">
                <a:latin typeface="+mn-ea"/>
              </a:rPr>
              <a:t>src</a:t>
            </a:r>
            <a:r>
              <a:rPr lang="en-US" altLang="ko-KR" sz="2400" dirty="0">
                <a:latin typeface="+mn-ea"/>
              </a:rPr>
              <a:t>, </a:t>
            </a:r>
            <a:r>
              <a:rPr lang="en-US" altLang="ko-KR" sz="2400" dirty="0" err="1">
                <a:latin typeface="+mn-ea"/>
              </a:rPr>
              <a:t>maxValue</a:t>
            </a:r>
            <a:r>
              <a:rPr lang="en-US" altLang="ko-KR" sz="2400" dirty="0">
                <a:latin typeface="+mn-ea"/>
              </a:rPr>
              <a:t>, </a:t>
            </a:r>
            <a:r>
              <a:rPr lang="en-US" altLang="ko-KR" sz="2400" dirty="0" err="1">
                <a:latin typeface="+mn-ea"/>
              </a:rPr>
              <a:t>adaptiveMethod</a:t>
            </a:r>
            <a:r>
              <a:rPr lang="en-US" altLang="ko-KR" sz="2400" dirty="0">
                <a:latin typeface="+mn-ea"/>
              </a:rPr>
              <a:t>, </a:t>
            </a:r>
          </a:p>
          <a:p>
            <a:pPr marL="0" indent="0">
              <a:buNone/>
            </a:pPr>
            <a:r>
              <a:rPr lang="en-US" altLang="ko-KR" sz="2400" dirty="0">
                <a:latin typeface="+mn-ea"/>
              </a:rPr>
              <a:t>				  </a:t>
            </a:r>
            <a:r>
              <a:rPr lang="en-US" altLang="ko-KR" sz="2400" dirty="0" err="1">
                <a:latin typeface="+mn-ea"/>
              </a:rPr>
              <a:t>thresholdType</a:t>
            </a:r>
            <a:r>
              <a:rPr lang="en-US" altLang="ko-KR" sz="2400" dirty="0">
                <a:latin typeface="+mn-ea"/>
              </a:rPr>
              <a:t>, </a:t>
            </a:r>
            <a:r>
              <a:rPr lang="en-US" altLang="ko-KR" sz="2400" dirty="0" err="1">
                <a:latin typeface="+mn-ea"/>
              </a:rPr>
              <a:t>blockSize</a:t>
            </a:r>
            <a:r>
              <a:rPr lang="en-US" altLang="ko-KR" sz="2400" dirty="0">
                <a:latin typeface="+mn-ea"/>
              </a:rPr>
              <a:t>, C[, </a:t>
            </a:r>
            <a:r>
              <a:rPr lang="en-US" altLang="ko-KR" sz="2400" dirty="0" err="1">
                <a:latin typeface="+mn-ea"/>
              </a:rPr>
              <a:t>dst</a:t>
            </a:r>
            <a:r>
              <a:rPr lang="en-US" altLang="ko-KR" sz="2400" dirty="0">
                <a:latin typeface="+mn-ea"/>
              </a:rPr>
              <a:t>]) </a:t>
            </a:r>
            <a:r>
              <a:rPr lang="ko-KR" altLang="en-US" sz="2400" dirty="0">
                <a:latin typeface="+mn-ea"/>
              </a:rPr>
              <a:t>→</a:t>
            </a:r>
            <a:r>
              <a:rPr lang="en-US" altLang="ko-KR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dst</a:t>
            </a:r>
            <a:r>
              <a:rPr lang="en-US" altLang="ko-KR" sz="2400" dirty="0">
                <a:latin typeface="+mn-ea"/>
              </a:rPr>
              <a:t> 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src</a:t>
            </a:r>
            <a:r>
              <a:rPr lang="ko-KR" altLang="en-US" sz="2000" dirty="0">
                <a:latin typeface="+mn-ea"/>
              </a:rPr>
              <a:t> </a:t>
            </a:r>
            <a:r>
              <a:rPr lang="en-US" altLang="ko-KR" sz="2000" dirty="0">
                <a:latin typeface="+mn-ea"/>
              </a:rPr>
              <a:t>:</a:t>
            </a:r>
            <a:r>
              <a:rPr lang="ko-KR" altLang="en-US" sz="2000" dirty="0">
                <a:latin typeface="+mn-ea"/>
              </a:rPr>
              <a:t> 입력 배열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maxValue</a:t>
            </a:r>
            <a:r>
              <a:rPr lang="en-US" altLang="ko-KR" sz="2000" dirty="0">
                <a:latin typeface="+mn-ea"/>
              </a:rPr>
              <a:t>: </a:t>
            </a:r>
            <a:r>
              <a:rPr lang="ko-KR" altLang="en-US" sz="2000" dirty="0">
                <a:latin typeface="+mn-ea"/>
              </a:rPr>
              <a:t>픽셀에 할당할 최대값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adaptiveMethod</a:t>
            </a:r>
            <a:r>
              <a:rPr lang="en-US" altLang="ko-KR" sz="2000" dirty="0">
                <a:latin typeface="+mn-ea"/>
              </a:rPr>
              <a:t>: </a:t>
            </a:r>
            <a:r>
              <a:rPr lang="ko-KR" altLang="en-US" sz="2000" dirty="0">
                <a:latin typeface="+mn-ea"/>
              </a:rPr>
              <a:t>적응형 </a:t>
            </a:r>
            <a:r>
              <a:rPr lang="ko-KR" altLang="en-US" sz="2000" dirty="0" err="1">
                <a:latin typeface="+mn-ea"/>
              </a:rPr>
              <a:t>임계값</a:t>
            </a:r>
            <a:r>
              <a:rPr lang="ko-KR" altLang="en-US" sz="2000" dirty="0">
                <a:latin typeface="+mn-ea"/>
              </a:rPr>
              <a:t> 알고리즘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thresholdType</a:t>
            </a:r>
            <a:r>
              <a:rPr lang="en-US" altLang="ko-KR" sz="2000" dirty="0">
                <a:latin typeface="+mn-ea"/>
              </a:rPr>
              <a:t>: </a:t>
            </a:r>
            <a:r>
              <a:rPr lang="ko-KR" altLang="en-US" sz="2000" dirty="0" err="1">
                <a:latin typeface="+mn-ea"/>
              </a:rPr>
              <a:t>임계값</a:t>
            </a:r>
            <a:r>
              <a:rPr lang="ko-KR" altLang="en-US" sz="2000" dirty="0">
                <a:latin typeface="+mn-ea"/>
              </a:rPr>
              <a:t> 설정 유형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blockSize</a:t>
            </a:r>
            <a:r>
              <a:rPr lang="en-US" altLang="ko-KR" sz="2000" dirty="0">
                <a:latin typeface="+mn-ea"/>
              </a:rPr>
              <a:t>: </a:t>
            </a:r>
            <a:r>
              <a:rPr lang="ko-KR" altLang="en-US" sz="2000" dirty="0">
                <a:latin typeface="+mn-ea"/>
              </a:rPr>
              <a:t>픽셀의 </a:t>
            </a:r>
            <a:r>
              <a:rPr lang="ko-KR" altLang="en-US" sz="2000" dirty="0" err="1">
                <a:latin typeface="+mn-ea"/>
              </a:rPr>
              <a:t>임계값을</a:t>
            </a:r>
            <a:r>
              <a:rPr lang="ko-KR" altLang="en-US" sz="2000" dirty="0">
                <a:latin typeface="+mn-ea"/>
              </a:rPr>
              <a:t> 계산하는 데 사용되는 픽셀 근처의 크기</a:t>
            </a:r>
            <a:r>
              <a:rPr lang="en-US" altLang="ko-KR" sz="2000" dirty="0">
                <a:latin typeface="+mn-ea"/>
              </a:rPr>
              <a:t>(1</a:t>
            </a:r>
            <a:r>
              <a:rPr lang="ko-KR" altLang="en-US" sz="2000" dirty="0">
                <a:latin typeface="+mn-ea"/>
              </a:rPr>
              <a:t>보다 큰 홀수</a:t>
            </a:r>
            <a:r>
              <a:rPr lang="en-US" altLang="ko-KR" sz="2000" dirty="0">
                <a:latin typeface="+mn-ea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+mn-ea"/>
              </a:rPr>
              <a:t>C	: </a:t>
            </a:r>
            <a:r>
              <a:rPr lang="ko-KR" altLang="en-US" sz="2000" dirty="0">
                <a:latin typeface="+mn-ea"/>
              </a:rPr>
              <a:t>평균 또는 가중 평균에서 뺀 상수</a:t>
            </a:r>
            <a:endParaRPr lang="en-US" altLang="ko-KR" sz="20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2658338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C9B32-AE9C-A1CC-25D1-F9DCB52B8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625618A-D988-8E48-8E69-1327EF7A0A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95B3F3-721C-0FE7-6DFB-908B056AE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F39DAF-C252-784A-6344-78F49EA4548A}"/>
              </a:ext>
            </a:extLst>
          </p:cNvPr>
          <p:cNvSpPr txBox="1"/>
          <p:nvPr/>
        </p:nvSpPr>
        <p:spPr>
          <a:xfrm>
            <a:off x="200677" y="110919"/>
            <a:ext cx="35125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latin typeface="+mj-ea"/>
                <a:ea typeface="+mj-ea"/>
              </a:rPr>
              <a:t>적응형 이진화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  <p:pic>
        <p:nvPicPr>
          <p:cNvPr id="7" name="그림 6" descr="텍스트, 스크린샷, 소프트웨어, 디스플레이이(가) 표시된 사진&#10;&#10;자동 생성된 설명">
            <a:extLst>
              <a:ext uri="{FF2B5EF4-FFF2-40B4-BE49-F238E27FC236}">
                <a16:creationId xmlns:a16="http://schemas.microsoft.com/office/drawing/2014/main" id="{7AE718CB-EF35-D0F4-52F2-10E161DF4C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3109" y="660472"/>
            <a:ext cx="9445782" cy="5955552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7616101C-61A5-44F5-016C-297CCD81AFF8}"/>
              </a:ext>
            </a:extLst>
          </p:cNvPr>
          <p:cNvSpPr/>
          <p:nvPr/>
        </p:nvSpPr>
        <p:spPr>
          <a:xfrm>
            <a:off x="2327505" y="4520688"/>
            <a:ext cx="7404969" cy="286702"/>
          </a:xfrm>
          <a:prstGeom prst="rect">
            <a:avLst/>
          </a:prstGeom>
          <a:noFill/>
          <a:ln w="25400">
            <a:solidFill>
              <a:srgbClr val="FF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545359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88084-40A5-DA45-9503-9FAE41AB8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5C0B81-09C3-DD64-8205-3B8287020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8209AF4-17B4-6405-8C7D-37101B98E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AF9582-BF10-7F4F-D363-CB49356705F0}"/>
              </a:ext>
            </a:extLst>
          </p:cNvPr>
          <p:cNvSpPr txBox="1"/>
          <p:nvPr/>
        </p:nvSpPr>
        <p:spPr>
          <a:xfrm>
            <a:off x="200677" y="110919"/>
            <a:ext cx="35125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오츠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 알고리즘</a:t>
            </a: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231C0691-2C92-FCF0-62CD-2ECE6DDC0B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40838" y="1060159"/>
            <a:ext cx="7510321" cy="2669072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/>
              <a:t>💡 최적의 </a:t>
            </a:r>
            <a:r>
              <a:rPr lang="en-US" altLang="ko-KR" sz="2400" b="1" dirty="0"/>
              <a:t>Threshold</a:t>
            </a:r>
            <a:r>
              <a:rPr lang="ko-KR" altLang="en-US" sz="2400" b="1" dirty="0"/>
              <a:t>를 찾는 알고리즘</a:t>
            </a:r>
            <a:endParaRPr lang="en-US" altLang="ko-KR" sz="2400" b="1" dirty="0"/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sz="2000" dirty="0"/>
              <a:t>히스토그램 분석을 통해 </a:t>
            </a:r>
            <a:r>
              <a:rPr lang="ko-KR" altLang="en-US" sz="2000" b="1" dirty="0"/>
              <a:t>자동으로 최적의 </a:t>
            </a:r>
            <a:r>
              <a:rPr lang="ko-KR" altLang="en-US" sz="2000" b="1" dirty="0" err="1"/>
              <a:t>임계값을</a:t>
            </a:r>
            <a:r>
              <a:rPr lang="ko-KR" altLang="en-US" sz="2000" b="1" dirty="0"/>
              <a:t> 계산</a:t>
            </a:r>
            <a:r>
              <a:rPr lang="ko-KR" altLang="en-US" sz="2000" dirty="0"/>
              <a:t>함</a:t>
            </a:r>
            <a:endParaRPr lang="en-US" altLang="ko-KR" sz="2000" dirty="0"/>
          </a:p>
          <a:p>
            <a:pPr marL="1257300" lvl="2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/>
              <a:t>두 그룹</a:t>
            </a:r>
            <a:r>
              <a:rPr lang="en-US" altLang="ko-KR" sz="1600" dirty="0"/>
              <a:t>(</a:t>
            </a:r>
            <a:r>
              <a:rPr lang="ko-KR" altLang="en-US" sz="1600" dirty="0"/>
              <a:t>검은색과 흰색</a:t>
            </a:r>
            <a:r>
              <a:rPr lang="en-US" altLang="ko-KR" sz="1600" dirty="0"/>
              <a:t>) </a:t>
            </a:r>
            <a:r>
              <a:rPr lang="ko-KR" altLang="en-US" sz="1600" dirty="0"/>
              <a:t>간의 평균값 차이를 최대화하면서</a:t>
            </a:r>
            <a:r>
              <a:rPr lang="en-US" altLang="ko-KR" sz="1600" dirty="0"/>
              <a:t>,</a:t>
            </a:r>
          </a:p>
          <a:p>
            <a:pPr marL="1257300" lvl="2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/>
              <a:t>각 그룹 내부의 분산</a:t>
            </a:r>
            <a:r>
              <a:rPr lang="en-US" altLang="ko-KR" sz="1600" dirty="0"/>
              <a:t>(</a:t>
            </a:r>
            <a:r>
              <a:rPr lang="ko-KR" altLang="en-US" sz="1600" dirty="0"/>
              <a:t>값의 퍼짐</a:t>
            </a:r>
            <a:r>
              <a:rPr lang="en-US" altLang="ko-KR" sz="1600" dirty="0"/>
              <a:t>)</a:t>
            </a:r>
            <a:r>
              <a:rPr lang="ko-KR" altLang="en-US" sz="1600" dirty="0"/>
              <a:t>을 최소화하는 </a:t>
            </a:r>
            <a:r>
              <a:rPr lang="ko-KR" altLang="en-US" sz="1600" dirty="0" err="1"/>
              <a:t>임계값을</a:t>
            </a:r>
            <a:r>
              <a:rPr lang="ko-KR" altLang="en-US" sz="1600" dirty="0"/>
              <a:t> 찾는 것을 목표로 함</a:t>
            </a:r>
            <a:r>
              <a:rPr lang="en-US" altLang="ko-KR" sz="1600" dirty="0"/>
              <a:t>.</a:t>
            </a:r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sz="2000" dirty="0"/>
              <a:t>이미지의 명암이 뚜렷할 때</a:t>
            </a:r>
            <a:r>
              <a:rPr lang="en-US" altLang="ko-KR" sz="2000" dirty="0"/>
              <a:t>(Bimodal Image) </a:t>
            </a:r>
            <a:r>
              <a:rPr lang="ko-KR" altLang="en-US" sz="2000" dirty="0"/>
              <a:t>효과적</a:t>
            </a:r>
            <a:endParaRPr lang="en-US" altLang="ko-KR" sz="2000" dirty="0"/>
          </a:p>
        </p:txBody>
      </p:sp>
      <p:grpSp>
        <p:nvGrpSpPr>
          <p:cNvPr id="3" name="그룹 2"/>
          <p:cNvGrpSpPr/>
          <p:nvPr/>
        </p:nvGrpSpPr>
        <p:grpSpPr>
          <a:xfrm>
            <a:off x="2305770" y="3605236"/>
            <a:ext cx="7580459" cy="2796535"/>
            <a:chOff x="2598057" y="3781817"/>
            <a:chExt cx="6995886" cy="2580878"/>
          </a:xfrm>
        </p:grpSpPr>
        <p:pic>
          <p:nvPicPr>
            <p:cNvPr id="8194" name="Picture 2" descr="Histograms | Theory">
              <a:extLst>
                <a:ext uri="{FF2B5EF4-FFF2-40B4-BE49-F238E27FC236}">
                  <a16:creationId xmlns:a16="http://schemas.microsoft.com/office/drawing/2014/main" id="{93DAB1CE-3C3C-91FC-AD58-5B6A58D528D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33" b="13429"/>
            <a:stretch/>
          </p:blipFill>
          <p:spPr bwMode="auto">
            <a:xfrm>
              <a:off x="2598057" y="3781817"/>
              <a:ext cx="6995886" cy="25808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054E98B5-F226-797E-9258-1B9EEBCA15A0}"/>
                </a:ext>
              </a:extLst>
            </p:cNvPr>
            <p:cNvSpPr/>
            <p:nvPr/>
          </p:nvSpPr>
          <p:spPr>
            <a:xfrm>
              <a:off x="4949371" y="3877004"/>
              <a:ext cx="2236289" cy="239050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10265310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66832-3411-B665-FCA8-74A172CB1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5D1596-75C4-ECE1-B0C3-761B6996B4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1ABF02-10DC-810A-6DC9-DE6DE145D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45496C-2E04-CF59-0E59-8694238EC382}"/>
              </a:ext>
            </a:extLst>
          </p:cNvPr>
          <p:cNvSpPr txBox="1"/>
          <p:nvPr/>
        </p:nvSpPr>
        <p:spPr>
          <a:xfrm>
            <a:off x="200677" y="110919"/>
            <a:ext cx="35125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오츠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 알고리즘</a:t>
            </a:r>
          </a:p>
        </p:txBody>
      </p:sp>
      <p:pic>
        <p:nvPicPr>
          <p:cNvPr id="7" name="그림 6" descr="텍스트, 스크린샷, 소프트웨어, 디스플레이이(가) 표시된 사진&#10;&#10;자동 생성된 설명">
            <a:extLst>
              <a:ext uri="{FF2B5EF4-FFF2-40B4-BE49-F238E27FC236}">
                <a16:creationId xmlns:a16="http://schemas.microsoft.com/office/drawing/2014/main" id="{F1991D7F-3041-42B8-8A42-C922B366A7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92512"/>
            <a:ext cx="12192000" cy="487937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F5C87B47-40AF-F11D-CF3D-70814518C51E}"/>
              </a:ext>
            </a:extLst>
          </p:cNvPr>
          <p:cNvSpPr/>
          <p:nvPr/>
        </p:nvSpPr>
        <p:spPr>
          <a:xfrm>
            <a:off x="7148286" y="3207145"/>
            <a:ext cx="1604475" cy="283541"/>
          </a:xfrm>
          <a:prstGeom prst="rect">
            <a:avLst/>
          </a:prstGeom>
          <a:noFill/>
          <a:ln w="25400">
            <a:solidFill>
              <a:srgbClr val="FF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007907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71936-481C-71EB-7D96-6C9DFC6F9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100005ED-53E3-BFC8-AFAA-7BAFFA3752AB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417181868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8095</TotalTime>
  <Words>1331</Words>
  <Application>Microsoft Office PowerPoint</Application>
  <PresentationFormat>와이드스크린</PresentationFormat>
  <Paragraphs>316</Paragraphs>
  <Slides>48</Slides>
  <Notes>27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48</vt:i4>
      </vt:variant>
    </vt:vector>
  </HeadingPairs>
  <TitlesOfParts>
    <vt:vector size="59" baseType="lpstr">
      <vt:lpstr>G마켓 산스 TTF Bold</vt:lpstr>
      <vt:lpstr>Kim jung chul Gothic Regular</vt:lpstr>
      <vt:lpstr>Pretendard Black</vt:lpstr>
      <vt:lpstr>Pretendard Light</vt:lpstr>
      <vt:lpstr>Pretendard Medium</vt:lpstr>
      <vt:lpstr>맑은 고딕</vt:lpstr>
      <vt:lpstr>메이플스토리</vt:lpstr>
      <vt:lpstr>Arial</vt:lpstr>
      <vt:lpstr>Cambria Math</vt:lpstr>
      <vt:lpstr>Wingdings</vt:lpstr>
      <vt:lpstr>1_Office 테마</vt:lpstr>
      <vt:lpstr>x</vt:lpstr>
      <vt:lpstr>영상처리 기초</vt:lpstr>
      <vt:lpstr>도형 그리기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실습1. 도형 그려보기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실습2-1. Threshold에 적용</vt:lpstr>
      <vt:lpstr>실습2-2. 컬러 팔레트 만들기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</dc:title>
  <dc:creator>spreatics</dc:creator>
  <cp:lastModifiedBy>On Coding</cp:lastModifiedBy>
  <cp:revision>536</cp:revision>
  <dcterms:created xsi:type="dcterms:W3CDTF">2023-01-31T04:26:23Z</dcterms:created>
  <dcterms:modified xsi:type="dcterms:W3CDTF">2026-01-13T05:25:38Z</dcterms:modified>
</cp:coreProperties>
</file>